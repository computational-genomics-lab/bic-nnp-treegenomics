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y="10287000" cx="18288000"/>
  <p:notesSz cx="10287000" cy="18288000"/>
  <p:embeddedFontLst>
    <p:embeddedFont>
      <p:font typeface="Helvetica Neue"/>
      <p:regular r:id="rId45"/>
      <p:bold r:id="rId46"/>
      <p:italic r:id="rId47"/>
      <p:boldItalic r:id="rId48"/>
    </p:embeddedFont>
    <p:embeddedFont>
      <p:font typeface="IBM Plex Mono"/>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3" roundtripDataSignature="AMtx7mj5YObVz/jROiK+n280xEQzzbP0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font" Target="fonts/HelveticaNeue-bold.fntdata"/><Relationship Id="rId45" Type="http://schemas.openxmlformats.org/officeDocument/2006/relationships/font" Target="fonts/HelveticaNeue-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HelveticaNeue-boldItalic.fntdata"/><Relationship Id="rId47" Type="http://schemas.openxmlformats.org/officeDocument/2006/relationships/font" Target="fonts/HelveticaNeue-italic.fntdata"/><Relationship Id="rId49" Type="http://schemas.openxmlformats.org/officeDocument/2006/relationships/font" Target="fonts/IBMPlexMono-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IBMPlexMono-italic.fntdata"/><Relationship Id="rId50" Type="http://schemas.openxmlformats.org/officeDocument/2006/relationships/font" Target="fonts/IBMPlexMono-bold.fntdata"/><Relationship Id="rId53" Type="http://customschemas.google.com/relationships/presentationmetadata" Target="metadata"/><Relationship Id="rId52" Type="http://schemas.openxmlformats.org/officeDocument/2006/relationships/font" Target="fonts/IBMPlexMono-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This session assumes no machine learning background at all. Everything is built up from the sequence.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parts. Part 02 is the plain-language machine learning primer; skip it only if you have trained a model before.</a:t>
            </a:r>
            <a:endParaRPr/>
          </a:p>
        </p:txBody>
      </p:sp>
      <p:sp>
        <p:nvSpPr>
          <p:cNvPr id="40" name="Google Shape;4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slides are meant to be re-read alone at home, so every recurring marker means the same thing everywhere.</a:t>
            </a:r>
            <a:endParaRPr/>
          </a:p>
        </p:txBody>
      </p:sp>
      <p:sp>
        <p:nvSpPr>
          <p:cNvPr id="81" name="Google Shape;8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question carries the whole session: is this window a promoter or not?</a:t>
            </a:r>
            <a:endParaRPr/>
          </a:p>
        </p:txBody>
      </p:sp>
      <p:sp>
        <p:nvSpPr>
          <p:cNvPr id="96" name="Google Shape;9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Under two per cent of the genome codes for protein. The rest is what we have to interpret computationally.</a:t>
            </a:r>
            <a:endParaRPr/>
          </a:p>
        </p:txBody>
      </p:sp>
      <p:sp>
        <p:nvSpPr>
          <p:cNvPr id="122" name="Google Shape;12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signals, none of them present in every promoter. That absence is the reason we need a model.</a:t>
            </a:r>
            <a:endParaRPr/>
          </a:p>
        </p:txBody>
      </p:sp>
      <p:sp>
        <p:nvSpPr>
          <p:cNvPr id="153" name="Google Shape;15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300-base window in, one number between 0 and 1 out. Everything else is detail.</a:t>
            </a:r>
            <a:endParaRPr/>
          </a:p>
        </p:txBody>
      </p:sp>
      <p:sp>
        <p:nvSpPr>
          <p:cNvPr id="202" name="Google Shape;20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Illustrative numbers, but the shape is real: TATA boxes are neither necessary nor sufficient.</a:t>
            </a:r>
            <a:endParaRPr/>
          </a:p>
        </p:txBody>
      </p:sp>
      <p:sp>
        <p:nvSpPr>
          <p:cNvPr id="241" name="Google Shape;24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part assumes nothing. If you have trained a model before, it is a five-minute refresher.</a:t>
            </a:r>
            <a:endParaRPr/>
          </a:p>
        </p:txBody>
      </p:sp>
      <p:sp>
        <p:nvSpPr>
          <p:cNvPr id="284" name="Google Shape;28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difference is where the rule comes from: a person writes it, or the data produces it.</a:t>
            </a:r>
            <a:endParaRPr/>
          </a:p>
        </p:txBody>
      </p:sp>
      <p:sp>
        <p:nvSpPr>
          <p:cNvPr id="310" name="Google Shape;31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five words carry the rest of the deck. Everything else is a variation on them.</a:t>
            </a:r>
            <a:endParaRPr/>
          </a:p>
        </p:txBody>
      </p:sp>
      <p:sp>
        <p:nvSpPr>
          <p:cNvPr id="342" name="Google Shape;34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Guess, measure the error, nudge the dials, repeat. That loop is all of training.</a:t>
            </a:r>
            <a:endParaRPr/>
          </a:p>
        </p:txBody>
      </p:sp>
      <p:sp>
        <p:nvSpPr>
          <p:cNvPr id="392" name="Google Shape;39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piles of data, three different jobs. Touch the test set once.</a:t>
            </a:r>
            <a:endParaRPr/>
          </a:p>
        </p:txBody>
      </p:sp>
      <p:sp>
        <p:nvSpPr>
          <p:cNvPr id="428" name="Google Shape;42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borrow the machinery of language models, so first we have to decide what a DNA word is.</a:t>
            </a:r>
            <a:endParaRPr/>
          </a:p>
        </p:txBody>
      </p:sp>
      <p:sp>
        <p:nvSpPr>
          <p:cNvPr id="463" name="Google Shape;46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analogy is useful but it breaks in three specific places — say where.</a:t>
            </a:r>
            <a:endParaRPr/>
          </a:p>
        </p:txBody>
      </p:sp>
      <p:sp>
        <p:nvSpPr>
          <p:cNvPr id="492" name="Google Shape;49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Work this example on paper with them. Twelve bases, ten 3-mers, sixty-four counts.</a:t>
            </a:r>
            <a:endParaRPr/>
          </a:p>
        </p:txBody>
      </p:sp>
      <p:sp>
        <p:nvSpPr>
          <p:cNvPr id="550" name="Google Shape;55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 name="Google Shape;61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Tokenizer choice fixes what the model can notice, before any learning happens.</a:t>
            </a:r>
            <a:endParaRPr/>
          </a:p>
        </p:txBody>
      </p:sp>
      <p:sp>
        <p:nvSpPr>
          <p:cNvPr id="618" name="Google Shape;61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3" name="Google Shape;68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Compare, weigh, mix. Three steps, no equations needed.</a:t>
            </a:r>
            <a:endParaRPr/>
          </a:p>
        </p:txBody>
      </p:sp>
      <p:sp>
        <p:nvSpPr>
          <p:cNvPr id="684" name="Google Shape;68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Published figure from the DNABERT paper. Read the axes out loud before interpreting.</a:t>
            </a:r>
            <a:endParaRPr/>
          </a:p>
        </p:txBody>
      </p:sp>
      <p:sp>
        <p:nvSpPr>
          <p:cNvPr id="732" name="Google Shape;73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0" name="Google Shape;88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Someone else pays for the expensive training. We download the result.</a:t>
            </a:r>
            <a:endParaRPr/>
          </a:p>
        </p:txBody>
      </p:sp>
      <p:sp>
        <p:nvSpPr>
          <p:cNvPr id="881" name="Google Shape;88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 name="Google Shape;90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Self-supervised means the answer key is the sequence that was hidden.</a:t>
            </a:r>
            <a:endParaRPr/>
          </a:p>
        </p:txBody>
      </p:sp>
      <p:sp>
        <p:nvSpPr>
          <p:cNvPr id="904" name="Google Shape;90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0" name="Google Shape;95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this workshop the choice barely matters — the workflow is identical for every row.</a:t>
            </a:r>
            <a:endParaRPr/>
          </a:p>
        </p:txBody>
      </p:sp>
      <p:sp>
        <p:nvSpPr>
          <p:cNvPr id="951" name="Google Shape;95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0" name="Google Shape;102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Reach is a design choice, not a measure of understanding.</a:t>
            </a:r>
            <a:endParaRPr/>
          </a:p>
        </p:txBody>
      </p:sp>
      <p:sp>
        <p:nvSpPr>
          <p:cNvPr id="1021" name="Google Shape;102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we actually build the thing: embeddings in, logistic regression on top.</a:t>
            </a:r>
            <a:endParaRPr/>
          </a:p>
        </p:txBody>
      </p:sp>
      <p:sp>
        <p:nvSpPr>
          <p:cNvPr id="1060" name="Google Shape;106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8" name="Google Shape;108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 embedding is just a list of numbers that stands for one window.</a:t>
            </a:r>
            <a:endParaRPr/>
          </a:p>
        </p:txBody>
      </p:sp>
      <p:sp>
        <p:nvSpPr>
          <p:cNvPr id="1089" name="Google Shape;108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8" name="Google Shape;112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 windows, same model, before and after task training. Distances in 2-D are not real distances.</a:t>
            </a:r>
            <a:endParaRPr/>
          </a:p>
        </p:txBody>
      </p:sp>
      <p:sp>
        <p:nvSpPr>
          <p:cNvPr id="1129" name="Google Shape;112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5" name="Google Shape;115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Weigh, add, squash, decide. Walk the arithmetic line by line.</a:t>
            </a:r>
            <a:endParaRPr/>
          </a:p>
        </p:txBody>
      </p:sp>
      <p:sp>
        <p:nvSpPr>
          <p:cNvPr id="1156" name="Google Shape;115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7" name="Google Shape;121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probe rather than fine-tune: little to overfit, easy to interpret.</a:t>
            </a:r>
            <a:endParaRPr/>
          </a:p>
        </p:txBody>
      </p:sp>
      <p:sp>
        <p:nvSpPr>
          <p:cNvPr id="1218" name="Google Shape;121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3" name="Google Shape;127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cells. Everything later has to beat the baseline in step 2.</a:t>
            </a:r>
            <a:endParaRPr/>
          </a:p>
        </p:txBody>
      </p:sp>
      <p:sp>
        <p:nvSpPr>
          <p:cNvPr id="1274" name="Google Shape;1274;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8" name="Google Shape;131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things decide whether a number means anything: the metric, and what was held out.</a:t>
            </a:r>
            <a:endParaRPr/>
          </a:p>
        </p:txBody>
      </p:sp>
      <p:sp>
        <p:nvSpPr>
          <p:cNvPr id="1319" name="Google Shape;131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3" name="Google Shape;135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Accuracy is useless when the classes are unbalanced. Precision and recall are not.</a:t>
            </a:r>
            <a:endParaRPr/>
          </a:p>
        </p:txBody>
      </p:sp>
      <p:sp>
        <p:nvSpPr>
          <p:cNvPr id="1354" name="Google Shape;135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0" name="Google Shape;140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model never says yes or no. It gives a score. Everything on the last slide came from one arbitrary cut at 0.5.</a:t>
            </a:r>
            <a:endParaRPr/>
          </a:p>
        </p:txBody>
      </p:sp>
      <p:sp>
        <p:nvSpPr>
          <p:cNvPr id="1401" name="Google Shape;140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8" name="Google Shape;142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ROC curve is just the previous slide's three cut-offs, plotted — and then every other cut-off too.</a:t>
            </a:r>
            <a:endParaRPr/>
          </a:p>
        </p:txBody>
      </p:sp>
      <p:sp>
        <p:nvSpPr>
          <p:cNvPr id="1429" name="Google Shape;1429;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2" name="Google Shape;145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AUC is one number for the whole curve. Say the ranking definition out loud — it is the only one worth memorising.</a:t>
            </a:r>
            <a:endParaRPr/>
          </a:p>
        </p:txBody>
      </p:sp>
      <p:sp>
        <p:nvSpPr>
          <p:cNvPr id="1453" name="Google Shape;145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5" name="Google Shape;1485;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Ask this of any published score, including your own.</a:t>
            </a:r>
            <a:endParaRPr/>
          </a:p>
        </p:txBody>
      </p:sp>
      <p:sp>
        <p:nvSpPr>
          <p:cNvPr id="1486" name="Google Shape;1486;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1" name="Google Shape;153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 everything a model learns is biology.</a:t>
            </a:r>
            <a:endParaRPr/>
          </a:p>
        </p:txBody>
      </p:sp>
      <p:sp>
        <p:nvSpPr>
          <p:cNvPr id="1532" name="Google Shape;1532;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2" name="Shape 1562"/>
        <p:cNvGrpSpPr/>
        <p:nvPr/>
      </p:nvGrpSpPr>
      <p:grpSpPr>
        <a:xfrm>
          <a:off x="0" y="0"/>
          <a:ext cx="0" cy="0"/>
          <a:chOff x="0" y="0"/>
          <a:chExt cx="0" cy="0"/>
        </a:xfrm>
      </p:grpSpPr>
      <p:sp>
        <p:nvSpPr>
          <p:cNvPr id="1563" name="Google Shape;156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4" name="Google Shape;156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points, one sentence to keep.</a:t>
            </a:r>
            <a:endParaRPr/>
          </a:p>
        </p:txBody>
      </p:sp>
      <p:sp>
        <p:nvSpPr>
          <p:cNvPr id="1565" name="Google Shape;1565;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4" name="Google Shape;160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Reference slide for studying afterwards.</a:t>
            </a:r>
            <a:endParaRPr/>
          </a:p>
        </p:txBody>
      </p:sp>
      <p:sp>
        <p:nvSpPr>
          <p:cNvPr id="1605" name="Google Shape;1605;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8" name="Shape 1688"/>
        <p:cNvGrpSpPr/>
        <p:nvPr/>
      </p:nvGrpSpPr>
      <p:grpSpPr>
        <a:xfrm>
          <a:off x="0" y="0"/>
          <a:ext cx="0" cy="0"/>
          <a:chOff x="0" y="0"/>
          <a:chExt cx="0" cy="0"/>
        </a:xfrm>
      </p:grpSpPr>
      <p:sp>
        <p:nvSpPr>
          <p:cNvPr id="1689" name="Google Shape;168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0" name="Google Shape;169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study path in order, for people continuing on their own.</a:t>
            </a:r>
            <a:endParaRPr/>
          </a:p>
        </p:txBody>
      </p:sp>
      <p:sp>
        <p:nvSpPr>
          <p:cNvPr id="1691" name="Google Shape;1691;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6" name="Google Shape;172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Questions before we open the notebook.</a:t>
            </a:r>
            <a:endParaRPr/>
          </a:p>
        </p:txBody>
      </p:sp>
      <p:sp>
        <p:nvSpPr>
          <p:cNvPr id="1727" name="Google Shape;1727;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23A"/>
        </a:solidFill>
      </p:bgPr>
    </p:bg>
    <p:spTree>
      <p:nvGrpSpPr>
        <p:cNvPr id="15" name="Shape 15"/>
        <p:cNvGrpSpPr/>
        <p:nvPr/>
      </p:nvGrpSpPr>
      <p:grpSpPr>
        <a:xfrm>
          <a:off x="0" y="0"/>
          <a:ext cx="0" cy="0"/>
          <a:chOff x="0" y="0"/>
          <a:chExt cx="0" cy="0"/>
        </a:xfrm>
      </p:grpSpPr>
      <p:pic>
        <p:nvPicPr>
          <p:cNvPr descr="preencoded.png" id="16" name="Google Shape;16;p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17" name="Google Shape;17;p1"/>
          <p:cNvSpPr/>
          <p:nvPr/>
        </p:nvSpPr>
        <p:spPr>
          <a:xfrm>
            <a:off x="914400" y="723900"/>
            <a:ext cx="10269915"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9BBD6"/>
              </a:buClr>
              <a:buSzPts val="1800"/>
              <a:buFont typeface="Helvetica Neue"/>
              <a:buNone/>
            </a:pPr>
            <a:r>
              <a:rPr b="0" i="0" lang="en-US" sz="2300" u="none" cap="none" strike="noStrike">
                <a:solidFill>
                  <a:schemeClr val="lt1"/>
                </a:solidFill>
                <a:latin typeface="Helvetica Neue"/>
                <a:ea typeface="Helvetica Neue"/>
                <a:cs typeface="Helvetica Neue"/>
                <a:sym typeface="Helvetica Neue"/>
              </a:rPr>
              <a:t>DBT-BIC-NNP-TREE GENOME INFORMATICS · GENOME HACKWEEK 2026</a:t>
            </a:r>
            <a:endParaRPr b="0" i="0" sz="2300" u="none" cap="none" strike="noStrike">
              <a:solidFill>
                <a:schemeClr val="lt1"/>
              </a:solidFill>
              <a:latin typeface="Calibri"/>
              <a:ea typeface="Calibri"/>
              <a:cs typeface="Calibri"/>
              <a:sym typeface="Calibri"/>
            </a:endParaRPr>
          </a:p>
        </p:txBody>
      </p:sp>
      <p:sp>
        <p:nvSpPr>
          <p:cNvPr id="18" name="Google Shape;18;p1"/>
          <p:cNvSpPr/>
          <p:nvPr/>
        </p:nvSpPr>
        <p:spPr>
          <a:xfrm>
            <a:off x="914400" y="2499598"/>
            <a:ext cx="914400" cy="47625"/>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914400" y="2871073"/>
            <a:ext cx="14716125" cy="2058829"/>
          </a:xfrm>
          <a:prstGeom prst="rect">
            <a:avLst/>
          </a:prstGeom>
          <a:noFill/>
          <a:ln>
            <a:noFill/>
          </a:ln>
        </p:spPr>
        <p:txBody>
          <a:bodyPr anchorCtr="0" anchor="t" bIns="25400" lIns="25400" spcFirstLastPara="1" rIns="25400" wrap="square" tIns="25400">
            <a:normAutofit/>
          </a:bodyPr>
          <a:lstStyle/>
          <a:p>
            <a:pPr indent="0" lvl="0" marL="0" marR="0" rtl="0" algn="l">
              <a:lnSpc>
                <a:spcPct val="88400"/>
              </a:lnSpc>
              <a:spcBef>
                <a:spcPts val="0"/>
              </a:spcBef>
              <a:spcAft>
                <a:spcPts val="0"/>
              </a:spcAft>
              <a:buClr>
                <a:srgbClr val="FFFFFF"/>
              </a:buClr>
              <a:buSzPts val="7800"/>
              <a:buFont typeface="Helvetica Neue"/>
              <a:buNone/>
            </a:pPr>
            <a:r>
              <a:rPr b="1" i="0" lang="en-US" sz="7800" u="none" cap="none" strike="noStrike">
                <a:solidFill>
                  <a:srgbClr val="FFFFFF"/>
                </a:solidFill>
                <a:latin typeface="Helvetica Neue"/>
                <a:ea typeface="Helvetica Neue"/>
                <a:cs typeface="Helvetica Neue"/>
                <a:sym typeface="Helvetica Neue"/>
              </a:rPr>
              <a:t>Teaching a computer to read DNA</a:t>
            </a:r>
            <a:endParaRPr b="0" i="0" sz="7800" u="none" cap="none" strike="noStrike">
              <a:solidFill>
                <a:schemeClr val="dk1"/>
              </a:solidFill>
              <a:latin typeface="Calibri"/>
              <a:ea typeface="Calibri"/>
              <a:cs typeface="Calibri"/>
              <a:sym typeface="Calibri"/>
            </a:endParaRPr>
          </a:p>
        </p:txBody>
      </p:sp>
      <p:sp>
        <p:nvSpPr>
          <p:cNvPr id="20" name="Google Shape;20;p1"/>
          <p:cNvSpPr/>
          <p:nvPr/>
        </p:nvSpPr>
        <p:spPr>
          <a:xfrm>
            <a:off x="914400" y="5215652"/>
            <a:ext cx="12950190" cy="1051560"/>
          </a:xfrm>
          <a:prstGeom prst="rect">
            <a:avLst/>
          </a:prstGeom>
          <a:noFill/>
          <a:ln>
            <a:noFill/>
          </a:ln>
        </p:spPr>
        <p:txBody>
          <a:bodyPr anchorCtr="0" anchor="t" bIns="25400" lIns="25400" spcFirstLastPara="1" rIns="25400" wrap="square" tIns="25400">
            <a:normAutofit/>
          </a:bodyPr>
          <a:lstStyle/>
          <a:p>
            <a:pPr indent="0" lvl="0" marL="0" marR="0" rtl="0" algn="l">
              <a:lnSpc>
                <a:spcPct val="120909"/>
              </a:lnSpc>
              <a:spcBef>
                <a:spcPts val="0"/>
              </a:spcBef>
              <a:spcAft>
                <a:spcPts val="0"/>
              </a:spcAft>
              <a:buClr>
                <a:srgbClr val="C8D6EA"/>
              </a:buClr>
              <a:buSzPts val="2850"/>
              <a:buFont typeface="Helvetica Neue"/>
              <a:buNone/>
            </a:pPr>
            <a:r>
              <a:rPr b="0" i="0" lang="en-US" sz="2850" u="none" cap="none" strike="noStrike">
                <a:solidFill>
                  <a:schemeClr val="lt1"/>
                </a:solidFill>
                <a:latin typeface="Helvetica Neue"/>
                <a:ea typeface="Helvetica Neue"/>
                <a:cs typeface="Helvetica Neue"/>
                <a:sym typeface="Helvetica Neue"/>
              </a:rPr>
              <a:t>Machine learning and classifiers on biological sequence — built from scratch, for people who have never trained a model.</a:t>
            </a:r>
            <a:endParaRPr b="0" i="0" sz="2850" u="none" cap="none" strike="noStrike">
              <a:solidFill>
                <a:schemeClr val="lt1"/>
              </a:solidFill>
              <a:latin typeface="Calibri"/>
              <a:ea typeface="Calibri"/>
              <a:cs typeface="Calibri"/>
              <a:sym typeface="Calibri"/>
            </a:endParaRPr>
          </a:p>
        </p:txBody>
      </p:sp>
      <p:sp>
        <p:nvSpPr>
          <p:cNvPr id="21" name="Google Shape;21;p1"/>
          <p:cNvSpPr/>
          <p:nvPr/>
        </p:nvSpPr>
        <p:spPr>
          <a:xfrm>
            <a:off x="914400" y="6552962"/>
            <a:ext cx="1923098" cy="541020"/>
          </a:xfrm>
          <a:prstGeom prst="rect">
            <a:avLst/>
          </a:prstGeom>
          <a:noFill/>
          <a:ln cap="flat" cmpd="sng" w="9525">
            <a:solidFill>
              <a:srgbClr val="5362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1150620" y="6693932"/>
            <a:ext cx="152685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Helvetica Neue"/>
              <a:buNone/>
            </a:pPr>
            <a:r>
              <a:rPr b="0" i="0" lang="en-US" sz="1800" u="none" cap="none" strike="noStrike">
                <a:solidFill>
                  <a:srgbClr val="FFFFFF"/>
                </a:solidFill>
                <a:latin typeface="Helvetica Neue"/>
                <a:ea typeface="Helvetica Neue"/>
                <a:cs typeface="Helvetica Neue"/>
                <a:sym typeface="Helvetica Neue"/>
              </a:rPr>
              <a:t>SEQUENCE</a:t>
            </a:r>
            <a:endParaRPr b="0" i="0" sz="1800" u="none" cap="none" strike="noStrike">
              <a:solidFill>
                <a:schemeClr val="dk1"/>
              </a:solidFill>
              <a:latin typeface="Calibri"/>
              <a:ea typeface="Calibri"/>
              <a:cs typeface="Calibri"/>
              <a:sym typeface="Calibri"/>
            </a:endParaRPr>
          </a:p>
        </p:txBody>
      </p:sp>
      <p:sp>
        <p:nvSpPr>
          <p:cNvPr id="23" name="Google Shape;23;p1"/>
          <p:cNvSpPr/>
          <p:nvPr/>
        </p:nvSpPr>
        <p:spPr>
          <a:xfrm>
            <a:off x="3085147" y="6693932"/>
            <a:ext cx="325755"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0" i="0" lang="en-US" sz="1800" u="none" cap="none" strike="noStrike">
                <a:solidFill>
                  <a:srgbClr val="E8A317"/>
                </a:solidFill>
                <a:latin typeface="Helvetica Neue"/>
                <a:ea typeface="Helvetica Neue"/>
                <a:cs typeface="Helvetica Neue"/>
                <a:sym typeface="Helvetica Neue"/>
              </a:rPr>
              <a:t>→</a:t>
            </a:r>
            <a:endParaRPr b="0" i="0" sz="1800" u="none" cap="none" strike="noStrike">
              <a:solidFill>
                <a:schemeClr val="dk1"/>
              </a:solidFill>
              <a:latin typeface="Calibri"/>
              <a:ea typeface="Calibri"/>
              <a:cs typeface="Calibri"/>
              <a:sym typeface="Calibri"/>
            </a:endParaRPr>
          </a:p>
        </p:txBody>
      </p:sp>
      <p:sp>
        <p:nvSpPr>
          <p:cNvPr id="24" name="Google Shape;24;p1"/>
          <p:cNvSpPr/>
          <p:nvPr/>
        </p:nvSpPr>
        <p:spPr>
          <a:xfrm>
            <a:off x="3582353" y="6552962"/>
            <a:ext cx="1762244" cy="541020"/>
          </a:xfrm>
          <a:prstGeom prst="rect">
            <a:avLst/>
          </a:prstGeom>
          <a:noFill/>
          <a:ln cap="flat" cmpd="sng" w="9525">
            <a:solidFill>
              <a:srgbClr val="5362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3818573" y="6693932"/>
            <a:ext cx="1366004"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Helvetica Neue"/>
              <a:buNone/>
            </a:pPr>
            <a:r>
              <a:rPr b="0" i="0" lang="en-US" sz="1800" u="none" cap="none" strike="noStrike">
                <a:solidFill>
                  <a:srgbClr val="FFFFFF"/>
                </a:solidFill>
                <a:latin typeface="Helvetica Neue"/>
                <a:ea typeface="Helvetica Neue"/>
                <a:cs typeface="Helvetica Neue"/>
                <a:sym typeface="Helvetica Neue"/>
              </a:rPr>
              <a:t>NUMBERS</a:t>
            </a:r>
            <a:endParaRPr b="0" i="0" sz="1800" u="none" cap="none" strike="noStrike">
              <a:solidFill>
                <a:schemeClr val="dk1"/>
              </a:solidFill>
              <a:latin typeface="Calibri"/>
              <a:ea typeface="Calibri"/>
              <a:cs typeface="Calibri"/>
              <a:sym typeface="Calibri"/>
            </a:endParaRPr>
          </a:p>
        </p:txBody>
      </p:sp>
      <p:sp>
        <p:nvSpPr>
          <p:cNvPr id="26" name="Google Shape;26;p1"/>
          <p:cNvSpPr/>
          <p:nvPr/>
        </p:nvSpPr>
        <p:spPr>
          <a:xfrm>
            <a:off x="5592246" y="6693932"/>
            <a:ext cx="325755"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0" i="0" lang="en-US" sz="1800" u="none" cap="none" strike="noStrike">
                <a:solidFill>
                  <a:srgbClr val="E8A317"/>
                </a:solidFill>
                <a:latin typeface="Helvetica Neue"/>
                <a:ea typeface="Helvetica Neue"/>
                <a:cs typeface="Helvetica Neue"/>
                <a:sym typeface="Helvetica Neue"/>
              </a:rPr>
              <a:t>→</a:t>
            </a:r>
            <a:endParaRPr b="0" i="0" sz="1800" u="none" cap="none" strike="noStrike">
              <a:solidFill>
                <a:schemeClr val="dk1"/>
              </a:solidFill>
              <a:latin typeface="Calibri"/>
              <a:ea typeface="Calibri"/>
              <a:cs typeface="Calibri"/>
              <a:sym typeface="Calibri"/>
            </a:endParaRPr>
          </a:p>
        </p:txBody>
      </p:sp>
      <p:sp>
        <p:nvSpPr>
          <p:cNvPr id="27" name="Google Shape;27;p1"/>
          <p:cNvSpPr/>
          <p:nvPr/>
        </p:nvSpPr>
        <p:spPr>
          <a:xfrm>
            <a:off x="6089452" y="6552962"/>
            <a:ext cx="2015966" cy="541020"/>
          </a:xfrm>
          <a:prstGeom prst="rect">
            <a:avLst/>
          </a:prstGeom>
          <a:noFill/>
          <a:ln cap="flat" cmpd="sng" w="9525">
            <a:solidFill>
              <a:srgbClr val="5362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6325672" y="6693932"/>
            <a:ext cx="161972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Helvetica Neue"/>
              <a:buNone/>
            </a:pPr>
            <a:r>
              <a:rPr b="0" i="0" lang="en-US" sz="1800" u="none" cap="none" strike="noStrike">
                <a:solidFill>
                  <a:srgbClr val="FFFFFF"/>
                </a:solidFill>
                <a:latin typeface="Helvetica Neue"/>
                <a:ea typeface="Helvetica Neue"/>
                <a:cs typeface="Helvetica Neue"/>
                <a:sym typeface="Helvetica Neue"/>
              </a:rPr>
              <a:t>CLASSIFIER</a:t>
            </a:r>
            <a:endParaRPr b="0" i="0" sz="1800" u="none" cap="none" strike="noStrike">
              <a:solidFill>
                <a:schemeClr val="dk1"/>
              </a:solidFill>
              <a:latin typeface="Calibri"/>
              <a:ea typeface="Calibri"/>
              <a:cs typeface="Calibri"/>
              <a:sym typeface="Calibri"/>
            </a:endParaRPr>
          </a:p>
        </p:txBody>
      </p:sp>
      <p:sp>
        <p:nvSpPr>
          <p:cNvPr id="29" name="Google Shape;29;p1"/>
          <p:cNvSpPr/>
          <p:nvPr/>
        </p:nvSpPr>
        <p:spPr>
          <a:xfrm>
            <a:off x="8353068" y="6693932"/>
            <a:ext cx="325755"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0" i="0" lang="en-US" sz="1800" u="none" cap="none" strike="noStrike">
                <a:solidFill>
                  <a:srgbClr val="E8A317"/>
                </a:solidFill>
                <a:latin typeface="Helvetica Neue"/>
                <a:ea typeface="Helvetica Neue"/>
                <a:cs typeface="Helvetica Neue"/>
                <a:sym typeface="Helvetica Neue"/>
              </a:rPr>
              <a:t>→</a:t>
            </a:r>
            <a:endParaRPr b="0" i="0" sz="1800" u="none" cap="none" strike="noStrike">
              <a:solidFill>
                <a:schemeClr val="dk1"/>
              </a:solidFill>
              <a:latin typeface="Calibri"/>
              <a:ea typeface="Calibri"/>
              <a:cs typeface="Calibri"/>
              <a:sym typeface="Calibri"/>
            </a:endParaRPr>
          </a:p>
        </p:txBody>
      </p:sp>
      <p:sp>
        <p:nvSpPr>
          <p:cNvPr id="30" name="Google Shape;30;p1"/>
          <p:cNvSpPr/>
          <p:nvPr/>
        </p:nvSpPr>
        <p:spPr>
          <a:xfrm>
            <a:off x="8850273" y="6552962"/>
            <a:ext cx="2548890" cy="541020"/>
          </a:xfrm>
          <a:prstGeom prst="rect">
            <a:avLst/>
          </a:prstGeom>
          <a:noFill/>
          <a:ln cap="flat" cmpd="sng" w="9525">
            <a:solidFill>
              <a:srgbClr val="5362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9086493" y="6693932"/>
            <a:ext cx="215291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800"/>
              <a:buFont typeface="Helvetica Neue"/>
              <a:buNone/>
            </a:pPr>
            <a:r>
              <a:rPr b="0" i="0" lang="en-US" sz="1800" u="none" cap="none" strike="noStrike">
                <a:solidFill>
                  <a:srgbClr val="FFFFFF"/>
                </a:solidFill>
                <a:latin typeface="Helvetica Neue"/>
                <a:ea typeface="Helvetica Neue"/>
                <a:cs typeface="Helvetica Neue"/>
                <a:sym typeface="Helvetica Neue"/>
              </a:rPr>
              <a:t>HONEST SCORE</a:t>
            </a:r>
            <a:endParaRPr b="0" i="0" sz="1800" u="none" cap="none" strike="noStrike">
              <a:solidFill>
                <a:schemeClr val="dk1"/>
              </a:solidFill>
              <a:latin typeface="Calibri"/>
              <a:ea typeface="Calibri"/>
              <a:cs typeface="Calibri"/>
              <a:sym typeface="Calibri"/>
            </a:endParaRPr>
          </a:p>
        </p:txBody>
      </p:sp>
      <p:sp>
        <p:nvSpPr>
          <p:cNvPr id="32" name="Google Shape;32;p1"/>
          <p:cNvSpPr/>
          <p:nvPr/>
        </p:nvSpPr>
        <p:spPr>
          <a:xfrm>
            <a:off x="914400" y="8877300"/>
            <a:ext cx="5185315"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31250"/>
              </a:lnSpc>
              <a:spcBef>
                <a:spcPts val="0"/>
              </a:spcBef>
              <a:spcAft>
                <a:spcPts val="0"/>
              </a:spcAft>
              <a:buClr>
                <a:srgbClr val="FFFFFF"/>
              </a:buClr>
              <a:buSzPts val="2100"/>
              <a:buFont typeface="Helvetica Neue"/>
              <a:buNone/>
            </a:pPr>
            <a:r>
              <a:rPr b="1" i="0" lang="en-US" sz="2100" u="none" cap="none" strike="noStrike">
                <a:solidFill>
                  <a:srgbClr val="FFFFFF"/>
                </a:solidFill>
                <a:latin typeface="Helvetica Neue"/>
                <a:ea typeface="Helvetica Neue"/>
                <a:cs typeface="Helvetica Neue"/>
                <a:sym typeface="Helvetica Neue"/>
              </a:rPr>
              <a:t>Aditya Upadhyay</a:t>
            </a:r>
            <a:endParaRPr b="0" i="0" sz="2100" u="none" cap="none" strike="noStrike">
              <a:solidFill>
                <a:schemeClr val="dk1"/>
              </a:solidFill>
              <a:latin typeface="Calibri"/>
              <a:ea typeface="Calibri"/>
              <a:cs typeface="Calibri"/>
              <a:sym typeface="Calibri"/>
            </a:endParaRPr>
          </a:p>
        </p:txBody>
      </p:sp>
      <p:sp>
        <p:nvSpPr>
          <p:cNvPr id="33" name="Google Shape;33;p1"/>
          <p:cNvSpPr/>
          <p:nvPr/>
        </p:nvSpPr>
        <p:spPr>
          <a:xfrm>
            <a:off x="914400" y="9277350"/>
            <a:ext cx="5185315"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31250"/>
              </a:lnSpc>
              <a:spcBef>
                <a:spcPts val="0"/>
              </a:spcBef>
              <a:spcAft>
                <a:spcPts val="0"/>
              </a:spcAft>
              <a:buClr>
                <a:srgbClr val="C8D6EA"/>
              </a:buClr>
              <a:buSzPts val="2100"/>
              <a:buFont typeface="Helvetica Neue"/>
              <a:buNone/>
            </a:pPr>
            <a:r>
              <a:rPr b="0" i="0" lang="en-US" sz="2100" u="none" cap="none" strike="noStrike">
                <a:solidFill>
                  <a:srgbClr val="C8D6EA"/>
                </a:solidFill>
                <a:latin typeface="Helvetica Neue"/>
                <a:ea typeface="Helvetica Neue"/>
                <a:cs typeface="Helvetica Neue"/>
                <a:sym typeface="Helvetica Neue"/>
              </a:rPr>
              <a:t>CSIR-IICB, Kolkata · 2 September 2026</a:t>
            </a:r>
            <a:endParaRPr b="0" i="0" sz="2100" u="none" cap="none" strike="noStrike">
              <a:solidFill>
                <a:schemeClr val="dk1"/>
              </a:solidFill>
              <a:latin typeface="Calibri"/>
              <a:ea typeface="Calibri"/>
              <a:cs typeface="Calibri"/>
              <a:sym typeface="Calibri"/>
            </a:endParaRPr>
          </a:p>
        </p:txBody>
      </p:sp>
      <p:pic>
        <p:nvPicPr>
          <p:cNvPr descr="preencoded.png" id="34" name="Google Shape;34;p1"/>
          <p:cNvPicPr preferRelativeResize="0"/>
          <p:nvPr/>
        </p:nvPicPr>
        <p:blipFill rotWithShape="1">
          <a:blip r:embed="rId4">
            <a:alphaModFix/>
          </a:blip>
          <a:srcRect b="0" l="0" r="0" t="0"/>
          <a:stretch/>
        </p:blipFill>
        <p:spPr>
          <a:xfrm>
            <a:off x="13159477" y="457800"/>
            <a:ext cx="1313598" cy="1313598"/>
          </a:xfrm>
          <a:prstGeom prst="rect">
            <a:avLst/>
          </a:prstGeom>
          <a:noFill/>
          <a:ln>
            <a:noFill/>
          </a:ln>
        </p:spPr>
      </p:pic>
      <p:pic>
        <p:nvPicPr>
          <p:cNvPr descr="preencoded.png" id="35" name="Google Shape;35;p1"/>
          <p:cNvPicPr preferRelativeResize="0"/>
          <p:nvPr/>
        </p:nvPicPr>
        <p:blipFill rotWithShape="1">
          <a:blip r:embed="rId5">
            <a:alphaModFix/>
          </a:blip>
          <a:srcRect b="0" l="0" r="0" t="0"/>
          <a:stretch/>
        </p:blipFill>
        <p:spPr>
          <a:xfrm>
            <a:off x="15095309" y="457800"/>
            <a:ext cx="1075078" cy="1313600"/>
          </a:xfrm>
          <a:prstGeom prst="rect">
            <a:avLst/>
          </a:prstGeom>
          <a:noFill/>
          <a:ln>
            <a:noFill/>
          </a:ln>
        </p:spPr>
      </p:pic>
      <p:pic>
        <p:nvPicPr>
          <p:cNvPr descr="preencoded.png" id="36" name="Google Shape;36;p1"/>
          <p:cNvPicPr preferRelativeResize="0"/>
          <p:nvPr/>
        </p:nvPicPr>
        <p:blipFill rotWithShape="1">
          <a:blip r:embed="rId6">
            <a:alphaModFix/>
          </a:blip>
          <a:srcRect b="0" l="0" r="0" t="0"/>
          <a:stretch/>
        </p:blipFill>
        <p:spPr>
          <a:xfrm>
            <a:off x="16792619" y="457800"/>
            <a:ext cx="1187209" cy="1313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2"/>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44" name="Google Shape;44;p2"/>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45" name="Google Shape;45;p2"/>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SIX PARTS</a:t>
            </a:r>
            <a:endParaRPr b="0" i="0" sz="1800" u="none" cap="none" strike="noStrike">
              <a:solidFill>
                <a:schemeClr val="dk1"/>
              </a:solidFill>
              <a:latin typeface="Calibri"/>
              <a:ea typeface="Calibri"/>
              <a:cs typeface="Calibri"/>
              <a:sym typeface="Calibri"/>
            </a:endParaRPr>
          </a:p>
        </p:txBody>
      </p:sp>
      <p:sp>
        <p:nvSpPr>
          <p:cNvPr id="46" name="Google Shape;46;p2"/>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Contents</a:t>
            </a:r>
            <a:endParaRPr b="0" i="0" sz="4500" u="none" cap="none" strike="noStrike">
              <a:solidFill>
                <a:schemeClr val="dk1"/>
              </a:solidFill>
              <a:latin typeface="Calibri"/>
              <a:ea typeface="Calibri"/>
              <a:cs typeface="Calibri"/>
              <a:sym typeface="Calibri"/>
            </a:endParaRPr>
          </a:p>
        </p:txBody>
      </p:sp>
      <p:sp>
        <p:nvSpPr>
          <p:cNvPr id="47" name="Google Shape;47;p2"/>
          <p:cNvSpPr/>
          <p:nvPr/>
        </p:nvSpPr>
        <p:spPr>
          <a:xfrm>
            <a:off x="838200" y="2524125"/>
            <a:ext cx="79629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838200" y="2710815"/>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01</a:t>
            </a:r>
            <a:endParaRPr b="0" i="0" sz="2100" u="none" cap="none" strike="noStrike">
              <a:solidFill>
                <a:schemeClr val="dk1"/>
              </a:solidFill>
              <a:latin typeface="Calibri"/>
              <a:ea typeface="Calibri"/>
              <a:cs typeface="Calibri"/>
              <a:sym typeface="Calibri"/>
            </a:endParaRPr>
          </a:p>
        </p:txBody>
      </p:sp>
      <p:sp>
        <p:nvSpPr>
          <p:cNvPr id="49" name="Google Shape;49;p2"/>
          <p:cNvSpPr/>
          <p:nvPr/>
        </p:nvSpPr>
        <p:spPr>
          <a:xfrm>
            <a:off x="1386840" y="2710815"/>
            <a:ext cx="8155686" cy="403860"/>
          </a:xfrm>
          <a:prstGeom prst="rect">
            <a:avLst/>
          </a:prstGeom>
          <a:noFill/>
          <a:ln>
            <a:noFill/>
          </a:ln>
        </p:spPr>
        <p:txBody>
          <a:bodyPr anchorCtr="0" anchor="t" bIns="25400" lIns="25400" spcFirstLastPara="1" rIns="25400" wrap="square" tIns="25400">
            <a:normAutofit/>
          </a:bodyPr>
          <a:lstStyle/>
          <a:p>
            <a:pPr indent="0" lvl="0" marL="0" marR="0" rtl="0" algn="l">
              <a:lnSpc>
                <a:spcPct val="106667"/>
              </a:lnSpc>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Why classify DNA?</a:t>
            </a:r>
            <a:endParaRPr b="0" i="0" sz="2400" u="none" cap="none" strike="noStrike">
              <a:solidFill>
                <a:schemeClr val="dk1"/>
              </a:solidFill>
              <a:latin typeface="Calibri"/>
              <a:ea typeface="Calibri"/>
              <a:cs typeface="Calibri"/>
              <a:sym typeface="Calibri"/>
            </a:endParaRPr>
          </a:p>
        </p:txBody>
      </p:sp>
      <p:sp>
        <p:nvSpPr>
          <p:cNvPr id="50" name="Google Shape;50;p2"/>
          <p:cNvSpPr/>
          <p:nvPr/>
        </p:nvSpPr>
        <p:spPr>
          <a:xfrm>
            <a:off x="1386840" y="3152775"/>
            <a:ext cx="7636688"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What a promoter is, and why searching for a keyword will not find one</a:t>
            </a:r>
            <a:endParaRPr b="0" i="0" sz="1950" u="none" cap="none" strike="noStrike">
              <a:solidFill>
                <a:schemeClr val="dk1"/>
              </a:solidFill>
              <a:latin typeface="Calibri"/>
              <a:ea typeface="Calibri"/>
              <a:cs typeface="Calibri"/>
              <a:sym typeface="Calibri"/>
            </a:endParaRPr>
          </a:p>
        </p:txBody>
      </p:sp>
      <p:sp>
        <p:nvSpPr>
          <p:cNvPr id="51" name="Google Shape;51;p2"/>
          <p:cNvSpPr/>
          <p:nvPr/>
        </p:nvSpPr>
        <p:spPr>
          <a:xfrm>
            <a:off x="9486900" y="2524125"/>
            <a:ext cx="79629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9486900" y="2710815"/>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02</a:t>
            </a:r>
            <a:endParaRPr b="0" i="0" sz="2100" u="none" cap="none" strike="noStrike">
              <a:solidFill>
                <a:schemeClr val="dk1"/>
              </a:solidFill>
              <a:latin typeface="Calibri"/>
              <a:ea typeface="Calibri"/>
              <a:cs typeface="Calibri"/>
              <a:sym typeface="Calibri"/>
            </a:endParaRPr>
          </a:p>
        </p:txBody>
      </p:sp>
      <p:sp>
        <p:nvSpPr>
          <p:cNvPr id="53" name="Google Shape;53;p2"/>
          <p:cNvSpPr/>
          <p:nvPr/>
        </p:nvSpPr>
        <p:spPr>
          <a:xfrm>
            <a:off x="10035540" y="2710815"/>
            <a:ext cx="8096488" cy="403860"/>
          </a:xfrm>
          <a:prstGeom prst="rect">
            <a:avLst/>
          </a:prstGeom>
          <a:noFill/>
          <a:ln>
            <a:noFill/>
          </a:ln>
        </p:spPr>
        <p:txBody>
          <a:bodyPr anchorCtr="0" anchor="t" bIns="25400" lIns="25400" spcFirstLastPara="1" rIns="25400" wrap="square" tIns="25400">
            <a:normAutofit/>
          </a:bodyPr>
          <a:lstStyle/>
          <a:p>
            <a:pPr indent="0" lvl="0" marL="0" marR="0" rtl="0" algn="l">
              <a:lnSpc>
                <a:spcPct val="106667"/>
              </a:lnSpc>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Machine learning in plain terms</a:t>
            </a:r>
            <a:endParaRPr b="0" i="0" sz="2400" u="none" cap="none" strike="noStrike">
              <a:solidFill>
                <a:schemeClr val="dk1"/>
              </a:solidFill>
              <a:latin typeface="Calibri"/>
              <a:ea typeface="Calibri"/>
              <a:cs typeface="Calibri"/>
              <a:sym typeface="Calibri"/>
            </a:endParaRPr>
          </a:p>
        </p:txBody>
      </p:sp>
      <p:sp>
        <p:nvSpPr>
          <p:cNvPr id="54" name="Google Shape;54;p2"/>
          <p:cNvSpPr/>
          <p:nvPr/>
        </p:nvSpPr>
        <p:spPr>
          <a:xfrm>
            <a:off x="10035540" y="3152775"/>
            <a:ext cx="8096488" cy="38481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Features, labels, training and testing — the whole vocabulary, once</a:t>
            </a:r>
            <a:endParaRPr b="0" i="0" sz="1950" u="none" cap="none" strike="noStrike">
              <a:solidFill>
                <a:schemeClr val="dk1"/>
              </a:solidFill>
              <a:latin typeface="Calibri"/>
              <a:ea typeface="Calibri"/>
              <a:cs typeface="Calibri"/>
              <a:sym typeface="Calibri"/>
            </a:endParaRPr>
          </a:p>
        </p:txBody>
      </p:sp>
      <p:sp>
        <p:nvSpPr>
          <p:cNvPr id="55" name="Google Shape;55;p2"/>
          <p:cNvSpPr/>
          <p:nvPr/>
        </p:nvSpPr>
        <p:spPr>
          <a:xfrm>
            <a:off x="838200" y="4131945"/>
            <a:ext cx="79629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838200" y="4318635"/>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03</a:t>
            </a:r>
            <a:endParaRPr b="0" i="0" sz="2100" u="none" cap="none" strike="noStrike">
              <a:solidFill>
                <a:schemeClr val="dk1"/>
              </a:solidFill>
              <a:latin typeface="Calibri"/>
              <a:ea typeface="Calibri"/>
              <a:cs typeface="Calibri"/>
              <a:sym typeface="Calibri"/>
            </a:endParaRPr>
          </a:p>
        </p:txBody>
      </p:sp>
      <p:sp>
        <p:nvSpPr>
          <p:cNvPr id="57" name="Google Shape;57;p2"/>
          <p:cNvSpPr/>
          <p:nvPr/>
        </p:nvSpPr>
        <p:spPr>
          <a:xfrm>
            <a:off x="1386840" y="4318635"/>
            <a:ext cx="7768150" cy="403860"/>
          </a:xfrm>
          <a:prstGeom prst="rect">
            <a:avLst/>
          </a:prstGeom>
          <a:noFill/>
          <a:ln>
            <a:noFill/>
          </a:ln>
        </p:spPr>
        <p:txBody>
          <a:bodyPr anchorCtr="0" anchor="t" bIns="25400" lIns="25400" spcFirstLastPara="1" rIns="25400" wrap="square" tIns="25400">
            <a:normAutofit/>
          </a:bodyPr>
          <a:lstStyle/>
          <a:p>
            <a:pPr indent="0" lvl="0" marL="0" marR="0" rtl="0" algn="l">
              <a:lnSpc>
                <a:spcPct val="106667"/>
              </a:lnSpc>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DNA as a language</a:t>
            </a:r>
            <a:endParaRPr b="0" i="0" sz="2400" u="none" cap="none" strike="noStrike">
              <a:solidFill>
                <a:schemeClr val="dk1"/>
              </a:solidFill>
              <a:latin typeface="Calibri"/>
              <a:ea typeface="Calibri"/>
              <a:cs typeface="Calibri"/>
              <a:sym typeface="Calibri"/>
            </a:endParaRPr>
          </a:p>
        </p:txBody>
      </p:sp>
      <p:sp>
        <p:nvSpPr>
          <p:cNvPr id="58" name="Google Shape;58;p2"/>
          <p:cNvSpPr/>
          <p:nvPr/>
        </p:nvSpPr>
        <p:spPr>
          <a:xfrm>
            <a:off x="1386840" y="4760595"/>
            <a:ext cx="7768150" cy="38481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Letters, k-mer words, counting features, and what attention does</a:t>
            </a:r>
            <a:endParaRPr b="0" i="0" sz="1950" u="none" cap="none" strike="noStrike">
              <a:solidFill>
                <a:schemeClr val="dk1"/>
              </a:solidFill>
              <a:latin typeface="Calibri"/>
              <a:ea typeface="Calibri"/>
              <a:cs typeface="Calibri"/>
              <a:sym typeface="Calibri"/>
            </a:endParaRPr>
          </a:p>
        </p:txBody>
      </p:sp>
      <p:sp>
        <p:nvSpPr>
          <p:cNvPr id="59" name="Google Shape;59;p2"/>
          <p:cNvSpPr/>
          <p:nvPr/>
        </p:nvSpPr>
        <p:spPr>
          <a:xfrm>
            <a:off x="9486900" y="4131945"/>
            <a:ext cx="79629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9486900" y="4318635"/>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04</a:t>
            </a:r>
            <a:endParaRPr b="0" i="0" sz="2100" u="none" cap="none" strike="noStrike">
              <a:solidFill>
                <a:schemeClr val="dk1"/>
              </a:solidFill>
              <a:latin typeface="Calibri"/>
              <a:ea typeface="Calibri"/>
              <a:cs typeface="Calibri"/>
              <a:sym typeface="Calibri"/>
            </a:endParaRPr>
          </a:p>
        </p:txBody>
      </p:sp>
      <p:sp>
        <p:nvSpPr>
          <p:cNvPr id="61" name="Google Shape;61;p2"/>
          <p:cNvSpPr/>
          <p:nvPr/>
        </p:nvSpPr>
        <p:spPr>
          <a:xfrm>
            <a:off x="10035540" y="4318635"/>
            <a:ext cx="8155686" cy="403860"/>
          </a:xfrm>
          <a:prstGeom prst="rect">
            <a:avLst/>
          </a:prstGeom>
          <a:noFill/>
          <a:ln>
            <a:noFill/>
          </a:ln>
        </p:spPr>
        <p:txBody>
          <a:bodyPr anchorCtr="0" anchor="t" bIns="25400" lIns="25400" spcFirstLastPara="1" rIns="25400" wrap="square" tIns="25400">
            <a:normAutofit/>
          </a:bodyPr>
          <a:lstStyle/>
          <a:p>
            <a:pPr indent="0" lvl="0" marL="0" marR="0" rtl="0" algn="l">
              <a:lnSpc>
                <a:spcPct val="106667"/>
              </a:lnSpc>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Pretrained DNA models</a:t>
            </a:r>
            <a:endParaRPr b="0" i="0" sz="2400" u="none" cap="none" strike="noStrike">
              <a:solidFill>
                <a:schemeClr val="dk1"/>
              </a:solidFill>
              <a:latin typeface="Calibri"/>
              <a:ea typeface="Calibri"/>
              <a:cs typeface="Calibri"/>
              <a:sym typeface="Calibri"/>
            </a:endParaRPr>
          </a:p>
        </p:txBody>
      </p:sp>
      <p:sp>
        <p:nvSpPr>
          <p:cNvPr id="62" name="Google Shape;62;p2"/>
          <p:cNvSpPr/>
          <p:nvPr/>
        </p:nvSpPr>
        <p:spPr>
          <a:xfrm>
            <a:off x="10035540" y="4760595"/>
            <a:ext cx="7636688"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Learning from unlabelled sequence, and what differs between the models</a:t>
            </a:r>
            <a:endParaRPr b="0" i="0" sz="1950" u="none" cap="none" strike="noStrike">
              <a:solidFill>
                <a:schemeClr val="dk1"/>
              </a:solidFill>
              <a:latin typeface="Calibri"/>
              <a:ea typeface="Calibri"/>
              <a:cs typeface="Calibri"/>
              <a:sym typeface="Calibri"/>
            </a:endParaRPr>
          </a:p>
        </p:txBody>
      </p:sp>
      <p:sp>
        <p:nvSpPr>
          <p:cNvPr id="63" name="Google Shape;63;p2"/>
          <p:cNvSpPr/>
          <p:nvPr/>
        </p:nvSpPr>
        <p:spPr>
          <a:xfrm>
            <a:off x="838200" y="5739765"/>
            <a:ext cx="79629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838200" y="5926455"/>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05</a:t>
            </a:r>
            <a:endParaRPr b="0" i="0" sz="2100" u="none" cap="none" strike="noStrike">
              <a:solidFill>
                <a:schemeClr val="dk1"/>
              </a:solidFill>
              <a:latin typeface="Calibri"/>
              <a:ea typeface="Calibri"/>
              <a:cs typeface="Calibri"/>
              <a:sym typeface="Calibri"/>
            </a:endParaRPr>
          </a:p>
        </p:txBody>
      </p:sp>
      <p:sp>
        <p:nvSpPr>
          <p:cNvPr id="65" name="Google Shape;65;p2"/>
          <p:cNvSpPr/>
          <p:nvPr/>
        </p:nvSpPr>
        <p:spPr>
          <a:xfrm>
            <a:off x="1386840" y="5926455"/>
            <a:ext cx="7450288" cy="403860"/>
          </a:xfrm>
          <a:prstGeom prst="rect">
            <a:avLst/>
          </a:prstGeom>
          <a:noFill/>
          <a:ln>
            <a:noFill/>
          </a:ln>
        </p:spPr>
        <p:txBody>
          <a:bodyPr anchorCtr="0" anchor="t" bIns="25400" lIns="25400" spcFirstLastPara="1" rIns="25400" wrap="square" tIns="25400">
            <a:normAutofit/>
          </a:bodyPr>
          <a:lstStyle/>
          <a:p>
            <a:pPr indent="0" lvl="0" marL="0" marR="0" rtl="0" algn="l">
              <a:lnSpc>
                <a:spcPct val="106667"/>
              </a:lnSpc>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Building the classifier</a:t>
            </a:r>
            <a:endParaRPr b="0" i="0" sz="2400" u="none" cap="none" strike="noStrike">
              <a:solidFill>
                <a:schemeClr val="dk1"/>
              </a:solidFill>
              <a:latin typeface="Calibri"/>
              <a:ea typeface="Calibri"/>
              <a:cs typeface="Calibri"/>
              <a:sym typeface="Calibri"/>
            </a:endParaRPr>
          </a:p>
        </p:txBody>
      </p:sp>
      <p:sp>
        <p:nvSpPr>
          <p:cNvPr id="66" name="Google Shape;66;p2"/>
          <p:cNvSpPr/>
          <p:nvPr/>
        </p:nvSpPr>
        <p:spPr>
          <a:xfrm>
            <a:off x="1386840" y="6368415"/>
            <a:ext cx="7450288" cy="38481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Embeddings, logistic regression, and the notebook we will run</a:t>
            </a:r>
            <a:endParaRPr b="0" i="0" sz="1950" u="none" cap="none" strike="noStrike">
              <a:solidFill>
                <a:schemeClr val="dk1"/>
              </a:solidFill>
              <a:latin typeface="Calibri"/>
              <a:ea typeface="Calibri"/>
              <a:cs typeface="Calibri"/>
              <a:sym typeface="Calibri"/>
            </a:endParaRPr>
          </a:p>
        </p:txBody>
      </p:sp>
      <p:sp>
        <p:nvSpPr>
          <p:cNvPr id="67" name="Google Shape;67;p2"/>
          <p:cNvSpPr/>
          <p:nvPr/>
        </p:nvSpPr>
        <p:spPr>
          <a:xfrm>
            <a:off x="9486900" y="5739765"/>
            <a:ext cx="79629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9486900" y="5926455"/>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06</a:t>
            </a:r>
            <a:endParaRPr b="0" i="0" sz="2100" u="none" cap="none" strike="noStrike">
              <a:solidFill>
                <a:schemeClr val="dk1"/>
              </a:solidFill>
              <a:latin typeface="Calibri"/>
              <a:ea typeface="Calibri"/>
              <a:cs typeface="Calibri"/>
              <a:sym typeface="Calibri"/>
            </a:endParaRPr>
          </a:p>
        </p:txBody>
      </p:sp>
      <p:sp>
        <p:nvSpPr>
          <p:cNvPr id="69" name="Google Shape;69;p2"/>
          <p:cNvSpPr/>
          <p:nvPr/>
        </p:nvSpPr>
        <p:spPr>
          <a:xfrm>
            <a:off x="10035540" y="5926455"/>
            <a:ext cx="7555587" cy="403860"/>
          </a:xfrm>
          <a:prstGeom prst="rect">
            <a:avLst/>
          </a:prstGeom>
          <a:noFill/>
          <a:ln>
            <a:noFill/>
          </a:ln>
        </p:spPr>
        <p:txBody>
          <a:bodyPr anchorCtr="0" anchor="t" bIns="25400" lIns="25400" spcFirstLastPara="1" rIns="25400" wrap="square" tIns="25400">
            <a:normAutofit/>
          </a:bodyPr>
          <a:lstStyle/>
          <a:p>
            <a:pPr indent="0" lvl="0" marL="0" marR="0" rtl="0" algn="l">
              <a:lnSpc>
                <a:spcPct val="106667"/>
              </a:lnSpc>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Judging the result</a:t>
            </a:r>
            <a:endParaRPr b="0" i="0" sz="2400" u="none" cap="none" strike="noStrike">
              <a:solidFill>
                <a:schemeClr val="dk1"/>
              </a:solidFill>
              <a:latin typeface="Calibri"/>
              <a:ea typeface="Calibri"/>
              <a:cs typeface="Calibri"/>
              <a:sym typeface="Calibri"/>
            </a:endParaRPr>
          </a:p>
        </p:txBody>
      </p:sp>
      <p:sp>
        <p:nvSpPr>
          <p:cNvPr id="70" name="Google Shape;70;p2"/>
          <p:cNvSpPr/>
          <p:nvPr/>
        </p:nvSpPr>
        <p:spPr>
          <a:xfrm>
            <a:off x="10035540" y="6368415"/>
            <a:ext cx="7555587" cy="38481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Confusion matrix, ROC and AUC, and what was really held out</a:t>
            </a:r>
            <a:endParaRPr b="0" i="0" sz="1950" u="none" cap="none" strike="noStrike">
              <a:solidFill>
                <a:schemeClr val="dk1"/>
              </a:solidFill>
              <a:latin typeface="Calibri"/>
              <a:ea typeface="Calibri"/>
              <a:cs typeface="Calibri"/>
              <a:sym typeface="Calibri"/>
            </a:endParaRPr>
          </a:p>
        </p:txBody>
      </p:sp>
      <p:sp>
        <p:nvSpPr>
          <p:cNvPr id="71" name="Google Shape;71;p2"/>
          <p:cNvSpPr/>
          <p:nvPr/>
        </p:nvSpPr>
        <p:spPr>
          <a:xfrm>
            <a:off x="838200" y="8046720"/>
            <a:ext cx="16611600" cy="130683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1162050" y="8570595"/>
            <a:ext cx="233975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PREREQUISITES</a:t>
            </a:r>
            <a:endParaRPr b="0" i="0" sz="1800" u="none" cap="none" strike="noStrike">
              <a:solidFill>
                <a:schemeClr val="dk1"/>
              </a:solidFill>
              <a:latin typeface="Calibri"/>
              <a:ea typeface="Calibri"/>
              <a:cs typeface="Calibri"/>
              <a:sym typeface="Calibri"/>
            </a:endParaRPr>
          </a:p>
        </p:txBody>
      </p:sp>
      <p:sp>
        <p:nvSpPr>
          <p:cNvPr id="73" name="Google Shape;73;p2"/>
          <p:cNvSpPr/>
          <p:nvPr/>
        </p:nvSpPr>
        <p:spPr>
          <a:xfrm>
            <a:off x="3670102" y="8313420"/>
            <a:ext cx="13859524"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None. If you can read a DNA sequence and a percentage, you can read every slide here. A glossary of every term used sits at the back.</a:t>
            </a:r>
            <a:endParaRPr b="0" i="0" sz="2100" u="none" cap="none" strike="noStrike">
              <a:solidFill>
                <a:schemeClr val="dk1"/>
              </a:solidFill>
              <a:latin typeface="Calibri"/>
              <a:ea typeface="Calibri"/>
              <a:cs typeface="Calibri"/>
              <a:sym typeface="Calibri"/>
            </a:endParaRPr>
          </a:p>
        </p:txBody>
      </p:sp>
      <p:sp>
        <p:nvSpPr>
          <p:cNvPr id="74" name="Google Shape;74;p2"/>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76" name="Google Shape;76;p2"/>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77" name="Google Shape;77;p2"/>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02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3"/>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85" name="Google Shape;85;p3"/>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86" name="Google Shape;86;p3"/>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88" name="Google Shape;88;p3"/>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89" name="Google Shape;89;p3"/>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03</a:t>
            </a:r>
            <a:endParaRPr b="0" i="0" sz="1800" u="none" cap="none" strike="noStrike">
              <a:solidFill>
                <a:schemeClr val="dk1"/>
              </a:solidFill>
              <a:latin typeface="Calibri"/>
              <a:ea typeface="Calibri"/>
              <a:cs typeface="Calibri"/>
              <a:sym typeface="Calibri"/>
            </a:endParaRPr>
          </a:p>
        </p:txBody>
      </p:sp>
      <p:sp>
        <p:nvSpPr>
          <p:cNvPr id="90" name="Google Shape;90;p3"/>
          <p:cNvSpPr/>
          <p:nvPr/>
        </p:nvSpPr>
        <p:spPr>
          <a:xfrm>
            <a:off x="838200" y="1504950"/>
            <a:ext cx="18272700" cy="638100"/>
          </a:xfrm>
          <a:prstGeom prst="rect">
            <a:avLst/>
          </a:prstGeom>
          <a:noFill/>
          <a:ln>
            <a:noFill/>
          </a:ln>
        </p:spPr>
        <p:txBody>
          <a:bodyPr anchorCtr="0" anchor="t" bIns="25400" lIns="25400" spcFirstLastPara="1" rIns="25400" wrap="square" tIns="25400">
            <a:noAutofit/>
          </a:bodyPr>
          <a:lstStyle/>
          <a:p>
            <a:pPr indent="0" lvl="0" marL="0" marR="0" rtl="0" algn="l">
              <a:lnSpc>
                <a:spcPct val="91570"/>
              </a:lnSpc>
              <a:spcBef>
                <a:spcPts val="0"/>
              </a:spcBef>
              <a:spcAft>
                <a:spcPts val="0"/>
              </a:spcAft>
              <a:buClr>
                <a:srgbClr val="1C2A44"/>
              </a:buClr>
              <a:buSzPts val="4500"/>
              <a:buFont typeface="Helvetica Neue"/>
              <a:buNone/>
            </a:pPr>
            <a:r>
              <a:rPr b="1" lang="en-US" sz="4500">
                <a:solidFill>
                  <a:srgbClr val="1C2A44"/>
                </a:solidFill>
                <a:latin typeface="Helvetica Neue"/>
                <a:ea typeface="Helvetica Neue"/>
                <a:cs typeface="Helvetica Neue"/>
                <a:sym typeface="Helvetica Neue"/>
              </a:rPr>
              <a:t>How Machine Learning Works</a:t>
            </a:r>
            <a:endParaRPr b="0" i="0" sz="4500" u="none" cap="none" strike="noStrike">
              <a:solidFill>
                <a:schemeClr val="dk1"/>
              </a:solidFill>
              <a:latin typeface="Calibri"/>
              <a:ea typeface="Calibri"/>
              <a:cs typeface="Calibri"/>
              <a:sym typeface="Calibri"/>
            </a:endParaRPr>
          </a:p>
        </p:txBody>
      </p:sp>
      <p:pic>
        <p:nvPicPr>
          <p:cNvPr id="91" name="Google Shape;91;p3"/>
          <p:cNvPicPr preferRelativeResize="0"/>
          <p:nvPr/>
        </p:nvPicPr>
        <p:blipFill rotWithShape="1">
          <a:blip r:embed="rId4">
            <a:alphaModFix/>
          </a:blip>
          <a:srcRect b="0" l="0" r="0" t="0"/>
          <a:stretch/>
        </p:blipFill>
        <p:spPr>
          <a:xfrm>
            <a:off x="-1" y="3121401"/>
            <a:ext cx="8995742" cy="4232799"/>
          </a:xfrm>
          <a:prstGeom prst="rect">
            <a:avLst/>
          </a:prstGeom>
          <a:noFill/>
          <a:ln>
            <a:noFill/>
          </a:ln>
        </p:spPr>
      </p:pic>
      <p:pic>
        <p:nvPicPr>
          <p:cNvPr id="92" name="Google Shape;92;p3"/>
          <p:cNvPicPr preferRelativeResize="0"/>
          <p:nvPr/>
        </p:nvPicPr>
        <p:blipFill>
          <a:blip r:embed="rId5">
            <a:alphaModFix/>
          </a:blip>
          <a:stretch>
            <a:fillRect/>
          </a:stretch>
        </p:blipFill>
        <p:spPr>
          <a:xfrm>
            <a:off x="9150200" y="3129775"/>
            <a:ext cx="8511834" cy="4232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23A"/>
        </a:solidFill>
      </p:bgPr>
    </p:bg>
    <p:spTree>
      <p:nvGrpSpPr>
        <p:cNvPr id="97" name="Shape 97"/>
        <p:cNvGrpSpPr/>
        <p:nvPr/>
      </p:nvGrpSpPr>
      <p:grpSpPr>
        <a:xfrm>
          <a:off x="0" y="0"/>
          <a:ext cx="0" cy="0"/>
          <a:chOff x="0" y="0"/>
          <a:chExt cx="0" cy="0"/>
        </a:xfrm>
      </p:grpSpPr>
      <p:pic>
        <p:nvPicPr>
          <p:cNvPr descr="preencoded.png" id="98" name="Google Shape;98;p4"/>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99" name="Google Shape;99;p4"/>
          <p:cNvSpPr/>
          <p:nvPr/>
        </p:nvSpPr>
        <p:spPr>
          <a:xfrm>
            <a:off x="914400" y="765810"/>
            <a:ext cx="685136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9BBD6"/>
              </a:buClr>
              <a:buSzPts val="1800"/>
              <a:buFont typeface="Helvetica Neue"/>
              <a:buNone/>
            </a:pPr>
            <a:r>
              <a:rPr b="0" i="0" lang="en-US" sz="1800" u="none" cap="none" strike="noStrike">
                <a:solidFill>
                  <a:srgbClr val="A9BBD6"/>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00" name="Google Shape;100;p4"/>
          <p:cNvPicPr preferRelativeResize="0"/>
          <p:nvPr/>
        </p:nvPicPr>
        <p:blipFill rotWithShape="1">
          <a:blip r:embed="rId4">
            <a:alphaModFix/>
          </a:blip>
          <a:srcRect b="0" l="0" r="0" t="0"/>
          <a:stretch/>
        </p:blipFill>
        <p:spPr>
          <a:xfrm>
            <a:off x="16850202" y="487725"/>
            <a:ext cx="1008525" cy="1115825"/>
          </a:xfrm>
          <a:prstGeom prst="rect">
            <a:avLst/>
          </a:prstGeom>
          <a:noFill/>
          <a:ln>
            <a:noFill/>
          </a:ln>
        </p:spPr>
      </p:pic>
      <p:sp>
        <p:nvSpPr>
          <p:cNvPr id="101" name="Google Shape;101;p4"/>
          <p:cNvSpPr/>
          <p:nvPr/>
        </p:nvSpPr>
        <p:spPr>
          <a:xfrm>
            <a:off x="914400" y="3285172"/>
            <a:ext cx="9499557" cy="1371600"/>
          </a:xfrm>
          <a:prstGeom prst="rect">
            <a:avLst/>
          </a:prstGeom>
          <a:noFill/>
          <a:ln>
            <a:noFill/>
          </a:ln>
        </p:spPr>
        <p:txBody>
          <a:bodyPr anchorCtr="0" anchor="t" bIns="25400" lIns="25400" spcFirstLastPara="1" rIns="25400" wrap="square" tIns="25400">
            <a:normAutofit/>
          </a:bodyPr>
          <a:lstStyle/>
          <a:p>
            <a:pPr indent="0" lvl="0" marL="0" marR="0" rtl="0" algn="l">
              <a:lnSpc>
                <a:spcPct val="77093"/>
              </a:lnSpc>
              <a:spcBef>
                <a:spcPts val="0"/>
              </a:spcBef>
              <a:spcAft>
                <a:spcPts val="0"/>
              </a:spcAft>
              <a:buClr>
                <a:srgbClr val="E8A317"/>
              </a:buClr>
              <a:buSzPts val="10500"/>
              <a:buFont typeface="IBM Plex Mono"/>
              <a:buNone/>
            </a:pPr>
            <a:r>
              <a:rPr b="1" i="0" lang="en-US" sz="10500" u="none" cap="none" strike="noStrike">
                <a:solidFill>
                  <a:srgbClr val="E8A317"/>
                </a:solidFill>
                <a:latin typeface="IBM Plex Mono"/>
                <a:ea typeface="IBM Plex Mono"/>
                <a:cs typeface="IBM Plex Mono"/>
                <a:sym typeface="IBM Plex Mono"/>
              </a:rPr>
              <a:t>01</a:t>
            </a:r>
            <a:endParaRPr b="0" i="0" sz="10500" u="none" cap="none" strike="noStrike">
              <a:solidFill>
                <a:schemeClr val="dk1"/>
              </a:solidFill>
              <a:latin typeface="Calibri"/>
              <a:ea typeface="Calibri"/>
              <a:cs typeface="Calibri"/>
              <a:sym typeface="Calibri"/>
            </a:endParaRPr>
          </a:p>
        </p:txBody>
      </p:sp>
      <p:sp>
        <p:nvSpPr>
          <p:cNvPr id="102" name="Google Shape;102;p4"/>
          <p:cNvSpPr/>
          <p:nvPr/>
        </p:nvSpPr>
        <p:spPr>
          <a:xfrm>
            <a:off x="914400" y="4847272"/>
            <a:ext cx="9499557" cy="798195"/>
          </a:xfrm>
          <a:prstGeom prst="rect">
            <a:avLst/>
          </a:prstGeom>
          <a:noFill/>
          <a:ln>
            <a:noFill/>
          </a:ln>
        </p:spPr>
        <p:txBody>
          <a:bodyPr anchorCtr="0" anchor="t" bIns="25400" lIns="25400" spcFirstLastPara="1" rIns="25400" wrap="square" tIns="25400">
            <a:normAutofit/>
          </a:bodyPr>
          <a:lstStyle/>
          <a:p>
            <a:pPr indent="0" lvl="0" marL="0" marR="0" rtl="0" algn="l">
              <a:lnSpc>
                <a:spcPct val="91514"/>
              </a:lnSpc>
              <a:spcBef>
                <a:spcPts val="0"/>
              </a:spcBef>
              <a:spcAft>
                <a:spcPts val="0"/>
              </a:spcAft>
              <a:buClr>
                <a:srgbClr val="FFFFFF"/>
              </a:buClr>
              <a:buSzPts val="5700"/>
              <a:buFont typeface="Helvetica Neue"/>
              <a:buNone/>
            </a:pPr>
            <a:r>
              <a:rPr b="1" i="0" lang="en-US" sz="5700" u="none" cap="none" strike="noStrike">
                <a:solidFill>
                  <a:srgbClr val="FFFFFF"/>
                </a:solidFill>
                <a:latin typeface="Helvetica Neue"/>
                <a:ea typeface="Helvetica Neue"/>
                <a:cs typeface="Helvetica Neue"/>
                <a:sym typeface="Helvetica Neue"/>
              </a:rPr>
              <a:t>Why classify DNA?</a:t>
            </a:r>
            <a:endParaRPr b="0" i="0" sz="5700" u="none" cap="none" strike="noStrike">
              <a:solidFill>
                <a:schemeClr val="dk1"/>
              </a:solidFill>
              <a:latin typeface="Calibri"/>
              <a:ea typeface="Calibri"/>
              <a:cs typeface="Calibri"/>
              <a:sym typeface="Calibri"/>
            </a:endParaRPr>
          </a:p>
        </p:txBody>
      </p:sp>
      <p:sp>
        <p:nvSpPr>
          <p:cNvPr id="103" name="Google Shape;103;p4"/>
          <p:cNvSpPr/>
          <p:nvPr/>
        </p:nvSpPr>
        <p:spPr>
          <a:xfrm>
            <a:off x="914400" y="5874068"/>
            <a:ext cx="8437245" cy="1363980"/>
          </a:xfrm>
          <a:prstGeom prst="rect">
            <a:avLst/>
          </a:prstGeom>
          <a:noFill/>
          <a:ln>
            <a:noFill/>
          </a:ln>
        </p:spPr>
        <p:txBody>
          <a:bodyPr anchorCtr="0" anchor="t" bIns="25400" lIns="25400" spcFirstLastPara="1" rIns="25400" wrap="square" tIns="25400">
            <a:normAutofit/>
          </a:bodyPr>
          <a:lstStyle/>
          <a:p>
            <a:pPr indent="0" lvl="0" marL="0" marR="0" rtl="0" algn="l">
              <a:lnSpc>
                <a:spcPct val="128889"/>
              </a:lnSpc>
              <a:spcBef>
                <a:spcPts val="0"/>
              </a:spcBef>
              <a:spcAft>
                <a:spcPts val="0"/>
              </a:spcAft>
              <a:buClr>
                <a:srgbClr val="C8D6EA"/>
              </a:buClr>
              <a:buSzPts val="2400"/>
              <a:buFont typeface="Helvetica Neue"/>
              <a:buNone/>
            </a:pPr>
            <a:r>
              <a:rPr b="0" i="0" lang="en-US" sz="2400" u="none" cap="none" strike="noStrike">
                <a:solidFill>
                  <a:srgbClr val="C8D6EA"/>
                </a:solidFill>
                <a:latin typeface="Helvetica Neue"/>
                <a:ea typeface="Helvetica Neue"/>
                <a:cs typeface="Helvetica Neue"/>
                <a:sym typeface="Helvetica Neue"/>
              </a:rPr>
              <a:t>One question runs through the whole session: given a short stretch of DNA, is it a promoter — a place where transcription starts — or not?</a:t>
            </a:r>
            <a:endParaRPr b="0" i="0" sz="2400" u="none" cap="none" strike="noStrike">
              <a:solidFill>
                <a:schemeClr val="dk1"/>
              </a:solidFill>
              <a:latin typeface="Calibri"/>
              <a:ea typeface="Calibri"/>
              <a:cs typeface="Calibri"/>
              <a:sym typeface="Calibri"/>
            </a:endParaRPr>
          </a:p>
        </p:txBody>
      </p:sp>
      <p:sp>
        <p:nvSpPr>
          <p:cNvPr id="104" name="Google Shape;104;p4"/>
          <p:cNvSpPr/>
          <p:nvPr/>
        </p:nvSpPr>
        <p:spPr>
          <a:xfrm>
            <a:off x="10464760" y="3963352"/>
            <a:ext cx="6908840" cy="9525"/>
          </a:xfrm>
          <a:prstGeom prst="rect">
            <a:avLst/>
          </a:prstGeom>
          <a:solidFill>
            <a:srgbClr val="5362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10464760" y="3551872"/>
            <a:ext cx="7116105"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THIS PART</a:t>
            </a:r>
            <a:endParaRPr b="0" i="0" sz="1800" u="none" cap="none" strike="noStrike">
              <a:solidFill>
                <a:schemeClr val="dk1"/>
              </a:solidFill>
              <a:latin typeface="Calibri"/>
              <a:ea typeface="Calibri"/>
              <a:cs typeface="Calibri"/>
              <a:sym typeface="Calibri"/>
            </a:endParaRPr>
          </a:p>
        </p:txBody>
      </p:sp>
      <p:sp>
        <p:nvSpPr>
          <p:cNvPr id="106" name="Google Shape;106;p4"/>
          <p:cNvSpPr/>
          <p:nvPr/>
        </p:nvSpPr>
        <p:spPr>
          <a:xfrm>
            <a:off x="10464760" y="4717732"/>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10464760" y="4161472"/>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05</a:t>
            </a:r>
            <a:endParaRPr b="0" i="0" sz="2250" u="none" cap="none" strike="noStrike">
              <a:solidFill>
                <a:schemeClr val="dk1"/>
              </a:solidFill>
              <a:latin typeface="Calibri"/>
              <a:ea typeface="Calibri"/>
              <a:cs typeface="Calibri"/>
              <a:sym typeface="Calibri"/>
            </a:endParaRPr>
          </a:p>
        </p:txBody>
      </p:sp>
      <p:sp>
        <p:nvSpPr>
          <p:cNvPr id="108" name="Google Shape;108;p4"/>
          <p:cNvSpPr/>
          <p:nvPr/>
        </p:nvSpPr>
        <p:spPr>
          <a:xfrm>
            <a:off x="11074360" y="4161472"/>
            <a:ext cx="461285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The genome we have to interpret</a:t>
            </a:r>
            <a:endParaRPr b="0" i="0" sz="2250" u="none" cap="none" strike="noStrike">
              <a:solidFill>
                <a:schemeClr val="dk1"/>
              </a:solidFill>
              <a:latin typeface="Calibri"/>
              <a:ea typeface="Calibri"/>
              <a:cs typeface="Calibri"/>
              <a:sym typeface="Calibri"/>
            </a:endParaRPr>
          </a:p>
        </p:txBody>
      </p:sp>
      <p:sp>
        <p:nvSpPr>
          <p:cNvPr id="109" name="Google Shape;109;p4"/>
          <p:cNvSpPr/>
          <p:nvPr/>
        </p:nvSpPr>
        <p:spPr>
          <a:xfrm>
            <a:off x="10464760" y="5472113"/>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10464760" y="4915853"/>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06</a:t>
            </a:r>
            <a:endParaRPr b="0" i="0" sz="2250" u="none" cap="none" strike="noStrike">
              <a:solidFill>
                <a:schemeClr val="dk1"/>
              </a:solidFill>
              <a:latin typeface="Calibri"/>
              <a:ea typeface="Calibri"/>
              <a:cs typeface="Calibri"/>
              <a:sym typeface="Calibri"/>
            </a:endParaRPr>
          </a:p>
        </p:txBody>
      </p:sp>
      <p:sp>
        <p:nvSpPr>
          <p:cNvPr id="111" name="Google Shape;111;p4"/>
          <p:cNvSpPr/>
          <p:nvPr/>
        </p:nvSpPr>
        <p:spPr>
          <a:xfrm>
            <a:off x="11074360" y="4915853"/>
            <a:ext cx="3808309"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What a promoter actually is</a:t>
            </a:r>
            <a:endParaRPr b="0" i="0" sz="2250" u="none" cap="none" strike="noStrike">
              <a:solidFill>
                <a:schemeClr val="dk1"/>
              </a:solidFill>
              <a:latin typeface="Calibri"/>
              <a:ea typeface="Calibri"/>
              <a:cs typeface="Calibri"/>
              <a:sym typeface="Calibri"/>
            </a:endParaRPr>
          </a:p>
        </p:txBody>
      </p:sp>
      <p:sp>
        <p:nvSpPr>
          <p:cNvPr id="112" name="Google Shape;112;p4"/>
          <p:cNvSpPr/>
          <p:nvPr/>
        </p:nvSpPr>
        <p:spPr>
          <a:xfrm>
            <a:off x="10464760" y="6226492"/>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10464760" y="5670232"/>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07</a:t>
            </a:r>
            <a:endParaRPr b="0" i="0" sz="2250" u="none" cap="none" strike="noStrike">
              <a:solidFill>
                <a:schemeClr val="dk1"/>
              </a:solidFill>
              <a:latin typeface="Calibri"/>
              <a:ea typeface="Calibri"/>
              <a:cs typeface="Calibri"/>
              <a:sym typeface="Calibri"/>
            </a:endParaRPr>
          </a:p>
        </p:txBody>
      </p:sp>
      <p:sp>
        <p:nvSpPr>
          <p:cNvPr id="114" name="Google Shape;114;p4"/>
          <p:cNvSpPr/>
          <p:nvPr/>
        </p:nvSpPr>
        <p:spPr>
          <a:xfrm>
            <a:off x="11074360" y="5670232"/>
            <a:ext cx="3564053"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The task, stated precisely</a:t>
            </a:r>
            <a:endParaRPr b="0" i="0" sz="2250" u="none" cap="none" strike="noStrike">
              <a:solidFill>
                <a:schemeClr val="dk1"/>
              </a:solidFill>
              <a:latin typeface="Calibri"/>
              <a:ea typeface="Calibri"/>
              <a:cs typeface="Calibri"/>
              <a:sym typeface="Calibri"/>
            </a:endParaRPr>
          </a:p>
        </p:txBody>
      </p:sp>
      <p:sp>
        <p:nvSpPr>
          <p:cNvPr id="115" name="Google Shape;115;p4"/>
          <p:cNvSpPr/>
          <p:nvPr/>
        </p:nvSpPr>
        <p:spPr>
          <a:xfrm>
            <a:off x="10464760" y="6980873"/>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10464760" y="6424613"/>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08</a:t>
            </a:r>
            <a:endParaRPr b="0" i="0" sz="2250" u="none" cap="none" strike="noStrike">
              <a:solidFill>
                <a:schemeClr val="dk1"/>
              </a:solidFill>
              <a:latin typeface="Calibri"/>
              <a:ea typeface="Calibri"/>
              <a:cs typeface="Calibri"/>
              <a:sym typeface="Calibri"/>
            </a:endParaRPr>
          </a:p>
        </p:txBody>
      </p:sp>
      <p:sp>
        <p:nvSpPr>
          <p:cNvPr id="117" name="Google Shape;117;p4"/>
          <p:cNvSpPr/>
          <p:nvPr/>
        </p:nvSpPr>
        <p:spPr>
          <a:xfrm>
            <a:off x="11074360" y="6424613"/>
            <a:ext cx="4396359"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Why searching for TATAAA fails</a:t>
            </a:r>
            <a:endParaRPr b="0" i="0" sz="2250" u="none" cap="none" strike="noStrike">
              <a:solidFill>
                <a:schemeClr val="dk1"/>
              </a:solidFill>
              <a:latin typeface="Calibri"/>
              <a:ea typeface="Calibri"/>
              <a:cs typeface="Calibri"/>
              <a:sym typeface="Calibri"/>
            </a:endParaRPr>
          </a:p>
        </p:txBody>
      </p:sp>
      <p:sp>
        <p:nvSpPr>
          <p:cNvPr id="118" name="Google Shape;118;p4"/>
          <p:cNvSpPr/>
          <p:nvPr/>
        </p:nvSpPr>
        <p:spPr>
          <a:xfrm>
            <a:off x="914400" y="9418320"/>
            <a:ext cx="181051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PART 01 OF 06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5"/>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26" name="Google Shape;126;p5"/>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27" name="Google Shape;127;p5"/>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01 · WHY CLASSIFY DNA?</a:t>
            </a:r>
            <a:endParaRPr b="0" i="0" sz="1800" u="none" cap="none" strike="noStrike">
              <a:solidFill>
                <a:schemeClr val="dk1"/>
              </a:solidFill>
              <a:latin typeface="Calibri"/>
              <a:ea typeface="Calibri"/>
              <a:cs typeface="Calibri"/>
              <a:sym typeface="Calibri"/>
            </a:endParaRPr>
          </a:p>
        </p:txBody>
      </p:sp>
      <p:sp>
        <p:nvSpPr>
          <p:cNvPr id="128" name="Google Shape;128;p5"/>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The genome we have to interpret</a:t>
            </a:r>
            <a:endParaRPr b="0" i="0" sz="4500" u="none" cap="none" strike="noStrike">
              <a:solidFill>
                <a:schemeClr val="dk1"/>
              </a:solidFill>
              <a:latin typeface="Calibri"/>
              <a:ea typeface="Calibri"/>
              <a:cs typeface="Calibri"/>
              <a:sym typeface="Calibri"/>
            </a:endParaRPr>
          </a:p>
        </p:txBody>
      </p:sp>
      <p:sp>
        <p:nvSpPr>
          <p:cNvPr id="129" name="Google Shape;129;p5"/>
          <p:cNvSpPr/>
          <p:nvPr/>
        </p:nvSpPr>
        <p:spPr>
          <a:xfrm>
            <a:off x="838200" y="2314575"/>
            <a:ext cx="14912340" cy="866775"/>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The human reference genome is about 3.2 billion bases long. Under 2% of it codes for protein. Nearly everything else — switches, insulators, repeats, structure — is sequence whose job we cannot look up in a table.</a:t>
            </a:r>
            <a:endParaRPr b="0" i="0" sz="2250" u="none" cap="none" strike="noStrike">
              <a:solidFill>
                <a:schemeClr val="dk1"/>
              </a:solidFill>
              <a:latin typeface="Calibri"/>
              <a:ea typeface="Calibri"/>
              <a:cs typeface="Calibri"/>
              <a:sym typeface="Calibri"/>
            </a:endParaRPr>
          </a:p>
        </p:txBody>
      </p:sp>
      <p:sp>
        <p:nvSpPr>
          <p:cNvPr id="130" name="Google Shape;130;p5"/>
          <p:cNvSpPr/>
          <p:nvPr/>
        </p:nvSpPr>
        <p:spPr>
          <a:xfrm>
            <a:off x="838200" y="3581400"/>
            <a:ext cx="332184" cy="72390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1170384" y="3581400"/>
            <a:ext cx="1328857" cy="72390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2499241" y="3581400"/>
            <a:ext cx="14950440" cy="723900"/>
          </a:xfrm>
          <a:prstGeom prst="rect">
            <a:avLst/>
          </a:prstGeom>
          <a:solidFill>
            <a:srgbClr val="E3EA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838200" y="4476750"/>
            <a:ext cx="2492728"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Helvetica Neue"/>
              <a:buNone/>
            </a:pPr>
            <a:r>
              <a:rPr b="1" i="0" lang="en-US" sz="1800" u="none" cap="none" strike="noStrike">
                <a:solidFill>
                  <a:srgbClr val="1C2A44"/>
                </a:solidFill>
                <a:latin typeface="Helvetica Neue"/>
                <a:ea typeface="Helvetica Neue"/>
                <a:cs typeface="Helvetica Neue"/>
                <a:sym typeface="Helvetica Neue"/>
              </a:rPr>
              <a:t>▮ &lt;2% </a:t>
            </a:r>
            <a:r>
              <a:rPr b="0" i="0" lang="en-US" sz="1800" u="none" cap="none" strike="noStrike">
                <a:solidFill>
                  <a:srgbClr val="3A4A63"/>
                </a:solidFill>
                <a:latin typeface="Helvetica Neue"/>
                <a:ea typeface="Helvetica Neue"/>
                <a:cs typeface="Helvetica Neue"/>
                <a:sym typeface="Helvetica Neue"/>
              </a:rPr>
              <a:t>protein-coding</a:t>
            </a:r>
            <a:endParaRPr b="0" i="0" sz="1800" u="none" cap="none" strike="noStrike">
              <a:solidFill>
                <a:schemeClr val="dk1"/>
              </a:solidFill>
              <a:latin typeface="Calibri"/>
              <a:ea typeface="Calibri"/>
              <a:cs typeface="Calibri"/>
              <a:sym typeface="Calibri"/>
            </a:endParaRPr>
          </a:p>
        </p:txBody>
      </p:sp>
      <p:sp>
        <p:nvSpPr>
          <p:cNvPr id="134" name="Google Shape;134;p5"/>
          <p:cNvSpPr/>
          <p:nvPr/>
        </p:nvSpPr>
        <p:spPr>
          <a:xfrm>
            <a:off x="3637717" y="4476750"/>
            <a:ext cx="3750945"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 ~8% </a:t>
            </a:r>
            <a:r>
              <a:rPr b="0" i="0" lang="en-US" sz="1800" u="none" cap="none" strike="noStrike">
                <a:solidFill>
                  <a:srgbClr val="3A4A63"/>
                </a:solidFill>
                <a:latin typeface="Helvetica Neue"/>
                <a:ea typeface="Helvetica Neue"/>
                <a:cs typeface="Helvetica Neue"/>
                <a:sym typeface="Helvetica Neue"/>
              </a:rPr>
              <a:t>other annotated elements</a:t>
            </a:r>
            <a:endParaRPr b="0" i="0" sz="1800" u="none" cap="none" strike="noStrike">
              <a:solidFill>
                <a:schemeClr val="dk1"/>
              </a:solidFill>
              <a:latin typeface="Calibri"/>
              <a:ea typeface="Calibri"/>
              <a:cs typeface="Calibri"/>
              <a:sym typeface="Calibri"/>
            </a:endParaRPr>
          </a:p>
        </p:txBody>
      </p:sp>
      <p:sp>
        <p:nvSpPr>
          <p:cNvPr id="135" name="Google Shape;135;p5"/>
          <p:cNvSpPr/>
          <p:nvPr/>
        </p:nvSpPr>
        <p:spPr>
          <a:xfrm>
            <a:off x="7581067" y="4476750"/>
            <a:ext cx="7329405"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1" i="0" lang="en-US" sz="1800" u="none" cap="none" strike="noStrike">
                <a:solidFill>
                  <a:srgbClr val="8FA6C8"/>
                </a:solidFill>
                <a:latin typeface="Helvetica Neue"/>
                <a:ea typeface="Helvetica Neue"/>
                <a:cs typeface="Helvetica Neue"/>
                <a:sym typeface="Helvetica Neue"/>
              </a:rPr>
              <a:t>▮ ~90% </a:t>
            </a:r>
            <a:r>
              <a:rPr b="0" i="0" lang="en-US" sz="1800" u="none" cap="none" strike="noStrike">
                <a:solidFill>
                  <a:srgbClr val="3A4A63"/>
                </a:solidFill>
                <a:latin typeface="Helvetica Neue"/>
                <a:ea typeface="Helvetica Neue"/>
                <a:cs typeface="Helvetica Neue"/>
                <a:sym typeface="Helvetica Neue"/>
              </a:rPr>
              <a:t>introns, regulatory sequence, repeats, unannotated DNA</a:t>
            </a:r>
            <a:endParaRPr b="0" i="0" sz="1800" u="none" cap="none" strike="noStrike">
              <a:solidFill>
                <a:schemeClr val="dk1"/>
              </a:solidFill>
              <a:latin typeface="Calibri"/>
              <a:ea typeface="Calibri"/>
              <a:cs typeface="Calibri"/>
              <a:sym typeface="Calibri"/>
            </a:endParaRPr>
          </a:p>
        </p:txBody>
      </p:sp>
      <p:sp>
        <p:nvSpPr>
          <p:cNvPr id="136" name="Google Shape;136;p5"/>
          <p:cNvSpPr/>
          <p:nvPr/>
        </p:nvSpPr>
        <p:spPr>
          <a:xfrm>
            <a:off x="838200" y="5120640"/>
            <a:ext cx="16611600" cy="126873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1162050" y="5625465"/>
            <a:ext cx="2432221"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PLAIN WORDS</a:t>
            </a:r>
            <a:endParaRPr b="0" i="0" sz="1800" u="none" cap="none" strike="noStrike">
              <a:solidFill>
                <a:schemeClr val="dk1"/>
              </a:solidFill>
              <a:latin typeface="Calibri"/>
              <a:ea typeface="Calibri"/>
              <a:cs typeface="Calibri"/>
              <a:sym typeface="Calibri"/>
            </a:endParaRPr>
          </a:p>
        </p:txBody>
      </p:sp>
      <p:sp>
        <p:nvSpPr>
          <p:cNvPr id="138" name="Google Shape;138;p5"/>
          <p:cNvSpPr/>
          <p:nvPr/>
        </p:nvSpPr>
        <p:spPr>
          <a:xfrm>
            <a:off x="3754160" y="5368290"/>
            <a:ext cx="13772945"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Only the dark sliver has an entry in a database somewhere. For the pale 90% there is nothing to look up, so the only way to say what a stretch of DNA does is to predict it from the sequence itself.</a:t>
            </a:r>
            <a:endParaRPr b="0" i="0" sz="2100" u="none" cap="none" strike="noStrike">
              <a:solidFill>
                <a:schemeClr val="dk1"/>
              </a:solidFill>
              <a:latin typeface="Calibri"/>
              <a:ea typeface="Calibri"/>
              <a:cs typeface="Calibri"/>
              <a:sym typeface="Calibri"/>
            </a:endParaRPr>
          </a:p>
        </p:txBody>
      </p:sp>
      <p:sp>
        <p:nvSpPr>
          <p:cNvPr id="139" name="Google Shape;139;p5"/>
          <p:cNvSpPr/>
          <p:nvPr/>
        </p:nvSpPr>
        <p:spPr>
          <a:xfrm>
            <a:off x="838200" y="7250430"/>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838200" y="7570470"/>
            <a:ext cx="5811477" cy="647700"/>
          </a:xfrm>
          <a:prstGeom prst="rect">
            <a:avLst/>
          </a:prstGeom>
          <a:noFill/>
          <a:ln>
            <a:noFill/>
          </a:ln>
        </p:spPr>
        <p:txBody>
          <a:bodyPr anchorCtr="0" anchor="t" bIns="25400" lIns="25400" spcFirstLastPara="1" rIns="25400" wrap="square" tIns="25400">
            <a:normAutofit/>
          </a:bodyPr>
          <a:lstStyle/>
          <a:p>
            <a:pPr indent="0" lvl="0" marL="0" marR="0" rtl="0" algn="l">
              <a:lnSpc>
                <a:spcPct val="86957"/>
              </a:lnSpc>
              <a:spcBef>
                <a:spcPts val="0"/>
              </a:spcBef>
              <a:spcAft>
                <a:spcPts val="0"/>
              </a:spcAft>
              <a:buClr>
                <a:srgbClr val="1C2A44"/>
              </a:buClr>
              <a:buSzPts val="4800"/>
              <a:buFont typeface="Helvetica Neue"/>
              <a:buNone/>
            </a:pPr>
            <a:r>
              <a:rPr b="1" i="0" lang="en-US" sz="4800" u="none" cap="none" strike="noStrike">
                <a:solidFill>
                  <a:srgbClr val="1C2A44"/>
                </a:solidFill>
                <a:latin typeface="Helvetica Neue"/>
                <a:ea typeface="Helvetica Neue"/>
                <a:cs typeface="Helvetica Neue"/>
                <a:sym typeface="Helvetica Neue"/>
              </a:rPr>
              <a:t>3.2 billion</a:t>
            </a:r>
            <a:endParaRPr b="0" i="0" sz="4800" u="none" cap="none" strike="noStrike">
              <a:solidFill>
                <a:schemeClr val="dk1"/>
              </a:solidFill>
              <a:latin typeface="Calibri"/>
              <a:ea typeface="Calibri"/>
              <a:cs typeface="Calibri"/>
              <a:sym typeface="Calibri"/>
            </a:endParaRPr>
          </a:p>
        </p:txBody>
      </p:sp>
      <p:sp>
        <p:nvSpPr>
          <p:cNvPr id="141" name="Google Shape;141;p5"/>
          <p:cNvSpPr/>
          <p:nvPr/>
        </p:nvSpPr>
        <p:spPr>
          <a:xfrm>
            <a:off x="838200" y="8313420"/>
            <a:ext cx="5441655" cy="107823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bases in the human reference genome — printed 3,000 letters to a page, about a million pages</a:t>
            </a:r>
            <a:endParaRPr b="0" i="0" sz="1950" u="none" cap="none" strike="noStrike">
              <a:solidFill>
                <a:schemeClr val="dk1"/>
              </a:solidFill>
              <a:latin typeface="Calibri"/>
              <a:ea typeface="Calibri"/>
              <a:cs typeface="Calibri"/>
              <a:sym typeface="Calibri"/>
            </a:endParaRPr>
          </a:p>
        </p:txBody>
      </p:sp>
      <p:sp>
        <p:nvSpPr>
          <p:cNvPr id="142" name="Google Shape;142;p5"/>
          <p:cNvSpPr/>
          <p:nvPr/>
        </p:nvSpPr>
        <p:spPr>
          <a:xfrm>
            <a:off x="6502361" y="7570470"/>
            <a:ext cx="5811477" cy="647700"/>
          </a:xfrm>
          <a:prstGeom prst="rect">
            <a:avLst/>
          </a:prstGeom>
          <a:noFill/>
          <a:ln>
            <a:noFill/>
          </a:ln>
        </p:spPr>
        <p:txBody>
          <a:bodyPr anchorCtr="0" anchor="t" bIns="25400" lIns="25400" spcFirstLastPara="1" rIns="25400" wrap="square" tIns="25400">
            <a:normAutofit/>
          </a:bodyPr>
          <a:lstStyle/>
          <a:p>
            <a:pPr indent="0" lvl="0" marL="0" marR="0" rtl="0" algn="l">
              <a:lnSpc>
                <a:spcPct val="86957"/>
              </a:lnSpc>
              <a:spcBef>
                <a:spcPts val="0"/>
              </a:spcBef>
              <a:spcAft>
                <a:spcPts val="0"/>
              </a:spcAft>
              <a:buClr>
                <a:srgbClr val="1C2A44"/>
              </a:buClr>
              <a:buSzPts val="4800"/>
              <a:buFont typeface="Helvetica Neue"/>
              <a:buNone/>
            </a:pPr>
            <a:r>
              <a:rPr b="1" i="0" lang="en-US" sz="4800" u="none" cap="none" strike="noStrike">
                <a:solidFill>
                  <a:srgbClr val="1C2A44"/>
                </a:solidFill>
                <a:latin typeface="Helvetica Neue"/>
                <a:ea typeface="Helvetica Neue"/>
                <a:cs typeface="Helvetica Neue"/>
                <a:sym typeface="Helvetica Neue"/>
              </a:rPr>
              <a:t>~20,000</a:t>
            </a:r>
            <a:endParaRPr b="0" i="0" sz="4800" u="none" cap="none" strike="noStrike">
              <a:solidFill>
                <a:schemeClr val="dk1"/>
              </a:solidFill>
              <a:latin typeface="Calibri"/>
              <a:ea typeface="Calibri"/>
              <a:cs typeface="Calibri"/>
              <a:sym typeface="Calibri"/>
            </a:endParaRPr>
          </a:p>
        </p:txBody>
      </p:sp>
      <p:sp>
        <p:nvSpPr>
          <p:cNvPr id="143" name="Google Shape;143;p5"/>
          <p:cNvSpPr/>
          <p:nvPr/>
        </p:nvSpPr>
        <p:spPr>
          <a:xfrm>
            <a:off x="6502361" y="8313420"/>
            <a:ext cx="5441655"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protein-coding genes, each needing at least one promoter before it can be switched on</a:t>
            </a:r>
            <a:endParaRPr b="0" i="0" sz="1950" u="none" cap="none" strike="noStrike">
              <a:solidFill>
                <a:schemeClr val="dk1"/>
              </a:solidFill>
              <a:latin typeface="Calibri"/>
              <a:ea typeface="Calibri"/>
              <a:cs typeface="Calibri"/>
              <a:sym typeface="Calibri"/>
            </a:endParaRPr>
          </a:p>
        </p:txBody>
      </p:sp>
      <p:sp>
        <p:nvSpPr>
          <p:cNvPr id="144" name="Google Shape;144;p5"/>
          <p:cNvSpPr/>
          <p:nvPr/>
        </p:nvSpPr>
        <p:spPr>
          <a:xfrm>
            <a:off x="12166521" y="7570470"/>
            <a:ext cx="5811477" cy="647700"/>
          </a:xfrm>
          <a:prstGeom prst="rect">
            <a:avLst/>
          </a:prstGeom>
          <a:noFill/>
          <a:ln>
            <a:noFill/>
          </a:ln>
        </p:spPr>
        <p:txBody>
          <a:bodyPr anchorCtr="0" anchor="t" bIns="25400" lIns="25400" spcFirstLastPara="1" rIns="25400" wrap="square" tIns="25400">
            <a:normAutofit/>
          </a:bodyPr>
          <a:lstStyle/>
          <a:p>
            <a:pPr indent="0" lvl="0" marL="0" marR="0" rtl="0" algn="l">
              <a:lnSpc>
                <a:spcPct val="86957"/>
              </a:lnSpc>
              <a:spcBef>
                <a:spcPts val="0"/>
              </a:spcBef>
              <a:spcAft>
                <a:spcPts val="0"/>
              </a:spcAft>
              <a:buClr>
                <a:srgbClr val="1C2A44"/>
              </a:buClr>
              <a:buSzPts val="4800"/>
              <a:buFont typeface="Helvetica Neue"/>
              <a:buNone/>
            </a:pPr>
            <a:r>
              <a:rPr b="1" i="0" lang="en-US" sz="4800" u="none" cap="none" strike="noStrike">
                <a:solidFill>
                  <a:srgbClr val="1C2A44"/>
                </a:solidFill>
                <a:latin typeface="Helvetica Neue"/>
                <a:ea typeface="Helvetica Neue"/>
                <a:cs typeface="Helvetica Neue"/>
                <a:sym typeface="Helvetica Neue"/>
              </a:rPr>
              <a:t>&lt; 2%</a:t>
            </a:r>
            <a:endParaRPr b="0" i="0" sz="4800" u="none" cap="none" strike="noStrike">
              <a:solidFill>
                <a:schemeClr val="dk1"/>
              </a:solidFill>
              <a:latin typeface="Calibri"/>
              <a:ea typeface="Calibri"/>
              <a:cs typeface="Calibri"/>
              <a:sym typeface="Calibri"/>
            </a:endParaRPr>
          </a:p>
        </p:txBody>
      </p:sp>
      <p:sp>
        <p:nvSpPr>
          <p:cNvPr id="145" name="Google Shape;145;p5"/>
          <p:cNvSpPr/>
          <p:nvPr/>
        </p:nvSpPr>
        <p:spPr>
          <a:xfrm>
            <a:off x="12166521" y="8313420"/>
            <a:ext cx="5441655"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of bases code for protein, so almost every question starts from unannotated sequence</a:t>
            </a:r>
            <a:endParaRPr b="0" i="0" sz="1950" u="none" cap="none" strike="noStrike">
              <a:solidFill>
                <a:schemeClr val="dk1"/>
              </a:solidFill>
              <a:latin typeface="Calibri"/>
              <a:ea typeface="Calibri"/>
              <a:cs typeface="Calibri"/>
              <a:sym typeface="Calibri"/>
            </a:endParaRPr>
          </a:p>
        </p:txBody>
      </p:sp>
      <p:sp>
        <p:nvSpPr>
          <p:cNvPr id="146" name="Google Shape;146;p5"/>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48" name="Google Shape;148;p5"/>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49" name="Google Shape;149;p5"/>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05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p6"/>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57" name="Google Shape;157;p6"/>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58" name="Google Shape;158;p6"/>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01 · WHY CLASSIFY DNA?</a:t>
            </a:r>
            <a:endParaRPr b="0" i="0" sz="1800" u="none" cap="none" strike="noStrike">
              <a:solidFill>
                <a:schemeClr val="dk1"/>
              </a:solidFill>
              <a:latin typeface="Calibri"/>
              <a:ea typeface="Calibri"/>
              <a:cs typeface="Calibri"/>
              <a:sym typeface="Calibri"/>
            </a:endParaRPr>
          </a:p>
        </p:txBody>
      </p:sp>
      <p:sp>
        <p:nvSpPr>
          <p:cNvPr id="159" name="Google Shape;159;p6"/>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What a promoter actually is</a:t>
            </a:r>
            <a:endParaRPr b="0" i="0" sz="4500" u="none" cap="none" strike="noStrike">
              <a:solidFill>
                <a:schemeClr val="dk1"/>
              </a:solidFill>
              <a:latin typeface="Calibri"/>
              <a:ea typeface="Calibri"/>
              <a:cs typeface="Calibri"/>
              <a:sym typeface="Calibri"/>
            </a:endParaRPr>
          </a:p>
        </p:txBody>
      </p:sp>
      <p:sp>
        <p:nvSpPr>
          <p:cNvPr id="160" name="Google Shape;160;p6"/>
          <p:cNvSpPr/>
          <p:nvPr/>
        </p:nvSpPr>
        <p:spPr>
          <a:xfrm>
            <a:off x="838200" y="2314575"/>
            <a:ext cx="14912340" cy="866775"/>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The stretch of DNA just upstream of a gene where RNA polymerase and its partner proteins assemble. Get it right and the gene is transcribed; miss it and nothing happens.</a:t>
            </a:r>
            <a:endParaRPr b="0" i="0" sz="2250" u="none" cap="none" strike="noStrike">
              <a:solidFill>
                <a:schemeClr val="dk1"/>
              </a:solidFill>
              <a:latin typeface="Calibri"/>
              <a:ea typeface="Calibri"/>
              <a:cs typeface="Calibri"/>
              <a:sym typeface="Calibri"/>
            </a:endParaRPr>
          </a:p>
        </p:txBody>
      </p:sp>
      <p:sp>
        <p:nvSpPr>
          <p:cNvPr id="161" name="Google Shape;161;p6"/>
          <p:cNvSpPr/>
          <p:nvPr/>
        </p:nvSpPr>
        <p:spPr>
          <a:xfrm>
            <a:off x="838200" y="3524250"/>
            <a:ext cx="16611600" cy="174498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1219200" y="3848100"/>
            <a:ext cx="4170997" cy="666750"/>
          </a:xfrm>
          <a:prstGeom prst="rect">
            <a:avLst/>
          </a:prstGeom>
          <a:solidFill>
            <a:srgbClr val="E3EA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1156635" y="3848100"/>
            <a:ext cx="4296127" cy="70485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upstream sequence</a:t>
            </a:r>
            <a:endParaRPr b="0" i="0" sz="1800" u="none" cap="none" strike="noStrike">
              <a:solidFill>
                <a:schemeClr val="dk1"/>
              </a:solidFill>
              <a:latin typeface="Calibri"/>
              <a:ea typeface="Calibri"/>
              <a:cs typeface="Calibri"/>
              <a:sym typeface="Calibri"/>
            </a:endParaRPr>
          </a:p>
        </p:txBody>
      </p:sp>
      <p:sp>
        <p:nvSpPr>
          <p:cNvPr id="164" name="Google Shape;164;p6"/>
          <p:cNvSpPr/>
          <p:nvPr/>
        </p:nvSpPr>
        <p:spPr>
          <a:xfrm>
            <a:off x="5390198" y="3848100"/>
            <a:ext cx="2919651" cy="66675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5346403" y="3848100"/>
            <a:ext cx="3007240" cy="70485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1800"/>
              <a:buFont typeface="Helvetica Neue"/>
              <a:buNone/>
            </a:pPr>
            <a:r>
              <a:rPr b="0" i="0" lang="en-US" sz="1800" u="none" cap="none" strike="noStrike">
                <a:solidFill>
                  <a:srgbClr val="FFFFFF"/>
                </a:solidFill>
                <a:latin typeface="Helvetica Neue"/>
                <a:ea typeface="Helvetica Neue"/>
                <a:cs typeface="Helvetica Neue"/>
                <a:sym typeface="Helvetica Neue"/>
              </a:rPr>
              <a:t>CORE PROMOTER</a:t>
            </a:r>
            <a:endParaRPr b="0" i="0" sz="1800" u="none" cap="none" strike="noStrike">
              <a:solidFill>
                <a:schemeClr val="dk1"/>
              </a:solidFill>
              <a:latin typeface="Calibri"/>
              <a:ea typeface="Calibri"/>
              <a:cs typeface="Calibri"/>
              <a:sym typeface="Calibri"/>
            </a:endParaRPr>
          </a:p>
        </p:txBody>
      </p:sp>
      <p:sp>
        <p:nvSpPr>
          <p:cNvPr id="166" name="Google Shape;166;p6"/>
          <p:cNvSpPr/>
          <p:nvPr/>
        </p:nvSpPr>
        <p:spPr>
          <a:xfrm>
            <a:off x="8309848" y="3848100"/>
            <a:ext cx="2085499" cy="66675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8271748" y="3848100"/>
            <a:ext cx="2161699" cy="70485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1C2A44"/>
              </a:buClr>
              <a:buSzPts val="1800"/>
              <a:buFont typeface="Helvetica Neue"/>
              <a:buNone/>
            </a:pPr>
            <a:r>
              <a:rPr b="1" i="0" lang="en-US" sz="1800" u="none" cap="none" strike="noStrike">
                <a:solidFill>
                  <a:srgbClr val="1C2A44"/>
                </a:solidFill>
                <a:latin typeface="Helvetica Neue"/>
                <a:ea typeface="Helvetica Neue"/>
                <a:cs typeface="Helvetica Neue"/>
                <a:sym typeface="Helvetica Neue"/>
              </a:rPr>
              <a:t>exon 1</a:t>
            </a:r>
            <a:endParaRPr b="0" i="0" sz="1800" u="none" cap="none" strike="noStrike">
              <a:solidFill>
                <a:schemeClr val="dk1"/>
              </a:solidFill>
              <a:latin typeface="Calibri"/>
              <a:ea typeface="Calibri"/>
              <a:cs typeface="Calibri"/>
              <a:sym typeface="Calibri"/>
            </a:endParaRPr>
          </a:p>
        </p:txBody>
      </p:sp>
      <p:sp>
        <p:nvSpPr>
          <p:cNvPr id="168" name="Google Shape;168;p6"/>
          <p:cNvSpPr/>
          <p:nvPr/>
        </p:nvSpPr>
        <p:spPr>
          <a:xfrm>
            <a:off x="10395347" y="3848100"/>
            <a:ext cx="1251228" cy="666750"/>
          </a:xfrm>
          <a:prstGeom prst="rect">
            <a:avLst/>
          </a:prstGeom>
          <a:solidFill>
            <a:srgbClr val="E3EA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11646575" y="3848100"/>
            <a:ext cx="2085499" cy="66675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11608475" y="3848100"/>
            <a:ext cx="2161699" cy="70485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1C2A44"/>
              </a:buClr>
              <a:buSzPts val="1800"/>
              <a:buFont typeface="Helvetica Neue"/>
              <a:buNone/>
            </a:pPr>
            <a:r>
              <a:rPr b="1" i="0" lang="en-US" sz="1800" u="none" cap="none" strike="noStrike">
                <a:solidFill>
                  <a:srgbClr val="1C2A44"/>
                </a:solidFill>
                <a:latin typeface="Helvetica Neue"/>
                <a:ea typeface="Helvetica Neue"/>
                <a:cs typeface="Helvetica Neue"/>
                <a:sym typeface="Helvetica Neue"/>
              </a:rPr>
              <a:t>exon 2</a:t>
            </a:r>
            <a:endParaRPr b="0" i="0" sz="1800" u="none" cap="none" strike="noStrike">
              <a:solidFill>
                <a:schemeClr val="dk1"/>
              </a:solidFill>
              <a:latin typeface="Calibri"/>
              <a:ea typeface="Calibri"/>
              <a:cs typeface="Calibri"/>
              <a:sym typeface="Calibri"/>
            </a:endParaRPr>
          </a:p>
        </p:txBody>
      </p:sp>
      <p:sp>
        <p:nvSpPr>
          <p:cNvPr id="171" name="Google Shape;171;p6"/>
          <p:cNvSpPr/>
          <p:nvPr/>
        </p:nvSpPr>
        <p:spPr>
          <a:xfrm>
            <a:off x="13732073" y="3848100"/>
            <a:ext cx="1251228" cy="666750"/>
          </a:xfrm>
          <a:prstGeom prst="rect">
            <a:avLst/>
          </a:prstGeom>
          <a:solidFill>
            <a:srgbClr val="E3EA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14983302" y="3848100"/>
            <a:ext cx="2085499" cy="66675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14945202" y="3848100"/>
            <a:ext cx="2161699" cy="70485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1C2A44"/>
              </a:buClr>
              <a:buSzPts val="1800"/>
              <a:buFont typeface="Helvetica Neue"/>
              <a:buNone/>
            </a:pPr>
            <a:r>
              <a:rPr b="1" i="0" lang="en-US" sz="1800" u="none" cap="none" strike="noStrike">
                <a:solidFill>
                  <a:srgbClr val="1C2A44"/>
                </a:solidFill>
                <a:latin typeface="Helvetica Neue"/>
                <a:ea typeface="Helvetica Neue"/>
                <a:cs typeface="Helvetica Neue"/>
                <a:sym typeface="Helvetica Neue"/>
              </a:rPr>
              <a:t>exon 3</a:t>
            </a:r>
            <a:endParaRPr b="0" i="0" sz="1800" u="none" cap="none" strike="noStrike">
              <a:solidFill>
                <a:schemeClr val="dk1"/>
              </a:solidFill>
              <a:latin typeface="Calibri"/>
              <a:ea typeface="Calibri"/>
              <a:cs typeface="Calibri"/>
              <a:sym typeface="Calibri"/>
            </a:endParaRPr>
          </a:p>
        </p:txBody>
      </p:sp>
      <p:sp>
        <p:nvSpPr>
          <p:cNvPr id="174" name="Google Shape;174;p6"/>
          <p:cNvSpPr/>
          <p:nvPr/>
        </p:nvSpPr>
        <p:spPr>
          <a:xfrm>
            <a:off x="1219200" y="4648200"/>
            <a:ext cx="4588097"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3627A"/>
              </a:buClr>
              <a:buSzPts val="1800"/>
              <a:buFont typeface="IBM Plex Mono"/>
              <a:buNone/>
            </a:pPr>
            <a:r>
              <a:rPr b="0" i="0" lang="en-US" sz="1800" u="none" cap="none" strike="noStrike">
                <a:solidFill>
                  <a:srgbClr val="53627A"/>
                </a:solidFill>
                <a:latin typeface="IBM Plex Mono"/>
                <a:ea typeface="IBM Plex Mono"/>
                <a:cs typeface="IBM Plex Mono"/>
                <a:sym typeface="IBM Plex Mono"/>
              </a:rPr>
              <a:t>−1000 bp</a:t>
            </a:r>
            <a:endParaRPr b="0" i="0" sz="1800" u="none" cap="none" strike="noStrike">
              <a:solidFill>
                <a:schemeClr val="dk1"/>
              </a:solidFill>
              <a:latin typeface="Calibri"/>
              <a:ea typeface="Calibri"/>
              <a:cs typeface="Calibri"/>
              <a:sym typeface="Calibri"/>
            </a:endParaRPr>
          </a:p>
        </p:txBody>
      </p:sp>
      <p:sp>
        <p:nvSpPr>
          <p:cNvPr id="175" name="Google Shape;175;p6"/>
          <p:cNvSpPr/>
          <p:nvPr/>
        </p:nvSpPr>
        <p:spPr>
          <a:xfrm>
            <a:off x="5390198" y="4648200"/>
            <a:ext cx="3211616"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3627A"/>
              </a:buClr>
              <a:buSzPts val="1800"/>
              <a:buFont typeface="IBM Plex Mono"/>
              <a:buNone/>
            </a:pPr>
            <a:r>
              <a:rPr b="0" i="0" lang="en-US" sz="1800" u="none" cap="none" strike="noStrike">
                <a:solidFill>
                  <a:srgbClr val="53627A"/>
                </a:solidFill>
                <a:latin typeface="IBM Plex Mono"/>
                <a:ea typeface="IBM Plex Mono"/>
                <a:cs typeface="IBM Plex Mono"/>
                <a:sym typeface="IBM Plex Mono"/>
              </a:rPr>
              <a:t>−100 to +50 bp</a:t>
            </a:r>
            <a:endParaRPr b="0" i="0" sz="1800" u="none" cap="none" strike="noStrike">
              <a:solidFill>
                <a:schemeClr val="dk1"/>
              </a:solidFill>
              <a:latin typeface="Calibri"/>
              <a:ea typeface="Calibri"/>
              <a:cs typeface="Calibri"/>
              <a:sym typeface="Calibri"/>
            </a:endParaRPr>
          </a:p>
        </p:txBody>
      </p:sp>
      <p:sp>
        <p:nvSpPr>
          <p:cNvPr id="176" name="Google Shape;176;p6"/>
          <p:cNvSpPr/>
          <p:nvPr/>
        </p:nvSpPr>
        <p:spPr>
          <a:xfrm>
            <a:off x="8309848" y="4648200"/>
            <a:ext cx="9634847"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3627A"/>
              </a:buClr>
              <a:buSzPts val="1800"/>
              <a:buFont typeface="IBM Plex Mono"/>
              <a:buNone/>
            </a:pPr>
            <a:r>
              <a:rPr b="0" i="0" lang="en-US" sz="1800" u="none" cap="none" strike="noStrike">
                <a:solidFill>
                  <a:srgbClr val="53627A"/>
                </a:solidFill>
                <a:latin typeface="IBM Plex Mono"/>
                <a:ea typeface="IBM Plex Mono"/>
                <a:cs typeface="IBM Plex Mono"/>
                <a:sym typeface="IBM Plex Mono"/>
              </a:rPr>
              <a:t>TSS: transcription start site → the gene body</a:t>
            </a:r>
            <a:endParaRPr b="0" i="0" sz="1800" u="none" cap="none" strike="noStrike">
              <a:solidFill>
                <a:schemeClr val="dk1"/>
              </a:solidFill>
              <a:latin typeface="Calibri"/>
              <a:ea typeface="Calibri"/>
              <a:cs typeface="Calibri"/>
              <a:sym typeface="Calibri"/>
            </a:endParaRPr>
          </a:p>
        </p:txBody>
      </p:sp>
      <p:sp>
        <p:nvSpPr>
          <p:cNvPr id="177" name="Google Shape;177;p6"/>
          <p:cNvSpPr/>
          <p:nvPr/>
        </p:nvSpPr>
        <p:spPr>
          <a:xfrm>
            <a:off x="838200" y="5612130"/>
            <a:ext cx="5283161"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a:off x="838200" y="5817870"/>
            <a:ext cx="5811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SIGNAL ONE</a:t>
            </a:r>
            <a:endParaRPr b="0" i="0" sz="1800" u="none" cap="none" strike="noStrike">
              <a:solidFill>
                <a:schemeClr val="dk1"/>
              </a:solidFill>
              <a:latin typeface="Calibri"/>
              <a:ea typeface="Calibri"/>
              <a:cs typeface="Calibri"/>
              <a:sym typeface="Calibri"/>
            </a:endParaRPr>
          </a:p>
        </p:txBody>
      </p:sp>
      <p:sp>
        <p:nvSpPr>
          <p:cNvPr id="179" name="Google Shape;179;p6"/>
          <p:cNvSpPr/>
          <p:nvPr/>
        </p:nvSpPr>
        <p:spPr>
          <a:xfrm>
            <a:off x="838200" y="6153150"/>
            <a:ext cx="5811477"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TATA box</a:t>
            </a:r>
            <a:endParaRPr b="0" i="0" sz="2550" u="none" cap="none" strike="noStrike">
              <a:solidFill>
                <a:schemeClr val="dk1"/>
              </a:solidFill>
              <a:latin typeface="Calibri"/>
              <a:ea typeface="Calibri"/>
              <a:cs typeface="Calibri"/>
              <a:sym typeface="Calibri"/>
            </a:endParaRPr>
          </a:p>
        </p:txBody>
      </p:sp>
      <p:sp>
        <p:nvSpPr>
          <p:cNvPr id="180" name="Google Shape;180;p6"/>
          <p:cNvSpPr/>
          <p:nvPr/>
        </p:nvSpPr>
        <p:spPr>
          <a:xfrm>
            <a:off x="838200" y="6614160"/>
            <a:ext cx="5811477"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0" i="0" lang="en-US" sz="2100" u="none" cap="none" strike="noStrike">
                <a:solidFill>
                  <a:srgbClr val="E8A317"/>
                </a:solidFill>
                <a:latin typeface="IBM Plex Mono"/>
                <a:ea typeface="IBM Plex Mono"/>
                <a:cs typeface="IBM Plex Mono"/>
                <a:sym typeface="IBM Plex Mono"/>
              </a:rPr>
              <a:t>TATAAA</a:t>
            </a:r>
            <a:endParaRPr b="0" i="0" sz="2100" u="none" cap="none" strike="noStrike">
              <a:solidFill>
                <a:schemeClr val="dk1"/>
              </a:solidFill>
              <a:latin typeface="Calibri"/>
              <a:ea typeface="Calibri"/>
              <a:cs typeface="Calibri"/>
              <a:sym typeface="Calibri"/>
            </a:endParaRPr>
          </a:p>
        </p:txBody>
      </p:sp>
      <p:sp>
        <p:nvSpPr>
          <p:cNvPr id="181" name="Google Shape;181;p6"/>
          <p:cNvSpPr/>
          <p:nvPr/>
        </p:nvSpPr>
        <p:spPr>
          <a:xfrm>
            <a:off x="838200" y="7078980"/>
            <a:ext cx="5441655"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Sits about 30 bases before the start site — but only a minority of human promoters have one.</a:t>
            </a:r>
            <a:endParaRPr b="0" i="0" sz="1950" u="none" cap="none" strike="noStrike">
              <a:solidFill>
                <a:schemeClr val="dk1"/>
              </a:solidFill>
              <a:latin typeface="Calibri"/>
              <a:ea typeface="Calibri"/>
              <a:cs typeface="Calibri"/>
              <a:sym typeface="Calibri"/>
            </a:endParaRPr>
          </a:p>
        </p:txBody>
      </p:sp>
      <p:sp>
        <p:nvSpPr>
          <p:cNvPr id="182" name="Google Shape;182;p6"/>
          <p:cNvSpPr/>
          <p:nvPr/>
        </p:nvSpPr>
        <p:spPr>
          <a:xfrm>
            <a:off x="6502361" y="5612130"/>
            <a:ext cx="5283161"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6502361" y="5817870"/>
            <a:ext cx="5811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SIGNAL TWO</a:t>
            </a:r>
            <a:endParaRPr b="0" i="0" sz="1800" u="none" cap="none" strike="noStrike">
              <a:solidFill>
                <a:schemeClr val="dk1"/>
              </a:solidFill>
              <a:latin typeface="Calibri"/>
              <a:ea typeface="Calibri"/>
              <a:cs typeface="Calibri"/>
              <a:sym typeface="Calibri"/>
            </a:endParaRPr>
          </a:p>
        </p:txBody>
      </p:sp>
      <p:sp>
        <p:nvSpPr>
          <p:cNvPr id="184" name="Google Shape;184;p6"/>
          <p:cNvSpPr/>
          <p:nvPr/>
        </p:nvSpPr>
        <p:spPr>
          <a:xfrm>
            <a:off x="6502361" y="6153150"/>
            <a:ext cx="5811477"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CpG island</a:t>
            </a:r>
            <a:endParaRPr b="0" i="0" sz="2550" u="none" cap="none" strike="noStrike">
              <a:solidFill>
                <a:schemeClr val="dk1"/>
              </a:solidFill>
              <a:latin typeface="Calibri"/>
              <a:ea typeface="Calibri"/>
              <a:cs typeface="Calibri"/>
              <a:sym typeface="Calibri"/>
            </a:endParaRPr>
          </a:p>
        </p:txBody>
      </p:sp>
      <p:sp>
        <p:nvSpPr>
          <p:cNvPr id="185" name="Google Shape;185;p6"/>
          <p:cNvSpPr/>
          <p:nvPr/>
        </p:nvSpPr>
        <p:spPr>
          <a:xfrm>
            <a:off x="6502361" y="6614160"/>
            <a:ext cx="5811477"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0" i="0" lang="en-US" sz="2100" u="none" cap="none" strike="noStrike">
                <a:solidFill>
                  <a:srgbClr val="E8A317"/>
                </a:solidFill>
                <a:latin typeface="IBM Plex Mono"/>
                <a:ea typeface="IBM Plex Mono"/>
                <a:cs typeface="IBM Plex Mono"/>
                <a:sym typeface="IBM Plex Mono"/>
              </a:rPr>
              <a:t>GCGCGGCGGC</a:t>
            </a:r>
            <a:endParaRPr b="0" i="0" sz="2100" u="none" cap="none" strike="noStrike">
              <a:solidFill>
                <a:schemeClr val="dk1"/>
              </a:solidFill>
              <a:latin typeface="Calibri"/>
              <a:ea typeface="Calibri"/>
              <a:cs typeface="Calibri"/>
              <a:sym typeface="Calibri"/>
            </a:endParaRPr>
          </a:p>
        </p:txBody>
      </p:sp>
      <p:sp>
        <p:nvSpPr>
          <p:cNvPr id="186" name="Google Shape;186;p6"/>
          <p:cNvSpPr/>
          <p:nvPr/>
        </p:nvSpPr>
        <p:spPr>
          <a:xfrm>
            <a:off x="6502361" y="7078980"/>
            <a:ext cx="5441655"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A GC-rich stretch. Most human promoters look like this rather than like a TATA box.</a:t>
            </a:r>
            <a:endParaRPr b="0" i="0" sz="1950" u="none" cap="none" strike="noStrike">
              <a:solidFill>
                <a:schemeClr val="dk1"/>
              </a:solidFill>
              <a:latin typeface="Calibri"/>
              <a:ea typeface="Calibri"/>
              <a:cs typeface="Calibri"/>
              <a:sym typeface="Calibri"/>
            </a:endParaRPr>
          </a:p>
        </p:txBody>
      </p:sp>
      <p:sp>
        <p:nvSpPr>
          <p:cNvPr id="187" name="Google Shape;187;p6"/>
          <p:cNvSpPr/>
          <p:nvPr/>
        </p:nvSpPr>
        <p:spPr>
          <a:xfrm>
            <a:off x="12166521" y="5612130"/>
            <a:ext cx="5283161"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p:nvPr/>
        </p:nvSpPr>
        <p:spPr>
          <a:xfrm>
            <a:off x="12166521" y="5817870"/>
            <a:ext cx="5811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SIGNAL THREE</a:t>
            </a:r>
            <a:endParaRPr b="0" i="0" sz="1800" u="none" cap="none" strike="noStrike">
              <a:solidFill>
                <a:schemeClr val="dk1"/>
              </a:solidFill>
              <a:latin typeface="Calibri"/>
              <a:ea typeface="Calibri"/>
              <a:cs typeface="Calibri"/>
              <a:sym typeface="Calibri"/>
            </a:endParaRPr>
          </a:p>
        </p:txBody>
      </p:sp>
      <p:sp>
        <p:nvSpPr>
          <p:cNvPr id="189" name="Google Shape;189;p6"/>
          <p:cNvSpPr/>
          <p:nvPr/>
        </p:nvSpPr>
        <p:spPr>
          <a:xfrm>
            <a:off x="12166521" y="6153150"/>
            <a:ext cx="5811477"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Factor binding sites</a:t>
            </a:r>
            <a:endParaRPr b="0" i="0" sz="2550" u="none" cap="none" strike="noStrike">
              <a:solidFill>
                <a:schemeClr val="dk1"/>
              </a:solidFill>
              <a:latin typeface="Calibri"/>
              <a:ea typeface="Calibri"/>
              <a:cs typeface="Calibri"/>
              <a:sym typeface="Calibri"/>
            </a:endParaRPr>
          </a:p>
        </p:txBody>
      </p:sp>
      <p:sp>
        <p:nvSpPr>
          <p:cNvPr id="190" name="Google Shape;190;p6"/>
          <p:cNvSpPr/>
          <p:nvPr/>
        </p:nvSpPr>
        <p:spPr>
          <a:xfrm>
            <a:off x="12166521" y="6614160"/>
            <a:ext cx="5811477"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0" i="0" lang="en-US" sz="2100" u="none" cap="none" strike="noStrike">
                <a:solidFill>
                  <a:srgbClr val="E8A317"/>
                </a:solidFill>
                <a:latin typeface="IBM Plex Mono"/>
                <a:ea typeface="IBM Plex Mono"/>
                <a:cs typeface="IBM Plex Mono"/>
                <a:sym typeface="IBM Plex Mono"/>
              </a:rPr>
              <a:t>CCAAT · GGGCGG</a:t>
            </a:r>
            <a:endParaRPr b="0" i="0" sz="2100" u="none" cap="none" strike="noStrike">
              <a:solidFill>
                <a:schemeClr val="dk1"/>
              </a:solidFill>
              <a:latin typeface="Calibri"/>
              <a:ea typeface="Calibri"/>
              <a:cs typeface="Calibri"/>
              <a:sym typeface="Calibri"/>
            </a:endParaRPr>
          </a:p>
        </p:txBody>
      </p:sp>
      <p:sp>
        <p:nvSpPr>
          <p:cNvPr id="191" name="Google Shape;191;p6"/>
          <p:cNvSpPr/>
          <p:nvPr/>
        </p:nvSpPr>
        <p:spPr>
          <a:xfrm>
            <a:off x="12166521" y="7078980"/>
            <a:ext cx="5441655"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Short words that specific proteins recognise, in loose combinations rather than a fixed order.</a:t>
            </a:r>
            <a:endParaRPr b="0" i="0" sz="1950" u="none" cap="none" strike="noStrike">
              <a:solidFill>
                <a:schemeClr val="dk1"/>
              </a:solidFill>
              <a:latin typeface="Calibri"/>
              <a:ea typeface="Calibri"/>
              <a:cs typeface="Calibri"/>
              <a:sym typeface="Calibri"/>
            </a:endParaRPr>
          </a:p>
        </p:txBody>
      </p:sp>
      <p:sp>
        <p:nvSpPr>
          <p:cNvPr id="192" name="Google Shape;192;p6"/>
          <p:cNvSpPr/>
          <p:nvPr/>
        </p:nvSpPr>
        <p:spPr>
          <a:xfrm>
            <a:off x="838200" y="8084820"/>
            <a:ext cx="16611600" cy="126873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1162050" y="8589645"/>
            <a:ext cx="2432221"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PLAIN WORDS</a:t>
            </a:r>
            <a:endParaRPr b="0" i="0" sz="1800" u="none" cap="none" strike="noStrike">
              <a:solidFill>
                <a:schemeClr val="dk1"/>
              </a:solidFill>
              <a:latin typeface="Calibri"/>
              <a:ea typeface="Calibri"/>
              <a:cs typeface="Calibri"/>
              <a:sym typeface="Calibri"/>
            </a:endParaRPr>
          </a:p>
        </p:txBody>
      </p:sp>
      <p:sp>
        <p:nvSpPr>
          <p:cNvPr id="194" name="Google Shape;194;p6"/>
          <p:cNvSpPr/>
          <p:nvPr/>
        </p:nvSpPr>
        <p:spPr>
          <a:xfrm>
            <a:off x="3754160" y="8332470"/>
            <a:ext cx="13772945"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No single signal appears in every promoter, so there is no checklist to apply. That is exactly what makes this a machine-learning problem rather than a lookup.</a:t>
            </a:r>
            <a:endParaRPr b="0" i="0" sz="2100" u="none" cap="none" strike="noStrike">
              <a:solidFill>
                <a:schemeClr val="dk1"/>
              </a:solidFill>
              <a:latin typeface="Calibri"/>
              <a:ea typeface="Calibri"/>
              <a:cs typeface="Calibri"/>
              <a:sym typeface="Calibri"/>
            </a:endParaRPr>
          </a:p>
        </p:txBody>
      </p:sp>
      <p:sp>
        <p:nvSpPr>
          <p:cNvPr id="195" name="Google Shape;195;p6"/>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97" name="Google Shape;197;p6"/>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98" name="Google Shape;198;p6"/>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06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 name="Shape 203"/>
        <p:cNvGrpSpPr/>
        <p:nvPr/>
      </p:nvGrpSpPr>
      <p:grpSpPr>
        <a:xfrm>
          <a:off x="0" y="0"/>
          <a:ext cx="0" cy="0"/>
          <a:chOff x="0" y="0"/>
          <a:chExt cx="0" cy="0"/>
        </a:xfrm>
      </p:grpSpPr>
      <p:sp>
        <p:nvSpPr>
          <p:cNvPr id="204" name="Google Shape;204;p7"/>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206" name="Google Shape;206;p7"/>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207" name="Google Shape;207;p7"/>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01 · WHY CLASSIFY DNA?</a:t>
            </a:r>
            <a:endParaRPr b="0" i="0" sz="1800" u="none" cap="none" strike="noStrike">
              <a:solidFill>
                <a:schemeClr val="dk1"/>
              </a:solidFill>
              <a:latin typeface="Calibri"/>
              <a:ea typeface="Calibri"/>
              <a:cs typeface="Calibri"/>
              <a:sym typeface="Calibri"/>
            </a:endParaRPr>
          </a:p>
        </p:txBody>
      </p:sp>
      <p:sp>
        <p:nvSpPr>
          <p:cNvPr id="208" name="Google Shape;208;p7"/>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The task, stated precisely</a:t>
            </a:r>
            <a:endParaRPr b="0" i="0" sz="4500" u="none" cap="none" strike="noStrike">
              <a:solidFill>
                <a:schemeClr val="dk1"/>
              </a:solidFill>
              <a:latin typeface="Calibri"/>
              <a:ea typeface="Calibri"/>
              <a:cs typeface="Calibri"/>
              <a:sym typeface="Calibri"/>
            </a:endParaRPr>
          </a:p>
        </p:txBody>
      </p:sp>
      <p:sp>
        <p:nvSpPr>
          <p:cNvPr id="209" name="Google Shape;209;p7"/>
          <p:cNvSpPr/>
          <p:nvPr/>
        </p:nvSpPr>
        <p:spPr>
          <a:xfrm>
            <a:off x="838200" y="2486025"/>
            <a:ext cx="8599884" cy="4357688"/>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a:off x="1219200" y="2809875"/>
            <a:ext cx="8621673"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WHAT GOES IN</a:t>
            </a:r>
            <a:endParaRPr b="0" i="0" sz="1800" u="none" cap="none" strike="noStrike">
              <a:solidFill>
                <a:schemeClr val="dk1"/>
              </a:solidFill>
              <a:latin typeface="Calibri"/>
              <a:ea typeface="Calibri"/>
              <a:cs typeface="Calibri"/>
              <a:sym typeface="Calibri"/>
            </a:endParaRPr>
          </a:p>
        </p:txBody>
      </p:sp>
      <p:sp>
        <p:nvSpPr>
          <p:cNvPr id="211" name="Google Shape;211;p7"/>
          <p:cNvSpPr/>
          <p:nvPr/>
        </p:nvSpPr>
        <p:spPr>
          <a:xfrm>
            <a:off x="1219200" y="3164205"/>
            <a:ext cx="8621673" cy="457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850"/>
              <a:buFont typeface="Helvetica Neue"/>
              <a:buNone/>
            </a:pPr>
            <a:r>
              <a:rPr b="1" i="0" lang="en-US" sz="2850" u="none" cap="none" strike="noStrike">
                <a:solidFill>
                  <a:srgbClr val="1C2A44"/>
                </a:solidFill>
                <a:latin typeface="Helvetica Neue"/>
                <a:ea typeface="Helvetica Neue"/>
                <a:cs typeface="Helvetica Neue"/>
                <a:sym typeface="Helvetica Neue"/>
              </a:rPr>
              <a:t>One 300-base window</a:t>
            </a:r>
            <a:endParaRPr b="0" i="0" sz="2850" u="none" cap="none" strike="noStrike">
              <a:solidFill>
                <a:schemeClr val="dk1"/>
              </a:solidFill>
              <a:latin typeface="Calibri"/>
              <a:ea typeface="Calibri"/>
              <a:cs typeface="Calibri"/>
              <a:sym typeface="Calibri"/>
            </a:endParaRPr>
          </a:p>
        </p:txBody>
      </p:sp>
      <p:sp>
        <p:nvSpPr>
          <p:cNvPr id="212" name="Google Shape;212;p7"/>
          <p:cNvSpPr/>
          <p:nvPr/>
        </p:nvSpPr>
        <p:spPr>
          <a:xfrm>
            <a:off x="1219200" y="3773805"/>
            <a:ext cx="7837884" cy="12115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1447800" y="3983355"/>
            <a:ext cx="7615821" cy="830580"/>
          </a:xfrm>
          <a:prstGeom prst="rect">
            <a:avLst/>
          </a:prstGeom>
          <a:noFill/>
          <a:ln>
            <a:noFill/>
          </a:ln>
        </p:spPr>
        <p:txBody>
          <a:bodyPr anchorCtr="0" anchor="t" bIns="25400" lIns="25400" spcFirstLastPara="1" rIns="25400" wrap="square" tIns="25400">
            <a:normAutofit/>
          </a:bodyPr>
          <a:lstStyle/>
          <a:p>
            <a:pPr indent="0" lvl="0" marL="0" marR="0" rtl="0" algn="l">
              <a:lnSpc>
                <a:spcPct val="123810"/>
              </a:lnSpc>
              <a:spcBef>
                <a:spcPts val="0"/>
              </a:spcBef>
              <a:spcAft>
                <a:spcPts val="0"/>
              </a:spcAft>
              <a:buClr>
                <a:srgbClr val="1C2A44"/>
              </a:buClr>
              <a:buSzPts val="1950"/>
              <a:buFont typeface="IBM Plex Mono"/>
              <a:buNone/>
            </a:pPr>
            <a:r>
              <a:rPr b="0" i="0" lang="en-US" sz="1950" u="none" cap="none" strike="noStrike">
                <a:solidFill>
                  <a:srgbClr val="1C2A44"/>
                </a:solidFill>
                <a:latin typeface="IBM Plex Mono"/>
                <a:ea typeface="IBM Plex Mono"/>
                <a:cs typeface="IBM Plex Mono"/>
                <a:sym typeface="IBM Plex Mono"/>
              </a:rPr>
              <a:t>GGCTATAAAGGCACGTGCCAATCAGGCGCGGCGGCTATTAGCCGGAATTCCGGCGCGGTAT…</a:t>
            </a:r>
            <a:endParaRPr b="0" i="0" sz="1950" u="none" cap="none" strike="noStrike">
              <a:solidFill>
                <a:schemeClr val="dk1"/>
              </a:solidFill>
              <a:latin typeface="Calibri"/>
              <a:ea typeface="Calibri"/>
              <a:cs typeface="Calibri"/>
              <a:sym typeface="Calibri"/>
            </a:endParaRPr>
          </a:p>
        </p:txBody>
      </p:sp>
      <p:sp>
        <p:nvSpPr>
          <p:cNvPr id="214" name="Google Shape;214;p7"/>
          <p:cNvSpPr/>
          <p:nvPr/>
        </p:nvSpPr>
        <p:spPr>
          <a:xfrm>
            <a:off x="1219200" y="5156835"/>
            <a:ext cx="8073021" cy="1115377"/>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Always the same length, taken either around a known transcription start site (we label it 1) or from somewhere else in the genome (we label it 0).</a:t>
            </a:r>
            <a:endParaRPr b="0" i="0" sz="1950" u="none" cap="none" strike="noStrike">
              <a:solidFill>
                <a:schemeClr val="dk1"/>
              </a:solidFill>
              <a:latin typeface="Calibri"/>
              <a:ea typeface="Calibri"/>
              <a:cs typeface="Calibri"/>
              <a:sym typeface="Calibri"/>
            </a:endParaRPr>
          </a:p>
        </p:txBody>
      </p:sp>
      <p:sp>
        <p:nvSpPr>
          <p:cNvPr id="215" name="Google Shape;215;p7"/>
          <p:cNvSpPr/>
          <p:nvPr/>
        </p:nvSpPr>
        <p:spPr>
          <a:xfrm>
            <a:off x="9971484" y="2486025"/>
            <a:ext cx="7478196" cy="4357688"/>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10352484" y="2809875"/>
            <a:ext cx="73878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9BBD6"/>
              </a:buClr>
              <a:buSzPts val="1800"/>
              <a:buFont typeface="Helvetica Neue"/>
              <a:buNone/>
            </a:pPr>
            <a:r>
              <a:rPr b="0" i="0" lang="en-US" sz="1800" u="none" cap="none" strike="noStrike">
                <a:solidFill>
                  <a:srgbClr val="A9BBD6"/>
                </a:solidFill>
                <a:latin typeface="Helvetica Neue"/>
                <a:ea typeface="Helvetica Neue"/>
                <a:cs typeface="Helvetica Neue"/>
                <a:sym typeface="Helvetica Neue"/>
              </a:rPr>
              <a:t>WHAT COMES OUT</a:t>
            </a:r>
            <a:endParaRPr b="0" i="0" sz="1800" u="none" cap="none" strike="noStrike">
              <a:solidFill>
                <a:schemeClr val="dk1"/>
              </a:solidFill>
              <a:latin typeface="Calibri"/>
              <a:ea typeface="Calibri"/>
              <a:cs typeface="Calibri"/>
              <a:sym typeface="Calibri"/>
            </a:endParaRPr>
          </a:p>
        </p:txBody>
      </p:sp>
      <p:sp>
        <p:nvSpPr>
          <p:cNvPr id="217" name="Google Shape;217;p7"/>
          <p:cNvSpPr/>
          <p:nvPr/>
        </p:nvSpPr>
        <p:spPr>
          <a:xfrm>
            <a:off x="10352484" y="3164205"/>
            <a:ext cx="7387816" cy="457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850"/>
              <a:buFont typeface="Helvetica Neue"/>
              <a:buNone/>
            </a:pPr>
            <a:r>
              <a:rPr b="1" i="0" lang="en-US" sz="2850" u="none" cap="none" strike="noStrike">
                <a:solidFill>
                  <a:srgbClr val="FFFFFF"/>
                </a:solidFill>
                <a:latin typeface="Helvetica Neue"/>
                <a:ea typeface="Helvetica Neue"/>
                <a:cs typeface="Helvetica Neue"/>
                <a:sym typeface="Helvetica Neue"/>
              </a:rPr>
              <a:t>One number between 0 and 1</a:t>
            </a:r>
            <a:endParaRPr b="0" i="0" sz="2850" u="none" cap="none" strike="noStrike">
              <a:solidFill>
                <a:schemeClr val="dk1"/>
              </a:solidFill>
              <a:latin typeface="Calibri"/>
              <a:ea typeface="Calibri"/>
              <a:cs typeface="Calibri"/>
              <a:sym typeface="Calibri"/>
            </a:endParaRPr>
          </a:p>
        </p:txBody>
      </p:sp>
      <p:sp>
        <p:nvSpPr>
          <p:cNvPr id="218" name="Google Shape;218;p7"/>
          <p:cNvSpPr/>
          <p:nvPr/>
        </p:nvSpPr>
        <p:spPr>
          <a:xfrm>
            <a:off x="10352484" y="3792855"/>
            <a:ext cx="7387816" cy="876300"/>
          </a:xfrm>
          <a:prstGeom prst="rect">
            <a:avLst/>
          </a:prstGeom>
          <a:noFill/>
          <a:ln>
            <a:noFill/>
          </a:ln>
        </p:spPr>
        <p:txBody>
          <a:bodyPr anchorCtr="0" anchor="t" bIns="25400" lIns="25400" spcFirstLastPara="1" rIns="25400" wrap="square" tIns="25400">
            <a:normAutofit/>
          </a:bodyPr>
          <a:lstStyle/>
          <a:p>
            <a:pPr indent="0" lvl="0" marL="0" marR="0" rtl="0" algn="l">
              <a:lnSpc>
                <a:spcPct val="76923"/>
              </a:lnSpc>
              <a:spcBef>
                <a:spcPts val="0"/>
              </a:spcBef>
              <a:spcAft>
                <a:spcPts val="0"/>
              </a:spcAft>
              <a:buClr>
                <a:srgbClr val="E8A317"/>
              </a:buClr>
              <a:buSzPts val="6600"/>
              <a:buFont typeface="IBM Plex Mono"/>
              <a:buNone/>
            </a:pPr>
            <a:r>
              <a:rPr b="1" i="0" lang="en-US" sz="6600" u="none" cap="none" strike="noStrike">
                <a:solidFill>
                  <a:srgbClr val="E8A317"/>
                </a:solidFill>
                <a:latin typeface="IBM Plex Mono"/>
                <a:ea typeface="IBM Plex Mono"/>
                <a:cs typeface="IBM Plex Mono"/>
                <a:sym typeface="IBM Plex Mono"/>
              </a:rPr>
              <a:t>0.87</a:t>
            </a:r>
            <a:endParaRPr b="0" i="0" sz="6600" u="none" cap="none" strike="noStrike">
              <a:solidFill>
                <a:schemeClr val="dk1"/>
              </a:solidFill>
              <a:latin typeface="Calibri"/>
              <a:ea typeface="Calibri"/>
              <a:cs typeface="Calibri"/>
              <a:sym typeface="Calibri"/>
            </a:endParaRPr>
          </a:p>
        </p:txBody>
      </p:sp>
      <p:sp>
        <p:nvSpPr>
          <p:cNvPr id="219" name="Google Shape;219;p7"/>
          <p:cNvSpPr/>
          <p:nvPr/>
        </p:nvSpPr>
        <p:spPr>
          <a:xfrm>
            <a:off x="10352484" y="4783455"/>
            <a:ext cx="2061841"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C8D6EA"/>
              </a:buClr>
              <a:buSzPts val="1800"/>
              <a:buFont typeface="Helvetica Neue"/>
              <a:buNone/>
            </a:pPr>
            <a:r>
              <a:rPr b="0" i="0" lang="en-US" sz="1800" u="none" cap="none" strike="noStrike">
                <a:solidFill>
                  <a:srgbClr val="C8D6EA"/>
                </a:solidFill>
                <a:latin typeface="Helvetica Neue"/>
                <a:ea typeface="Helvetica Neue"/>
                <a:cs typeface="Helvetica Neue"/>
                <a:sym typeface="Helvetica Neue"/>
              </a:rPr>
              <a:t>0 = not a promoter</a:t>
            </a:r>
            <a:endParaRPr b="0" i="0" sz="1800" u="none" cap="none" strike="noStrike">
              <a:solidFill>
                <a:schemeClr val="dk1"/>
              </a:solidFill>
              <a:latin typeface="Calibri"/>
              <a:ea typeface="Calibri"/>
              <a:cs typeface="Calibri"/>
              <a:sym typeface="Calibri"/>
            </a:endParaRPr>
          </a:p>
        </p:txBody>
      </p:sp>
      <p:sp>
        <p:nvSpPr>
          <p:cNvPr id="220" name="Google Shape;220;p7"/>
          <p:cNvSpPr/>
          <p:nvPr/>
        </p:nvSpPr>
        <p:spPr>
          <a:xfrm>
            <a:off x="15766256" y="4783455"/>
            <a:ext cx="143266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C8D6EA"/>
              </a:buClr>
              <a:buSzPts val="1800"/>
              <a:buFont typeface="Helvetica Neue"/>
              <a:buNone/>
            </a:pPr>
            <a:r>
              <a:rPr b="0" i="0" lang="en-US" sz="1800" u="none" cap="none" strike="noStrike">
                <a:solidFill>
                  <a:srgbClr val="C8D6EA"/>
                </a:solidFill>
                <a:latin typeface="Helvetica Neue"/>
                <a:ea typeface="Helvetica Neue"/>
                <a:cs typeface="Helvetica Neue"/>
                <a:sym typeface="Helvetica Neue"/>
              </a:rPr>
              <a:t>1 = promoter</a:t>
            </a:r>
            <a:endParaRPr b="0" i="0" sz="1800" u="none" cap="none" strike="noStrike">
              <a:solidFill>
                <a:schemeClr val="dk1"/>
              </a:solidFill>
              <a:latin typeface="Calibri"/>
              <a:ea typeface="Calibri"/>
              <a:cs typeface="Calibri"/>
              <a:sym typeface="Calibri"/>
            </a:endParaRPr>
          </a:p>
        </p:txBody>
      </p:sp>
      <p:sp>
        <p:nvSpPr>
          <p:cNvPr id="221" name="Google Shape;221;p7"/>
          <p:cNvSpPr/>
          <p:nvPr/>
        </p:nvSpPr>
        <p:spPr>
          <a:xfrm>
            <a:off x="10352484" y="5137785"/>
            <a:ext cx="6716196" cy="95250"/>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10352484" y="5137785"/>
            <a:ext cx="5842992" cy="9525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10352484" y="5442585"/>
            <a:ext cx="6917682" cy="1115377"/>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C8D6EA"/>
              </a:buClr>
              <a:buSzPts val="1950"/>
              <a:buFont typeface="Helvetica Neue"/>
              <a:buNone/>
            </a:pPr>
            <a:r>
              <a:rPr b="0" i="0" lang="en-US" sz="1950" u="none" cap="none" strike="noStrike">
                <a:solidFill>
                  <a:srgbClr val="C8D6EA"/>
                </a:solidFill>
                <a:latin typeface="Helvetica Neue"/>
                <a:ea typeface="Helvetica Neue"/>
                <a:cs typeface="Helvetica Neue"/>
                <a:sym typeface="Helvetica Neue"/>
              </a:rPr>
              <a:t>We turn that score into a yes-or-no answer with a threshold — 0.5 unless we choose otherwise. Moving the threshold trades false alarms against missed promoters.</a:t>
            </a:r>
            <a:endParaRPr b="0" i="0" sz="1950" u="none" cap="none" strike="noStrike">
              <a:solidFill>
                <a:schemeClr val="dk1"/>
              </a:solidFill>
              <a:latin typeface="Calibri"/>
              <a:ea typeface="Calibri"/>
              <a:cs typeface="Calibri"/>
              <a:sym typeface="Calibri"/>
            </a:endParaRPr>
          </a:p>
        </p:txBody>
      </p:sp>
      <p:sp>
        <p:nvSpPr>
          <p:cNvPr id="224" name="Google Shape;224;p7"/>
          <p:cNvSpPr/>
          <p:nvPr/>
        </p:nvSpPr>
        <p:spPr>
          <a:xfrm>
            <a:off x="838200" y="7524750"/>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
          <p:cNvSpPr/>
          <p:nvPr/>
        </p:nvSpPr>
        <p:spPr>
          <a:xfrm>
            <a:off x="838200" y="780669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THE DATASET WE WILL USE</a:t>
            </a:r>
            <a:endParaRPr b="0" i="0" sz="1800" u="none" cap="none" strike="noStrike">
              <a:solidFill>
                <a:schemeClr val="dk1"/>
              </a:solidFill>
              <a:latin typeface="Calibri"/>
              <a:ea typeface="Calibri"/>
              <a:cs typeface="Calibri"/>
              <a:sym typeface="Calibri"/>
            </a:endParaRPr>
          </a:p>
        </p:txBody>
      </p:sp>
      <p:sp>
        <p:nvSpPr>
          <p:cNvPr id="226" name="Google Shape;226;p7"/>
          <p:cNvSpPr/>
          <p:nvPr/>
        </p:nvSpPr>
        <p:spPr>
          <a:xfrm>
            <a:off x="838200" y="8256270"/>
            <a:ext cx="4253865"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Helvetica Neue"/>
              <a:buNone/>
            </a:pPr>
            <a:r>
              <a:rPr b="1" i="0" lang="en-US" sz="2250" u="none" cap="none" strike="noStrike">
                <a:solidFill>
                  <a:srgbClr val="1C2A44"/>
                </a:solidFill>
                <a:latin typeface="Helvetica Neue"/>
                <a:ea typeface="Helvetica Neue"/>
                <a:cs typeface="Helvetica Neue"/>
                <a:sym typeface="Helvetica Neue"/>
              </a:rPr>
              <a:t>Positives</a:t>
            </a:r>
            <a:endParaRPr b="0" i="0" sz="2250" u="none" cap="none" strike="noStrike">
              <a:solidFill>
                <a:schemeClr val="dk1"/>
              </a:solidFill>
              <a:latin typeface="Calibri"/>
              <a:ea typeface="Calibri"/>
              <a:cs typeface="Calibri"/>
              <a:sym typeface="Calibri"/>
            </a:endParaRPr>
          </a:p>
        </p:txBody>
      </p:sp>
      <p:sp>
        <p:nvSpPr>
          <p:cNvPr id="227" name="Google Shape;227;p7"/>
          <p:cNvSpPr/>
          <p:nvPr/>
        </p:nvSpPr>
        <p:spPr>
          <a:xfrm>
            <a:off x="838200" y="8660130"/>
            <a:ext cx="3983165"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windows centred on annotated start sites</a:t>
            </a:r>
            <a:endParaRPr b="0" i="0" sz="1950" u="none" cap="none" strike="noStrike">
              <a:solidFill>
                <a:schemeClr val="dk1"/>
              </a:solidFill>
              <a:latin typeface="Calibri"/>
              <a:ea typeface="Calibri"/>
              <a:cs typeface="Calibri"/>
              <a:sym typeface="Calibri"/>
            </a:endParaRPr>
          </a:p>
        </p:txBody>
      </p:sp>
      <p:sp>
        <p:nvSpPr>
          <p:cNvPr id="228" name="Google Shape;228;p7"/>
          <p:cNvSpPr/>
          <p:nvPr/>
        </p:nvSpPr>
        <p:spPr>
          <a:xfrm>
            <a:off x="5086350" y="8256270"/>
            <a:ext cx="4253865"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Helvetica Neue"/>
              <a:buNone/>
            </a:pPr>
            <a:r>
              <a:rPr b="1" i="0" lang="en-US" sz="2250" u="none" cap="none" strike="noStrike">
                <a:solidFill>
                  <a:srgbClr val="1C2A44"/>
                </a:solidFill>
                <a:latin typeface="Helvetica Neue"/>
                <a:ea typeface="Helvetica Neue"/>
                <a:cs typeface="Helvetica Neue"/>
                <a:sym typeface="Helvetica Neue"/>
              </a:rPr>
              <a:t>Negatives</a:t>
            </a:r>
            <a:endParaRPr b="0" i="0" sz="2250" u="none" cap="none" strike="noStrike">
              <a:solidFill>
                <a:schemeClr val="dk1"/>
              </a:solidFill>
              <a:latin typeface="Calibri"/>
              <a:ea typeface="Calibri"/>
              <a:cs typeface="Calibri"/>
              <a:sym typeface="Calibri"/>
            </a:endParaRPr>
          </a:p>
        </p:txBody>
      </p:sp>
      <p:sp>
        <p:nvSpPr>
          <p:cNvPr id="229" name="Google Shape;229;p7"/>
          <p:cNvSpPr/>
          <p:nvPr/>
        </p:nvSpPr>
        <p:spPr>
          <a:xfrm>
            <a:off x="5086350" y="8660130"/>
            <a:ext cx="3983165"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windows from elsewhere, matched for length</a:t>
            </a:r>
            <a:endParaRPr b="0" i="0" sz="1950" u="none" cap="none" strike="noStrike">
              <a:solidFill>
                <a:schemeClr val="dk1"/>
              </a:solidFill>
              <a:latin typeface="Calibri"/>
              <a:ea typeface="Calibri"/>
              <a:cs typeface="Calibri"/>
              <a:sym typeface="Calibri"/>
            </a:endParaRPr>
          </a:p>
        </p:txBody>
      </p:sp>
      <p:sp>
        <p:nvSpPr>
          <p:cNvPr id="230" name="Google Shape;230;p7"/>
          <p:cNvSpPr/>
          <p:nvPr/>
        </p:nvSpPr>
        <p:spPr>
          <a:xfrm>
            <a:off x="9334500" y="8256270"/>
            <a:ext cx="4253865"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Helvetica Neue"/>
              <a:buNone/>
            </a:pPr>
            <a:r>
              <a:rPr b="1" i="0" lang="en-US" sz="2250" u="none" cap="none" strike="noStrike">
                <a:solidFill>
                  <a:srgbClr val="1C2A44"/>
                </a:solidFill>
                <a:latin typeface="Helvetica Neue"/>
                <a:ea typeface="Helvetica Neue"/>
                <a:cs typeface="Helvetica Neue"/>
                <a:sym typeface="Helvetica Neue"/>
              </a:rPr>
              <a:t>Split</a:t>
            </a:r>
            <a:endParaRPr b="0" i="0" sz="2250" u="none" cap="none" strike="noStrike">
              <a:solidFill>
                <a:schemeClr val="dk1"/>
              </a:solidFill>
              <a:latin typeface="Calibri"/>
              <a:ea typeface="Calibri"/>
              <a:cs typeface="Calibri"/>
              <a:sym typeface="Calibri"/>
            </a:endParaRPr>
          </a:p>
        </p:txBody>
      </p:sp>
      <p:sp>
        <p:nvSpPr>
          <p:cNvPr id="231" name="Google Shape;231;p7"/>
          <p:cNvSpPr/>
          <p:nvPr/>
        </p:nvSpPr>
        <p:spPr>
          <a:xfrm>
            <a:off x="9334500" y="8660130"/>
            <a:ext cx="3983165"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train / validation / test, held out by chromosome</a:t>
            </a:r>
            <a:endParaRPr b="0" i="0" sz="1950" u="none" cap="none" strike="noStrike">
              <a:solidFill>
                <a:schemeClr val="dk1"/>
              </a:solidFill>
              <a:latin typeface="Calibri"/>
              <a:ea typeface="Calibri"/>
              <a:cs typeface="Calibri"/>
              <a:sym typeface="Calibri"/>
            </a:endParaRPr>
          </a:p>
        </p:txBody>
      </p:sp>
      <p:sp>
        <p:nvSpPr>
          <p:cNvPr id="232" name="Google Shape;232;p7"/>
          <p:cNvSpPr/>
          <p:nvPr/>
        </p:nvSpPr>
        <p:spPr>
          <a:xfrm>
            <a:off x="13582650" y="8256270"/>
            <a:ext cx="4253865"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Helvetica Neue"/>
              <a:buNone/>
            </a:pPr>
            <a:r>
              <a:rPr b="1" i="0" lang="en-US" sz="2250" u="none" cap="none" strike="noStrike">
                <a:solidFill>
                  <a:srgbClr val="1C2A44"/>
                </a:solidFill>
                <a:latin typeface="Helvetica Neue"/>
                <a:ea typeface="Helvetica Neue"/>
                <a:cs typeface="Helvetica Neue"/>
                <a:sym typeface="Helvetica Neue"/>
              </a:rPr>
              <a:t>Size</a:t>
            </a:r>
            <a:endParaRPr b="0" i="0" sz="2250" u="none" cap="none" strike="noStrike">
              <a:solidFill>
                <a:schemeClr val="dk1"/>
              </a:solidFill>
              <a:latin typeface="Calibri"/>
              <a:ea typeface="Calibri"/>
              <a:cs typeface="Calibri"/>
              <a:sym typeface="Calibri"/>
            </a:endParaRPr>
          </a:p>
        </p:txBody>
      </p:sp>
      <p:sp>
        <p:nvSpPr>
          <p:cNvPr id="233" name="Google Shape;233;p7"/>
          <p:cNvSpPr/>
          <p:nvPr/>
        </p:nvSpPr>
        <p:spPr>
          <a:xfrm>
            <a:off x="13582650" y="8660130"/>
            <a:ext cx="3983165"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a few thousand windows — small enough to run on a laptop</a:t>
            </a:r>
            <a:endParaRPr b="0" i="0" sz="1950" u="none" cap="none" strike="noStrike">
              <a:solidFill>
                <a:schemeClr val="dk1"/>
              </a:solidFill>
              <a:latin typeface="Calibri"/>
              <a:ea typeface="Calibri"/>
              <a:cs typeface="Calibri"/>
              <a:sym typeface="Calibri"/>
            </a:endParaRPr>
          </a:p>
        </p:txBody>
      </p:sp>
      <p:sp>
        <p:nvSpPr>
          <p:cNvPr id="234" name="Google Shape;234;p7"/>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236" name="Google Shape;236;p7"/>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237" name="Google Shape;237;p7"/>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07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2" name="Shape 242"/>
        <p:cNvGrpSpPr/>
        <p:nvPr/>
      </p:nvGrpSpPr>
      <p:grpSpPr>
        <a:xfrm>
          <a:off x="0" y="0"/>
          <a:ext cx="0" cy="0"/>
          <a:chOff x="0" y="0"/>
          <a:chExt cx="0" cy="0"/>
        </a:xfrm>
      </p:grpSpPr>
      <p:sp>
        <p:nvSpPr>
          <p:cNvPr id="243" name="Google Shape;243;p8"/>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245" name="Google Shape;245;p8"/>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246" name="Google Shape;246;p8"/>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01 · WHY CLASSIFY DNA?</a:t>
            </a:r>
            <a:endParaRPr b="0" i="0" sz="1800" u="none" cap="none" strike="noStrike">
              <a:solidFill>
                <a:schemeClr val="dk1"/>
              </a:solidFill>
              <a:latin typeface="Calibri"/>
              <a:ea typeface="Calibri"/>
              <a:cs typeface="Calibri"/>
              <a:sym typeface="Calibri"/>
            </a:endParaRPr>
          </a:p>
        </p:txBody>
      </p:sp>
      <p:sp>
        <p:nvSpPr>
          <p:cNvPr id="247" name="Google Shape;247;p8"/>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Why searching for TATAAA fails</a:t>
            </a:r>
            <a:endParaRPr b="0" i="0" sz="4500" u="none" cap="none" strike="noStrike">
              <a:solidFill>
                <a:schemeClr val="dk1"/>
              </a:solidFill>
              <a:latin typeface="Calibri"/>
              <a:ea typeface="Calibri"/>
              <a:cs typeface="Calibri"/>
              <a:sym typeface="Calibri"/>
            </a:endParaRPr>
          </a:p>
        </p:txBody>
      </p:sp>
      <p:sp>
        <p:nvSpPr>
          <p:cNvPr id="248" name="Google Shape;248;p8"/>
          <p:cNvSpPr/>
          <p:nvPr/>
        </p:nvSpPr>
        <p:spPr>
          <a:xfrm>
            <a:off x="838200" y="2314575"/>
            <a:ext cx="14912340" cy="866775"/>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Suppose the rule is: if the window contains TATAAA, call it a promoter. Run it on 1,000 windows, 100 of which are real promoters.</a:t>
            </a:r>
            <a:endParaRPr b="0" i="0" sz="2250" u="none" cap="none" strike="noStrike">
              <a:solidFill>
                <a:schemeClr val="dk1"/>
              </a:solidFill>
              <a:latin typeface="Calibri"/>
              <a:ea typeface="Calibri"/>
              <a:cs typeface="Calibri"/>
              <a:sym typeface="Calibri"/>
            </a:endParaRPr>
          </a:p>
        </p:txBody>
      </p:sp>
      <p:sp>
        <p:nvSpPr>
          <p:cNvPr id="249" name="Google Shape;249;p8"/>
          <p:cNvSpPr/>
          <p:nvPr/>
        </p:nvSpPr>
        <p:spPr>
          <a:xfrm>
            <a:off x="838200" y="3486150"/>
            <a:ext cx="9087564" cy="376047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1181100" y="4183380"/>
            <a:ext cx="8401764" cy="9525"/>
          </a:xfrm>
          <a:prstGeom prst="rect">
            <a:avLst/>
          </a:prstGeom>
          <a:solidFill>
            <a:srgbClr val="C8D6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1181100" y="3790950"/>
            <a:ext cx="3208211"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WINDOWS</a:t>
            </a:r>
            <a:endParaRPr b="0" i="0" sz="1800" u="none" cap="none" strike="noStrike">
              <a:solidFill>
                <a:schemeClr val="dk1"/>
              </a:solidFill>
              <a:latin typeface="Calibri"/>
              <a:ea typeface="Calibri"/>
              <a:cs typeface="Calibri"/>
              <a:sym typeface="Calibri"/>
            </a:endParaRPr>
          </a:p>
        </p:txBody>
      </p:sp>
      <p:sp>
        <p:nvSpPr>
          <p:cNvPr id="252" name="Google Shape;252;p8"/>
          <p:cNvSpPr/>
          <p:nvPr/>
        </p:nvSpPr>
        <p:spPr>
          <a:xfrm>
            <a:off x="4288155" y="3790950"/>
            <a:ext cx="267359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CONTAIN TATAAA</a:t>
            </a:r>
            <a:endParaRPr b="0" i="0" sz="1800" u="none" cap="none" strike="noStrike">
              <a:solidFill>
                <a:schemeClr val="dk1"/>
              </a:solidFill>
              <a:latin typeface="Calibri"/>
              <a:ea typeface="Calibri"/>
              <a:cs typeface="Calibri"/>
              <a:sym typeface="Calibri"/>
            </a:endParaRPr>
          </a:p>
        </p:txBody>
      </p:sp>
      <p:sp>
        <p:nvSpPr>
          <p:cNvPr id="253" name="Google Shape;253;p8"/>
          <p:cNvSpPr/>
          <p:nvPr/>
        </p:nvSpPr>
        <p:spPr>
          <a:xfrm>
            <a:off x="6909197" y="3790950"/>
            <a:ext cx="2940903"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RULE SAYS</a:t>
            </a:r>
            <a:endParaRPr b="0" i="0" sz="1800" u="none" cap="none" strike="noStrike">
              <a:solidFill>
                <a:schemeClr val="dk1"/>
              </a:solidFill>
              <a:latin typeface="Calibri"/>
              <a:ea typeface="Calibri"/>
              <a:cs typeface="Calibri"/>
              <a:sym typeface="Calibri"/>
            </a:endParaRPr>
          </a:p>
        </p:txBody>
      </p:sp>
      <p:sp>
        <p:nvSpPr>
          <p:cNvPr id="254" name="Google Shape;254;p8"/>
          <p:cNvSpPr/>
          <p:nvPr/>
        </p:nvSpPr>
        <p:spPr>
          <a:xfrm>
            <a:off x="1181100" y="4975860"/>
            <a:ext cx="8401764" cy="9525"/>
          </a:xfrm>
          <a:prstGeom prst="rect">
            <a:avLst/>
          </a:prstGeom>
          <a:solidFill>
            <a:srgbClr val="C8D6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1181100" y="4419600"/>
            <a:ext cx="3208211"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Helvetica Neue"/>
              <a:buNone/>
            </a:pPr>
            <a:r>
              <a:rPr b="1" i="0" lang="en-US" sz="2250" u="none" cap="none" strike="noStrike">
                <a:solidFill>
                  <a:srgbClr val="1C2A44"/>
                </a:solidFill>
                <a:latin typeface="Helvetica Neue"/>
                <a:ea typeface="Helvetica Neue"/>
                <a:cs typeface="Helvetica Neue"/>
                <a:sym typeface="Helvetica Neue"/>
              </a:rPr>
              <a:t>100 real promoters</a:t>
            </a:r>
            <a:endParaRPr b="0" i="0" sz="2250" u="none" cap="none" strike="noStrike">
              <a:solidFill>
                <a:schemeClr val="dk1"/>
              </a:solidFill>
              <a:latin typeface="Calibri"/>
              <a:ea typeface="Calibri"/>
              <a:cs typeface="Calibri"/>
              <a:sym typeface="Calibri"/>
            </a:endParaRPr>
          </a:p>
        </p:txBody>
      </p:sp>
      <p:sp>
        <p:nvSpPr>
          <p:cNvPr id="256" name="Google Shape;256;p8"/>
          <p:cNvSpPr/>
          <p:nvPr/>
        </p:nvSpPr>
        <p:spPr>
          <a:xfrm>
            <a:off x="4288155" y="4400550"/>
            <a:ext cx="2673596"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IBM Plex Mono"/>
              <a:buNone/>
            </a:pPr>
            <a:r>
              <a:rPr b="0" i="0" lang="en-US" sz="2250" u="none" cap="none" strike="noStrike">
                <a:solidFill>
                  <a:srgbClr val="1C2A44"/>
                </a:solidFill>
                <a:latin typeface="IBM Plex Mono"/>
                <a:ea typeface="IBM Plex Mono"/>
                <a:cs typeface="IBM Plex Mono"/>
                <a:sym typeface="IBM Plex Mono"/>
              </a:rPr>
              <a:t>about 25</a:t>
            </a:r>
            <a:endParaRPr b="0" i="0" sz="2250" u="none" cap="none" strike="noStrike">
              <a:solidFill>
                <a:schemeClr val="dk1"/>
              </a:solidFill>
              <a:latin typeface="Calibri"/>
              <a:ea typeface="Calibri"/>
              <a:cs typeface="Calibri"/>
              <a:sym typeface="Calibri"/>
            </a:endParaRPr>
          </a:p>
        </p:txBody>
      </p:sp>
      <p:sp>
        <p:nvSpPr>
          <p:cNvPr id="257" name="Google Shape;257;p8"/>
          <p:cNvSpPr/>
          <p:nvPr/>
        </p:nvSpPr>
        <p:spPr>
          <a:xfrm>
            <a:off x="6909197" y="4419600"/>
            <a:ext cx="2940903"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25 found, 75 missed</a:t>
            </a:r>
            <a:endParaRPr b="0" i="0" sz="2250" u="none" cap="none" strike="noStrike">
              <a:solidFill>
                <a:schemeClr val="dk1"/>
              </a:solidFill>
              <a:latin typeface="Calibri"/>
              <a:ea typeface="Calibri"/>
              <a:cs typeface="Calibri"/>
              <a:sym typeface="Calibri"/>
            </a:endParaRPr>
          </a:p>
        </p:txBody>
      </p:sp>
      <p:sp>
        <p:nvSpPr>
          <p:cNvPr id="258" name="Google Shape;258;p8"/>
          <p:cNvSpPr/>
          <p:nvPr/>
        </p:nvSpPr>
        <p:spPr>
          <a:xfrm>
            <a:off x="1181100" y="5212080"/>
            <a:ext cx="3208211"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Helvetica Neue"/>
              <a:buNone/>
            </a:pPr>
            <a:r>
              <a:rPr b="1" i="0" lang="en-US" sz="2250" u="none" cap="none" strike="noStrike">
                <a:solidFill>
                  <a:srgbClr val="1C2A44"/>
                </a:solidFill>
                <a:latin typeface="Helvetica Neue"/>
                <a:ea typeface="Helvetica Neue"/>
                <a:cs typeface="Helvetica Neue"/>
                <a:sym typeface="Helvetica Neue"/>
              </a:rPr>
              <a:t>900 other windows</a:t>
            </a:r>
            <a:endParaRPr b="0" i="0" sz="2250" u="none" cap="none" strike="noStrike">
              <a:solidFill>
                <a:schemeClr val="dk1"/>
              </a:solidFill>
              <a:latin typeface="Calibri"/>
              <a:ea typeface="Calibri"/>
              <a:cs typeface="Calibri"/>
              <a:sym typeface="Calibri"/>
            </a:endParaRPr>
          </a:p>
        </p:txBody>
      </p:sp>
      <p:sp>
        <p:nvSpPr>
          <p:cNvPr id="259" name="Google Shape;259;p8"/>
          <p:cNvSpPr/>
          <p:nvPr/>
        </p:nvSpPr>
        <p:spPr>
          <a:xfrm>
            <a:off x="4288155" y="5193030"/>
            <a:ext cx="2673596"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IBM Plex Mono"/>
              <a:buNone/>
            </a:pPr>
            <a:r>
              <a:rPr b="0" i="0" lang="en-US" sz="2250" u="none" cap="none" strike="noStrike">
                <a:solidFill>
                  <a:srgbClr val="1C2A44"/>
                </a:solidFill>
                <a:latin typeface="IBM Plex Mono"/>
                <a:ea typeface="IBM Plex Mono"/>
                <a:cs typeface="IBM Plex Mono"/>
                <a:sym typeface="IBM Plex Mono"/>
              </a:rPr>
              <a:t>about 90</a:t>
            </a:r>
            <a:endParaRPr b="0" i="0" sz="2250" u="none" cap="none" strike="noStrike">
              <a:solidFill>
                <a:schemeClr val="dk1"/>
              </a:solidFill>
              <a:latin typeface="Calibri"/>
              <a:ea typeface="Calibri"/>
              <a:cs typeface="Calibri"/>
              <a:sym typeface="Calibri"/>
            </a:endParaRPr>
          </a:p>
        </p:txBody>
      </p:sp>
      <p:sp>
        <p:nvSpPr>
          <p:cNvPr id="260" name="Google Shape;260;p8"/>
          <p:cNvSpPr/>
          <p:nvPr/>
        </p:nvSpPr>
        <p:spPr>
          <a:xfrm>
            <a:off x="6909197" y="5212080"/>
            <a:ext cx="2940903"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90 false alarms</a:t>
            </a:r>
            <a:endParaRPr b="0" i="0" sz="2250" u="none" cap="none" strike="noStrike">
              <a:solidFill>
                <a:schemeClr val="dk1"/>
              </a:solidFill>
              <a:latin typeface="Calibri"/>
              <a:ea typeface="Calibri"/>
              <a:cs typeface="Calibri"/>
              <a:sym typeface="Calibri"/>
            </a:endParaRPr>
          </a:p>
        </p:txBody>
      </p:sp>
      <p:sp>
        <p:nvSpPr>
          <p:cNvPr id="261" name="Google Shape;261;p8"/>
          <p:cNvSpPr/>
          <p:nvPr/>
        </p:nvSpPr>
        <p:spPr>
          <a:xfrm>
            <a:off x="1181100" y="5825490"/>
            <a:ext cx="8401764"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1181100" y="6050280"/>
            <a:ext cx="2816483" cy="571500"/>
          </a:xfrm>
          <a:prstGeom prst="rect">
            <a:avLst/>
          </a:prstGeom>
          <a:noFill/>
          <a:ln>
            <a:noFill/>
          </a:ln>
        </p:spPr>
        <p:txBody>
          <a:bodyPr anchorCtr="0" anchor="t" bIns="25400" lIns="25400" spcFirstLastPara="1" rIns="25400" wrap="square" tIns="25400">
            <a:normAutofit/>
          </a:bodyPr>
          <a:lstStyle/>
          <a:p>
            <a:pPr indent="0" lvl="0" marL="0" marR="0" rtl="0" algn="l">
              <a:lnSpc>
                <a:spcPct val="87500"/>
              </a:lnSpc>
              <a:spcBef>
                <a:spcPts val="0"/>
              </a:spcBef>
              <a:spcAft>
                <a:spcPts val="0"/>
              </a:spcAft>
              <a:buClr>
                <a:srgbClr val="1C2A44"/>
              </a:buClr>
              <a:buSzPts val="4200"/>
              <a:buFont typeface="Helvetica Neue"/>
              <a:buNone/>
            </a:pPr>
            <a:r>
              <a:rPr b="1" i="0" lang="en-US" sz="4200" u="none" cap="none" strike="noStrike">
                <a:solidFill>
                  <a:srgbClr val="1C2A44"/>
                </a:solidFill>
                <a:latin typeface="Helvetica Neue"/>
                <a:ea typeface="Helvetica Neue"/>
                <a:cs typeface="Helvetica Neue"/>
                <a:sym typeface="Helvetica Neue"/>
              </a:rPr>
              <a:t>25%</a:t>
            </a:r>
            <a:endParaRPr b="0" i="0" sz="4200" u="none" cap="none" strike="noStrike">
              <a:solidFill>
                <a:schemeClr val="dk1"/>
              </a:solidFill>
              <a:latin typeface="Calibri"/>
              <a:ea typeface="Calibri"/>
              <a:cs typeface="Calibri"/>
              <a:sym typeface="Calibri"/>
            </a:endParaRPr>
          </a:p>
        </p:txBody>
      </p:sp>
      <p:sp>
        <p:nvSpPr>
          <p:cNvPr id="263" name="Google Shape;263;p8"/>
          <p:cNvSpPr/>
          <p:nvPr/>
        </p:nvSpPr>
        <p:spPr>
          <a:xfrm>
            <a:off x="1181100" y="6659880"/>
            <a:ext cx="2816483"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of real promoters found</a:t>
            </a:r>
            <a:endParaRPr b="0" i="0" sz="1950" u="none" cap="none" strike="noStrike">
              <a:solidFill>
                <a:schemeClr val="dk1"/>
              </a:solidFill>
              <a:latin typeface="Calibri"/>
              <a:ea typeface="Calibri"/>
              <a:cs typeface="Calibri"/>
              <a:sym typeface="Calibri"/>
            </a:endParaRPr>
          </a:p>
        </p:txBody>
      </p:sp>
      <p:sp>
        <p:nvSpPr>
          <p:cNvPr id="264" name="Google Shape;264;p8"/>
          <p:cNvSpPr/>
          <p:nvPr/>
        </p:nvSpPr>
        <p:spPr>
          <a:xfrm>
            <a:off x="4351139" y="6050280"/>
            <a:ext cx="2740128" cy="571500"/>
          </a:xfrm>
          <a:prstGeom prst="rect">
            <a:avLst/>
          </a:prstGeom>
          <a:noFill/>
          <a:ln>
            <a:noFill/>
          </a:ln>
        </p:spPr>
        <p:txBody>
          <a:bodyPr anchorCtr="0" anchor="t" bIns="25400" lIns="25400" spcFirstLastPara="1" rIns="25400" wrap="square" tIns="25400">
            <a:normAutofit/>
          </a:bodyPr>
          <a:lstStyle/>
          <a:p>
            <a:pPr indent="0" lvl="0" marL="0" marR="0" rtl="0" algn="l">
              <a:lnSpc>
                <a:spcPct val="87500"/>
              </a:lnSpc>
              <a:spcBef>
                <a:spcPts val="0"/>
              </a:spcBef>
              <a:spcAft>
                <a:spcPts val="0"/>
              </a:spcAft>
              <a:buClr>
                <a:srgbClr val="1C2A44"/>
              </a:buClr>
              <a:buSzPts val="4200"/>
              <a:buFont typeface="Helvetica Neue"/>
              <a:buNone/>
            </a:pPr>
            <a:r>
              <a:rPr b="1" i="0" lang="en-US" sz="4200" u="none" cap="none" strike="noStrike">
                <a:solidFill>
                  <a:srgbClr val="1C2A44"/>
                </a:solidFill>
                <a:latin typeface="Helvetica Neue"/>
                <a:ea typeface="Helvetica Neue"/>
                <a:cs typeface="Helvetica Neue"/>
                <a:sym typeface="Helvetica Neue"/>
              </a:rPr>
              <a:t>22%</a:t>
            </a:r>
            <a:endParaRPr b="0" i="0" sz="4200" u="none" cap="none" strike="noStrike">
              <a:solidFill>
                <a:schemeClr val="dk1"/>
              </a:solidFill>
              <a:latin typeface="Calibri"/>
              <a:ea typeface="Calibri"/>
              <a:cs typeface="Calibri"/>
              <a:sym typeface="Calibri"/>
            </a:endParaRPr>
          </a:p>
        </p:txBody>
      </p:sp>
      <p:sp>
        <p:nvSpPr>
          <p:cNvPr id="265" name="Google Shape;265;p8"/>
          <p:cNvSpPr/>
          <p:nvPr/>
        </p:nvSpPr>
        <p:spPr>
          <a:xfrm>
            <a:off x="4351139" y="6659880"/>
            <a:ext cx="2740128"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of its alarms were right</a:t>
            </a:r>
            <a:endParaRPr b="0" i="0" sz="1950" u="none" cap="none" strike="noStrike">
              <a:solidFill>
                <a:schemeClr val="dk1"/>
              </a:solidFill>
              <a:latin typeface="Calibri"/>
              <a:ea typeface="Calibri"/>
              <a:cs typeface="Calibri"/>
              <a:sym typeface="Calibri"/>
            </a:endParaRPr>
          </a:p>
        </p:txBody>
      </p:sp>
      <p:sp>
        <p:nvSpPr>
          <p:cNvPr id="266" name="Google Shape;266;p8"/>
          <p:cNvSpPr/>
          <p:nvPr/>
        </p:nvSpPr>
        <p:spPr>
          <a:xfrm>
            <a:off x="10459165" y="3486150"/>
            <a:ext cx="6990517"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8"/>
          <p:cNvSpPr/>
          <p:nvPr/>
        </p:nvSpPr>
        <p:spPr>
          <a:xfrm>
            <a:off x="10459165" y="3691890"/>
            <a:ext cx="768956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A PROMOTER WITHOUT THE WORD</a:t>
            </a:r>
            <a:endParaRPr b="0" i="0" sz="1800" u="none" cap="none" strike="noStrike">
              <a:solidFill>
                <a:schemeClr val="dk1"/>
              </a:solidFill>
              <a:latin typeface="Calibri"/>
              <a:ea typeface="Calibri"/>
              <a:cs typeface="Calibri"/>
              <a:sym typeface="Calibri"/>
            </a:endParaRPr>
          </a:p>
        </p:txBody>
      </p:sp>
      <p:sp>
        <p:nvSpPr>
          <p:cNvPr id="268" name="Google Shape;268;p8"/>
          <p:cNvSpPr/>
          <p:nvPr/>
        </p:nvSpPr>
        <p:spPr>
          <a:xfrm>
            <a:off x="10459165" y="4065270"/>
            <a:ext cx="7689569"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100"/>
              <a:buFont typeface="IBM Plex Mono"/>
              <a:buNone/>
            </a:pPr>
            <a:r>
              <a:rPr b="0" i="0" lang="en-US" sz="2100" u="none" cap="none" strike="noStrike">
                <a:solidFill>
                  <a:srgbClr val="1C2A44"/>
                </a:solidFill>
                <a:latin typeface="IBM Plex Mono"/>
                <a:ea typeface="IBM Plex Mono"/>
                <a:cs typeface="IBM Plex Mono"/>
                <a:sym typeface="IBM Plex Mono"/>
              </a:rPr>
              <a:t>…GGCGCGCGGCGGCAGGCCAAT…</a:t>
            </a:r>
            <a:endParaRPr b="0" i="0" sz="2100" u="none" cap="none" strike="noStrike">
              <a:solidFill>
                <a:schemeClr val="dk1"/>
              </a:solidFill>
              <a:latin typeface="Calibri"/>
              <a:ea typeface="Calibri"/>
              <a:cs typeface="Calibri"/>
              <a:sym typeface="Calibri"/>
            </a:endParaRPr>
          </a:p>
        </p:txBody>
      </p:sp>
      <p:sp>
        <p:nvSpPr>
          <p:cNvPr id="269" name="Google Shape;269;p8"/>
          <p:cNvSpPr/>
          <p:nvPr/>
        </p:nvSpPr>
        <p:spPr>
          <a:xfrm>
            <a:off x="10459165" y="4511040"/>
            <a:ext cx="7200232"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GC-rich, a real promoter, no TATAAA anywhere. The rule misses it.</a:t>
            </a:r>
            <a:endParaRPr b="0" i="0" sz="1950" u="none" cap="none" strike="noStrike">
              <a:solidFill>
                <a:schemeClr val="dk1"/>
              </a:solidFill>
              <a:latin typeface="Calibri"/>
              <a:ea typeface="Calibri"/>
              <a:cs typeface="Calibri"/>
              <a:sym typeface="Calibri"/>
            </a:endParaRPr>
          </a:p>
        </p:txBody>
      </p:sp>
      <p:sp>
        <p:nvSpPr>
          <p:cNvPr id="270" name="Google Shape;270;p8"/>
          <p:cNvSpPr/>
          <p:nvPr/>
        </p:nvSpPr>
        <p:spPr>
          <a:xfrm>
            <a:off x="10459165" y="5471160"/>
            <a:ext cx="6990517"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p:nvPr/>
        </p:nvSpPr>
        <p:spPr>
          <a:xfrm>
            <a:off x="10459165" y="5676900"/>
            <a:ext cx="768956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THE WORD WITHOUT A PROMOTER</a:t>
            </a:r>
            <a:endParaRPr b="0" i="0" sz="1800" u="none" cap="none" strike="noStrike">
              <a:solidFill>
                <a:schemeClr val="dk1"/>
              </a:solidFill>
              <a:latin typeface="Calibri"/>
              <a:ea typeface="Calibri"/>
              <a:cs typeface="Calibri"/>
              <a:sym typeface="Calibri"/>
            </a:endParaRPr>
          </a:p>
        </p:txBody>
      </p:sp>
      <p:sp>
        <p:nvSpPr>
          <p:cNvPr id="272" name="Google Shape;272;p8"/>
          <p:cNvSpPr/>
          <p:nvPr/>
        </p:nvSpPr>
        <p:spPr>
          <a:xfrm>
            <a:off x="10459165" y="6050280"/>
            <a:ext cx="7689569"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100"/>
              <a:buFont typeface="IBM Plex Mono"/>
              <a:buNone/>
            </a:pPr>
            <a:r>
              <a:rPr b="0" i="0" lang="en-US" sz="2100" u="none" cap="none" strike="noStrike">
                <a:solidFill>
                  <a:srgbClr val="1C2A44"/>
                </a:solidFill>
                <a:latin typeface="IBM Plex Mono"/>
                <a:ea typeface="IBM Plex Mono"/>
                <a:cs typeface="IBM Plex Mono"/>
                <a:sym typeface="IBM Plex Mono"/>
              </a:rPr>
              <a:t>…ATTTATAAACTCAAATTTA…</a:t>
            </a:r>
            <a:endParaRPr b="0" i="0" sz="2100" u="none" cap="none" strike="noStrike">
              <a:solidFill>
                <a:schemeClr val="dk1"/>
              </a:solidFill>
              <a:latin typeface="Calibri"/>
              <a:ea typeface="Calibri"/>
              <a:cs typeface="Calibri"/>
              <a:sym typeface="Calibri"/>
            </a:endParaRPr>
          </a:p>
        </p:txBody>
      </p:sp>
      <p:sp>
        <p:nvSpPr>
          <p:cNvPr id="273" name="Google Shape;273;p8"/>
          <p:cNvSpPr/>
          <p:nvPr/>
        </p:nvSpPr>
        <p:spPr>
          <a:xfrm>
            <a:off x="10459165" y="6496050"/>
            <a:ext cx="7200232"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An AT-rich intron. Same six letters, no promoter. The rule fires anyway.</a:t>
            </a:r>
            <a:endParaRPr b="0" i="0" sz="1950" u="none" cap="none" strike="noStrike">
              <a:solidFill>
                <a:schemeClr val="dk1"/>
              </a:solidFill>
              <a:latin typeface="Calibri"/>
              <a:ea typeface="Calibri"/>
              <a:cs typeface="Calibri"/>
              <a:sym typeface="Calibri"/>
            </a:endParaRPr>
          </a:p>
        </p:txBody>
      </p:sp>
      <p:sp>
        <p:nvSpPr>
          <p:cNvPr id="274" name="Google Shape;274;p8"/>
          <p:cNvSpPr/>
          <p:nvPr/>
        </p:nvSpPr>
        <p:spPr>
          <a:xfrm>
            <a:off x="838200" y="8084820"/>
            <a:ext cx="16611600" cy="126873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8"/>
          <p:cNvSpPr/>
          <p:nvPr/>
        </p:nvSpPr>
        <p:spPr>
          <a:xfrm>
            <a:off x="1162050" y="8589645"/>
            <a:ext cx="2432221"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PLAIN WORDS</a:t>
            </a:r>
            <a:endParaRPr b="0" i="0" sz="1800" u="none" cap="none" strike="noStrike">
              <a:solidFill>
                <a:schemeClr val="dk1"/>
              </a:solidFill>
              <a:latin typeface="Calibri"/>
              <a:ea typeface="Calibri"/>
              <a:cs typeface="Calibri"/>
              <a:sym typeface="Calibri"/>
            </a:endParaRPr>
          </a:p>
        </p:txBody>
      </p:sp>
      <p:sp>
        <p:nvSpPr>
          <p:cNvPr id="276" name="Google Shape;276;p8"/>
          <p:cNvSpPr/>
          <p:nvPr/>
        </p:nvSpPr>
        <p:spPr>
          <a:xfrm>
            <a:off x="3754160" y="8332470"/>
            <a:ext cx="13772945"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What separates the two cases is context — what else is nearby, how GC-rich the neighbourhood is, how the words combine. A model can weigh all of that at once; a keyword search cannot.</a:t>
            </a:r>
            <a:endParaRPr b="0" i="0" sz="2100" u="none" cap="none" strike="noStrike">
              <a:solidFill>
                <a:schemeClr val="dk1"/>
              </a:solidFill>
              <a:latin typeface="Calibri"/>
              <a:ea typeface="Calibri"/>
              <a:cs typeface="Calibri"/>
              <a:sym typeface="Calibri"/>
            </a:endParaRPr>
          </a:p>
        </p:txBody>
      </p:sp>
      <p:sp>
        <p:nvSpPr>
          <p:cNvPr id="277" name="Google Shape;277;p8"/>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279" name="Google Shape;279;p8"/>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280" name="Google Shape;280;p8"/>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08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23A"/>
        </a:solidFill>
      </p:bgPr>
    </p:bg>
    <p:spTree>
      <p:nvGrpSpPr>
        <p:cNvPr id="285" name="Shape 285"/>
        <p:cNvGrpSpPr/>
        <p:nvPr/>
      </p:nvGrpSpPr>
      <p:grpSpPr>
        <a:xfrm>
          <a:off x="0" y="0"/>
          <a:ext cx="0" cy="0"/>
          <a:chOff x="0" y="0"/>
          <a:chExt cx="0" cy="0"/>
        </a:xfrm>
      </p:grpSpPr>
      <p:pic>
        <p:nvPicPr>
          <p:cNvPr descr="preencoded.png" id="286" name="Google Shape;286;p9"/>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287" name="Google Shape;287;p9"/>
          <p:cNvSpPr/>
          <p:nvPr/>
        </p:nvSpPr>
        <p:spPr>
          <a:xfrm>
            <a:off x="914400" y="765810"/>
            <a:ext cx="685136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9BBD6"/>
              </a:buClr>
              <a:buSzPts val="1800"/>
              <a:buFont typeface="Helvetica Neue"/>
              <a:buNone/>
            </a:pPr>
            <a:r>
              <a:rPr b="0" i="0" lang="en-US" sz="1800" u="none" cap="none" strike="noStrike">
                <a:solidFill>
                  <a:srgbClr val="A9BBD6"/>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sp>
        <p:nvSpPr>
          <p:cNvPr id="288" name="Google Shape;288;p9"/>
          <p:cNvSpPr/>
          <p:nvPr/>
        </p:nvSpPr>
        <p:spPr>
          <a:xfrm>
            <a:off x="914400" y="2905125"/>
            <a:ext cx="9499557" cy="1371600"/>
          </a:xfrm>
          <a:prstGeom prst="rect">
            <a:avLst/>
          </a:prstGeom>
          <a:noFill/>
          <a:ln>
            <a:noFill/>
          </a:ln>
        </p:spPr>
        <p:txBody>
          <a:bodyPr anchorCtr="0" anchor="t" bIns="25400" lIns="25400" spcFirstLastPara="1" rIns="25400" wrap="square" tIns="25400">
            <a:normAutofit/>
          </a:bodyPr>
          <a:lstStyle/>
          <a:p>
            <a:pPr indent="0" lvl="0" marL="0" marR="0" rtl="0" algn="l">
              <a:lnSpc>
                <a:spcPct val="77093"/>
              </a:lnSpc>
              <a:spcBef>
                <a:spcPts val="0"/>
              </a:spcBef>
              <a:spcAft>
                <a:spcPts val="0"/>
              </a:spcAft>
              <a:buClr>
                <a:srgbClr val="E8A317"/>
              </a:buClr>
              <a:buSzPts val="10500"/>
              <a:buFont typeface="IBM Plex Mono"/>
              <a:buNone/>
            </a:pPr>
            <a:r>
              <a:rPr b="1" i="0" lang="en-US" sz="10500" u="none" cap="none" strike="noStrike">
                <a:solidFill>
                  <a:srgbClr val="E8A317"/>
                </a:solidFill>
                <a:latin typeface="IBM Plex Mono"/>
                <a:ea typeface="IBM Plex Mono"/>
                <a:cs typeface="IBM Plex Mono"/>
                <a:sym typeface="IBM Plex Mono"/>
              </a:rPr>
              <a:t>02</a:t>
            </a:r>
            <a:endParaRPr b="0" i="0" sz="10500" u="none" cap="none" strike="noStrike">
              <a:solidFill>
                <a:schemeClr val="dk1"/>
              </a:solidFill>
              <a:latin typeface="Calibri"/>
              <a:ea typeface="Calibri"/>
              <a:cs typeface="Calibri"/>
              <a:sym typeface="Calibri"/>
            </a:endParaRPr>
          </a:p>
        </p:txBody>
      </p:sp>
      <p:sp>
        <p:nvSpPr>
          <p:cNvPr id="289" name="Google Shape;289;p9"/>
          <p:cNvSpPr/>
          <p:nvPr/>
        </p:nvSpPr>
        <p:spPr>
          <a:xfrm>
            <a:off x="914400" y="4467225"/>
            <a:ext cx="8895039" cy="1558290"/>
          </a:xfrm>
          <a:prstGeom prst="rect">
            <a:avLst/>
          </a:prstGeom>
          <a:noFill/>
          <a:ln>
            <a:noFill/>
          </a:ln>
        </p:spPr>
        <p:txBody>
          <a:bodyPr anchorCtr="0" anchor="t" bIns="25400" lIns="25400" spcFirstLastPara="1" rIns="25400" wrap="square" tIns="25400">
            <a:normAutofit/>
          </a:bodyPr>
          <a:lstStyle/>
          <a:p>
            <a:pPr indent="0" lvl="0" marL="0" marR="0" rtl="0" algn="l">
              <a:lnSpc>
                <a:spcPct val="91514"/>
              </a:lnSpc>
              <a:spcBef>
                <a:spcPts val="0"/>
              </a:spcBef>
              <a:spcAft>
                <a:spcPts val="0"/>
              </a:spcAft>
              <a:buClr>
                <a:srgbClr val="FFFFFF"/>
              </a:buClr>
              <a:buSzPts val="5700"/>
              <a:buFont typeface="Helvetica Neue"/>
              <a:buNone/>
            </a:pPr>
            <a:r>
              <a:rPr b="1" i="0" lang="en-US" sz="5700" u="none" cap="none" strike="noStrike">
                <a:solidFill>
                  <a:srgbClr val="FFFFFF"/>
                </a:solidFill>
                <a:latin typeface="Helvetica Neue"/>
                <a:ea typeface="Helvetica Neue"/>
                <a:cs typeface="Helvetica Neue"/>
                <a:sym typeface="Helvetica Neue"/>
              </a:rPr>
              <a:t>Machine learning in plain terms</a:t>
            </a:r>
            <a:endParaRPr b="0" i="0" sz="5700" u="none" cap="none" strike="noStrike">
              <a:solidFill>
                <a:schemeClr val="dk1"/>
              </a:solidFill>
              <a:latin typeface="Calibri"/>
              <a:ea typeface="Calibri"/>
              <a:cs typeface="Calibri"/>
              <a:sym typeface="Calibri"/>
            </a:endParaRPr>
          </a:p>
        </p:txBody>
      </p:sp>
      <p:sp>
        <p:nvSpPr>
          <p:cNvPr id="290" name="Google Shape;290;p9"/>
          <p:cNvSpPr/>
          <p:nvPr/>
        </p:nvSpPr>
        <p:spPr>
          <a:xfrm>
            <a:off x="914400" y="6254115"/>
            <a:ext cx="8437245" cy="1363980"/>
          </a:xfrm>
          <a:prstGeom prst="rect">
            <a:avLst/>
          </a:prstGeom>
          <a:noFill/>
          <a:ln>
            <a:noFill/>
          </a:ln>
        </p:spPr>
        <p:txBody>
          <a:bodyPr anchorCtr="0" anchor="t" bIns="25400" lIns="25400" spcFirstLastPara="1" rIns="25400" wrap="square" tIns="25400">
            <a:normAutofit/>
          </a:bodyPr>
          <a:lstStyle/>
          <a:p>
            <a:pPr indent="0" lvl="0" marL="0" marR="0" rtl="0" algn="l">
              <a:lnSpc>
                <a:spcPct val="128889"/>
              </a:lnSpc>
              <a:spcBef>
                <a:spcPts val="0"/>
              </a:spcBef>
              <a:spcAft>
                <a:spcPts val="0"/>
              </a:spcAft>
              <a:buClr>
                <a:srgbClr val="C8D6EA"/>
              </a:buClr>
              <a:buSzPts val="2400"/>
              <a:buFont typeface="Helvetica Neue"/>
              <a:buNone/>
            </a:pPr>
            <a:r>
              <a:rPr b="0" i="0" lang="en-US" sz="2400" u="none" cap="none" strike="noStrike">
                <a:solidFill>
                  <a:srgbClr val="C8D6EA"/>
                </a:solidFill>
                <a:latin typeface="Helvetica Neue"/>
                <a:ea typeface="Helvetica Neue"/>
                <a:cs typeface="Helvetica Neue"/>
                <a:sym typeface="Helvetica Neue"/>
              </a:rPr>
              <a:t>Every term used in the rest of the deck is defined here, with no mathematics and no code. Nothing later depends on anything not on these four slides.</a:t>
            </a:r>
            <a:endParaRPr b="0" i="0" sz="2400" u="none" cap="none" strike="noStrike">
              <a:solidFill>
                <a:schemeClr val="dk1"/>
              </a:solidFill>
              <a:latin typeface="Calibri"/>
              <a:ea typeface="Calibri"/>
              <a:cs typeface="Calibri"/>
              <a:sym typeface="Calibri"/>
            </a:endParaRPr>
          </a:p>
        </p:txBody>
      </p:sp>
      <p:sp>
        <p:nvSpPr>
          <p:cNvPr id="291" name="Google Shape;291;p9"/>
          <p:cNvSpPr/>
          <p:nvPr/>
        </p:nvSpPr>
        <p:spPr>
          <a:xfrm>
            <a:off x="10464760" y="3583305"/>
            <a:ext cx="6908840" cy="9525"/>
          </a:xfrm>
          <a:prstGeom prst="rect">
            <a:avLst/>
          </a:prstGeom>
          <a:solidFill>
            <a:srgbClr val="5362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9"/>
          <p:cNvSpPr/>
          <p:nvPr/>
        </p:nvSpPr>
        <p:spPr>
          <a:xfrm>
            <a:off x="10464760" y="3171825"/>
            <a:ext cx="7116105"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THIS PART</a:t>
            </a:r>
            <a:endParaRPr b="0" i="0" sz="1800" u="none" cap="none" strike="noStrike">
              <a:solidFill>
                <a:schemeClr val="dk1"/>
              </a:solidFill>
              <a:latin typeface="Calibri"/>
              <a:ea typeface="Calibri"/>
              <a:cs typeface="Calibri"/>
              <a:sym typeface="Calibri"/>
            </a:endParaRPr>
          </a:p>
        </p:txBody>
      </p:sp>
      <p:sp>
        <p:nvSpPr>
          <p:cNvPr id="293" name="Google Shape;293;p9"/>
          <p:cNvSpPr/>
          <p:nvPr/>
        </p:nvSpPr>
        <p:spPr>
          <a:xfrm>
            <a:off x="10464760" y="4337685"/>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9"/>
          <p:cNvSpPr/>
          <p:nvPr/>
        </p:nvSpPr>
        <p:spPr>
          <a:xfrm>
            <a:off x="10464760" y="3781425"/>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10</a:t>
            </a:r>
            <a:endParaRPr b="0" i="0" sz="2250" u="none" cap="none" strike="noStrike">
              <a:solidFill>
                <a:schemeClr val="dk1"/>
              </a:solidFill>
              <a:latin typeface="Calibri"/>
              <a:ea typeface="Calibri"/>
              <a:cs typeface="Calibri"/>
              <a:sym typeface="Calibri"/>
            </a:endParaRPr>
          </a:p>
        </p:txBody>
      </p:sp>
      <p:sp>
        <p:nvSpPr>
          <p:cNvPr id="295" name="Google Shape;295;p9"/>
          <p:cNvSpPr/>
          <p:nvPr/>
        </p:nvSpPr>
        <p:spPr>
          <a:xfrm>
            <a:off x="11074360" y="3781425"/>
            <a:ext cx="4245614"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What machine learning means</a:t>
            </a:r>
            <a:endParaRPr b="0" i="0" sz="2250" u="none" cap="none" strike="noStrike">
              <a:solidFill>
                <a:schemeClr val="dk1"/>
              </a:solidFill>
              <a:latin typeface="Calibri"/>
              <a:ea typeface="Calibri"/>
              <a:cs typeface="Calibri"/>
              <a:sym typeface="Calibri"/>
            </a:endParaRPr>
          </a:p>
        </p:txBody>
      </p:sp>
      <p:sp>
        <p:nvSpPr>
          <p:cNvPr id="296" name="Google Shape;296;p9"/>
          <p:cNvSpPr/>
          <p:nvPr/>
        </p:nvSpPr>
        <p:spPr>
          <a:xfrm>
            <a:off x="10464760" y="5092065"/>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9"/>
          <p:cNvSpPr/>
          <p:nvPr/>
        </p:nvSpPr>
        <p:spPr>
          <a:xfrm>
            <a:off x="10464760" y="4535805"/>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11</a:t>
            </a:r>
            <a:endParaRPr b="0" i="0" sz="2250" u="none" cap="none" strike="noStrike">
              <a:solidFill>
                <a:schemeClr val="dk1"/>
              </a:solidFill>
              <a:latin typeface="Calibri"/>
              <a:ea typeface="Calibri"/>
              <a:cs typeface="Calibri"/>
              <a:sym typeface="Calibri"/>
            </a:endParaRPr>
          </a:p>
        </p:txBody>
      </p:sp>
      <p:sp>
        <p:nvSpPr>
          <p:cNvPr id="298" name="Google Shape;298;p9"/>
          <p:cNvSpPr/>
          <p:nvPr/>
        </p:nvSpPr>
        <p:spPr>
          <a:xfrm>
            <a:off x="11074360" y="4535805"/>
            <a:ext cx="3424702"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The five words you need</a:t>
            </a:r>
            <a:endParaRPr b="0" i="0" sz="2250" u="none" cap="none" strike="noStrike">
              <a:solidFill>
                <a:schemeClr val="dk1"/>
              </a:solidFill>
              <a:latin typeface="Calibri"/>
              <a:ea typeface="Calibri"/>
              <a:cs typeface="Calibri"/>
              <a:sym typeface="Calibri"/>
            </a:endParaRPr>
          </a:p>
        </p:txBody>
      </p:sp>
      <p:sp>
        <p:nvSpPr>
          <p:cNvPr id="299" name="Google Shape;299;p9"/>
          <p:cNvSpPr/>
          <p:nvPr/>
        </p:nvSpPr>
        <p:spPr>
          <a:xfrm>
            <a:off x="10464760" y="5846445"/>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9"/>
          <p:cNvSpPr/>
          <p:nvPr/>
        </p:nvSpPr>
        <p:spPr>
          <a:xfrm>
            <a:off x="10464760" y="5290185"/>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12</a:t>
            </a:r>
            <a:endParaRPr b="0" i="0" sz="2250" u="none" cap="none" strike="noStrike">
              <a:solidFill>
                <a:schemeClr val="dk1"/>
              </a:solidFill>
              <a:latin typeface="Calibri"/>
              <a:ea typeface="Calibri"/>
              <a:cs typeface="Calibri"/>
              <a:sym typeface="Calibri"/>
            </a:endParaRPr>
          </a:p>
        </p:txBody>
      </p:sp>
      <p:sp>
        <p:nvSpPr>
          <p:cNvPr id="301" name="Google Shape;301;p9"/>
          <p:cNvSpPr/>
          <p:nvPr/>
        </p:nvSpPr>
        <p:spPr>
          <a:xfrm>
            <a:off x="11074360" y="5290185"/>
            <a:ext cx="2777847"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How a model learns</a:t>
            </a:r>
            <a:endParaRPr b="0" i="0" sz="2250" u="none" cap="none" strike="noStrike">
              <a:solidFill>
                <a:schemeClr val="dk1"/>
              </a:solidFill>
              <a:latin typeface="Calibri"/>
              <a:ea typeface="Calibri"/>
              <a:cs typeface="Calibri"/>
              <a:sym typeface="Calibri"/>
            </a:endParaRPr>
          </a:p>
        </p:txBody>
      </p:sp>
      <p:sp>
        <p:nvSpPr>
          <p:cNvPr id="302" name="Google Shape;302;p9"/>
          <p:cNvSpPr/>
          <p:nvPr/>
        </p:nvSpPr>
        <p:spPr>
          <a:xfrm>
            <a:off x="10464760" y="6600825"/>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9"/>
          <p:cNvSpPr/>
          <p:nvPr/>
        </p:nvSpPr>
        <p:spPr>
          <a:xfrm>
            <a:off x="10464760" y="6044565"/>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13</a:t>
            </a:r>
            <a:endParaRPr b="0" i="0" sz="2250" u="none" cap="none" strike="noStrike">
              <a:solidFill>
                <a:schemeClr val="dk1"/>
              </a:solidFill>
              <a:latin typeface="Calibri"/>
              <a:ea typeface="Calibri"/>
              <a:cs typeface="Calibri"/>
              <a:sym typeface="Calibri"/>
            </a:endParaRPr>
          </a:p>
        </p:txBody>
      </p:sp>
      <p:sp>
        <p:nvSpPr>
          <p:cNvPr id="304" name="Google Shape;304;p9"/>
          <p:cNvSpPr/>
          <p:nvPr/>
        </p:nvSpPr>
        <p:spPr>
          <a:xfrm>
            <a:off x="11074360" y="6044565"/>
            <a:ext cx="2643866"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Train, validate, test</a:t>
            </a:r>
            <a:endParaRPr b="0" i="0" sz="2250" u="none" cap="none" strike="noStrike">
              <a:solidFill>
                <a:schemeClr val="dk1"/>
              </a:solidFill>
              <a:latin typeface="Calibri"/>
              <a:ea typeface="Calibri"/>
              <a:cs typeface="Calibri"/>
              <a:sym typeface="Calibri"/>
            </a:endParaRPr>
          </a:p>
        </p:txBody>
      </p:sp>
      <p:sp>
        <p:nvSpPr>
          <p:cNvPr id="305" name="Google Shape;305;p9"/>
          <p:cNvSpPr/>
          <p:nvPr/>
        </p:nvSpPr>
        <p:spPr>
          <a:xfrm>
            <a:off x="914400" y="9418320"/>
            <a:ext cx="181051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PART 02 OF 06</a:t>
            </a:r>
            <a:endParaRPr b="0" i="0" sz="1800" u="none" cap="none" strike="noStrike">
              <a:solidFill>
                <a:schemeClr val="dk1"/>
              </a:solidFill>
              <a:latin typeface="Calibri"/>
              <a:ea typeface="Calibri"/>
              <a:cs typeface="Calibri"/>
              <a:sym typeface="Calibri"/>
            </a:endParaRPr>
          </a:p>
        </p:txBody>
      </p:sp>
      <p:pic>
        <p:nvPicPr>
          <p:cNvPr descr="preencoded.png" id="306" name="Google Shape;306;p9"/>
          <p:cNvPicPr preferRelativeResize="0"/>
          <p:nvPr/>
        </p:nvPicPr>
        <p:blipFill rotWithShape="1">
          <a:blip r:embed="rId4">
            <a:alphaModFix/>
          </a:blip>
          <a:srcRect b="0" l="0" r="0" t="0"/>
          <a:stretch/>
        </p:blipFill>
        <p:spPr>
          <a:xfrm>
            <a:off x="16365077" y="432925"/>
            <a:ext cx="1008525" cy="1115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sp>
        <p:nvSpPr>
          <p:cNvPr id="312" name="Google Shape;312;p10"/>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0"/>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314" name="Google Shape;314;p10"/>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315" name="Google Shape;315;p10"/>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02 · MACHINE LEARNING IN PLAIN TERMS</a:t>
            </a:r>
            <a:endParaRPr b="0" i="0" sz="1800" u="none" cap="none" strike="noStrike">
              <a:solidFill>
                <a:schemeClr val="dk1"/>
              </a:solidFill>
              <a:latin typeface="Calibri"/>
              <a:ea typeface="Calibri"/>
              <a:cs typeface="Calibri"/>
              <a:sym typeface="Calibri"/>
            </a:endParaRPr>
          </a:p>
        </p:txBody>
      </p:sp>
      <p:sp>
        <p:nvSpPr>
          <p:cNvPr id="316" name="Google Shape;316;p10"/>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What machine learning means</a:t>
            </a:r>
            <a:endParaRPr b="0" i="0" sz="4500" u="none" cap="none" strike="noStrike">
              <a:solidFill>
                <a:schemeClr val="dk1"/>
              </a:solidFill>
              <a:latin typeface="Calibri"/>
              <a:ea typeface="Calibri"/>
              <a:cs typeface="Calibri"/>
              <a:sym typeface="Calibri"/>
            </a:endParaRPr>
          </a:p>
        </p:txBody>
      </p:sp>
      <p:sp>
        <p:nvSpPr>
          <p:cNvPr id="317" name="Google Shape;317;p10"/>
          <p:cNvSpPr/>
          <p:nvPr/>
        </p:nvSpPr>
        <p:spPr>
          <a:xfrm>
            <a:off x="838200" y="2314575"/>
            <a:ext cx="14912340" cy="866775"/>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Only one thing changes between the two columns below: who writes the rule. In the left column a person does. In the right column the computer works it out from examples where the answer is already known.</a:t>
            </a:r>
            <a:endParaRPr b="0" i="0" sz="2250" u="none" cap="none" strike="noStrike">
              <a:solidFill>
                <a:schemeClr val="dk1"/>
              </a:solidFill>
              <a:latin typeface="Calibri"/>
              <a:ea typeface="Calibri"/>
              <a:cs typeface="Calibri"/>
              <a:sym typeface="Calibri"/>
            </a:endParaRPr>
          </a:p>
        </p:txBody>
      </p:sp>
      <p:sp>
        <p:nvSpPr>
          <p:cNvPr id="318" name="Google Shape;318;p10"/>
          <p:cNvSpPr/>
          <p:nvPr/>
        </p:nvSpPr>
        <p:spPr>
          <a:xfrm>
            <a:off x="838200" y="3524250"/>
            <a:ext cx="8077200" cy="15240"/>
          </a:xfrm>
          <a:prstGeom prst="rect">
            <a:avLst/>
          </a:prstGeom>
          <a:solidFill>
            <a:srgbClr val="8FA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0"/>
          <p:cNvSpPr/>
          <p:nvPr/>
        </p:nvSpPr>
        <p:spPr>
          <a:xfrm>
            <a:off x="838200" y="3768090"/>
            <a:ext cx="88849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THE ORDINARY WAY</a:t>
            </a:r>
            <a:endParaRPr b="0" i="0" sz="1800" u="none" cap="none" strike="noStrike">
              <a:solidFill>
                <a:schemeClr val="dk1"/>
              </a:solidFill>
              <a:latin typeface="Calibri"/>
              <a:ea typeface="Calibri"/>
              <a:cs typeface="Calibri"/>
              <a:sym typeface="Calibri"/>
            </a:endParaRPr>
          </a:p>
        </p:txBody>
      </p:sp>
      <p:sp>
        <p:nvSpPr>
          <p:cNvPr id="320" name="Google Shape;320;p10"/>
          <p:cNvSpPr/>
          <p:nvPr/>
        </p:nvSpPr>
        <p:spPr>
          <a:xfrm>
            <a:off x="838200" y="4122420"/>
            <a:ext cx="8884920" cy="4800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3000"/>
              <a:buFont typeface="Helvetica Neue"/>
              <a:buNone/>
            </a:pPr>
            <a:r>
              <a:rPr b="1" i="0" lang="en-US" sz="3000" u="none" cap="none" strike="noStrike">
                <a:solidFill>
                  <a:srgbClr val="1C2A44"/>
                </a:solidFill>
                <a:latin typeface="Helvetica Neue"/>
                <a:ea typeface="Helvetica Neue"/>
                <a:cs typeface="Helvetica Neue"/>
                <a:sym typeface="Helvetica Neue"/>
              </a:rPr>
              <a:t>A rule you write</a:t>
            </a:r>
            <a:endParaRPr b="0" i="0" sz="3000" u="none" cap="none" strike="noStrike">
              <a:solidFill>
                <a:schemeClr val="dk1"/>
              </a:solidFill>
              <a:latin typeface="Calibri"/>
              <a:ea typeface="Calibri"/>
              <a:cs typeface="Calibri"/>
              <a:sym typeface="Calibri"/>
            </a:endParaRPr>
          </a:p>
        </p:txBody>
      </p:sp>
      <p:sp>
        <p:nvSpPr>
          <p:cNvPr id="321" name="Google Shape;321;p10"/>
          <p:cNvSpPr/>
          <p:nvPr/>
        </p:nvSpPr>
        <p:spPr>
          <a:xfrm>
            <a:off x="838200" y="4754880"/>
            <a:ext cx="8077200" cy="121158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0"/>
          <p:cNvSpPr/>
          <p:nvPr/>
        </p:nvSpPr>
        <p:spPr>
          <a:xfrm>
            <a:off x="1066800" y="4964430"/>
            <a:ext cx="7862316" cy="830580"/>
          </a:xfrm>
          <a:prstGeom prst="rect">
            <a:avLst/>
          </a:prstGeom>
          <a:noFill/>
          <a:ln>
            <a:noFill/>
          </a:ln>
        </p:spPr>
        <p:txBody>
          <a:bodyPr anchorCtr="0" anchor="t" bIns="25400" lIns="25400" spcFirstLastPara="1" rIns="25400" wrap="square" tIns="25400">
            <a:normAutofit/>
          </a:bodyPr>
          <a:lstStyle/>
          <a:p>
            <a:pPr indent="0" lvl="0" marL="0" marR="0" rtl="0" algn="l">
              <a:lnSpc>
                <a:spcPct val="123810"/>
              </a:lnSpc>
              <a:spcBef>
                <a:spcPts val="0"/>
              </a:spcBef>
              <a:spcAft>
                <a:spcPts val="0"/>
              </a:spcAft>
              <a:buClr>
                <a:srgbClr val="1C2A44"/>
              </a:buClr>
              <a:buSzPts val="1950"/>
              <a:buFont typeface="IBM Plex Mono"/>
              <a:buNone/>
            </a:pPr>
            <a:r>
              <a:rPr b="0" i="0" lang="en-US" sz="1950" u="none" cap="none" strike="noStrike">
                <a:solidFill>
                  <a:srgbClr val="1C2A44"/>
                </a:solidFill>
                <a:highlight>
                  <a:srgbClr val="F2F6FC"/>
                </a:highlight>
                <a:latin typeface="IBM Plex Mono"/>
                <a:ea typeface="IBM Plex Mono"/>
                <a:cs typeface="IBM Plex Mono"/>
                <a:sym typeface="IBM Plex Mono"/>
              </a:rPr>
              <a:t>if "TATAAA" in window: return "promoter"</a:t>
            </a:r>
            <a:endParaRPr b="0" i="0" sz="1950" u="none" cap="none" strike="noStrike">
              <a:solidFill>
                <a:schemeClr val="dk1"/>
              </a:solidFill>
              <a:latin typeface="Calibri"/>
              <a:ea typeface="Calibri"/>
              <a:cs typeface="Calibri"/>
              <a:sym typeface="Calibri"/>
            </a:endParaRPr>
          </a:p>
        </p:txBody>
      </p:sp>
      <p:sp>
        <p:nvSpPr>
          <p:cNvPr id="323" name="Google Shape;323;p10"/>
          <p:cNvSpPr/>
          <p:nvPr/>
        </p:nvSpPr>
        <p:spPr>
          <a:xfrm>
            <a:off x="838200" y="6156960"/>
            <a:ext cx="8319516"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You decide what matters, in advance. Easy to read, easy to explain — and it fails whenever biology is messier than your rule, which here it always is.</a:t>
            </a:r>
            <a:endParaRPr b="0" i="0" sz="2100" u="none" cap="none" strike="noStrike">
              <a:solidFill>
                <a:schemeClr val="dk1"/>
              </a:solidFill>
              <a:latin typeface="Calibri"/>
              <a:ea typeface="Calibri"/>
              <a:cs typeface="Calibri"/>
              <a:sym typeface="Calibri"/>
            </a:endParaRPr>
          </a:p>
        </p:txBody>
      </p:sp>
      <p:sp>
        <p:nvSpPr>
          <p:cNvPr id="324" name="Google Shape;324;p10"/>
          <p:cNvSpPr/>
          <p:nvPr/>
        </p:nvSpPr>
        <p:spPr>
          <a:xfrm>
            <a:off x="9372600" y="3524250"/>
            <a:ext cx="8077200" cy="1524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0"/>
          <p:cNvSpPr/>
          <p:nvPr/>
        </p:nvSpPr>
        <p:spPr>
          <a:xfrm>
            <a:off x="9372600" y="3768090"/>
            <a:ext cx="88849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0" i="0" lang="en-US" sz="1800" u="none" cap="none" strike="noStrike">
                <a:solidFill>
                  <a:srgbClr val="E8A317"/>
                </a:solidFill>
                <a:latin typeface="Helvetica Neue"/>
                <a:ea typeface="Helvetica Neue"/>
                <a:cs typeface="Helvetica Neue"/>
                <a:sym typeface="Helvetica Neue"/>
              </a:rPr>
              <a:t>THE MACHINE-LEARNING WAY</a:t>
            </a:r>
            <a:endParaRPr b="0" i="0" sz="1800" u="none" cap="none" strike="noStrike">
              <a:solidFill>
                <a:schemeClr val="dk1"/>
              </a:solidFill>
              <a:latin typeface="Calibri"/>
              <a:ea typeface="Calibri"/>
              <a:cs typeface="Calibri"/>
              <a:sym typeface="Calibri"/>
            </a:endParaRPr>
          </a:p>
        </p:txBody>
      </p:sp>
      <p:sp>
        <p:nvSpPr>
          <p:cNvPr id="326" name="Google Shape;326;p10"/>
          <p:cNvSpPr/>
          <p:nvPr/>
        </p:nvSpPr>
        <p:spPr>
          <a:xfrm>
            <a:off x="9372600" y="4122420"/>
            <a:ext cx="8884920" cy="4800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3000"/>
              <a:buFont typeface="Helvetica Neue"/>
              <a:buNone/>
            </a:pPr>
            <a:r>
              <a:rPr b="1" i="0" lang="en-US" sz="3000" u="none" cap="none" strike="noStrike">
                <a:solidFill>
                  <a:srgbClr val="1C2A44"/>
                </a:solidFill>
                <a:latin typeface="Helvetica Neue"/>
                <a:ea typeface="Helvetica Neue"/>
                <a:cs typeface="Helvetica Neue"/>
                <a:sym typeface="Helvetica Neue"/>
              </a:rPr>
              <a:t>A rule fitted to examples</a:t>
            </a:r>
            <a:endParaRPr b="0" i="0" sz="3000" u="none" cap="none" strike="noStrike">
              <a:solidFill>
                <a:schemeClr val="dk1"/>
              </a:solidFill>
              <a:latin typeface="Calibri"/>
              <a:ea typeface="Calibri"/>
              <a:cs typeface="Calibri"/>
              <a:sym typeface="Calibri"/>
            </a:endParaRPr>
          </a:p>
        </p:txBody>
      </p:sp>
      <p:sp>
        <p:nvSpPr>
          <p:cNvPr id="327" name="Google Shape;327;p10"/>
          <p:cNvSpPr/>
          <p:nvPr/>
        </p:nvSpPr>
        <p:spPr>
          <a:xfrm>
            <a:off x="9372600" y="4754880"/>
            <a:ext cx="8077200" cy="160782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0"/>
          <p:cNvSpPr/>
          <p:nvPr/>
        </p:nvSpPr>
        <p:spPr>
          <a:xfrm>
            <a:off x="9601200" y="4964430"/>
            <a:ext cx="7862316" cy="1226820"/>
          </a:xfrm>
          <a:prstGeom prst="rect">
            <a:avLst/>
          </a:prstGeom>
          <a:noFill/>
          <a:ln>
            <a:noFill/>
          </a:ln>
        </p:spPr>
        <p:txBody>
          <a:bodyPr anchorCtr="0" anchor="t" bIns="25400" lIns="25400" spcFirstLastPara="1" rIns="25400" wrap="square" tIns="25400">
            <a:normAutofit/>
          </a:bodyPr>
          <a:lstStyle/>
          <a:p>
            <a:pPr indent="0" lvl="0" marL="0" marR="0" rtl="0" algn="l">
              <a:lnSpc>
                <a:spcPct val="123810"/>
              </a:lnSpc>
              <a:spcBef>
                <a:spcPts val="0"/>
              </a:spcBef>
              <a:spcAft>
                <a:spcPts val="0"/>
              </a:spcAft>
              <a:buClr>
                <a:srgbClr val="1C2A44"/>
              </a:buClr>
              <a:buSzPts val="1950"/>
              <a:buFont typeface="IBM Plex Mono"/>
              <a:buNone/>
            </a:pPr>
            <a:r>
              <a:rPr b="0" i="0" lang="en-US" sz="1950" u="none" cap="none" strike="noStrike">
                <a:solidFill>
                  <a:srgbClr val="1C2A44"/>
                </a:solidFill>
                <a:highlight>
                  <a:srgbClr val="F2F6FC"/>
                </a:highlight>
                <a:latin typeface="IBM Plex Mono"/>
                <a:ea typeface="IBM Plex Mono"/>
                <a:cs typeface="IBM Plex Mono"/>
                <a:sym typeface="IBM Plex Mono"/>
              </a:rPr>
              <a:t>show 4,000 windows whose answers we already know → the computer fits the rule</a:t>
            </a:r>
            <a:endParaRPr b="0" i="0" sz="1950" u="none" cap="none" strike="noStrike">
              <a:solidFill>
                <a:schemeClr val="dk1"/>
              </a:solidFill>
              <a:latin typeface="Calibri"/>
              <a:ea typeface="Calibri"/>
              <a:cs typeface="Calibri"/>
              <a:sym typeface="Calibri"/>
            </a:endParaRPr>
          </a:p>
        </p:txBody>
      </p:sp>
      <p:sp>
        <p:nvSpPr>
          <p:cNvPr id="329" name="Google Shape;329;p10"/>
          <p:cNvSpPr/>
          <p:nvPr/>
        </p:nvSpPr>
        <p:spPr>
          <a:xfrm>
            <a:off x="9372600" y="6553200"/>
            <a:ext cx="8319516"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You supply examples instead of logic. The computer searches for a rule that gets most of them right, including combinations you would never have written down.</a:t>
            </a:r>
            <a:endParaRPr b="0" i="0" sz="2100" u="none" cap="none" strike="noStrike">
              <a:solidFill>
                <a:schemeClr val="dk1"/>
              </a:solidFill>
              <a:latin typeface="Calibri"/>
              <a:ea typeface="Calibri"/>
              <a:cs typeface="Calibri"/>
              <a:sym typeface="Calibri"/>
            </a:endParaRPr>
          </a:p>
        </p:txBody>
      </p:sp>
      <p:sp>
        <p:nvSpPr>
          <p:cNvPr id="330" name="Google Shape;330;p10"/>
          <p:cNvSpPr/>
          <p:nvPr/>
        </p:nvSpPr>
        <p:spPr>
          <a:xfrm>
            <a:off x="838200" y="7713345"/>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0"/>
          <p:cNvSpPr/>
          <p:nvPr/>
        </p:nvSpPr>
        <p:spPr>
          <a:xfrm>
            <a:off x="838200" y="7900035"/>
            <a:ext cx="10365653"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PLAIN WORDS</a:t>
            </a:r>
            <a:endParaRPr b="0" i="0" sz="1800" u="none" cap="none" strike="noStrike">
              <a:solidFill>
                <a:schemeClr val="dk1"/>
              </a:solidFill>
              <a:latin typeface="Calibri"/>
              <a:ea typeface="Calibri"/>
              <a:cs typeface="Calibri"/>
              <a:sym typeface="Calibri"/>
            </a:endParaRPr>
          </a:p>
        </p:txBody>
      </p:sp>
      <p:sp>
        <p:nvSpPr>
          <p:cNvPr id="332" name="Google Shape;332;p10"/>
          <p:cNvSpPr/>
          <p:nvPr/>
        </p:nvSpPr>
        <p:spPr>
          <a:xfrm>
            <a:off x="838200" y="8254365"/>
            <a:ext cx="9706020"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Machine learning is curve-fitting with a lot of dials. Show it enough labelled examples and it finds the dial settings that reproduce the answers best. It has no idea what DNA is.</a:t>
            </a:r>
            <a:endParaRPr b="0" i="0" sz="2100" u="none" cap="none" strike="noStrike">
              <a:solidFill>
                <a:schemeClr val="dk1"/>
              </a:solidFill>
              <a:latin typeface="Calibri"/>
              <a:ea typeface="Calibri"/>
              <a:cs typeface="Calibri"/>
              <a:sym typeface="Calibri"/>
            </a:endParaRPr>
          </a:p>
        </p:txBody>
      </p:sp>
      <p:sp>
        <p:nvSpPr>
          <p:cNvPr id="333" name="Google Shape;333;p10"/>
          <p:cNvSpPr/>
          <p:nvPr/>
        </p:nvSpPr>
        <p:spPr>
          <a:xfrm>
            <a:off x="10718721" y="7900035"/>
            <a:ext cx="740405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WATCH OUT</a:t>
            </a:r>
            <a:endParaRPr b="0" i="0" sz="1800" u="none" cap="none" strike="noStrike">
              <a:solidFill>
                <a:schemeClr val="dk1"/>
              </a:solidFill>
              <a:latin typeface="Calibri"/>
              <a:ea typeface="Calibri"/>
              <a:cs typeface="Calibri"/>
              <a:sym typeface="Calibri"/>
            </a:endParaRPr>
          </a:p>
        </p:txBody>
      </p:sp>
      <p:sp>
        <p:nvSpPr>
          <p:cNvPr id="334" name="Google Shape;334;p10"/>
          <p:cNvSpPr/>
          <p:nvPr/>
        </p:nvSpPr>
        <p:spPr>
          <a:xfrm>
            <a:off x="10718721" y="8273415"/>
            <a:ext cx="6932889"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A fitted rule is only as good as the examples it was fitted to. Every failure later in this deck traces back to that.</a:t>
            </a:r>
            <a:endParaRPr b="0" i="0" sz="2100" u="none" cap="none" strike="noStrike">
              <a:solidFill>
                <a:schemeClr val="dk1"/>
              </a:solidFill>
              <a:latin typeface="Calibri"/>
              <a:ea typeface="Calibri"/>
              <a:cs typeface="Calibri"/>
              <a:sym typeface="Calibri"/>
            </a:endParaRPr>
          </a:p>
        </p:txBody>
      </p:sp>
      <p:sp>
        <p:nvSpPr>
          <p:cNvPr id="335" name="Google Shape;335;p10"/>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0"/>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337" name="Google Shape;337;p10"/>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338" name="Google Shape;338;p10"/>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10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11"/>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1"/>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346" name="Google Shape;346;p11"/>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347" name="Google Shape;347;p11"/>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02 · MACHINE LEARNING IN PLAIN TERMS</a:t>
            </a:r>
            <a:endParaRPr b="0" i="0" sz="1800" u="none" cap="none" strike="noStrike">
              <a:solidFill>
                <a:schemeClr val="dk1"/>
              </a:solidFill>
              <a:latin typeface="Calibri"/>
              <a:ea typeface="Calibri"/>
              <a:cs typeface="Calibri"/>
              <a:sym typeface="Calibri"/>
            </a:endParaRPr>
          </a:p>
        </p:txBody>
      </p:sp>
      <p:sp>
        <p:nvSpPr>
          <p:cNvPr id="348" name="Google Shape;348;p11"/>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The five words you need</a:t>
            </a:r>
            <a:endParaRPr b="0" i="0" sz="4500" u="none" cap="none" strike="noStrike">
              <a:solidFill>
                <a:schemeClr val="dk1"/>
              </a:solidFill>
              <a:latin typeface="Calibri"/>
              <a:ea typeface="Calibri"/>
              <a:cs typeface="Calibri"/>
              <a:sym typeface="Calibri"/>
            </a:endParaRPr>
          </a:p>
        </p:txBody>
      </p:sp>
      <p:sp>
        <p:nvSpPr>
          <p:cNvPr id="349" name="Google Shape;349;p11"/>
          <p:cNvSpPr/>
          <p:nvPr/>
        </p:nvSpPr>
        <p:spPr>
          <a:xfrm>
            <a:off x="838200" y="2878455"/>
            <a:ext cx="1259562"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1"/>
          <p:cNvSpPr/>
          <p:nvPr/>
        </p:nvSpPr>
        <p:spPr>
          <a:xfrm>
            <a:off x="838200" y="2486025"/>
            <a:ext cx="1335762"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TERM</a:t>
            </a:r>
            <a:endParaRPr b="0" i="0" sz="1800" u="none" cap="none" strike="noStrike">
              <a:solidFill>
                <a:schemeClr val="dk1"/>
              </a:solidFill>
              <a:latin typeface="Calibri"/>
              <a:ea typeface="Calibri"/>
              <a:cs typeface="Calibri"/>
              <a:sym typeface="Calibri"/>
            </a:endParaRPr>
          </a:p>
        </p:txBody>
      </p:sp>
      <p:sp>
        <p:nvSpPr>
          <p:cNvPr id="351" name="Google Shape;351;p11"/>
          <p:cNvSpPr/>
          <p:nvPr/>
        </p:nvSpPr>
        <p:spPr>
          <a:xfrm>
            <a:off x="2554962" y="2878455"/>
            <a:ext cx="7562493"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1"/>
          <p:cNvSpPr/>
          <p:nvPr/>
        </p:nvSpPr>
        <p:spPr>
          <a:xfrm>
            <a:off x="2554962" y="2486025"/>
            <a:ext cx="778936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WHAT IT MEANS</a:t>
            </a:r>
            <a:endParaRPr b="0" i="0" sz="1800" u="none" cap="none" strike="noStrike">
              <a:solidFill>
                <a:schemeClr val="dk1"/>
              </a:solidFill>
              <a:latin typeface="Calibri"/>
              <a:ea typeface="Calibri"/>
              <a:cs typeface="Calibri"/>
              <a:sym typeface="Calibri"/>
            </a:endParaRPr>
          </a:p>
        </p:txBody>
      </p:sp>
      <p:sp>
        <p:nvSpPr>
          <p:cNvPr id="353" name="Google Shape;353;p11"/>
          <p:cNvSpPr/>
          <p:nvPr/>
        </p:nvSpPr>
        <p:spPr>
          <a:xfrm>
            <a:off x="10574656" y="2878455"/>
            <a:ext cx="6875145"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1"/>
          <p:cNvSpPr/>
          <p:nvPr/>
        </p:nvSpPr>
        <p:spPr>
          <a:xfrm>
            <a:off x="10574656" y="2486025"/>
            <a:ext cx="708139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IN OUR PROMOTER TASK</a:t>
            </a:r>
            <a:endParaRPr b="0" i="0" sz="1800" u="none" cap="none" strike="noStrike">
              <a:solidFill>
                <a:schemeClr val="dk1"/>
              </a:solidFill>
              <a:latin typeface="Calibri"/>
              <a:ea typeface="Calibri"/>
              <a:cs typeface="Calibri"/>
              <a:sym typeface="Calibri"/>
            </a:endParaRPr>
          </a:p>
        </p:txBody>
      </p:sp>
      <p:sp>
        <p:nvSpPr>
          <p:cNvPr id="355" name="Google Shape;355;p11"/>
          <p:cNvSpPr/>
          <p:nvPr/>
        </p:nvSpPr>
        <p:spPr>
          <a:xfrm>
            <a:off x="838200" y="3964305"/>
            <a:ext cx="1259562"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1"/>
          <p:cNvSpPr/>
          <p:nvPr/>
        </p:nvSpPr>
        <p:spPr>
          <a:xfrm>
            <a:off x="838200" y="3055620"/>
            <a:ext cx="1335762"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Feature</a:t>
            </a:r>
            <a:endParaRPr b="0" i="0" sz="2550" u="none" cap="none" strike="noStrike">
              <a:solidFill>
                <a:schemeClr val="dk1"/>
              </a:solidFill>
              <a:latin typeface="Calibri"/>
              <a:ea typeface="Calibri"/>
              <a:cs typeface="Calibri"/>
              <a:sym typeface="Calibri"/>
            </a:endParaRPr>
          </a:p>
        </p:txBody>
      </p:sp>
      <p:sp>
        <p:nvSpPr>
          <p:cNvPr id="357" name="Google Shape;357;p11"/>
          <p:cNvSpPr/>
          <p:nvPr/>
        </p:nvSpPr>
        <p:spPr>
          <a:xfrm>
            <a:off x="2554962" y="3964305"/>
            <a:ext cx="7562493"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1"/>
          <p:cNvSpPr/>
          <p:nvPr/>
        </p:nvSpPr>
        <p:spPr>
          <a:xfrm>
            <a:off x="2554962" y="3055620"/>
            <a:ext cx="7789368" cy="78486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Any number you can compute from one example</a:t>
            </a:r>
            <a:endParaRPr b="0" i="0" sz="2100" u="none" cap="none" strike="noStrike">
              <a:solidFill>
                <a:schemeClr val="dk1"/>
              </a:solidFill>
              <a:latin typeface="Calibri"/>
              <a:ea typeface="Calibri"/>
              <a:cs typeface="Calibri"/>
              <a:sym typeface="Calibri"/>
            </a:endParaRPr>
          </a:p>
        </p:txBody>
      </p:sp>
      <p:sp>
        <p:nvSpPr>
          <p:cNvPr id="359" name="Google Shape;359;p11"/>
          <p:cNvSpPr/>
          <p:nvPr/>
        </p:nvSpPr>
        <p:spPr>
          <a:xfrm>
            <a:off x="10574656" y="3964305"/>
            <a:ext cx="6875145"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1"/>
          <p:cNvSpPr/>
          <p:nvPr/>
        </p:nvSpPr>
        <p:spPr>
          <a:xfrm>
            <a:off x="10574656" y="3055620"/>
            <a:ext cx="7081399" cy="78486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How many times CGG appears in the window; how GC-rich it is</a:t>
            </a:r>
            <a:endParaRPr b="0" i="0" sz="2100" u="none" cap="none" strike="noStrike">
              <a:solidFill>
                <a:schemeClr val="dk1"/>
              </a:solidFill>
              <a:latin typeface="Calibri"/>
              <a:ea typeface="Calibri"/>
              <a:cs typeface="Calibri"/>
              <a:sym typeface="Calibri"/>
            </a:endParaRPr>
          </a:p>
        </p:txBody>
      </p:sp>
      <p:sp>
        <p:nvSpPr>
          <p:cNvPr id="361" name="Google Shape;361;p11"/>
          <p:cNvSpPr/>
          <p:nvPr/>
        </p:nvSpPr>
        <p:spPr>
          <a:xfrm>
            <a:off x="838200" y="5042535"/>
            <a:ext cx="1259562"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1"/>
          <p:cNvSpPr/>
          <p:nvPr/>
        </p:nvSpPr>
        <p:spPr>
          <a:xfrm>
            <a:off x="838200" y="4133850"/>
            <a:ext cx="1335762"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Label</a:t>
            </a:r>
            <a:endParaRPr b="0" i="0" sz="2550" u="none" cap="none" strike="noStrike">
              <a:solidFill>
                <a:schemeClr val="dk1"/>
              </a:solidFill>
              <a:latin typeface="Calibri"/>
              <a:ea typeface="Calibri"/>
              <a:cs typeface="Calibri"/>
              <a:sym typeface="Calibri"/>
            </a:endParaRPr>
          </a:p>
        </p:txBody>
      </p:sp>
      <p:sp>
        <p:nvSpPr>
          <p:cNvPr id="363" name="Google Shape;363;p11"/>
          <p:cNvSpPr/>
          <p:nvPr/>
        </p:nvSpPr>
        <p:spPr>
          <a:xfrm>
            <a:off x="2554962" y="5042535"/>
            <a:ext cx="7562493"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p:nvPr/>
        </p:nvSpPr>
        <p:spPr>
          <a:xfrm>
            <a:off x="2554962" y="4133850"/>
            <a:ext cx="7789368" cy="78486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The answer you already know for that example</a:t>
            </a:r>
            <a:endParaRPr b="0" i="0" sz="2100" u="none" cap="none" strike="noStrike">
              <a:solidFill>
                <a:schemeClr val="dk1"/>
              </a:solidFill>
              <a:latin typeface="Calibri"/>
              <a:ea typeface="Calibri"/>
              <a:cs typeface="Calibri"/>
              <a:sym typeface="Calibri"/>
            </a:endParaRPr>
          </a:p>
        </p:txBody>
      </p:sp>
      <p:sp>
        <p:nvSpPr>
          <p:cNvPr id="365" name="Google Shape;365;p11"/>
          <p:cNvSpPr/>
          <p:nvPr/>
        </p:nvSpPr>
        <p:spPr>
          <a:xfrm>
            <a:off x="10574656" y="5042535"/>
            <a:ext cx="6875145"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1"/>
          <p:cNvSpPr/>
          <p:nvPr/>
        </p:nvSpPr>
        <p:spPr>
          <a:xfrm>
            <a:off x="10574656" y="4133850"/>
            <a:ext cx="7081399" cy="78486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1 if the window sits on an annotated start site, 0 if it does not</a:t>
            </a:r>
            <a:endParaRPr b="0" i="0" sz="2100" u="none" cap="none" strike="noStrike">
              <a:solidFill>
                <a:schemeClr val="dk1"/>
              </a:solidFill>
              <a:latin typeface="Calibri"/>
              <a:ea typeface="Calibri"/>
              <a:cs typeface="Calibri"/>
              <a:sym typeface="Calibri"/>
            </a:endParaRPr>
          </a:p>
        </p:txBody>
      </p:sp>
      <p:sp>
        <p:nvSpPr>
          <p:cNvPr id="367" name="Google Shape;367;p11"/>
          <p:cNvSpPr/>
          <p:nvPr/>
        </p:nvSpPr>
        <p:spPr>
          <a:xfrm>
            <a:off x="838200" y="6120765"/>
            <a:ext cx="1259562"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1"/>
          <p:cNvSpPr/>
          <p:nvPr/>
        </p:nvSpPr>
        <p:spPr>
          <a:xfrm>
            <a:off x="838200" y="5212080"/>
            <a:ext cx="1335762"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Model</a:t>
            </a:r>
            <a:endParaRPr b="0" i="0" sz="2550" u="none" cap="none" strike="noStrike">
              <a:solidFill>
                <a:schemeClr val="dk1"/>
              </a:solidFill>
              <a:latin typeface="Calibri"/>
              <a:ea typeface="Calibri"/>
              <a:cs typeface="Calibri"/>
              <a:sym typeface="Calibri"/>
            </a:endParaRPr>
          </a:p>
        </p:txBody>
      </p:sp>
      <p:sp>
        <p:nvSpPr>
          <p:cNvPr id="369" name="Google Shape;369;p11"/>
          <p:cNvSpPr/>
          <p:nvPr/>
        </p:nvSpPr>
        <p:spPr>
          <a:xfrm>
            <a:off x="2554962" y="6120765"/>
            <a:ext cx="7562493"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1"/>
          <p:cNvSpPr/>
          <p:nvPr/>
        </p:nvSpPr>
        <p:spPr>
          <a:xfrm>
            <a:off x="2554962" y="5212080"/>
            <a:ext cx="7789368" cy="78486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A rule with adjustable numbers in it, turning features into a prediction</a:t>
            </a:r>
            <a:endParaRPr b="0" i="0" sz="2100" u="none" cap="none" strike="noStrike">
              <a:solidFill>
                <a:schemeClr val="dk1"/>
              </a:solidFill>
              <a:latin typeface="Calibri"/>
              <a:ea typeface="Calibri"/>
              <a:cs typeface="Calibri"/>
              <a:sym typeface="Calibri"/>
            </a:endParaRPr>
          </a:p>
        </p:txBody>
      </p:sp>
      <p:sp>
        <p:nvSpPr>
          <p:cNvPr id="371" name="Google Shape;371;p11"/>
          <p:cNvSpPr/>
          <p:nvPr/>
        </p:nvSpPr>
        <p:spPr>
          <a:xfrm>
            <a:off x="10574656" y="6120765"/>
            <a:ext cx="6875145"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1"/>
          <p:cNvSpPr/>
          <p:nvPr/>
        </p:nvSpPr>
        <p:spPr>
          <a:xfrm>
            <a:off x="10574656" y="5212080"/>
            <a:ext cx="7081399" cy="78486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A weighted sum of the features, squashed into a score between 0 and 1</a:t>
            </a:r>
            <a:endParaRPr b="0" i="0" sz="2100" u="none" cap="none" strike="noStrike">
              <a:solidFill>
                <a:schemeClr val="dk1"/>
              </a:solidFill>
              <a:latin typeface="Calibri"/>
              <a:ea typeface="Calibri"/>
              <a:cs typeface="Calibri"/>
              <a:sym typeface="Calibri"/>
            </a:endParaRPr>
          </a:p>
        </p:txBody>
      </p:sp>
      <p:sp>
        <p:nvSpPr>
          <p:cNvPr id="373" name="Google Shape;373;p11"/>
          <p:cNvSpPr/>
          <p:nvPr/>
        </p:nvSpPr>
        <p:spPr>
          <a:xfrm>
            <a:off x="838200" y="7198995"/>
            <a:ext cx="1259562"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1"/>
          <p:cNvSpPr/>
          <p:nvPr/>
        </p:nvSpPr>
        <p:spPr>
          <a:xfrm>
            <a:off x="838200" y="6290310"/>
            <a:ext cx="1335762"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Training</a:t>
            </a:r>
            <a:endParaRPr b="0" i="0" sz="2550" u="none" cap="none" strike="noStrike">
              <a:solidFill>
                <a:schemeClr val="dk1"/>
              </a:solidFill>
              <a:latin typeface="Calibri"/>
              <a:ea typeface="Calibri"/>
              <a:cs typeface="Calibri"/>
              <a:sym typeface="Calibri"/>
            </a:endParaRPr>
          </a:p>
        </p:txBody>
      </p:sp>
      <p:sp>
        <p:nvSpPr>
          <p:cNvPr id="375" name="Google Shape;375;p11"/>
          <p:cNvSpPr/>
          <p:nvPr/>
        </p:nvSpPr>
        <p:spPr>
          <a:xfrm>
            <a:off x="2554962" y="7198995"/>
            <a:ext cx="7562493"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1"/>
          <p:cNvSpPr/>
          <p:nvPr/>
        </p:nvSpPr>
        <p:spPr>
          <a:xfrm>
            <a:off x="2554962" y="6290310"/>
            <a:ext cx="7789368" cy="78486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Adjusting those numbers until the predictions match the known labels</a:t>
            </a:r>
            <a:endParaRPr b="0" i="0" sz="2100" u="none" cap="none" strike="noStrike">
              <a:solidFill>
                <a:schemeClr val="dk1"/>
              </a:solidFill>
              <a:latin typeface="Calibri"/>
              <a:ea typeface="Calibri"/>
              <a:cs typeface="Calibri"/>
              <a:sym typeface="Calibri"/>
            </a:endParaRPr>
          </a:p>
        </p:txBody>
      </p:sp>
      <p:sp>
        <p:nvSpPr>
          <p:cNvPr id="377" name="Google Shape;377;p11"/>
          <p:cNvSpPr/>
          <p:nvPr/>
        </p:nvSpPr>
        <p:spPr>
          <a:xfrm>
            <a:off x="10574656" y="7198995"/>
            <a:ext cx="6875145"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a:off x="10574656" y="6290310"/>
            <a:ext cx="7081399" cy="78486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A few seconds of computation on a few thousand windows</a:t>
            </a:r>
            <a:endParaRPr b="0" i="0" sz="2100" u="none" cap="none" strike="noStrike">
              <a:solidFill>
                <a:schemeClr val="dk1"/>
              </a:solidFill>
              <a:latin typeface="Calibri"/>
              <a:ea typeface="Calibri"/>
              <a:cs typeface="Calibri"/>
              <a:sym typeface="Calibri"/>
            </a:endParaRPr>
          </a:p>
        </p:txBody>
      </p:sp>
      <p:sp>
        <p:nvSpPr>
          <p:cNvPr id="379" name="Google Shape;379;p11"/>
          <p:cNvSpPr/>
          <p:nvPr/>
        </p:nvSpPr>
        <p:spPr>
          <a:xfrm>
            <a:off x="838200" y="7368540"/>
            <a:ext cx="1335762" cy="4114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Test set</a:t>
            </a:r>
            <a:endParaRPr b="0" i="0" sz="2550" u="none" cap="none" strike="noStrike">
              <a:solidFill>
                <a:schemeClr val="dk1"/>
              </a:solidFill>
              <a:latin typeface="Calibri"/>
              <a:ea typeface="Calibri"/>
              <a:cs typeface="Calibri"/>
              <a:sym typeface="Calibri"/>
            </a:endParaRPr>
          </a:p>
        </p:txBody>
      </p:sp>
      <p:sp>
        <p:nvSpPr>
          <p:cNvPr id="380" name="Google Shape;380;p11"/>
          <p:cNvSpPr/>
          <p:nvPr/>
        </p:nvSpPr>
        <p:spPr>
          <a:xfrm>
            <a:off x="2554962" y="7368540"/>
            <a:ext cx="7789368" cy="41148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Examples kept aside and never shown during training</a:t>
            </a:r>
            <a:endParaRPr b="0" i="0" sz="2100" u="none" cap="none" strike="noStrike">
              <a:solidFill>
                <a:schemeClr val="dk1"/>
              </a:solidFill>
              <a:latin typeface="Calibri"/>
              <a:ea typeface="Calibri"/>
              <a:cs typeface="Calibri"/>
              <a:sym typeface="Calibri"/>
            </a:endParaRPr>
          </a:p>
        </p:txBody>
      </p:sp>
      <p:sp>
        <p:nvSpPr>
          <p:cNvPr id="381" name="Google Shape;381;p11"/>
          <p:cNvSpPr/>
          <p:nvPr/>
        </p:nvSpPr>
        <p:spPr>
          <a:xfrm>
            <a:off x="10574656" y="7368540"/>
            <a:ext cx="7081399" cy="41148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Windows from chromosomes the model has never seen</a:t>
            </a:r>
            <a:endParaRPr b="0" i="0" sz="2100" u="none" cap="none" strike="noStrike">
              <a:solidFill>
                <a:schemeClr val="dk1"/>
              </a:solidFill>
              <a:latin typeface="Calibri"/>
              <a:ea typeface="Calibri"/>
              <a:cs typeface="Calibri"/>
              <a:sym typeface="Calibri"/>
            </a:endParaRPr>
          </a:p>
        </p:txBody>
      </p:sp>
      <p:sp>
        <p:nvSpPr>
          <p:cNvPr id="382" name="Google Shape;382;p11"/>
          <p:cNvSpPr/>
          <p:nvPr/>
        </p:nvSpPr>
        <p:spPr>
          <a:xfrm>
            <a:off x="838200" y="8084820"/>
            <a:ext cx="16611600" cy="126873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1"/>
          <p:cNvSpPr/>
          <p:nvPr/>
        </p:nvSpPr>
        <p:spPr>
          <a:xfrm>
            <a:off x="1162050" y="8589645"/>
            <a:ext cx="2432221"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PLAIN WORDS</a:t>
            </a:r>
            <a:endParaRPr b="0" i="0" sz="1800" u="none" cap="none" strike="noStrike">
              <a:solidFill>
                <a:schemeClr val="dk1"/>
              </a:solidFill>
              <a:latin typeface="Calibri"/>
              <a:ea typeface="Calibri"/>
              <a:cs typeface="Calibri"/>
              <a:sym typeface="Calibri"/>
            </a:endParaRPr>
          </a:p>
        </p:txBody>
      </p:sp>
      <p:sp>
        <p:nvSpPr>
          <p:cNvPr id="384" name="Google Shape;384;p11"/>
          <p:cNvSpPr/>
          <p:nvPr/>
        </p:nvSpPr>
        <p:spPr>
          <a:xfrm>
            <a:off x="3754160" y="8332470"/>
            <a:ext cx="13772945"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Features are what you measure, labels are the answers, the model is the rule connecting them, training is fitting it, and the test set is the exam it has not seen.</a:t>
            </a:r>
            <a:endParaRPr b="0" i="0" sz="2100" u="none" cap="none" strike="noStrike">
              <a:solidFill>
                <a:schemeClr val="dk1"/>
              </a:solidFill>
              <a:latin typeface="Calibri"/>
              <a:ea typeface="Calibri"/>
              <a:cs typeface="Calibri"/>
              <a:sym typeface="Calibri"/>
            </a:endParaRPr>
          </a:p>
        </p:txBody>
      </p:sp>
      <p:sp>
        <p:nvSpPr>
          <p:cNvPr id="385" name="Google Shape;385;p11"/>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1"/>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387" name="Google Shape;387;p11"/>
          <p:cNvSpPr/>
          <p:nvPr/>
        </p:nvSpPr>
        <p:spPr>
          <a:xfrm>
            <a:off x="9158645"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388" name="Google Shape;388;p11"/>
          <p:cNvSpPr/>
          <p:nvPr/>
        </p:nvSpPr>
        <p:spPr>
          <a:xfrm>
            <a:off x="17212390" y="9608820"/>
            <a:ext cx="313611"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11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 name="Shape 393"/>
        <p:cNvGrpSpPr/>
        <p:nvPr/>
      </p:nvGrpSpPr>
      <p:grpSpPr>
        <a:xfrm>
          <a:off x="0" y="0"/>
          <a:ext cx="0" cy="0"/>
          <a:chOff x="0" y="0"/>
          <a:chExt cx="0" cy="0"/>
        </a:xfrm>
      </p:grpSpPr>
      <p:sp>
        <p:nvSpPr>
          <p:cNvPr id="394" name="Google Shape;394;p12"/>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2"/>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396" name="Google Shape;396;p12"/>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397" name="Google Shape;397;p12"/>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02 · MACHINE LEARNING IN PLAIN TERMS</a:t>
            </a:r>
            <a:endParaRPr b="0" i="0" sz="1800" u="none" cap="none" strike="noStrike">
              <a:solidFill>
                <a:schemeClr val="dk1"/>
              </a:solidFill>
              <a:latin typeface="Calibri"/>
              <a:ea typeface="Calibri"/>
              <a:cs typeface="Calibri"/>
              <a:sym typeface="Calibri"/>
            </a:endParaRPr>
          </a:p>
        </p:txBody>
      </p:sp>
      <p:sp>
        <p:nvSpPr>
          <p:cNvPr id="398" name="Google Shape;398;p12"/>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How a model learns</a:t>
            </a:r>
            <a:endParaRPr b="0" i="0" sz="4500" u="none" cap="none" strike="noStrike">
              <a:solidFill>
                <a:schemeClr val="dk1"/>
              </a:solidFill>
              <a:latin typeface="Calibri"/>
              <a:ea typeface="Calibri"/>
              <a:cs typeface="Calibri"/>
              <a:sym typeface="Calibri"/>
            </a:endParaRPr>
          </a:p>
        </p:txBody>
      </p:sp>
      <p:sp>
        <p:nvSpPr>
          <p:cNvPr id="399" name="Google Shape;399;p12"/>
          <p:cNvSpPr/>
          <p:nvPr/>
        </p:nvSpPr>
        <p:spPr>
          <a:xfrm>
            <a:off x="838200" y="2314575"/>
            <a:ext cx="14912340" cy="866775"/>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Training is one short loop, repeated thousands of times a second. No insight, no understanding — just a measured error and a small correction.</a:t>
            </a:r>
            <a:endParaRPr b="0" i="0" sz="2250" u="none" cap="none" strike="noStrike">
              <a:solidFill>
                <a:schemeClr val="dk1"/>
              </a:solidFill>
              <a:latin typeface="Calibri"/>
              <a:ea typeface="Calibri"/>
              <a:cs typeface="Calibri"/>
              <a:sym typeface="Calibri"/>
            </a:endParaRPr>
          </a:p>
        </p:txBody>
      </p:sp>
      <p:sp>
        <p:nvSpPr>
          <p:cNvPr id="400" name="Google Shape;400;p12"/>
          <p:cNvSpPr/>
          <p:nvPr/>
        </p:nvSpPr>
        <p:spPr>
          <a:xfrm>
            <a:off x="838200" y="3562350"/>
            <a:ext cx="3967163" cy="3334703"/>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2"/>
          <p:cNvSpPr/>
          <p:nvPr/>
        </p:nvSpPr>
        <p:spPr>
          <a:xfrm>
            <a:off x="1143000" y="3848100"/>
            <a:ext cx="3693319"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01</a:t>
            </a:r>
            <a:endParaRPr b="0" i="0" sz="2100" u="none" cap="none" strike="noStrike">
              <a:solidFill>
                <a:schemeClr val="dk1"/>
              </a:solidFill>
              <a:latin typeface="Calibri"/>
              <a:ea typeface="Calibri"/>
              <a:cs typeface="Calibri"/>
              <a:sym typeface="Calibri"/>
            </a:endParaRPr>
          </a:p>
        </p:txBody>
      </p:sp>
      <p:sp>
        <p:nvSpPr>
          <p:cNvPr id="402" name="Google Shape;402;p12"/>
          <p:cNvSpPr/>
          <p:nvPr/>
        </p:nvSpPr>
        <p:spPr>
          <a:xfrm>
            <a:off x="1143000" y="4312920"/>
            <a:ext cx="3693319" cy="426720"/>
          </a:xfrm>
          <a:prstGeom prst="rect">
            <a:avLst/>
          </a:prstGeom>
          <a:noFill/>
          <a:ln>
            <a:noFill/>
          </a:ln>
        </p:spPr>
        <p:txBody>
          <a:bodyPr anchorCtr="0" anchor="t" bIns="25400" lIns="25400" spcFirstLastPara="1" rIns="25400" wrap="square" tIns="25400">
            <a:normAutofit/>
          </a:bodyPr>
          <a:lstStyle/>
          <a:p>
            <a:pPr indent="0" lvl="0" marL="0" marR="0" rtl="0" algn="l">
              <a:lnSpc>
                <a:spcPct val="106250"/>
              </a:lnSpc>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Guess</a:t>
            </a:r>
            <a:endParaRPr b="0" i="0" sz="2550" u="none" cap="none" strike="noStrike">
              <a:solidFill>
                <a:schemeClr val="dk1"/>
              </a:solidFill>
              <a:latin typeface="Calibri"/>
              <a:ea typeface="Calibri"/>
              <a:cs typeface="Calibri"/>
              <a:sym typeface="Calibri"/>
            </a:endParaRPr>
          </a:p>
        </p:txBody>
      </p:sp>
      <p:sp>
        <p:nvSpPr>
          <p:cNvPr id="403" name="Google Shape;403;p12"/>
          <p:cNvSpPr/>
          <p:nvPr/>
        </p:nvSpPr>
        <p:spPr>
          <a:xfrm>
            <a:off x="1143000" y="4815840"/>
            <a:ext cx="3458289" cy="1833563"/>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Take one window's features, push them through the current rule, get a score. At the start the dials are random, so the score is meaningless.</a:t>
            </a:r>
            <a:endParaRPr b="0" i="0" sz="1950" u="none" cap="none" strike="noStrike">
              <a:solidFill>
                <a:schemeClr val="dk1"/>
              </a:solidFill>
              <a:latin typeface="Calibri"/>
              <a:ea typeface="Calibri"/>
              <a:cs typeface="Calibri"/>
              <a:sym typeface="Calibri"/>
            </a:endParaRPr>
          </a:p>
        </p:txBody>
      </p:sp>
      <p:sp>
        <p:nvSpPr>
          <p:cNvPr id="404" name="Google Shape;404;p12"/>
          <p:cNvSpPr/>
          <p:nvPr/>
        </p:nvSpPr>
        <p:spPr>
          <a:xfrm>
            <a:off x="5053013" y="3562350"/>
            <a:ext cx="3967163" cy="3334703"/>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2"/>
          <p:cNvSpPr/>
          <p:nvPr/>
        </p:nvSpPr>
        <p:spPr>
          <a:xfrm>
            <a:off x="5357813" y="3848100"/>
            <a:ext cx="3693319"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02</a:t>
            </a:r>
            <a:endParaRPr b="0" i="0" sz="2100" u="none" cap="none" strike="noStrike">
              <a:solidFill>
                <a:schemeClr val="dk1"/>
              </a:solidFill>
              <a:latin typeface="Calibri"/>
              <a:ea typeface="Calibri"/>
              <a:cs typeface="Calibri"/>
              <a:sym typeface="Calibri"/>
            </a:endParaRPr>
          </a:p>
        </p:txBody>
      </p:sp>
      <p:sp>
        <p:nvSpPr>
          <p:cNvPr id="406" name="Google Shape;406;p12"/>
          <p:cNvSpPr/>
          <p:nvPr/>
        </p:nvSpPr>
        <p:spPr>
          <a:xfrm>
            <a:off x="5357813" y="4312920"/>
            <a:ext cx="3693319" cy="426720"/>
          </a:xfrm>
          <a:prstGeom prst="rect">
            <a:avLst/>
          </a:prstGeom>
          <a:noFill/>
          <a:ln>
            <a:noFill/>
          </a:ln>
        </p:spPr>
        <p:txBody>
          <a:bodyPr anchorCtr="0" anchor="t" bIns="25400" lIns="25400" spcFirstLastPara="1" rIns="25400" wrap="square" tIns="25400">
            <a:normAutofit/>
          </a:bodyPr>
          <a:lstStyle/>
          <a:p>
            <a:pPr indent="0" lvl="0" marL="0" marR="0" rtl="0" algn="l">
              <a:lnSpc>
                <a:spcPct val="106250"/>
              </a:lnSpc>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Measure the error</a:t>
            </a:r>
            <a:endParaRPr b="0" i="0" sz="2550" u="none" cap="none" strike="noStrike">
              <a:solidFill>
                <a:schemeClr val="dk1"/>
              </a:solidFill>
              <a:latin typeface="Calibri"/>
              <a:ea typeface="Calibri"/>
              <a:cs typeface="Calibri"/>
              <a:sym typeface="Calibri"/>
            </a:endParaRPr>
          </a:p>
        </p:txBody>
      </p:sp>
      <p:sp>
        <p:nvSpPr>
          <p:cNvPr id="407" name="Google Shape;407;p12"/>
          <p:cNvSpPr/>
          <p:nvPr/>
        </p:nvSpPr>
        <p:spPr>
          <a:xfrm>
            <a:off x="5357813" y="4815840"/>
            <a:ext cx="3458289" cy="1474470"/>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Compare the score with the label we already know. Said 0.2, answer was 1 — that gap is the loss.</a:t>
            </a:r>
            <a:endParaRPr b="0" i="0" sz="1950" u="none" cap="none" strike="noStrike">
              <a:solidFill>
                <a:schemeClr val="dk1"/>
              </a:solidFill>
              <a:latin typeface="Calibri"/>
              <a:ea typeface="Calibri"/>
              <a:cs typeface="Calibri"/>
              <a:sym typeface="Calibri"/>
            </a:endParaRPr>
          </a:p>
        </p:txBody>
      </p:sp>
      <p:sp>
        <p:nvSpPr>
          <p:cNvPr id="408" name="Google Shape;408;p12"/>
          <p:cNvSpPr/>
          <p:nvPr/>
        </p:nvSpPr>
        <p:spPr>
          <a:xfrm>
            <a:off x="9267825" y="3562350"/>
            <a:ext cx="3967163" cy="3334703"/>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2"/>
          <p:cNvSpPr/>
          <p:nvPr/>
        </p:nvSpPr>
        <p:spPr>
          <a:xfrm>
            <a:off x="9572625" y="3848100"/>
            <a:ext cx="3693319"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03</a:t>
            </a:r>
            <a:endParaRPr b="0" i="0" sz="2100" u="none" cap="none" strike="noStrike">
              <a:solidFill>
                <a:schemeClr val="dk1"/>
              </a:solidFill>
              <a:latin typeface="Calibri"/>
              <a:ea typeface="Calibri"/>
              <a:cs typeface="Calibri"/>
              <a:sym typeface="Calibri"/>
            </a:endParaRPr>
          </a:p>
        </p:txBody>
      </p:sp>
      <p:sp>
        <p:nvSpPr>
          <p:cNvPr id="410" name="Google Shape;410;p12"/>
          <p:cNvSpPr/>
          <p:nvPr/>
        </p:nvSpPr>
        <p:spPr>
          <a:xfrm>
            <a:off x="9572625" y="4312920"/>
            <a:ext cx="3693319" cy="426720"/>
          </a:xfrm>
          <a:prstGeom prst="rect">
            <a:avLst/>
          </a:prstGeom>
          <a:noFill/>
          <a:ln>
            <a:noFill/>
          </a:ln>
        </p:spPr>
        <p:txBody>
          <a:bodyPr anchorCtr="0" anchor="t" bIns="25400" lIns="25400" spcFirstLastPara="1" rIns="25400" wrap="square" tIns="25400">
            <a:normAutofit/>
          </a:bodyPr>
          <a:lstStyle/>
          <a:p>
            <a:pPr indent="0" lvl="0" marL="0" marR="0" rtl="0" algn="l">
              <a:lnSpc>
                <a:spcPct val="106250"/>
              </a:lnSpc>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Nudge the dials</a:t>
            </a:r>
            <a:endParaRPr b="0" i="0" sz="2550" u="none" cap="none" strike="noStrike">
              <a:solidFill>
                <a:schemeClr val="dk1"/>
              </a:solidFill>
              <a:latin typeface="Calibri"/>
              <a:ea typeface="Calibri"/>
              <a:cs typeface="Calibri"/>
              <a:sym typeface="Calibri"/>
            </a:endParaRPr>
          </a:p>
        </p:txBody>
      </p:sp>
      <p:sp>
        <p:nvSpPr>
          <p:cNvPr id="411" name="Google Shape;411;p12"/>
          <p:cNvSpPr/>
          <p:nvPr/>
        </p:nvSpPr>
        <p:spPr>
          <a:xfrm>
            <a:off x="9572625" y="4815840"/>
            <a:ext cx="3458289" cy="1833563"/>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Move every weight a little in the direction that would have made the gap smaller. This is what "gradient descent" names.</a:t>
            </a:r>
            <a:endParaRPr b="0" i="0" sz="1950" u="none" cap="none" strike="noStrike">
              <a:solidFill>
                <a:schemeClr val="dk1"/>
              </a:solidFill>
              <a:latin typeface="Calibri"/>
              <a:ea typeface="Calibri"/>
              <a:cs typeface="Calibri"/>
              <a:sym typeface="Calibri"/>
            </a:endParaRPr>
          </a:p>
        </p:txBody>
      </p:sp>
      <p:sp>
        <p:nvSpPr>
          <p:cNvPr id="412" name="Google Shape;412;p12"/>
          <p:cNvSpPr/>
          <p:nvPr/>
        </p:nvSpPr>
        <p:spPr>
          <a:xfrm>
            <a:off x="13482638" y="3562350"/>
            <a:ext cx="3967163" cy="3334703"/>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2"/>
          <p:cNvSpPr/>
          <p:nvPr/>
        </p:nvSpPr>
        <p:spPr>
          <a:xfrm>
            <a:off x="13787438" y="3848100"/>
            <a:ext cx="3693319"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04</a:t>
            </a:r>
            <a:endParaRPr b="0" i="0" sz="2100" u="none" cap="none" strike="noStrike">
              <a:solidFill>
                <a:schemeClr val="dk1"/>
              </a:solidFill>
              <a:latin typeface="Calibri"/>
              <a:ea typeface="Calibri"/>
              <a:cs typeface="Calibri"/>
              <a:sym typeface="Calibri"/>
            </a:endParaRPr>
          </a:p>
        </p:txBody>
      </p:sp>
      <p:sp>
        <p:nvSpPr>
          <p:cNvPr id="414" name="Google Shape;414;p12"/>
          <p:cNvSpPr/>
          <p:nvPr/>
        </p:nvSpPr>
        <p:spPr>
          <a:xfrm>
            <a:off x="13787438" y="4312920"/>
            <a:ext cx="3693319" cy="426720"/>
          </a:xfrm>
          <a:prstGeom prst="rect">
            <a:avLst/>
          </a:prstGeom>
          <a:noFill/>
          <a:ln>
            <a:noFill/>
          </a:ln>
        </p:spPr>
        <p:txBody>
          <a:bodyPr anchorCtr="0" anchor="t" bIns="25400" lIns="25400" spcFirstLastPara="1" rIns="25400" wrap="square" tIns="25400">
            <a:normAutofit/>
          </a:bodyPr>
          <a:lstStyle/>
          <a:p>
            <a:pPr indent="0" lvl="0" marL="0" marR="0" rtl="0" algn="l">
              <a:lnSpc>
                <a:spcPct val="106250"/>
              </a:lnSpc>
              <a:spcBef>
                <a:spcPts val="0"/>
              </a:spcBef>
              <a:spcAft>
                <a:spcPts val="0"/>
              </a:spcAft>
              <a:buClr>
                <a:srgbClr val="FFFFFF"/>
              </a:buClr>
              <a:buSzPts val="2550"/>
              <a:buFont typeface="Helvetica Neue"/>
              <a:buNone/>
            </a:pPr>
            <a:r>
              <a:rPr b="1" i="0" lang="en-US" sz="2550" u="none" cap="none" strike="noStrike">
                <a:solidFill>
                  <a:srgbClr val="FFFFFF"/>
                </a:solidFill>
                <a:latin typeface="Helvetica Neue"/>
                <a:ea typeface="Helvetica Neue"/>
                <a:cs typeface="Helvetica Neue"/>
                <a:sym typeface="Helvetica Neue"/>
              </a:rPr>
              <a:t>Repeat</a:t>
            </a:r>
            <a:endParaRPr b="0" i="0" sz="2550" u="none" cap="none" strike="noStrike">
              <a:solidFill>
                <a:schemeClr val="dk1"/>
              </a:solidFill>
              <a:latin typeface="Calibri"/>
              <a:ea typeface="Calibri"/>
              <a:cs typeface="Calibri"/>
              <a:sym typeface="Calibri"/>
            </a:endParaRPr>
          </a:p>
        </p:txBody>
      </p:sp>
      <p:sp>
        <p:nvSpPr>
          <p:cNvPr id="415" name="Google Shape;415;p12"/>
          <p:cNvSpPr/>
          <p:nvPr/>
        </p:nvSpPr>
        <p:spPr>
          <a:xfrm>
            <a:off x="13787438" y="4815840"/>
            <a:ext cx="3458289" cy="1474470"/>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C8D6EA"/>
              </a:buClr>
              <a:buSzPts val="1950"/>
              <a:buFont typeface="Helvetica Neue"/>
              <a:buNone/>
            </a:pPr>
            <a:r>
              <a:rPr b="0" i="0" lang="en-US" sz="1950" u="none" cap="none" strike="noStrike">
                <a:solidFill>
                  <a:srgbClr val="C8D6EA"/>
                </a:solidFill>
                <a:latin typeface="Helvetica Neue"/>
                <a:ea typeface="Helvetica Neue"/>
                <a:cs typeface="Helvetica Neue"/>
                <a:sym typeface="Helvetica Neue"/>
              </a:rPr>
              <a:t>Next window, next nudge. One pass over the whole training set is an epoch. Stop when the error stops falling.</a:t>
            </a:r>
            <a:endParaRPr b="0" i="0" sz="1950" u="none" cap="none" strike="noStrike">
              <a:solidFill>
                <a:schemeClr val="dk1"/>
              </a:solidFill>
              <a:latin typeface="Calibri"/>
              <a:ea typeface="Calibri"/>
              <a:cs typeface="Calibri"/>
              <a:sym typeface="Calibri"/>
            </a:endParaRPr>
          </a:p>
        </p:txBody>
      </p:sp>
      <p:sp>
        <p:nvSpPr>
          <p:cNvPr id="416" name="Google Shape;416;p12"/>
          <p:cNvSpPr/>
          <p:nvPr/>
        </p:nvSpPr>
        <p:spPr>
          <a:xfrm>
            <a:off x="838200" y="7538085"/>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2"/>
          <p:cNvSpPr/>
          <p:nvPr/>
        </p:nvSpPr>
        <p:spPr>
          <a:xfrm>
            <a:off x="838200" y="7820025"/>
            <a:ext cx="88849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PLAIN WORDS</a:t>
            </a:r>
            <a:endParaRPr b="0" i="0" sz="1800" u="none" cap="none" strike="noStrike">
              <a:solidFill>
                <a:schemeClr val="dk1"/>
              </a:solidFill>
              <a:latin typeface="Calibri"/>
              <a:ea typeface="Calibri"/>
              <a:cs typeface="Calibri"/>
              <a:sym typeface="Calibri"/>
            </a:endParaRPr>
          </a:p>
        </p:txBody>
      </p:sp>
      <p:sp>
        <p:nvSpPr>
          <p:cNvPr id="418" name="Google Shape;418;p12"/>
          <p:cNvSpPr/>
          <p:nvPr/>
        </p:nvSpPr>
        <p:spPr>
          <a:xfrm>
            <a:off x="838200" y="8193405"/>
            <a:ext cx="8319516"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It is trial and error with bookkeeping. Nobody tells the model that GC-rich means promoter; it discovers that raising the weight on GC content lowers its error, and keeps doing so.</a:t>
            </a:r>
            <a:endParaRPr b="0" i="0" sz="2100" u="none" cap="none" strike="noStrike">
              <a:solidFill>
                <a:schemeClr val="dk1"/>
              </a:solidFill>
              <a:latin typeface="Calibri"/>
              <a:ea typeface="Calibri"/>
              <a:cs typeface="Calibri"/>
              <a:sym typeface="Calibri"/>
            </a:endParaRPr>
          </a:p>
        </p:txBody>
      </p:sp>
      <p:sp>
        <p:nvSpPr>
          <p:cNvPr id="419" name="Google Shape;419;p12"/>
          <p:cNvSpPr/>
          <p:nvPr/>
        </p:nvSpPr>
        <p:spPr>
          <a:xfrm>
            <a:off x="9372600" y="7820025"/>
            <a:ext cx="88849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WATCH OUT</a:t>
            </a:r>
            <a:endParaRPr b="0" i="0" sz="1800" u="none" cap="none" strike="noStrike">
              <a:solidFill>
                <a:schemeClr val="dk1"/>
              </a:solidFill>
              <a:latin typeface="Calibri"/>
              <a:ea typeface="Calibri"/>
              <a:cs typeface="Calibri"/>
              <a:sym typeface="Calibri"/>
            </a:endParaRPr>
          </a:p>
        </p:txBody>
      </p:sp>
      <p:sp>
        <p:nvSpPr>
          <p:cNvPr id="420" name="Google Shape;420;p12"/>
          <p:cNvSpPr/>
          <p:nvPr/>
        </p:nvSpPr>
        <p:spPr>
          <a:xfrm>
            <a:off x="9372600" y="8193405"/>
            <a:ext cx="8319516"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Keep nudging long enough and the model starts memorising the individual training windows instead of the pattern. That is overfitting — and it is why the next slide exists.</a:t>
            </a:r>
            <a:endParaRPr b="0" i="0" sz="2100" u="none" cap="none" strike="noStrike">
              <a:solidFill>
                <a:schemeClr val="dk1"/>
              </a:solidFill>
              <a:latin typeface="Calibri"/>
              <a:ea typeface="Calibri"/>
              <a:cs typeface="Calibri"/>
              <a:sym typeface="Calibri"/>
            </a:endParaRPr>
          </a:p>
        </p:txBody>
      </p:sp>
      <p:sp>
        <p:nvSpPr>
          <p:cNvPr id="421" name="Google Shape;421;p12"/>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2"/>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423" name="Google Shape;423;p12"/>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424" name="Google Shape;424;p12"/>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12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 name="Shape 429"/>
        <p:cNvGrpSpPr/>
        <p:nvPr/>
      </p:nvGrpSpPr>
      <p:grpSpPr>
        <a:xfrm>
          <a:off x="0" y="0"/>
          <a:ext cx="0" cy="0"/>
          <a:chOff x="0" y="0"/>
          <a:chExt cx="0" cy="0"/>
        </a:xfrm>
      </p:grpSpPr>
      <p:sp>
        <p:nvSpPr>
          <p:cNvPr id="430" name="Google Shape;430;p13"/>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3"/>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432" name="Google Shape;432;p13"/>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433" name="Google Shape;433;p13"/>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02 · MACHINE LEARNING IN PLAIN TERMS</a:t>
            </a:r>
            <a:endParaRPr b="0" i="0" sz="1800" u="none" cap="none" strike="noStrike">
              <a:solidFill>
                <a:schemeClr val="dk1"/>
              </a:solidFill>
              <a:latin typeface="Calibri"/>
              <a:ea typeface="Calibri"/>
              <a:cs typeface="Calibri"/>
              <a:sym typeface="Calibri"/>
            </a:endParaRPr>
          </a:p>
        </p:txBody>
      </p:sp>
      <p:sp>
        <p:nvSpPr>
          <p:cNvPr id="434" name="Google Shape;434;p13"/>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Train, validate, test</a:t>
            </a:r>
            <a:endParaRPr b="0" i="0" sz="4500" u="none" cap="none" strike="noStrike">
              <a:solidFill>
                <a:schemeClr val="dk1"/>
              </a:solidFill>
              <a:latin typeface="Calibri"/>
              <a:ea typeface="Calibri"/>
              <a:cs typeface="Calibri"/>
              <a:sym typeface="Calibri"/>
            </a:endParaRPr>
          </a:p>
        </p:txBody>
      </p:sp>
      <p:sp>
        <p:nvSpPr>
          <p:cNvPr id="435" name="Google Shape;435;p13"/>
          <p:cNvSpPr/>
          <p:nvPr/>
        </p:nvSpPr>
        <p:spPr>
          <a:xfrm>
            <a:off x="838200" y="2314575"/>
            <a:ext cx="14912340" cy="866775"/>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A student who has seen the exam paper will score well on it. To find out what a model actually knows, split the data into three piles and let it see them at different moments.</a:t>
            </a:r>
            <a:endParaRPr b="0" i="0" sz="2250" u="none" cap="none" strike="noStrike">
              <a:solidFill>
                <a:schemeClr val="dk1"/>
              </a:solidFill>
              <a:latin typeface="Calibri"/>
              <a:ea typeface="Calibri"/>
              <a:cs typeface="Calibri"/>
              <a:sym typeface="Calibri"/>
            </a:endParaRPr>
          </a:p>
        </p:txBody>
      </p:sp>
      <p:sp>
        <p:nvSpPr>
          <p:cNvPr id="436" name="Google Shape;436;p13"/>
          <p:cNvSpPr/>
          <p:nvPr/>
        </p:nvSpPr>
        <p:spPr>
          <a:xfrm>
            <a:off x="838200" y="3524250"/>
            <a:ext cx="11548110" cy="60960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3"/>
          <p:cNvSpPr/>
          <p:nvPr/>
        </p:nvSpPr>
        <p:spPr>
          <a:xfrm>
            <a:off x="664978" y="3524250"/>
            <a:ext cx="11894554" cy="6477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1800"/>
              <a:buFont typeface="Helvetica Neue"/>
              <a:buNone/>
            </a:pPr>
            <a:r>
              <a:rPr b="0" i="0" lang="en-US" sz="1800" u="none" cap="none" strike="noStrike">
                <a:solidFill>
                  <a:srgbClr val="FFFFFF"/>
                </a:solidFill>
                <a:latin typeface="Helvetica Neue"/>
                <a:ea typeface="Helvetica Neue"/>
                <a:cs typeface="Helvetica Neue"/>
                <a:sym typeface="Helvetica Neue"/>
              </a:rPr>
              <a:t>TRAIN · 70%</a:t>
            </a:r>
            <a:endParaRPr b="0" i="0" sz="1800" u="none" cap="none" strike="noStrike">
              <a:solidFill>
                <a:schemeClr val="dk1"/>
              </a:solidFill>
              <a:latin typeface="Calibri"/>
              <a:ea typeface="Calibri"/>
              <a:cs typeface="Calibri"/>
              <a:sym typeface="Calibri"/>
            </a:endParaRPr>
          </a:p>
        </p:txBody>
      </p:sp>
      <p:sp>
        <p:nvSpPr>
          <p:cNvPr id="438" name="Google Shape;438;p13"/>
          <p:cNvSpPr/>
          <p:nvPr/>
        </p:nvSpPr>
        <p:spPr>
          <a:xfrm>
            <a:off x="12443460" y="3524250"/>
            <a:ext cx="2474595" cy="60960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3"/>
          <p:cNvSpPr/>
          <p:nvPr/>
        </p:nvSpPr>
        <p:spPr>
          <a:xfrm>
            <a:off x="12405360" y="3524250"/>
            <a:ext cx="2550795" cy="6477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1C2A44"/>
              </a:buClr>
              <a:buSzPts val="1800"/>
              <a:buFont typeface="Helvetica Neue"/>
              <a:buNone/>
            </a:pPr>
            <a:r>
              <a:rPr b="1" i="0" lang="en-US" sz="1800" u="none" cap="none" strike="noStrike">
                <a:solidFill>
                  <a:srgbClr val="1C2A44"/>
                </a:solidFill>
                <a:latin typeface="Helvetica Neue"/>
                <a:ea typeface="Helvetica Neue"/>
                <a:cs typeface="Helvetica Neue"/>
                <a:sym typeface="Helvetica Neue"/>
              </a:rPr>
              <a:t>VALIDATE · 15%</a:t>
            </a:r>
            <a:endParaRPr b="0" i="0" sz="1800" u="none" cap="none" strike="noStrike">
              <a:solidFill>
                <a:schemeClr val="dk1"/>
              </a:solidFill>
              <a:latin typeface="Calibri"/>
              <a:ea typeface="Calibri"/>
              <a:cs typeface="Calibri"/>
              <a:sym typeface="Calibri"/>
            </a:endParaRPr>
          </a:p>
        </p:txBody>
      </p:sp>
      <p:sp>
        <p:nvSpPr>
          <p:cNvPr id="440" name="Google Shape;440;p13"/>
          <p:cNvSpPr/>
          <p:nvPr/>
        </p:nvSpPr>
        <p:spPr>
          <a:xfrm>
            <a:off x="14975206" y="3524250"/>
            <a:ext cx="2474595" cy="609600"/>
          </a:xfrm>
          <a:prstGeom prst="rect">
            <a:avLst/>
          </a:prstGeom>
          <a:solidFill>
            <a:srgbClr val="E3EA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3"/>
          <p:cNvSpPr/>
          <p:nvPr/>
        </p:nvSpPr>
        <p:spPr>
          <a:xfrm>
            <a:off x="14937106" y="3524250"/>
            <a:ext cx="2550795" cy="6477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1C2A44"/>
              </a:buClr>
              <a:buSzPts val="1800"/>
              <a:buFont typeface="Helvetica Neue"/>
              <a:buNone/>
            </a:pPr>
            <a:r>
              <a:rPr b="1" i="0" lang="en-US" sz="1800" u="none" cap="none" strike="noStrike">
                <a:solidFill>
                  <a:srgbClr val="1C2A44"/>
                </a:solidFill>
                <a:latin typeface="Helvetica Neue"/>
                <a:ea typeface="Helvetica Neue"/>
                <a:cs typeface="Helvetica Neue"/>
                <a:sym typeface="Helvetica Neue"/>
              </a:rPr>
              <a:t>TEST · 15%</a:t>
            </a:r>
            <a:endParaRPr b="0" i="0" sz="1800" u="none" cap="none" strike="noStrike">
              <a:solidFill>
                <a:schemeClr val="dk1"/>
              </a:solidFill>
              <a:latin typeface="Calibri"/>
              <a:ea typeface="Calibri"/>
              <a:cs typeface="Calibri"/>
              <a:sym typeface="Calibri"/>
            </a:endParaRPr>
          </a:p>
        </p:txBody>
      </p:sp>
      <p:sp>
        <p:nvSpPr>
          <p:cNvPr id="442" name="Google Shape;442;p13"/>
          <p:cNvSpPr/>
          <p:nvPr/>
        </p:nvSpPr>
        <p:spPr>
          <a:xfrm>
            <a:off x="838200" y="4438650"/>
            <a:ext cx="52578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3"/>
          <p:cNvSpPr/>
          <p:nvPr/>
        </p:nvSpPr>
        <p:spPr>
          <a:xfrm>
            <a:off x="838200" y="4644390"/>
            <a:ext cx="578358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Training set</a:t>
            </a:r>
            <a:endParaRPr b="0" i="0" sz="2550" u="none" cap="none" strike="noStrike">
              <a:solidFill>
                <a:schemeClr val="dk1"/>
              </a:solidFill>
              <a:latin typeface="Calibri"/>
              <a:ea typeface="Calibri"/>
              <a:cs typeface="Calibri"/>
              <a:sym typeface="Calibri"/>
            </a:endParaRPr>
          </a:p>
        </p:txBody>
      </p:sp>
      <p:sp>
        <p:nvSpPr>
          <p:cNvPr id="444" name="Google Shape;444;p13"/>
          <p:cNvSpPr/>
          <p:nvPr/>
        </p:nvSpPr>
        <p:spPr>
          <a:xfrm>
            <a:off x="838200" y="5124450"/>
            <a:ext cx="5415534"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The examples the model fits its dials to. It sees these thousands of times.</a:t>
            </a:r>
            <a:endParaRPr b="0" i="0" sz="2100" u="none" cap="none" strike="noStrike">
              <a:solidFill>
                <a:schemeClr val="dk1"/>
              </a:solidFill>
              <a:latin typeface="Calibri"/>
              <a:ea typeface="Calibri"/>
              <a:cs typeface="Calibri"/>
              <a:sym typeface="Calibri"/>
            </a:endParaRPr>
          </a:p>
        </p:txBody>
      </p:sp>
      <p:sp>
        <p:nvSpPr>
          <p:cNvPr id="445" name="Google Shape;445;p13"/>
          <p:cNvSpPr/>
          <p:nvPr/>
        </p:nvSpPr>
        <p:spPr>
          <a:xfrm>
            <a:off x="6515100" y="4438650"/>
            <a:ext cx="5257800" cy="1524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3"/>
          <p:cNvSpPr/>
          <p:nvPr/>
        </p:nvSpPr>
        <p:spPr>
          <a:xfrm>
            <a:off x="6515100" y="4644390"/>
            <a:ext cx="578358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Validation set</a:t>
            </a:r>
            <a:endParaRPr b="0" i="0" sz="2550" u="none" cap="none" strike="noStrike">
              <a:solidFill>
                <a:schemeClr val="dk1"/>
              </a:solidFill>
              <a:latin typeface="Calibri"/>
              <a:ea typeface="Calibri"/>
              <a:cs typeface="Calibri"/>
              <a:sym typeface="Calibri"/>
            </a:endParaRPr>
          </a:p>
        </p:txBody>
      </p:sp>
      <p:sp>
        <p:nvSpPr>
          <p:cNvPr id="447" name="Google Shape;447;p13"/>
          <p:cNvSpPr/>
          <p:nvPr/>
        </p:nvSpPr>
        <p:spPr>
          <a:xfrm>
            <a:off x="6515100" y="5124450"/>
            <a:ext cx="5415534"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Used while you are still making choices — which features, how long to train. Consult it as often as you like.</a:t>
            </a:r>
            <a:endParaRPr b="0" i="0" sz="2100" u="none" cap="none" strike="noStrike">
              <a:solidFill>
                <a:schemeClr val="dk1"/>
              </a:solidFill>
              <a:latin typeface="Calibri"/>
              <a:ea typeface="Calibri"/>
              <a:cs typeface="Calibri"/>
              <a:sym typeface="Calibri"/>
            </a:endParaRPr>
          </a:p>
        </p:txBody>
      </p:sp>
      <p:sp>
        <p:nvSpPr>
          <p:cNvPr id="448" name="Google Shape;448;p13"/>
          <p:cNvSpPr/>
          <p:nvPr/>
        </p:nvSpPr>
        <p:spPr>
          <a:xfrm>
            <a:off x="12192000" y="4438650"/>
            <a:ext cx="5257800" cy="15240"/>
          </a:xfrm>
          <a:prstGeom prst="rect">
            <a:avLst/>
          </a:prstGeom>
          <a:solidFill>
            <a:srgbClr val="8FA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3"/>
          <p:cNvSpPr/>
          <p:nvPr/>
        </p:nvSpPr>
        <p:spPr>
          <a:xfrm>
            <a:off x="12192000" y="4644390"/>
            <a:ext cx="578358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Test set</a:t>
            </a:r>
            <a:endParaRPr b="0" i="0" sz="2550" u="none" cap="none" strike="noStrike">
              <a:solidFill>
                <a:schemeClr val="dk1"/>
              </a:solidFill>
              <a:latin typeface="Calibri"/>
              <a:ea typeface="Calibri"/>
              <a:cs typeface="Calibri"/>
              <a:sym typeface="Calibri"/>
            </a:endParaRPr>
          </a:p>
        </p:txBody>
      </p:sp>
      <p:sp>
        <p:nvSpPr>
          <p:cNvPr id="450" name="Google Shape;450;p13"/>
          <p:cNvSpPr/>
          <p:nvPr/>
        </p:nvSpPr>
        <p:spPr>
          <a:xfrm>
            <a:off x="12192000" y="5124450"/>
            <a:ext cx="5415534"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Opened once, at the very end, to report a number. Look at it repeatedly and you have quietly turned it into a validation set.</a:t>
            </a:r>
            <a:endParaRPr b="0" i="0" sz="2100" u="none" cap="none" strike="noStrike">
              <a:solidFill>
                <a:schemeClr val="dk1"/>
              </a:solidFill>
              <a:latin typeface="Calibri"/>
              <a:ea typeface="Calibri"/>
              <a:cs typeface="Calibri"/>
              <a:sym typeface="Calibri"/>
            </a:endParaRPr>
          </a:p>
        </p:txBody>
      </p:sp>
      <p:sp>
        <p:nvSpPr>
          <p:cNvPr id="451" name="Google Shape;451;p13"/>
          <p:cNvSpPr/>
          <p:nvPr/>
        </p:nvSpPr>
        <p:spPr>
          <a:xfrm>
            <a:off x="838200" y="7538085"/>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3"/>
          <p:cNvSpPr/>
          <p:nvPr/>
        </p:nvSpPr>
        <p:spPr>
          <a:xfrm>
            <a:off x="838200" y="7820025"/>
            <a:ext cx="88849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PLAIN WORDS</a:t>
            </a:r>
            <a:endParaRPr b="0" i="0" sz="1800" u="none" cap="none" strike="noStrike">
              <a:solidFill>
                <a:schemeClr val="dk1"/>
              </a:solidFill>
              <a:latin typeface="Calibri"/>
              <a:ea typeface="Calibri"/>
              <a:cs typeface="Calibri"/>
              <a:sym typeface="Calibri"/>
            </a:endParaRPr>
          </a:p>
        </p:txBody>
      </p:sp>
      <p:sp>
        <p:nvSpPr>
          <p:cNvPr id="453" name="Google Shape;453;p13"/>
          <p:cNvSpPr/>
          <p:nvPr/>
        </p:nvSpPr>
        <p:spPr>
          <a:xfrm>
            <a:off x="838200" y="8193405"/>
            <a:ext cx="8319516"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Homework, mock exam, final exam. The score that counts is the one from material the model has never met.</a:t>
            </a:r>
            <a:endParaRPr b="0" i="0" sz="2100" u="none" cap="none" strike="noStrike">
              <a:solidFill>
                <a:schemeClr val="dk1"/>
              </a:solidFill>
              <a:latin typeface="Calibri"/>
              <a:ea typeface="Calibri"/>
              <a:cs typeface="Calibri"/>
              <a:sym typeface="Calibri"/>
            </a:endParaRPr>
          </a:p>
        </p:txBody>
      </p:sp>
      <p:sp>
        <p:nvSpPr>
          <p:cNvPr id="454" name="Google Shape;454;p13"/>
          <p:cNvSpPr/>
          <p:nvPr/>
        </p:nvSpPr>
        <p:spPr>
          <a:xfrm>
            <a:off x="9372600" y="7820025"/>
            <a:ext cx="88849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WATCH OUT</a:t>
            </a:r>
            <a:endParaRPr b="0" i="0" sz="1800" u="none" cap="none" strike="noStrike">
              <a:solidFill>
                <a:schemeClr val="dk1"/>
              </a:solidFill>
              <a:latin typeface="Calibri"/>
              <a:ea typeface="Calibri"/>
              <a:cs typeface="Calibri"/>
              <a:sym typeface="Calibri"/>
            </a:endParaRPr>
          </a:p>
        </p:txBody>
      </p:sp>
      <p:sp>
        <p:nvSpPr>
          <p:cNvPr id="455" name="Google Shape;455;p13"/>
          <p:cNvSpPr/>
          <p:nvPr/>
        </p:nvSpPr>
        <p:spPr>
          <a:xfrm>
            <a:off x="9372600" y="8193405"/>
            <a:ext cx="8319516"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In genomics the piles must be separated by chromosome, not by shuffling — neighbouring windows are near-copies of each other. Slide 32 shows what that does to the score.</a:t>
            </a:r>
            <a:endParaRPr b="0" i="0" sz="2100" u="none" cap="none" strike="noStrike">
              <a:solidFill>
                <a:schemeClr val="dk1"/>
              </a:solidFill>
              <a:latin typeface="Calibri"/>
              <a:ea typeface="Calibri"/>
              <a:cs typeface="Calibri"/>
              <a:sym typeface="Calibri"/>
            </a:endParaRPr>
          </a:p>
        </p:txBody>
      </p:sp>
      <p:sp>
        <p:nvSpPr>
          <p:cNvPr id="456" name="Google Shape;456;p13"/>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3"/>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458" name="Google Shape;458;p13"/>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459" name="Google Shape;459;p13"/>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13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23A"/>
        </a:solidFill>
      </p:bgPr>
    </p:bg>
    <p:spTree>
      <p:nvGrpSpPr>
        <p:cNvPr id="464" name="Shape 464"/>
        <p:cNvGrpSpPr/>
        <p:nvPr/>
      </p:nvGrpSpPr>
      <p:grpSpPr>
        <a:xfrm>
          <a:off x="0" y="0"/>
          <a:ext cx="0" cy="0"/>
          <a:chOff x="0" y="0"/>
          <a:chExt cx="0" cy="0"/>
        </a:xfrm>
      </p:grpSpPr>
      <p:pic>
        <p:nvPicPr>
          <p:cNvPr descr="preencoded.png" id="465" name="Google Shape;465;p14"/>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466" name="Google Shape;466;p14"/>
          <p:cNvSpPr/>
          <p:nvPr/>
        </p:nvSpPr>
        <p:spPr>
          <a:xfrm>
            <a:off x="914400" y="765810"/>
            <a:ext cx="685136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9BBD6"/>
              </a:buClr>
              <a:buSzPts val="1800"/>
              <a:buFont typeface="Helvetica Neue"/>
              <a:buNone/>
            </a:pPr>
            <a:r>
              <a:rPr b="0" i="0" lang="en-US" sz="1800" u="none" cap="none" strike="noStrike">
                <a:solidFill>
                  <a:srgbClr val="A9BBD6"/>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sp>
        <p:nvSpPr>
          <p:cNvPr id="467" name="Google Shape;467;p14"/>
          <p:cNvSpPr/>
          <p:nvPr/>
        </p:nvSpPr>
        <p:spPr>
          <a:xfrm>
            <a:off x="914400" y="3108960"/>
            <a:ext cx="9499557" cy="1371600"/>
          </a:xfrm>
          <a:prstGeom prst="rect">
            <a:avLst/>
          </a:prstGeom>
          <a:noFill/>
          <a:ln>
            <a:noFill/>
          </a:ln>
        </p:spPr>
        <p:txBody>
          <a:bodyPr anchorCtr="0" anchor="t" bIns="25400" lIns="25400" spcFirstLastPara="1" rIns="25400" wrap="square" tIns="25400">
            <a:normAutofit/>
          </a:bodyPr>
          <a:lstStyle/>
          <a:p>
            <a:pPr indent="0" lvl="0" marL="0" marR="0" rtl="0" algn="l">
              <a:lnSpc>
                <a:spcPct val="77093"/>
              </a:lnSpc>
              <a:spcBef>
                <a:spcPts val="0"/>
              </a:spcBef>
              <a:spcAft>
                <a:spcPts val="0"/>
              </a:spcAft>
              <a:buClr>
                <a:srgbClr val="E8A317"/>
              </a:buClr>
              <a:buSzPts val="10500"/>
              <a:buFont typeface="IBM Plex Mono"/>
              <a:buNone/>
            </a:pPr>
            <a:r>
              <a:rPr b="1" i="0" lang="en-US" sz="10500" u="none" cap="none" strike="noStrike">
                <a:solidFill>
                  <a:srgbClr val="E8A317"/>
                </a:solidFill>
                <a:latin typeface="IBM Plex Mono"/>
                <a:ea typeface="IBM Plex Mono"/>
                <a:cs typeface="IBM Plex Mono"/>
                <a:sym typeface="IBM Plex Mono"/>
              </a:rPr>
              <a:t>03</a:t>
            </a:r>
            <a:endParaRPr b="0" i="0" sz="10500" u="none" cap="none" strike="noStrike">
              <a:solidFill>
                <a:schemeClr val="dk1"/>
              </a:solidFill>
              <a:latin typeface="Calibri"/>
              <a:ea typeface="Calibri"/>
              <a:cs typeface="Calibri"/>
              <a:sym typeface="Calibri"/>
            </a:endParaRPr>
          </a:p>
        </p:txBody>
      </p:sp>
      <p:sp>
        <p:nvSpPr>
          <p:cNvPr id="468" name="Google Shape;468;p14"/>
          <p:cNvSpPr/>
          <p:nvPr/>
        </p:nvSpPr>
        <p:spPr>
          <a:xfrm>
            <a:off x="914400" y="4671060"/>
            <a:ext cx="9499557" cy="798195"/>
          </a:xfrm>
          <a:prstGeom prst="rect">
            <a:avLst/>
          </a:prstGeom>
          <a:noFill/>
          <a:ln>
            <a:noFill/>
          </a:ln>
        </p:spPr>
        <p:txBody>
          <a:bodyPr anchorCtr="0" anchor="t" bIns="25400" lIns="25400" spcFirstLastPara="1" rIns="25400" wrap="square" tIns="25400">
            <a:normAutofit/>
          </a:bodyPr>
          <a:lstStyle/>
          <a:p>
            <a:pPr indent="0" lvl="0" marL="0" marR="0" rtl="0" algn="l">
              <a:lnSpc>
                <a:spcPct val="91514"/>
              </a:lnSpc>
              <a:spcBef>
                <a:spcPts val="0"/>
              </a:spcBef>
              <a:spcAft>
                <a:spcPts val="0"/>
              </a:spcAft>
              <a:buClr>
                <a:srgbClr val="FFFFFF"/>
              </a:buClr>
              <a:buSzPts val="5700"/>
              <a:buFont typeface="Helvetica Neue"/>
              <a:buNone/>
            </a:pPr>
            <a:r>
              <a:rPr b="1" i="0" lang="en-US" sz="5700" u="none" cap="none" strike="noStrike">
                <a:solidFill>
                  <a:srgbClr val="FFFFFF"/>
                </a:solidFill>
                <a:latin typeface="Helvetica Neue"/>
                <a:ea typeface="Helvetica Neue"/>
                <a:cs typeface="Helvetica Neue"/>
                <a:sym typeface="Helvetica Neue"/>
              </a:rPr>
              <a:t>DNA as a language</a:t>
            </a:r>
            <a:endParaRPr b="0" i="0" sz="5700" u="none" cap="none" strike="noStrike">
              <a:solidFill>
                <a:schemeClr val="dk1"/>
              </a:solidFill>
              <a:latin typeface="Calibri"/>
              <a:ea typeface="Calibri"/>
              <a:cs typeface="Calibri"/>
              <a:sym typeface="Calibri"/>
            </a:endParaRPr>
          </a:p>
        </p:txBody>
      </p:sp>
      <p:sp>
        <p:nvSpPr>
          <p:cNvPr id="469" name="Google Shape;469;p14"/>
          <p:cNvSpPr/>
          <p:nvPr/>
        </p:nvSpPr>
        <p:spPr>
          <a:xfrm>
            <a:off x="914400" y="5697855"/>
            <a:ext cx="8437245" cy="1363980"/>
          </a:xfrm>
          <a:prstGeom prst="rect">
            <a:avLst/>
          </a:prstGeom>
          <a:noFill/>
          <a:ln>
            <a:noFill/>
          </a:ln>
        </p:spPr>
        <p:txBody>
          <a:bodyPr anchorCtr="0" anchor="t" bIns="25400" lIns="25400" spcFirstLastPara="1" rIns="25400" wrap="square" tIns="25400">
            <a:normAutofit/>
          </a:bodyPr>
          <a:lstStyle/>
          <a:p>
            <a:pPr indent="0" lvl="0" marL="0" marR="0" rtl="0" algn="l">
              <a:lnSpc>
                <a:spcPct val="128889"/>
              </a:lnSpc>
              <a:spcBef>
                <a:spcPts val="0"/>
              </a:spcBef>
              <a:spcAft>
                <a:spcPts val="0"/>
              </a:spcAft>
              <a:buClr>
                <a:srgbClr val="C8D6EA"/>
              </a:buClr>
              <a:buSzPts val="2400"/>
              <a:buFont typeface="Helvetica Neue"/>
              <a:buNone/>
            </a:pPr>
            <a:r>
              <a:rPr b="0" i="0" lang="en-US" sz="2400" u="none" cap="none" strike="noStrike">
                <a:solidFill>
                  <a:srgbClr val="C8D6EA"/>
                </a:solidFill>
                <a:latin typeface="Helvetica Neue"/>
                <a:ea typeface="Helvetica Neue"/>
                <a:cs typeface="Helvetica Neue"/>
                <a:sym typeface="Helvetica Neue"/>
              </a:rPr>
              <a:t>A language model cuts a sentence into words and learns how those words relate. We do exactly the same thing to a DNA sequence — starting with a plain count.</a:t>
            </a:r>
            <a:endParaRPr b="0" i="0" sz="2400" u="none" cap="none" strike="noStrike">
              <a:solidFill>
                <a:schemeClr val="dk1"/>
              </a:solidFill>
              <a:latin typeface="Calibri"/>
              <a:ea typeface="Calibri"/>
              <a:cs typeface="Calibri"/>
              <a:sym typeface="Calibri"/>
            </a:endParaRPr>
          </a:p>
        </p:txBody>
      </p:sp>
      <p:sp>
        <p:nvSpPr>
          <p:cNvPr id="470" name="Google Shape;470;p14"/>
          <p:cNvSpPr/>
          <p:nvPr/>
        </p:nvSpPr>
        <p:spPr>
          <a:xfrm>
            <a:off x="10464760" y="3787140"/>
            <a:ext cx="6908840" cy="9525"/>
          </a:xfrm>
          <a:prstGeom prst="rect">
            <a:avLst/>
          </a:prstGeom>
          <a:solidFill>
            <a:srgbClr val="5362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4"/>
          <p:cNvSpPr/>
          <p:nvPr/>
        </p:nvSpPr>
        <p:spPr>
          <a:xfrm>
            <a:off x="10464760" y="3375660"/>
            <a:ext cx="7116105"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THIS PART</a:t>
            </a:r>
            <a:endParaRPr b="0" i="0" sz="1800" u="none" cap="none" strike="noStrike">
              <a:solidFill>
                <a:schemeClr val="dk1"/>
              </a:solidFill>
              <a:latin typeface="Calibri"/>
              <a:ea typeface="Calibri"/>
              <a:cs typeface="Calibri"/>
              <a:sym typeface="Calibri"/>
            </a:endParaRPr>
          </a:p>
        </p:txBody>
      </p:sp>
      <p:sp>
        <p:nvSpPr>
          <p:cNvPr id="472" name="Google Shape;472;p14"/>
          <p:cNvSpPr/>
          <p:nvPr/>
        </p:nvSpPr>
        <p:spPr>
          <a:xfrm>
            <a:off x="10464760" y="4503420"/>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4"/>
          <p:cNvSpPr/>
          <p:nvPr/>
        </p:nvSpPr>
        <p:spPr>
          <a:xfrm>
            <a:off x="10464760" y="3966210"/>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15</a:t>
            </a:r>
            <a:endParaRPr b="0" i="0" sz="2250" u="none" cap="none" strike="noStrike">
              <a:solidFill>
                <a:schemeClr val="dk1"/>
              </a:solidFill>
              <a:latin typeface="Calibri"/>
              <a:ea typeface="Calibri"/>
              <a:cs typeface="Calibri"/>
              <a:sym typeface="Calibri"/>
            </a:endParaRPr>
          </a:p>
        </p:txBody>
      </p:sp>
      <p:sp>
        <p:nvSpPr>
          <p:cNvPr id="474" name="Google Shape;474;p14"/>
          <p:cNvSpPr/>
          <p:nvPr/>
        </p:nvSpPr>
        <p:spPr>
          <a:xfrm>
            <a:off x="11074360" y="3966210"/>
            <a:ext cx="3581602"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Letters, words, sentences</a:t>
            </a:r>
            <a:endParaRPr b="0" i="0" sz="2250" u="none" cap="none" strike="noStrike">
              <a:solidFill>
                <a:schemeClr val="dk1"/>
              </a:solidFill>
              <a:latin typeface="Calibri"/>
              <a:ea typeface="Calibri"/>
              <a:cs typeface="Calibri"/>
              <a:sym typeface="Calibri"/>
            </a:endParaRPr>
          </a:p>
        </p:txBody>
      </p:sp>
      <p:sp>
        <p:nvSpPr>
          <p:cNvPr id="475" name="Google Shape;475;p14"/>
          <p:cNvSpPr/>
          <p:nvPr/>
        </p:nvSpPr>
        <p:spPr>
          <a:xfrm>
            <a:off x="10464760" y="5219700"/>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4"/>
          <p:cNvSpPr/>
          <p:nvPr/>
        </p:nvSpPr>
        <p:spPr>
          <a:xfrm>
            <a:off x="10464760" y="4682490"/>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16</a:t>
            </a:r>
            <a:endParaRPr b="0" i="0" sz="2250" u="none" cap="none" strike="noStrike">
              <a:solidFill>
                <a:schemeClr val="dk1"/>
              </a:solidFill>
              <a:latin typeface="Calibri"/>
              <a:ea typeface="Calibri"/>
              <a:cs typeface="Calibri"/>
              <a:sym typeface="Calibri"/>
            </a:endParaRPr>
          </a:p>
        </p:txBody>
      </p:sp>
      <p:sp>
        <p:nvSpPr>
          <p:cNvPr id="477" name="Google Shape;477;p14"/>
          <p:cNvSpPr/>
          <p:nvPr/>
        </p:nvSpPr>
        <p:spPr>
          <a:xfrm>
            <a:off x="11074360" y="4682490"/>
            <a:ext cx="3901821"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Turning letters into numbers</a:t>
            </a:r>
            <a:endParaRPr b="0" i="0" sz="2250" u="none" cap="none" strike="noStrike">
              <a:solidFill>
                <a:schemeClr val="dk1"/>
              </a:solidFill>
              <a:latin typeface="Calibri"/>
              <a:ea typeface="Calibri"/>
              <a:cs typeface="Calibri"/>
              <a:sym typeface="Calibri"/>
            </a:endParaRPr>
          </a:p>
        </p:txBody>
      </p:sp>
      <p:sp>
        <p:nvSpPr>
          <p:cNvPr id="478" name="Google Shape;478;p14"/>
          <p:cNvSpPr/>
          <p:nvPr/>
        </p:nvSpPr>
        <p:spPr>
          <a:xfrm>
            <a:off x="10464760" y="5935980"/>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4"/>
          <p:cNvSpPr/>
          <p:nvPr/>
        </p:nvSpPr>
        <p:spPr>
          <a:xfrm>
            <a:off x="10464760" y="5398770"/>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17</a:t>
            </a:r>
            <a:endParaRPr b="0" i="0" sz="2250" u="none" cap="none" strike="noStrike">
              <a:solidFill>
                <a:schemeClr val="dk1"/>
              </a:solidFill>
              <a:latin typeface="Calibri"/>
              <a:ea typeface="Calibri"/>
              <a:cs typeface="Calibri"/>
              <a:sym typeface="Calibri"/>
            </a:endParaRPr>
          </a:p>
        </p:txBody>
      </p:sp>
      <p:sp>
        <p:nvSpPr>
          <p:cNvPr id="480" name="Google Shape;480;p14"/>
          <p:cNvSpPr/>
          <p:nvPr/>
        </p:nvSpPr>
        <p:spPr>
          <a:xfrm>
            <a:off x="11074360" y="5398770"/>
            <a:ext cx="4193358"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Three ways to cut a sequence</a:t>
            </a:r>
            <a:endParaRPr b="0" i="0" sz="2250" u="none" cap="none" strike="noStrike">
              <a:solidFill>
                <a:schemeClr val="dk1"/>
              </a:solidFill>
              <a:latin typeface="Calibri"/>
              <a:ea typeface="Calibri"/>
              <a:cs typeface="Calibri"/>
              <a:sym typeface="Calibri"/>
            </a:endParaRPr>
          </a:p>
        </p:txBody>
      </p:sp>
      <p:sp>
        <p:nvSpPr>
          <p:cNvPr id="481" name="Google Shape;481;p14"/>
          <p:cNvSpPr/>
          <p:nvPr/>
        </p:nvSpPr>
        <p:spPr>
          <a:xfrm>
            <a:off x="10464760" y="6652260"/>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4"/>
          <p:cNvSpPr/>
          <p:nvPr/>
        </p:nvSpPr>
        <p:spPr>
          <a:xfrm>
            <a:off x="10464760" y="6115050"/>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18</a:t>
            </a:r>
            <a:endParaRPr b="0" i="0" sz="2250" u="none" cap="none" strike="noStrike">
              <a:solidFill>
                <a:schemeClr val="dk1"/>
              </a:solidFill>
              <a:latin typeface="Calibri"/>
              <a:ea typeface="Calibri"/>
              <a:cs typeface="Calibri"/>
              <a:sym typeface="Calibri"/>
            </a:endParaRPr>
          </a:p>
        </p:txBody>
      </p:sp>
      <p:sp>
        <p:nvSpPr>
          <p:cNvPr id="483" name="Google Shape;483;p14"/>
          <p:cNvSpPr/>
          <p:nvPr/>
        </p:nvSpPr>
        <p:spPr>
          <a:xfrm>
            <a:off x="11074360" y="6115050"/>
            <a:ext cx="3302508"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Attention, in three steps</a:t>
            </a:r>
            <a:endParaRPr b="0" i="0" sz="2250" u="none" cap="none" strike="noStrike">
              <a:solidFill>
                <a:schemeClr val="dk1"/>
              </a:solidFill>
              <a:latin typeface="Calibri"/>
              <a:ea typeface="Calibri"/>
              <a:cs typeface="Calibri"/>
              <a:sym typeface="Calibri"/>
            </a:endParaRPr>
          </a:p>
        </p:txBody>
      </p:sp>
      <p:sp>
        <p:nvSpPr>
          <p:cNvPr id="484" name="Google Shape;484;p14"/>
          <p:cNvSpPr/>
          <p:nvPr/>
        </p:nvSpPr>
        <p:spPr>
          <a:xfrm>
            <a:off x="10464760" y="7368540"/>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4"/>
          <p:cNvSpPr/>
          <p:nvPr/>
        </p:nvSpPr>
        <p:spPr>
          <a:xfrm>
            <a:off x="10464760" y="6831330"/>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19</a:t>
            </a:r>
            <a:endParaRPr b="0" i="0" sz="2250" u="none" cap="none" strike="noStrike">
              <a:solidFill>
                <a:schemeClr val="dk1"/>
              </a:solidFill>
              <a:latin typeface="Calibri"/>
              <a:ea typeface="Calibri"/>
              <a:cs typeface="Calibri"/>
              <a:sym typeface="Calibri"/>
            </a:endParaRPr>
          </a:p>
        </p:txBody>
      </p:sp>
      <p:sp>
        <p:nvSpPr>
          <p:cNvPr id="486" name="Google Shape;486;p14"/>
          <p:cNvSpPr/>
          <p:nvPr/>
        </p:nvSpPr>
        <p:spPr>
          <a:xfrm>
            <a:off x="11074360" y="6831330"/>
            <a:ext cx="3197471"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What attention looks at</a:t>
            </a:r>
            <a:endParaRPr b="0" i="0" sz="2250" u="none" cap="none" strike="noStrike">
              <a:solidFill>
                <a:schemeClr val="dk1"/>
              </a:solidFill>
              <a:latin typeface="Calibri"/>
              <a:ea typeface="Calibri"/>
              <a:cs typeface="Calibri"/>
              <a:sym typeface="Calibri"/>
            </a:endParaRPr>
          </a:p>
        </p:txBody>
      </p:sp>
      <p:sp>
        <p:nvSpPr>
          <p:cNvPr id="487" name="Google Shape;487;p14"/>
          <p:cNvSpPr/>
          <p:nvPr/>
        </p:nvSpPr>
        <p:spPr>
          <a:xfrm>
            <a:off x="914400" y="9418320"/>
            <a:ext cx="181051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PART 03 OF 06</a:t>
            </a:r>
            <a:endParaRPr b="0" i="0" sz="1800" u="none" cap="none" strike="noStrike">
              <a:solidFill>
                <a:schemeClr val="dk1"/>
              </a:solidFill>
              <a:latin typeface="Calibri"/>
              <a:ea typeface="Calibri"/>
              <a:cs typeface="Calibri"/>
              <a:sym typeface="Calibri"/>
            </a:endParaRPr>
          </a:p>
        </p:txBody>
      </p:sp>
      <p:pic>
        <p:nvPicPr>
          <p:cNvPr descr="preencoded.png" id="488" name="Google Shape;488;p14"/>
          <p:cNvPicPr preferRelativeResize="0"/>
          <p:nvPr/>
        </p:nvPicPr>
        <p:blipFill rotWithShape="1">
          <a:blip r:embed="rId4">
            <a:alphaModFix/>
          </a:blip>
          <a:srcRect b="0" l="0" r="0" t="0"/>
          <a:stretch/>
        </p:blipFill>
        <p:spPr>
          <a:xfrm>
            <a:off x="16850202" y="487725"/>
            <a:ext cx="1008525" cy="1115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15"/>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5"/>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496" name="Google Shape;496;p15"/>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497" name="Google Shape;497;p15"/>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03 · DNA AS A LANGUAGE</a:t>
            </a:r>
            <a:endParaRPr b="0" i="0" sz="1800" u="none" cap="none" strike="noStrike">
              <a:solidFill>
                <a:schemeClr val="dk1"/>
              </a:solidFill>
              <a:latin typeface="Calibri"/>
              <a:ea typeface="Calibri"/>
              <a:cs typeface="Calibri"/>
              <a:sym typeface="Calibri"/>
            </a:endParaRPr>
          </a:p>
        </p:txBody>
      </p:sp>
      <p:sp>
        <p:nvSpPr>
          <p:cNvPr id="498" name="Google Shape;498;p15"/>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Letters, words, sentences</a:t>
            </a:r>
            <a:endParaRPr b="0" i="0" sz="4500" u="none" cap="none" strike="noStrike">
              <a:solidFill>
                <a:schemeClr val="dk1"/>
              </a:solidFill>
              <a:latin typeface="Calibri"/>
              <a:ea typeface="Calibri"/>
              <a:cs typeface="Calibri"/>
              <a:sym typeface="Calibri"/>
            </a:endParaRPr>
          </a:p>
        </p:txBody>
      </p:sp>
      <p:sp>
        <p:nvSpPr>
          <p:cNvPr id="499" name="Google Shape;499;p15"/>
          <p:cNvSpPr/>
          <p:nvPr/>
        </p:nvSpPr>
        <p:spPr>
          <a:xfrm>
            <a:off x="838200" y="2821305"/>
            <a:ext cx="3655695"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5"/>
          <p:cNvSpPr/>
          <p:nvPr/>
        </p:nvSpPr>
        <p:spPr>
          <a:xfrm>
            <a:off x="838200" y="2428875"/>
            <a:ext cx="376536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IN DNA</a:t>
            </a:r>
            <a:endParaRPr b="0" i="0" sz="1800" u="none" cap="none" strike="noStrike">
              <a:solidFill>
                <a:schemeClr val="dk1"/>
              </a:solidFill>
              <a:latin typeface="Calibri"/>
              <a:ea typeface="Calibri"/>
              <a:cs typeface="Calibri"/>
              <a:sym typeface="Calibri"/>
            </a:endParaRPr>
          </a:p>
        </p:txBody>
      </p:sp>
      <p:sp>
        <p:nvSpPr>
          <p:cNvPr id="501" name="Google Shape;501;p15"/>
          <p:cNvSpPr/>
          <p:nvPr/>
        </p:nvSpPr>
        <p:spPr>
          <a:xfrm>
            <a:off x="4912995" y="2821305"/>
            <a:ext cx="2924651"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5"/>
          <p:cNvSpPr/>
          <p:nvPr/>
        </p:nvSpPr>
        <p:spPr>
          <a:xfrm>
            <a:off x="4912995" y="2428875"/>
            <a:ext cx="3012391"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IN LANGUAGE</a:t>
            </a:r>
            <a:endParaRPr b="0" i="0" sz="1800" u="none" cap="none" strike="noStrike">
              <a:solidFill>
                <a:schemeClr val="dk1"/>
              </a:solidFill>
              <a:latin typeface="Calibri"/>
              <a:ea typeface="Calibri"/>
              <a:cs typeface="Calibri"/>
              <a:sym typeface="Calibri"/>
            </a:endParaRPr>
          </a:p>
        </p:txBody>
      </p:sp>
      <p:sp>
        <p:nvSpPr>
          <p:cNvPr id="503" name="Google Shape;503;p15"/>
          <p:cNvSpPr/>
          <p:nvPr/>
        </p:nvSpPr>
        <p:spPr>
          <a:xfrm>
            <a:off x="8256747" y="2821305"/>
            <a:ext cx="3655814"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5"/>
          <p:cNvSpPr/>
          <p:nvPr/>
        </p:nvSpPr>
        <p:spPr>
          <a:xfrm>
            <a:off x="8256747" y="2428875"/>
            <a:ext cx="376548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EXAMPLE</a:t>
            </a:r>
            <a:endParaRPr b="0" i="0" sz="1800" u="none" cap="none" strike="noStrike">
              <a:solidFill>
                <a:schemeClr val="dk1"/>
              </a:solidFill>
              <a:latin typeface="Calibri"/>
              <a:ea typeface="Calibri"/>
              <a:cs typeface="Calibri"/>
              <a:sym typeface="Calibri"/>
            </a:endParaRPr>
          </a:p>
        </p:txBody>
      </p:sp>
      <p:sp>
        <p:nvSpPr>
          <p:cNvPr id="505" name="Google Shape;505;p15"/>
          <p:cNvSpPr/>
          <p:nvPr/>
        </p:nvSpPr>
        <p:spPr>
          <a:xfrm>
            <a:off x="12331660" y="2821305"/>
            <a:ext cx="511814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5"/>
          <p:cNvSpPr/>
          <p:nvPr/>
        </p:nvSpPr>
        <p:spPr>
          <a:xfrm>
            <a:off x="12331660" y="2428875"/>
            <a:ext cx="5271684"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WHY IT MATTERS TO US</a:t>
            </a:r>
            <a:endParaRPr b="0" i="0" sz="1800" u="none" cap="none" strike="noStrike">
              <a:solidFill>
                <a:schemeClr val="dk1"/>
              </a:solidFill>
              <a:latin typeface="Calibri"/>
              <a:ea typeface="Calibri"/>
              <a:cs typeface="Calibri"/>
              <a:sym typeface="Calibri"/>
            </a:endParaRPr>
          </a:p>
        </p:txBody>
      </p:sp>
      <p:sp>
        <p:nvSpPr>
          <p:cNvPr id="507" name="Google Shape;507;p15"/>
          <p:cNvSpPr/>
          <p:nvPr/>
        </p:nvSpPr>
        <p:spPr>
          <a:xfrm>
            <a:off x="838200" y="3964305"/>
            <a:ext cx="3655695"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5"/>
          <p:cNvSpPr/>
          <p:nvPr/>
        </p:nvSpPr>
        <p:spPr>
          <a:xfrm>
            <a:off x="838200" y="3027045"/>
            <a:ext cx="3765366"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A base</a:t>
            </a:r>
            <a:endParaRPr b="0" i="0" sz="2400" u="none" cap="none" strike="noStrike">
              <a:solidFill>
                <a:schemeClr val="dk1"/>
              </a:solidFill>
              <a:latin typeface="Calibri"/>
              <a:ea typeface="Calibri"/>
              <a:cs typeface="Calibri"/>
              <a:sym typeface="Calibri"/>
            </a:endParaRPr>
          </a:p>
        </p:txBody>
      </p:sp>
      <p:sp>
        <p:nvSpPr>
          <p:cNvPr id="509" name="Google Shape;509;p15"/>
          <p:cNvSpPr/>
          <p:nvPr/>
        </p:nvSpPr>
        <p:spPr>
          <a:xfrm>
            <a:off x="4912995" y="3964305"/>
            <a:ext cx="2924651"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5"/>
          <p:cNvSpPr/>
          <p:nvPr/>
        </p:nvSpPr>
        <p:spPr>
          <a:xfrm>
            <a:off x="4912995" y="3027045"/>
            <a:ext cx="3012391"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a letter</a:t>
            </a:r>
            <a:endParaRPr b="0" i="0" sz="2100" u="none" cap="none" strike="noStrike">
              <a:solidFill>
                <a:schemeClr val="dk1"/>
              </a:solidFill>
              <a:latin typeface="Calibri"/>
              <a:ea typeface="Calibri"/>
              <a:cs typeface="Calibri"/>
              <a:sym typeface="Calibri"/>
            </a:endParaRPr>
          </a:p>
        </p:txBody>
      </p:sp>
      <p:sp>
        <p:nvSpPr>
          <p:cNvPr id="511" name="Google Shape;511;p15"/>
          <p:cNvSpPr/>
          <p:nvPr/>
        </p:nvSpPr>
        <p:spPr>
          <a:xfrm>
            <a:off x="8256747" y="3964305"/>
            <a:ext cx="3655814"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5"/>
          <p:cNvSpPr/>
          <p:nvPr/>
        </p:nvSpPr>
        <p:spPr>
          <a:xfrm>
            <a:off x="8256747" y="3027045"/>
            <a:ext cx="3765488"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0" i="0" lang="en-US" sz="2100" u="none" cap="none" strike="noStrike">
                <a:solidFill>
                  <a:srgbClr val="E8A317"/>
                </a:solidFill>
                <a:latin typeface="IBM Plex Mono"/>
                <a:ea typeface="IBM Plex Mono"/>
                <a:cs typeface="IBM Plex Mono"/>
                <a:sym typeface="IBM Plex Mono"/>
              </a:rPr>
              <a:t>A · C · G · T</a:t>
            </a:r>
            <a:endParaRPr b="0" i="0" sz="2100" u="none" cap="none" strike="noStrike">
              <a:solidFill>
                <a:schemeClr val="dk1"/>
              </a:solidFill>
              <a:latin typeface="Calibri"/>
              <a:ea typeface="Calibri"/>
              <a:cs typeface="Calibri"/>
              <a:sym typeface="Calibri"/>
            </a:endParaRPr>
          </a:p>
        </p:txBody>
      </p:sp>
      <p:sp>
        <p:nvSpPr>
          <p:cNvPr id="513" name="Google Shape;513;p15"/>
          <p:cNvSpPr/>
          <p:nvPr/>
        </p:nvSpPr>
        <p:spPr>
          <a:xfrm>
            <a:off x="12331660" y="3964305"/>
            <a:ext cx="511814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5"/>
          <p:cNvSpPr/>
          <p:nvPr/>
        </p:nvSpPr>
        <p:spPr>
          <a:xfrm>
            <a:off x="12331660" y="3027045"/>
            <a:ext cx="5271684" cy="78486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Only four symbols — a far smaller alphabet than any human language</a:t>
            </a:r>
            <a:endParaRPr b="0" i="0" sz="2100" u="none" cap="none" strike="noStrike">
              <a:solidFill>
                <a:schemeClr val="dk1"/>
              </a:solidFill>
              <a:latin typeface="Calibri"/>
              <a:ea typeface="Calibri"/>
              <a:cs typeface="Calibri"/>
              <a:sym typeface="Calibri"/>
            </a:endParaRPr>
          </a:p>
        </p:txBody>
      </p:sp>
      <p:sp>
        <p:nvSpPr>
          <p:cNvPr id="515" name="Google Shape;515;p15"/>
          <p:cNvSpPr/>
          <p:nvPr/>
        </p:nvSpPr>
        <p:spPr>
          <a:xfrm>
            <a:off x="838200" y="5099685"/>
            <a:ext cx="3655695"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5"/>
          <p:cNvSpPr/>
          <p:nvPr/>
        </p:nvSpPr>
        <p:spPr>
          <a:xfrm>
            <a:off x="838200" y="4162425"/>
            <a:ext cx="3765366"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A k-mer or motif</a:t>
            </a:r>
            <a:endParaRPr b="0" i="0" sz="2400" u="none" cap="none" strike="noStrike">
              <a:solidFill>
                <a:schemeClr val="dk1"/>
              </a:solidFill>
              <a:latin typeface="Calibri"/>
              <a:ea typeface="Calibri"/>
              <a:cs typeface="Calibri"/>
              <a:sym typeface="Calibri"/>
            </a:endParaRPr>
          </a:p>
        </p:txBody>
      </p:sp>
      <p:sp>
        <p:nvSpPr>
          <p:cNvPr id="517" name="Google Shape;517;p15"/>
          <p:cNvSpPr/>
          <p:nvPr/>
        </p:nvSpPr>
        <p:spPr>
          <a:xfrm>
            <a:off x="4912995" y="5099685"/>
            <a:ext cx="2924651"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5"/>
          <p:cNvSpPr/>
          <p:nvPr/>
        </p:nvSpPr>
        <p:spPr>
          <a:xfrm>
            <a:off x="4912995" y="4162425"/>
            <a:ext cx="3012391"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a word</a:t>
            </a:r>
            <a:endParaRPr b="0" i="0" sz="2100" u="none" cap="none" strike="noStrike">
              <a:solidFill>
                <a:schemeClr val="dk1"/>
              </a:solidFill>
              <a:latin typeface="Calibri"/>
              <a:ea typeface="Calibri"/>
              <a:cs typeface="Calibri"/>
              <a:sym typeface="Calibri"/>
            </a:endParaRPr>
          </a:p>
        </p:txBody>
      </p:sp>
      <p:sp>
        <p:nvSpPr>
          <p:cNvPr id="519" name="Google Shape;519;p15"/>
          <p:cNvSpPr/>
          <p:nvPr/>
        </p:nvSpPr>
        <p:spPr>
          <a:xfrm>
            <a:off x="8256747" y="5099685"/>
            <a:ext cx="3655814"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5"/>
          <p:cNvSpPr/>
          <p:nvPr/>
        </p:nvSpPr>
        <p:spPr>
          <a:xfrm>
            <a:off x="8256747" y="4162425"/>
            <a:ext cx="3765488"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0" i="0" lang="en-US" sz="2100" u="none" cap="none" strike="noStrike">
                <a:solidFill>
                  <a:srgbClr val="E8A317"/>
                </a:solidFill>
                <a:latin typeface="IBM Plex Mono"/>
                <a:ea typeface="IBM Plex Mono"/>
                <a:cs typeface="IBM Plex Mono"/>
                <a:sym typeface="IBM Plex Mono"/>
              </a:rPr>
              <a:t>TATAAA, CCAAT</a:t>
            </a:r>
            <a:endParaRPr b="0" i="0" sz="2100" u="none" cap="none" strike="noStrike">
              <a:solidFill>
                <a:schemeClr val="dk1"/>
              </a:solidFill>
              <a:latin typeface="Calibri"/>
              <a:ea typeface="Calibri"/>
              <a:cs typeface="Calibri"/>
              <a:sym typeface="Calibri"/>
            </a:endParaRPr>
          </a:p>
        </p:txBody>
      </p:sp>
      <p:sp>
        <p:nvSpPr>
          <p:cNvPr id="521" name="Google Shape;521;p15"/>
          <p:cNvSpPr/>
          <p:nvPr/>
        </p:nvSpPr>
        <p:spPr>
          <a:xfrm>
            <a:off x="12331660" y="5099685"/>
            <a:ext cx="511814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5"/>
          <p:cNvSpPr/>
          <p:nvPr/>
        </p:nvSpPr>
        <p:spPr>
          <a:xfrm>
            <a:off x="12331660" y="4162425"/>
            <a:ext cx="5271684" cy="78486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Short patterns that proteins recognise — our smallest useful unit</a:t>
            </a:r>
            <a:endParaRPr b="0" i="0" sz="2100" u="none" cap="none" strike="noStrike">
              <a:solidFill>
                <a:schemeClr val="dk1"/>
              </a:solidFill>
              <a:latin typeface="Calibri"/>
              <a:ea typeface="Calibri"/>
              <a:cs typeface="Calibri"/>
              <a:sym typeface="Calibri"/>
            </a:endParaRPr>
          </a:p>
        </p:txBody>
      </p:sp>
      <p:sp>
        <p:nvSpPr>
          <p:cNvPr id="523" name="Google Shape;523;p15"/>
          <p:cNvSpPr/>
          <p:nvPr/>
        </p:nvSpPr>
        <p:spPr>
          <a:xfrm>
            <a:off x="838200" y="6235065"/>
            <a:ext cx="3655695"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5"/>
          <p:cNvSpPr/>
          <p:nvPr/>
        </p:nvSpPr>
        <p:spPr>
          <a:xfrm>
            <a:off x="838200" y="5297805"/>
            <a:ext cx="3765366"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A promoter or enhancer</a:t>
            </a:r>
            <a:endParaRPr b="0" i="0" sz="2400" u="none" cap="none" strike="noStrike">
              <a:solidFill>
                <a:schemeClr val="dk1"/>
              </a:solidFill>
              <a:latin typeface="Calibri"/>
              <a:ea typeface="Calibri"/>
              <a:cs typeface="Calibri"/>
              <a:sym typeface="Calibri"/>
            </a:endParaRPr>
          </a:p>
        </p:txBody>
      </p:sp>
      <p:sp>
        <p:nvSpPr>
          <p:cNvPr id="525" name="Google Shape;525;p15"/>
          <p:cNvSpPr/>
          <p:nvPr/>
        </p:nvSpPr>
        <p:spPr>
          <a:xfrm>
            <a:off x="4912995" y="6235065"/>
            <a:ext cx="2924651"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5"/>
          <p:cNvSpPr/>
          <p:nvPr/>
        </p:nvSpPr>
        <p:spPr>
          <a:xfrm>
            <a:off x="4912995" y="5297805"/>
            <a:ext cx="3012391"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a phrase</a:t>
            </a:r>
            <a:endParaRPr b="0" i="0" sz="2100" u="none" cap="none" strike="noStrike">
              <a:solidFill>
                <a:schemeClr val="dk1"/>
              </a:solidFill>
              <a:latin typeface="Calibri"/>
              <a:ea typeface="Calibri"/>
              <a:cs typeface="Calibri"/>
              <a:sym typeface="Calibri"/>
            </a:endParaRPr>
          </a:p>
        </p:txBody>
      </p:sp>
      <p:sp>
        <p:nvSpPr>
          <p:cNvPr id="527" name="Google Shape;527;p15"/>
          <p:cNvSpPr/>
          <p:nvPr/>
        </p:nvSpPr>
        <p:spPr>
          <a:xfrm>
            <a:off x="8256747" y="6235065"/>
            <a:ext cx="3655814"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5"/>
          <p:cNvSpPr/>
          <p:nvPr/>
        </p:nvSpPr>
        <p:spPr>
          <a:xfrm>
            <a:off x="8256747" y="5297805"/>
            <a:ext cx="3765488"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0" i="0" lang="en-US" sz="2100" u="none" cap="none" strike="noStrike">
                <a:solidFill>
                  <a:srgbClr val="E8A317"/>
                </a:solidFill>
                <a:latin typeface="IBM Plex Mono"/>
                <a:ea typeface="IBM Plex Mono"/>
                <a:cs typeface="IBM Plex Mono"/>
                <a:sym typeface="IBM Plex Mono"/>
              </a:rPr>
              <a:t>a switch for one gene</a:t>
            </a:r>
            <a:endParaRPr b="0" i="0" sz="2100" u="none" cap="none" strike="noStrike">
              <a:solidFill>
                <a:schemeClr val="dk1"/>
              </a:solidFill>
              <a:latin typeface="Calibri"/>
              <a:ea typeface="Calibri"/>
              <a:cs typeface="Calibri"/>
              <a:sym typeface="Calibri"/>
            </a:endParaRPr>
          </a:p>
        </p:txBody>
      </p:sp>
      <p:sp>
        <p:nvSpPr>
          <p:cNvPr id="529" name="Google Shape;529;p15"/>
          <p:cNvSpPr/>
          <p:nvPr/>
        </p:nvSpPr>
        <p:spPr>
          <a:xfrm>
            <a:off x="12331660" y="6235065"/>
            <a:ext cx="511814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5"/>
          <p:cNvSpPr/>
          <p:nvPr/>
        </p:nvSpPr>
        <p:spPr>
          <a:xfrm>
            <a:off x="12331660" y="5297805"/>
            <a:ext cx="5271684" cy="78486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Several words together do the job — this is the level we classify</a:t>
            </a:r>
            <a:endParaRPr b="0" i="0" sz="2100" u="none" cap="none" strike="noStrike">
              <a:solidFill>
                <a:schemeClr val="dk1"/>
              </a:solidFill>
              <a:latin typeface="Calibri"/>
              <a:ea typeface="Calibri"/>
              <a:cs typeface="Calibri"/>
              <a:sym typeface="Calibri"/>
            </a:endParaRPr>
          </a:p>
        </p:txBody>
      </p:sp>
      <p:sp>
        <p:nvSpPr>
          <p:cNvPr id="531" name="Google Shape;531;p15"/>
          <p:cNvSpPr/>
          <p:nvPr/>
        </p:nvSpPr>
        <p:spPr>
          <a:xfrm>
            <a:off x="838200" y="6433185"/>
            <a:ext cx="3765366"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A genome</a:t>
            </a:r>
            <a:endParaRPr b="0" i="0" sz="2400" u="none" cap="none" strike="noStrike">
              <a:solidFill>
                <a:schemeClr val="dk1"/>
              </a:solidFill>
              <a:latin typeface="Calibri"/>
              <a:ea typeface="Calibri"/>
              <a:cs typeface="Calibri"/>
              <a:sym typeface="Calibri"/>
            </a:endParaRPr>
          </a:p>
        </p:txBody>
      </p:sp>
      <p:sp>
        <p:nvSpPr>
          <p:cNvPr id="532" name="Google Shape;532;p15"/>
          <p:cNvSpPr/>
          <p:nvPr/>
        </p:nvSpPr>
        <p:spPr>
          <a:xfrm>
            <a:off x="4912995" y="6433185"/>
            <a:ext cx="3012391"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a book</a:t>
            </a:r>
            <a:endParaRPr b="0" i="0" sz="2100" u="none" cap="none" strike="noStrike">
              <a:solidFill>
                <a:schemeClr val="dk1"/>
              </a:solidFill>
              <a:latin typeface="Calibri"/>
              <a:ea typeface="Calibri"/>
              <a:cs typeface="Calibri"/>
              <a:sym typeface="Calibri"/>
            </a:endParaRPr>
          </a:p>
        </p:txBody>
      </p:sp>
      <p:sp>
        <p:nvSpPr>
          <p:cNvPr id="533" name="Google Shape;533;p15"/>
          <p:cNvSpPr/>
          <p:nvPr/>
        </p:nvSpPr>
        <p:spPr>
          <a:xfrm>
            <a:off x="8256747" y="6433185"/>
            <a:ext cx="3765488" cy="784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0" i="0" lang="en-US" sz="2100" u="none" cap="none" strike="noStrike">
                <a:solidFill>
                  <a:srgbClr val="E8A317"/>
                </a:solidFill>
                <a:latin typeface="IBM Plex Mono"/>
                <a:ea typeface="IBM Plex Mono"/>
                <a:cs typeface="IBM Plex Mono"/>
                <a:sym typeface="IBM Plex Mono"/>
              </a:rPr>
              <a:t>3.2 billion letters</a:t>
            </a:r>
            <a:endParaRPr b="0" i="0" sz="2100" u="none" cap="none" strike="noStrike">
              <a:solidFill>
                <a:schemeClr val="dk1"/>
              </a:solidFill>
              <a:latin typeface="Calibri"/>
              <a:ea typeface="Calibri"/>
              <a:cs typeface="Calibri"/>
              <a:sym typeface="Calibri"/>
            </a:endParaRPr>
          </a:p>
        </p:txBody>
      </p:sp>
      <p:sp>
        <p:nvSpPr>
          <p:cNvPr id="534" name="Google Shape;534;p15"/>
          <p:cNvSpPr/>
          <p:nvPr/>
        </p:nvSpPr>
        <p:spPr>
          <a:xfrm>
            <a:off x="12331660" y="6433185"/>
            <a:ext cx="5271684" cy="78486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Vast, unlabelled text — perfect material for a model to learn from</a:t>
            </a:r>
            <a:endParaRPr b="0" i="0" sz="2100" u="none" cap="none" strike="noStrike">
              <a:solidFill>
                <a:schemeClr val="dk1"/>
              </a:solidFill>
              <a:latin typeface="Calibri"/>
              <a:ea typeface="Calibri"/>
              <a:cs typeface="Calibri"/>
              <a:sym typeface="Calibri"/>
            </a:endParaRPr>
          </a:p>
        </p:txBody>
      </p:sp>
      <p:sp>
        <p:nvSpPr>
          <p:cNvPr id="535" name="Google Shape;535;p15"/>
          <p:cNvSpPr/>
          <p:nvPr/>
        </p:nvSpPr>
        <p:spPr>
          <a:xfrm>
            <a:off x="838200" y="7581900"/>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5"/>
          <p:cNvSpPr/>
          <p:nvPr/>
        </p:nvSpPr>
        <p:spPr>
          <a:xfrm>
            <a:off x="838200" y="784479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WHERE THE ANALOGY BREAKS</a:t>
            </a:r>
            <a:endParaRPr b="0" i="0" sz="1800" u="none" cap="none" strike="noStrike">
              <a:solidFill>
                <a:schemeClr val="dk1"/>
              </a:solidFill>
              <a:latin typeface="Calibri"/>
              <a:ea typeface="Calibri"/>
              <a:cs typeface="Calibri"/>
              <a:sym typeface="Calibri"/>
            </a:endParaRPr>
          </a:p>
        </p:txBody>
      </p:sp>
      <p:sp>
        <p:nvSpPr>
          <p:cNvPr id="537" name="Google Shape;537;p15"/>
          <p:cNvSpPr/>
          <p:nvPr/>
        </p:nvSpPr>
        <p:spPr>
          <a:xfrm>
            <a:off x="838200" y="8256270"/>
            <a:ext cx="578358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Helvetica Neue"/>
              <a:buNone/>
            </a:pPr>
            <a:r>
              <a:rPr b="1" i="0" lang="en-US" sz="2250" u="none" cap="none" strike="noStrike">
                <a:solidFill>
                  <a:srgbClr val="1C2A44"/>
                </a:solidFill>
                <a:latin typeface="Helvetica Neue"/>
                <a:ea typeface="Helvetica Neue"/>
                <a:cs typeface="Helvetica Neue"/>
                <a:sym typeface="Helvetica Neue"/>
              </a:rPr>
              <a:t>No spaces</a:t>
            </a:r>
            <a:endParaRPr b="0" i="0" sz="2250" u="none" cap="none" strike="noStrike">
              <a:solidFill>
                <a:schemeClr val="dk1"/>
              </a:solidFill>
              <a:latin typeface="Calibri"/>
              <a:ea typeface="Calibri"/>
              <a:cs typeface="Calibri"/>
              <a:sym typeface="Calibri"/>
            </a:endParaRPr>
          </a:p>
        </p:txBody>
      </p:sp>
      <p:sp>
        <p:nvSpPr>
          <p:cNvPr id="538" name="Google Shape;538;p15"/>
          <p:cNvSpPr/>
          <p:nvPr/>
        </p:nvSpPr>
        <p:spPr>
          <a:xfrm>
            <a:off x="838200" y="8660130"/>
            <a:ext cx="5415534"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Nothing in the sequence tells you where one word ends and the next begins.</a:t>
            </a:r>
            <a:endParaRPr b="0" i="0" sz="1950" u="none" cap="none" strike="noStrike">
              <a:solidFill>
                <a:schemeClr val="dk1"/>
              </a:solidFill>
              <a:latin typeface="Calibri"/>
              <a:ea typeface="Calibri"/>
              <a:cs typeface="Calibri"/>
              <a:sym typeface="Calibri"/>
            </a:endParaRPr>
          </a:p>
        </p:txBody>
      </p:sp>
      <p:sp>
        <p:nvSpPr>
          <p:cNvPr id="539" name="Google Shape;539;p15"/>
          <p:cNvSpPr/>
          <p:nvPr/>
        </p:nvSpPr>
        <p:spPr>
          <a:xfrm>
            <a:off x="6515100" y="8256270"/>
            <a:ext cx="578358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Helvetica Neue"/>
              <a:buNone/>
            </a:pPr>
            <a:r>
              <a:rPr b="1" i="0" lang="en-US" sz="2250" u="none" cap="none" strike="noStrike">
                <a:solidFill>
                  <a:srgbClr val="1C2A44"/>
                </a:solidFill>
                <a:latin typeface="Helvetica Neue"/>
                <a:ea typeface="Helvetica Neue"/>
                <a:cs typeface="Helvetica Neue"/>
                <a:sym typeface="Helvetica Neue"/>
              </a:rPr>
              <a:t>No dictionary</a:t>
            </a:r>
            <a:endParaRPr b="0" i="0" sz="2250" u="none" cap="none" strike="noStrike">
              <a:solidFill>
                <a:schemeClr val="dk1"/>
              </a:solidFill>
              <a:latin typeface="Calibri"/>
              <a:ea typeface="Calibri"/>
              <a:cs typeface="Calibri"/>
              <a:sym typeface="Calibri"/>
            </a:endParaRPr>
          </a:p>
        </p:txBody>
      </p:sp>
      <p:sp>
        <p:nvSpPr>
          <p:cNvPr id="540" name="Google Shape;540;p15"/>
          <p:cNvSpPr/>
          <p:nvPr/>
        </p:nvSpPr>
        <p:spPr>
          <a:xfrm>
            <a:off x="6515100" y="8660130"/>
            <a:ext cx="5415534"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Nobody can hand the model a list of valid DNA words to look up.</a:t>
            </a:r>
            <a:endParaRPr b="0" i="0" sz="1950" u="none" cap="none" strike="noStrike">
              <a:solidFill>
                <a:schemeClr val="dk1"/>
              </a:solidFill>
              <a:latin typeface="Calibri"/>
              <a:ea typeface="Calibri"/>
              <a:cs typeface="Calibri"/>
              <a:sym typeface="Calibri"/>
            </a:endParaRPr>
          </a:p>
        </p:txBody>
      </p:sp>
      <p:sp>
        <p:nvSpPr>
          <p:cNvPr id="541" name="Google Shape;541;p15"/>
          <p:cNvSpPr/>
          <p:nvPr/>
        </p:nvSpPr>
        <p:spPr>
          <a:xfrm>
            <a:off x="12192000" y="8256270"/>
            <a:ext cx="578358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Helvetica Neue"/>
              <a:buNone/>
            </a:pPr>
            <a:r>
              <a:rPr b="1" i="0" lang="en-US" sz="2250" u="none" cap="none" strike="noStrike">
                <a:solidFill>
                  <a:srgbClr val="1C2A44"/>
                </a:solidFill>
                <a:latin typeface="Helvetica Neue"/>
                <a:ea typeface="Helvetica Neue"/>
                <a:cs typeface="Helvetica Neue"/>
                <a:sym typeface="Helvetica Neue"/>
              </a:rPr>
              <a:t>Both strands read</a:t>
            </a:r>
            <a:endParaRPr b="0" i="0" sz="2250" u="none" cap="none" strike="noStrike">
              <a:solidFill>
                <a:schemeClr val="dk1"/>
              </a:solidFill>
              <a:latin typeface="Calibri"/>
              <a:ea typeface="Calibri"/>
              <a:cs typeface="Calibri"/>
              <a:sym typeface="Calibri"/>
            </a:endParaRPr>
          </a:p>
        </p:txBody>
      </p:sp>
      <p:sp>
        <p:nvSpPr>
          <p:cNvPr id="542" name="Google Shape;542;p15"/>
          <p:cNvSpPr/>
          <p:nvPr/>
        </p:nvSpPr>
        <p:spPr>
          <a:xfrm>
            <a:off x="12192000" y="8660130"/>
            <a:ext cx="5415534"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The same region can be read in either direction, unlike a sentence.</a:t>
            </a:r>
            <a:endParaRPr b="0" i="0" sz="1950" u="none" cap="none" strike="noStrike">
              <a:solidFill>
                <a:schemeClr val="dk1"/>
              </a:solidFill>
              <a:latin typeface="Calibri"/>
              <a:ea typeface="Calibri"/>
              <a:cs typeface="Calibri"/>
              <a:sym typeface="Calibri"/>
            </a:endParaRPr>
          </a:p>
        </p:txBody>
      </p:sp>
      <p:sp>
        <p:nvSpPr>
          <p:cNvPr id="543" name="Google Shape;543;p15"/>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5"/>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545" name="Google Shape;545;p15"/>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546" name="Google Shape;546;p15"/>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15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1" name="Shape 551"/>
        <p:cNvGrpSpPr/>
        <p:nvPr/>
      </p:nvGrpSpPr>
      <p:grpSpPr>
        <a:xfrm>
          <a:off x="0" y="0"/>
          <a:ext cx="0" cy="0"/>
          <a:chOff x="0" y="0"/>
          <a:chExt cx="0" cy="0"/>
        </a:xfrm>
      </p:grpSpPr>
      <p:sp>
        <p:nvSpPr>
          <p:cNvPr id="552" name="Google Shape;552;p16"/>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6"/>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554" name="Google Shape;554;p16"/>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555" name="Google Shape;555;p16"/>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03 · DNA AS A LANGUAGE · WORKED EXAMPLE</a:t>
            </a:r>
            <a:endParaRPr b="0" i="0" sz="1800" u="none" cap="none" strike="noStrike">
              <a:solidFill>
                <a:schemeClr val="dk1"/>
              </a:solidFill>
              <a:latin typeface="Calibri"/>
              <a:ea typeface="Calibri"/>
              <a:cs typeface="Calibri"/>
              <a:sym typeface="Calibri"/>
            </a:endParaRPr>
          </a:p>
        </p:txBody>
      </p:sp>
      <p:sp>
        <p:nvSpPr>
          <p:cNvPr id="556" name="Google Shape;556;p16"/>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Turning letters into numbers</a:t>
            </a:r>
            <a:endParaRPr b="0" i="0" sz="4500" u="none" cap="none" strike="noStrike">
              <a:solidFill>
                <a:schemeClr val="dk1"/>
              </a:solidFill>
              <a:latin typeface="Calibri"/>
              <a:ea typeface="Calibri"/>
              <a:cs typeface="Calibri"/>
              <a:sym typeface="Calibri"/>
            </a:endParaRPr>
          </a:p>
        </p:txBody>
      </p:sp>
      <p:sp>
        <p:nvSpPr>
          <p:cNvPr id="557" name="Google Shape;557;p16"/>
          <p:cNvSpPr/>
          <p:nvPr/>
        </p:nvSpPr>
        <p:spPr>
          <a:xfrm>
            <a:off x="838200" y="2314575"/>
            <a:ext cx="14912340" cy="866775"/>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A classifier only accepts numbers, never letters. The simplest honest way to get them: count every three-letter word in the window.</a:t>
            </a:r>
            <a:endParaRPr b="0" i="0" sz="2250" u="none" cap="none" strike="noStrike">
              <a:solidFill>
                <a:schemeClr val="dk1"/>
              </a:solidFill>
              <a:latin typeface="Calibri"/>
              <a:ea typeface="Calibri"/>
              <a:cs typeface="Calibri"/>
              <a:sym typeface="Calibri"/>
            </a:endParaRPr>
          </a:p>
        </p:txBody>
      </p:sp>
      <p:sp>
        <p:nvSpPr>
          <p:cNvPr id="558" name="Google Shape;558;p16"/>
          <p:cNvSpPr/>
          <p:nvPr/>
        </p:nvSpPr>
        <p:spPr>
          <a:xfrm>
            <a:off x="838200" y="3486150"/>
            <a:ext cx="982553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STEP 1 — SLIDE A WINDOW OF THREE ALONG THE SEQUENCE</a:t>
            </a:r>
            <a:endParaRPr b="0" i="0" sz="1800" u="none" cap="none" strike="noStrike">
              <a:solidFill>
                <a:schemeClr val="dk1"/>
              </a:solidFill>
              <a:latin typeface="Calibri"/>
              <a:ea typeface="Calibri"/>
              <a:cs typeface="Calibri"/>
              <a:sym typeface="Calibri"/>
            </a:endParaRPr>
          </a:p>
        </p:txBody>
      </p:sp>
      <p:sp>
        <p:nvSpPr>
          <p:cNvPr id="559" name="Google Shape;559;p16"/>
          <p:cNvSpPr/>
          <p:nvPr/>
        </p:nvSpPr>
        <p:spPr>
          <a:xfrm>
            <a:off x="838200" y="3897630"/>
            <a:ext cx="9825538" cy="5791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3300"/>
              <a:buFont typeface="IBM Plex Mono"/>
              <a:buNone/>
            </a:pPr>
            <a:r>
              <a:rPr b="0" i="0" lang="en-US" sz="3300" u="none" cap="none" strike="noStrike">
                <a:solidFill>
                  <a:srgbClr val="1C2A44"/>
                </a:solidFill>
                <a:latin typeface="IBM Plex Mono"/>
                <a:ea typeface="IBM Plex Mono"/>
                <a:cs typeface="IBM Plex Mono"/>
                <a:sym typeface="IBM Plex Mono"/>
              </a:rPr>
              <a:t>ACGTTACGGTAC</a:t>
            </a:r>
            <a:endParaRPr b="0" i="0" sz="3300" u="none" cap="none" strike="noStrike">
              <a:solidFill>
                <a:schemeClr val="dk1"/>
              </a:solidFill>
              <a:latin typeface="Calibri"/>
              <a:ea typeface="Calibri"/>
              <a:cs typeface="Calibri"/>
              <a:sym typeface="Calibri"/>
            </a:endParaRPr>
          </a:p>
        </p:txBody>
      </p:sp>
      <p:sp>
        <p:nvSpPr>
          <p:cNvPr id="560" name="Google Shape;560;p16"/>
          <p:cNvSpPr/>
          <p:nvPr/>
        </p:nvSpPr>
        <p:spPr>
          <a:xfrm>
            <a:off x="838200" y="4629150"/>
            <a:ext cx="712470" cy="51054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6"/>
          <p:cNvSpPr/>
          <p:nvPr/>
        </p:nvSpPr>
        <p:spPr>
          <a:xfrm>
            <a:off x="971550" y="4724400"/>
            <a:ext cx="52197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IBM Plex Mono"/>
              <a:buNone/>
            </a:pPr>
            <a:r>
              <a:rPr b="1" i="0" lang="en-US" sz="1950" u="none" cap="none" strike="noStrike">
                <a:solidFill>
                  <a:srgbClr val="1C2A44"/>
                </a:solidFill>
                <a:latin typeface="IBM Plex Mono"/>
                <a:ea typeface="IBM Plex Mono"/>
                <a:cs typeface="IBM Plex Mono"/>
                <a:sym typeface="IBM Plex Mono"/>
              </a:rPr>
              <a:t>ACG</a:t>
            </a:r>
            <a:endParaRPr b="0" i="0" sz="1950" u="none" cap="none" strike="noStrike">
              <a:solidFill>
                <a:schemeClr val="dk1"/>
              </a:solidFill>
              <a:latin typeface="Calibri"/>
              <a:ea typeface="Calibri"/>
              <a:cs typeface="Calibri"/>
              <a:sym typeface="Calibri"/>
            </a:endParaRPr>
          </a:p>
        </p:txBody>
      </p:sp>
      <p:sp>
        <p:nvSpPr>
          <p:cNvPr id="562" name="Google Shape;562;p16"/>
          <p:cNvSpPr/>
          <p:nvPr/>
        </p:nvSpPr>
        <p:spPr>
          <a:xfrm>
            <a:off x="1645920" y="4629150"/>
            <a:ext cx="712470" cy="51054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6"/>
          <p:cNvSpPr/>
          <p:nvPr/>
        </p:nvSpPr>
        <p:spPr>
          <a:xfrm>
            <a:off x="1779270" y="4724400"/>
            <a:ext cx="52197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IBM Plex Mono"/>
              <a:buNone/>
            </a:pPr>
            <a:r>
              <a:rPr b="0" i="0" lang="en-US" sz="1950" u="none" cap="none" strike="noStrike">
                <a:solidFill>
                  <a:srgbClr val="1C2A44"/>
                </a:solidFill>
                <a:latin typeface="IBM Plex Mono"/>
                <a:ea typeface="IBM Plex Mono"/>
                <a:cs typeface="IBM Plex Mono"/>
                <a:sym typeface="IBM Plex Mono"/>
              </a:rPr>
              <a:t>CGT</a:t>
            </a:r>
            <a:endParaRPr b="0" i="0" sz="1950" u="none" cap="none" strike="noStrike">
              <a:solidFill>
                <a:schemeClr val="dk1"/>
              </a:solidFill>
              <a:latin typeface="Calibri"/>
              <a:ea typeface="Calibri"/>
              <a:cs typeface="Calibri"/>
              <a:sym typeface="Calibri"/>
            </a:endParaRPr>
          </a:p>
        </p:txBody>
      </p:sp>
      <p:sp>
        <p:nvSpPr>
          <p:cNvPr id="564" name="Google Shape;564;p16"/>
          <p:cNvSpPr/>
          <p:nvPr/>
        </p:nvSpPr>
        <p:spPr>
          <a:xfrm>
            <a:off x="2453640" y="4629150"/>
            <a:ext cx="712470" cy="51054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6"/>
          <p:cNvSpPr/>
          <p:nvPr/>
        </p:nvSpPr>
        <p:spPr>
          <a:xfrm>
            <a:off x="2586990" y="4724400"/>
            <a:ext cx="52197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IBM Plex Mono"/>
              <a:buNone/>
            </a:pPr>
            <a:r>
              <a:rPr b="0" i="0" lang="en-US" sz="1950" u="none" cap="none" strike="noStrike">
                <a:solidFill>
                  <a:srgbClr val="1C2A44"/>
                </a:solidFill>
                <a:latin typeface="IBM Plex Mono"/>
                <a:ea typeface="IBM Plex Mono"/>
                <a:cs typeface="IBM Plex Mono"/>
                <a:sym typeface="IBM Plex Mono"/>
              </a:rPr>
              <a:t>GTT</a:t>
            </a:r>
            <a:endParaRPr b="0" i="0" sz="1950" u="none" cap="none" strike="noStrike">
              <a:solidFill>
                <a:schemeClr val="dk1"/>
              </a:solidFill>
              <a:latin typeface="Calibri"/>
              <a:ea typeface="Calibri"/>
              <a:cs typeface="Calibri"/>
              <a:sym typeface="Calibri"/>
            </a:endParaRPr>
          </a:p>
        </p:txBody>
      </p:sp>
      <p:sp>
        <p:nvSpPr>
          <p:cNvPr id="566" name="Google Shape;566;p16"/>
          <p:cNvSpPr/>
          <p:nvPr/>
        </p:nvSpPr>
        <p:spPr>
          <a:xfrm>
            <a:off x="3261360" y="4629150"/>
            <a:ext cx="712470" cy="51054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6"/>
          <p:cNvSpPr/>
          <p:nvPr/>
        </p:nvSpPr>
        <p:spPr>
          <a:xfrm>
            <a:off x="3394710" y="4724400"/>
            <a:ext cx="52197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IBM Plex Mono"/>
              <a:buNone/>
            </a:pPr>
            <a:r>
              <a:rPr b="0" i="0" lang="en-US" sz="1950" u="none" cap="none" strike="noStrike">
                <a:solidFill>
                  <a:srgbClr val="1C2A44"/>
                </a:solidFill>
                <a:latin typeface="IBM Plex Mono"/>
                <a:ea typeface="IBM Plex Mono"/>
                <a:cs typeface="IBM Plex Mono"/>
                <a:sym typeface="IBM Plex Mono"/>
              </a:rPr>
              <a:t>TTA</a:t>
            </a:r>
            <a:endParaRPr b="0" i="0" sz="1950" u="none" cap="none" strike="noStrike">
              <a:solidFill>
                <a:schemeClr val="dk1"/>
              </a:solidFill>
              <a:latin typeface="Calibri"/>
              <a:ea typeface="Calibri"/>
              <a:cs typeface="Calibri"/>
              <a:sym typeface="Calibri"/>
            </a:endParaRPr>
          </a:p>
        </p:txBody>
      </p:sp>
      <p:sp>
        <p:nvSpPr>
          <p:cNvPr id="568" name="Google Shape;568;p16"/>
          <p:cNvSpPr/>
          <p:nvPr/>
        </p:nvSpPr>
        <p:spPr>
          <a:xfrm>
            <a:off x="4069080" y="4629150"/>
            <a:ext cx="712470" cy="510540"/>
          </a:xfrm>
          <a:prstGeom prst="rect">
            <a:avLst/>
          </a:prstGeom>
          <a:solidFill>
            <a:srgbClr val="F2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6"/>
          <p:cNvSpPr/>
          <p:nvPr/>
        </p:nvSpPr>
        <p:spPr>
          <a:xfrm>
            <a:off x="4202430" y="4724400"/>
            <a:ext cx="52197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IBM Plex Mono"/>
              <a:buNone/>
            </a:pPr>
            <a:r>
              <a:rPr b="0" i="0" lang="en-US" sz="1950" u="none" cap="none" strike="noStrike">
                <a:solidFill>
                  <a:srgbClr val="1C2A44"/>
                </a:solidFill>
                <a:latin typeface="IBM Plex Mono"/>
                <a:ea typeface="IBM Plex Mono"/>
                <a:cs typeface="IBM Plex Mono"/>
                <a:sym typeface="IBM Plex Mono"/>
              </a:rPr>
              <a:t>TAC</a:t>
            </a:r>
            <a:endParaRPr b="0" i="0" sz="1950" u="none" cap="none" strike="noStrike">
              <a:solidFill>
                <a:schemeClr val="dk1"/>
              </a:solidFill>
              <a:latin typeface="Calibri"/>
              <a:ea typeface="Calibri"/>
              <a:cs typeface="Calibri"/>
              <a:sym typeface="Calibri"/>
            </a:endParaRPr>
          </a:p>
        </p:txBody>
      </p:sp>
      <p:sp>
        <p:nvSpPr>
          <p:cNvPr id="570" name="Google Shape;570;p16"/>
          <p:cNvSpPr/>
          <p:nvPr/>
        </p:nvSpPr>
        <p:spPr>
          <a:xfrm>
            <a:off x="4876800" y="4629150"/>
            <a:ext cx="712470" cy="51054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6"/>
          <p:cNvSpPr/>
          <p:nvPr/>
        </p:nvSpPr>
        <p:spPr>
          <a:xfrm>
            <a:off x="5010150" y="4724400"/>
            <a:ext cx="52197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IBM Plex Mono"/>
              <a:buNone/>
            </a:pPr>
            <a:r>
              <a:rPr b="1" i="0" lang="en-US" sz="1950" u="none" cap="none" strike="noStrike">
                <a:solidFill>
                  <a:srgbClr val="1C2A44"/>
                </a:solidFill>
                <a:latin typeface="IBM Plex Mono"/>
                <a:ea typeface="IBM Plex Mono"/>
                <a:cs typeface="IBM Plex Mono"/>
                <a:sym typeface="IBM Plex Mono"/>
              </a:rPr>
              <a:t>ACG</a:t>
            </a:r>
            <a:endParaRPr b="0" i="0" sz="1950" u="none" cap="none" strike="noStrike">
              <a:solidFill>
                <a:schemeClr val="dk1"/>
              </a:solidFill>
              <a:latin typeface="Calibri"/>
              <a:ea typeface="Calibri"/>
              <a:cs typeface="Calibri"/>
              <a:sym typeface="Calibri"/>
            </a:endParaRPr>
          </a:p>
        </p:txBody>
      </p:sp>
      <p:sp>
        <p:nvSpPr>
          <p:cNvPr id="572" name="Google Shape;572;p16"/>
          <p:cNvSpPr/>
          <p:nvPr/>
        </p:nvSpPr>
        <p:spPr>
          <a:xfrm>
            <a:off x="5684520" y="4629150"/>
            <a:ext cx="712470" cy="51054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6"/>
          <p:cNvSpPr/>
          <p:nvPr/>
        </p:nvSpPr>
        <p:spPr>
          <a:xfrm>
            <a:off x="5817870" y="4724400"/>
            <a:ext cx="52197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IBM Plex Mono"/>
              <a:buNone/>
            </a:pPr>
            <a:r>
              <a:rPr b="0" i="0" lang="en-US" sz="1950" u="none" cap="none" strike="noStrike">
                <a:solidFill>
                  <a:srgbClr val="1C2A44"/>
                </a:solidFill>
                <a:latin typeface="IBM Plex Mono"/>
                <a:ea typeface="IBM Plex Mono"/>
                <a:cs typeface="IBM Plex Mono"/>
                <a:sym typeface="IBM Plex Mono"/>
              </a:rPr>
              <a:t>CGG</a:t>
            </a:r>
            <a:endParaRPr b="0" i="0" sz="1950" u="none" cap="none" strike="noStrike">
              <a:solidFill>
                <a:schemeClr val="dk1"/>
              </a:solidFill>
              <a:latin typeface="Calibri"/>
              <a:ea typeface="Calibri"/>
              <a:cs typeface="Calibri"/>
              <a:sym typeface="Calibri"/>
            </a:endParaRPr>
          </a:p>
        </p:txBody>
      </p:sp>
      <p:sp>
        <p:nvSpPr>
          <p:cNvPr id="574" name="Google Shape;574;p16"/>
          <p:cNvSpPr/>
          <p:nvPr/>
        </p:nvSpPr>
        <p:spPr>
          <a:xfrm>
            <a:off x="6492240" y="4629150"/>
            <a:ext cx="712470" cy="51054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6"/>
          <p:cNvSpPr/>
          <p:nvPr/>
        </p:nvSpPr>
        <p:spPr>
          <a:xfrm>
            <a:off x="6625590" y="4724400"/>
            <a:ext cx="52197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IBM Plex Mono"/>
              <a:buNone/>
            </a:pPr>
            <a:r>
              <a:rPr b="0" i="0" lang="en-US" sz="1950" u="none" cap="none" strike="noStrike">
                <a:solidFill>
                  <a:srgbClr val="1C2A44"/>
                </a:solidFill>
                <a:latin typeface="IBM Plex Mono"/>
                <a:ea typeface="IBM Plex Mono"/>
                <a:cs typeface="IBM Plex Mono"/>
                <a:sym typeface="IBM Plex Mono"/>
              </a:rPr>
              <a:t>GGT</a:t>
            </a:r>
            <a:endParaRPr b="0" i="0" sz="1950" u="none" cap="none" strike="noStrike">
              <a:solidFill>
                <a:schemeClr val="dk1"/>
              </a:solidFill>
              <a:latin typeface="Calibri"/>
              <a:ea typeface="Calibri"/>
              <a:cs typeface="Calibri"/>
              <a:sym typeface="Calibri"/>
            </a:endParaRPr>
          </a:p>
        </p:txBody>
      </p:sp>
      <p:sp>
        <p:nvSpPr>
          <p:cNvPr id="576" name="Google Shape;576;p16"/>
          <p:cNvSpPr/>
          <p:nvPr/>
        </p:nvSpPr>
        <p:spPr>
          <a:xfrm>
            <a:off x="7299960" y="4629150"/>
            <a:ext cx="712470" cy="51054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6"/>
          <p:cNvSpPr/>
          <p:nvPr/>
        </p:nvSpPr>
        <p:spPr>
          <a:xfrm>
            <a:off x="7433310" y="4724400"/>
            <a:ext cx="52197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IBM Plex Mono"/>
              <a:buNone/>
            </a:pPr>
            <a:r>
              <a:rPr b="0" i="0" lang="en-US" sz="1950" u="none" cap="none" strike="noStrike">
                <a:solidFill>
                  <a:srgbClr val="1C2A44"/>
                </a:solidFill>
                <a:latin typeface="IBM Plex Mono"/>
                <a:ea typeface="IBM Plex Mono"/>
                <a:cs typeface="IBM Plex Mono"/>
                <a:sym typeface="IBM Plex Mono"/>
              </a:rPr>
              <a:t>GTA</a:t>
            </a:r>
            <a:endParaRPr b="0" i="0" sz="1950" u="none" cap="none" strike="noStrike">
              <a:solidFill>
                <a:schemeClr val="dk1"/>
              </a:solidFill>
              <a:latin typeface="Calibri"/>
              <a:ea typeface="Calibri"/>
              <a:cs typeface="Calibri"/>
              <a:sym typeface="Calibri"/>
            </a:endParaRPr>
          </a:p>
        </p:txBody>
      </p:sp>
      <p:sp>
        <p:nvSpPr>
          <p:cNvPr id="578" name="Google Shape;578;p16"/>
          <p:cNvSpPr/>
          <p:nvPr/>
        </p:nvSpPr>
        <p:spPr>
          <a:xfrm>
            <a:off x="8107680" y="4629150"/>
            <a:ext cx="712470" cy="510540"/>
          </a:xfrm>
          <a:prstGeom prst="rect">
            <a:avLst/>
          </a:prstGeom>
          <a:solidFill>
            <a:srgbClr val="F2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6"/>
          <p:cNvSpPr/>
          <p:nvPr/>
        </p:nvSpPr>
        <p:spPr>
          <a:xfrm>
            <a:off x="8241030" y="4724400"/>
            <a:ext cx="52197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IBM Plex Mono"/>
              <a:buNone/>
            </a:pPr>
            <a:r>
              <a:rPr b="0" i="0" lang="en-US" sz="1950" u="none" cap="none" strike="noStrike">
                <a:solidFill>
                  <a:srgbClr val="1C2A44"/>
                </a:solidFill>
                <a:latin typeface="IBM Plex Mono"/>
                <a:ea typeface="IBM Plex Mono"/>
                <a:cs typeface="IBM Plex Mono"/>
                <a:sym typeface="IBM Plex Mono"/>
              </a:rPr>
              <a:t>TAC</a:t>
            </a:r>
            <a:endParaRPr b="0" i="0" sz="1950" u="none" cap="none" strike="noStrike">
              <a:solidFill>
                <a:schemeClr val="dk1"/>
              </a:solidFill>
              <a:latin typeface="Calibri"/>
              <a:ea typeface="Calibri"/>
              <a:cs typeface="Calibri"/>
              <a:sym typeface="Calibri"/>
            </a:endParaRPr>
          </a:p>
        </p:txBody>
      </p:sp>
      <p:sp>
        <p:nvSpPr>
          <p:cNvPr id="580" name="Google Shape;580;p16"/>
          <p:cNvSpPr/>
          <p:nvPr/>
        </p:nvSpPr>
        <p:spPr>
          <a:xfrm>
            <a:off x="838200" y="5311140"/>
            <a:ext cx="9825538" cy="38481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12 bases give 10 overlapping 3-mers. Two of them repeat: ACG twice, TAC twice.</a:t>
            </a:r>
            <a:endParaRPr b="0" i="0" sz="1950" u="none" cap="none" strike="noStrike">
              <a:solidFill>
                <a:schemeClr val="dk1"/>
              </a:solidFill>
              <a:latin typeface="Calibri"/>
              <a:ea typeface="Calibri"/>
              <a:cs typeface="Calibri"/>
              <a:sym typeface="Calibri"/>
            </a:endParaRPr>
          </a:p>
        </p:txBody>
      </p:sp>
      <p:sp>
        <p:nvSpPr>
          <p:cNvPr id="581" name="Google Shape;581;p16"/>
          <p:cNvSpPr/>
          <p:nvPr/>
        </p:nvSpPr>
        <p:spPr>
          <a:xfrm>
            <a:off x="10303907" y="3486150"/>
            <a:ext cx="7860352"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STEP 2 — COUNT THEM INTO A FIXED-LENGTH LIST</a:t>
            </a:r>
            <a:endParaRPr b="0" i="0" sz="1800" u="none" cap="none" strike="noStrike">
              <a:solidFill>
                <a:schemeClr val="dk1"/>
              </a:solidFill>
              <a:latin typeface="Calibri"/>
              <a:ea typeface="Calibri"/>
              <a:cs typeface="Calibri"/>
              <a:sym typeface="Calibri"/>
            </a:endParaRPr>
          </a:p>
        </p:txBody>
      </p:sp>
      <p:sp>
        <p:nvSpPr>
          <p:cNvPr id="582" name="Google Shape;582;p16"/>
          <p:cNvSpPr/>
          <p:nvPr/>
        </p:nvSpPr>
        <p:spPr>
          <a:xfrm>
            <a:off x="10303907" y="3897630"/>
            <a:ext cx="939165" cy="52578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6"/>
          <p:cNvSpPr/>
          <p:nvPr/>
        </p:nvSpPr>
        <p:spPr>
          <a:xfrm>
            <a:off x="10265807" y="4011930"/>
            <a:ext cx="1015365"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3627A"/>
              </a:buClr>
              <a:buSzPts val="1800"/>
              <a:buFont typeface="IBM Plex Mono"/>
              <a:buNone/>
            </a:pPr>
            <a:r>
              <a:rPr b="0" i="0" lang="en-US" sz="1800" u="none" cap="none" strike="noStrike">
                <a:solidFill>
                  <a:srgbClr val="53627A"/>
                </a:solidFill>
                <a:latin typeface="IBM Plex Mono"/>
                <a:ea typeface="IBM Plex Mono"/>
                <a:cs typeface="IBM Plex Mono"/>
                <a:sym typeface="IBM Plex Mono"/>
              </a:rPr>
              <a:t>AAA</a:t>
            </a:r>
            <a:endParaRPr b="0" i="0" sz="1800" u="none" cap="none" strike="noStrike">
              <a:solidFill>
                <a:schemeClr val="dk1"/>
              </a:solidFill>
              <a:latin typeface="Calibri"/>
              <a:ea typeface="Calibri"/>
              <a:cs typeface="Calibri"/>
              <a:sym typeface="Calibri"/>
            </a:endParaRPr>
          </a:p>
        </p:txBody>
      </p:sp>
      <p:sp>
        <p:nvSpPr>
          <p:cNvPr id="584" name="Google Shape;584;p16"/>
          <p:cNvSpPr/>
          <p:nvPr/>
        </p:nvSpPr>
        <p:spPr>
          <a:xfrm>
            <a:off x="10265807" y="4537710"/>
            <a:ext cx="1015365" cy="40386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C2A44"/>
              </a:buClr>
              <a:buSzPts val="2250"/>
              <a:buFont typeface="IBM Plex Mono"/>
              <a:buNone/>
            </a:pPr>
            <a:r>
              <a:rPr b="0" i="0" lang="en-US" sz="2250" u="none" cap="none" strike="noStrike">
                <a:solidFill>
                  <a:srgbClr val="1C2A44"/>
                </a:solidFill>
                <a:latin typeface="IBM Plex Mono"/>
                <a:ea typeface="IBM Plex Mono"/>
                <a:cs typeface="IBM Plex Mono"/>
                <a:sym typeface="IBM Plex Mono"/>
              </a:rPr>
              <a:t>0</a:t>
            </a:r>
            <a:endParaRPr b="0" i="0" sz="2250" u="none" cap="none" strike="noStrike">
              <a:solidFill>
                <a:schemeClr val="dk1"/>
              </a:solidFill>
              <a:latin typeface="Calibri"/>
              <a:ea typeface="Calibri"/>
              <a:cs typeface="Calibri"/>
              <a:sym typeface="Calibri"/>
            </a:endParaRPr>
          </a:p>
        </p:txBody>
      </p:sp>
      <p:sp>
        <p:nvSpPr>
          <p:cNvPr id="585" name="Google Shape;585;p16"/>
          <p:cNvSpPr/>
          <p:nvPr/>
        </p:nvSpPr>
        <p:spPr>
          <a:xfrm>
            <a:off x="11338322" y="3897630"/>
            <a:ext cx="939284" cy="52578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6"/>
          <p:cNvSpPr/>
          <p:nvPr/>
        </p:nvSpPr>
        <p:spPr>
          <a:xfrm>
            <a:off x="11300222" y="4011930"/>
            <a:ext cx="1015484"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FFFFFF"/>
              </a:buClr>
              <a:buSzPts val="1800"/>
              <a:buFont typeface="IBM Plex Mono"/>
              <a:buNone/>
            </a:pPr>
            <a:r>
              <a:rPr b="0" i="0" lang="en-US" sz="1800" u="none" cap="none" strike="noStrike">
                <a:solidFill>
                  <a:srgbClr val="FFFFFF"/>
                </a:solidFill>
                <a:latin typeface="IBM Plex Mono"/>
                <a:ea typeface="IBM Plex Mono"/>
                <a:cs typeface="IBM Plex Mono"/>
                <a:sym typeface="IBM Plex Mono"/>
              </a:rPr>
              <a:t>ACG</a:t>
            </a:r>
            <a:endParaRPr b="0" i="0" sz="1800" u="none" cap="none" strike="noStrike">
              <a:solidFill>
                <a:schemeClr val="dk1"/>
              </a:solidFill>
              <a:latin typeface="Calibri"/>
              <a:ea typeface="Calibri"/>
              <a:cs typeface="Calibri"/>
              <a:sym typeface="Calibri"/>
            </a:endParaRPr>
          </a:p>
        </p:txBody>
      </p:sp>
      <p:sp>
        <p:nvSpPr>
          <p:cNvPr id="587" name="Google Shape;587;p16"/>
          <p:cNvSpPr/>
          <p:nvPr/>
        </p:nvSpPr>
        <p:spPr>
          <a:xfrm>
            <a:off x="11300222" y="4537710"/>
            <a:ext cx="1015484" cy="40386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E8A317"/>
              </a:buClr>
              <a:buSzPts val="2250"/>
              <a:buFont typeface="IBM Plex Mono"/>
              <a:buNone/>
            </a:pPr>
            <a:r>
              <a:rPr b="1" i="0" lang="en-US" sz="2250" u="none" cap="none" strike="noStrike">
                <a:solidFill>
                  <a:srgbClr val="E8A317"/>
                </a:solidFill>
                <a:latin typeface="IBM Plex Mono"/>
                <a:ea typeface="IBM Plex Mono"/>
                <a:cs typeface="IBM Plex Mono"/>
                <a:sym typeface="IBM Plex Mono"/>
              </a:rPr>
              <a:t>2</a:t>
            </a:r>
            <a:endParaRPr b="0" i="0" sz="2250" u="none" cap="none" strike="noStrike">
              <a:solidFill>
                <a:schemeClr val="dk1"/>
              </a:solidFill>
              <a:latin typeface="Calibri"/>
              <a:ea typeface="Calibri"/>
              <a:cs typeface="Calibri"/>
              <a:sym typeface="Calibri"/>
            </a:endParaRPr>
          </a:p>
        </p:txBody>
      </p:sp>
      <p:sp>
        <p:nvSpPr>
          <p:cNvPr id="588" name="Google Shape;588;p16"/>
          <p:cNvSpPr/>
          <p:nvPr/>
        </p:nvSpPr>
        <p:spPr>
          <a:xfrm>
            <a:off x="12372856" y="3897630"/>
            <a:ext cx="939165" cy="52578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6"/>
          <p:cNvSpPr/>
          <p:nvPr/>
        </p:nvSpPr>
        <p:spPr>
          <a:xfrm>
            <a:off x="12334756" y="4011930"/>
            <a:ext cx="1015365"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3627A"/>
              </a:buClr>
              <a:buSzPts val="1800"/>
              <a:buFont typeface="IBM Plex Mono"/>
              <a:buNone/>
            </a:pPr>
            <a:r>
              <a:rPr b="0" i="0" lang="en-US" sz="1800" u="none" cap="none" strike="noStrike">
                <a:solidFill>
                  <a:srgbClr val="53627A"/>
                </a:solidFill>
                <a:latin typeface="IBM Plex Mono"/>
                <a:ea typeface="IBM Plex Mono"/>
                <a:cs typeface="IBM Plex Mono"/>
                <a:sym typeface="IBM Plex Mono"/>
              </a:rPr>
              <a:t>CGG</a:t>
            </a:r>
            <a:endParaRPr b="0" i="0" sz="1800" u="none" cap="none" strike="noStrike">
              <a:solidFill>
                <a:schemeClr val="dk1"/>
              </a:solidFill>
              <a:latin typeface="Calibri"/>
              <a:ea typeface="Calibri"/>
              <a:cs typeface="Calibri"/>
              <a:sym typeface="Calibri"/>
            </a:endParaRPr>
          </a:p>
        </p:txBody>
      </p:sp>
      <p:sp>
        <p:nvSpPr>
          <p:cNvPr id="590" name="Google Shape;590;p16"/>
          <p:cNvSpPr/>
          <p:nvPr/>
        </p:nvSpPr>
        <p:spPr>
          <a:xfrm>
            <a:off x="12334756" y="4537710"/>
            <a:ext cx="1015365" cy="40386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C2A44"/>
              </a:buClr>
              <a:buSzPts val="2250"/>
              <a:buFont typeface="IBM Plex Mono"/>
              <a:buNone/>
            </a:pPr>
            <a:r>
              <a:rPr b="0" i="0" lang="en-US" sz="2250" u="none" cap="none" strike="noStrike">
                <a:solidFill>
                  <a:srgbClr val="1C2A44"/>
                </a:solidFill>
                <a:latin typeface="IBM Plex Mono"/>
                <a:ea typeface="IBM Plex Mono"/>
                <a:cs typeface="IBM Plex Mono"/>
                <a:sym typeface="IBM Plex Mono"/>
              </a:rPr>
              <a:t>1</a:t>
            </a:r>
            <a:endParaRPr b="0" i="0" sz="2250" u="none" cap="none" strike="noStrike">
              <a:solidFill>
                <a:schemeClr val="dk1"/>
              </a:solidFill>
              <a:latin typeface="Calibri"/>
              <a:ea typeface="Calibri"/>
              <a:cs typeface="Calibri"/>
              <a:sym typeface="Calibri"/>
            </a:endParaRPr>
          </a:p>
        </p:txBody>
      </p:sp>
      <p:sp>
        <p:nvSpPr>
          <p:cNvPr id="591" name="Google Shape;591;p16"/>
          <p:cNvSpPr/>
          <p:nvPr/>
        </p:nvSpPr>
        <p:spPr>
          <a:xfrm>
            <a:off x="13407271" y="3897630"/>
            <a:ext cx="939165" cy="52578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6"/>
          <p:cNvSpPr/>
          <p:nvPr/>
        </p:nvSpPr>
        <p:spPr>
          <a:xfrm>
            <a:off x="13369171" y="4011930"/>
            <a:ext cx="1015365"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3627A"/>
              </a:buClr>
              <a:buSzPts val="1800"/>
              <a:buFont typeface="IBM Plex Mono"/>
              <a:buNone/>
            </a:pPr>
            <a:r>
              <a:rPr b="0" i="0" lang="en-US" sz="1800" u="none" cap="none" strike="noStrike">
                <a:solidFill>
                  <a:srgbClr val="53627A"/>
                </a:solidFill>
                <a:latin typeface="IBM Plex Mono"/>
                <a:ea typeface="IBM Plex Mono"/>
                <a:cs typeface="IBM Plex Mono"/>
                <a:sym typeface="IBM Plex Mono"/>
              </a:rPr>
              <a:t>CGT</a:t>
            </a:r>
            <a:endParaRPr b="0" i="0" sz="1800" u="none" cap="none" strike="noStrike">
              <a:solidFill>
                <a:schemeClr val="dk1"/>
              </a:solidFill>
              <a:latin typeface="Calibri"/>
              <a:ea typeface="Calibri"/>
              <a:cs typeface="Calibri"/>
              <a:sym typeface="Calibri"/>
            </a:endParaRPr>
          </a:p>
        </p:txBody>
      </p:sp>
      <p:sp>
        <p:nvSpPr>
          <p:cNvPr id="593" name="Google Shape;593;p16"/>
          <p:cNvSpPr/>
          <p:nvPr/>
        </p:nvSpPr>
        <p:spPr>
          <a:xfrm>
            <a:off x="13369171" y="4537710"/>
            <a:ext cx="1015365" cy="40386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C2A44"/>
              </a:buClr>
              <a:buSzPts val="2250"/>
              <a:buFont typeface="IBM Plex Mono"/>
              <a:buNone/>
            </a:pPr>
            <a:r>
              <a:rPr b="0" i="0" lang="en-US" sz="2250" u="none" cap="none" strike="noStrike">
                <a:solidFill>
                  <a:srgbClr val="1C2A44"/>
                </a:solidFill>
                <a:latin typeface="IBM Plex Mono"/>
                <a:ea typeface="IBM Plex Mono"/>
                <a:cs typeface="IBM Plex Mono"/>
                <a:sym typeface="IBM Plex Mono"/>
              </a:rPr>
              <a:t>1</a:t>
            </a:r>
            <a:endParaRPr b="0" i="0" sz="2250" u="none" cap="none" strike="noStrike">
              <a:solidFill>
                <a:schemeClr val="dk1"/>
              </a:solidFill>
              <a:latin typeface="Calibri"/>
              <a:ea typeface="Calibri"/>
              <a:cs typeface="Calibri"/>
              <a:sym typeface="Calibri"/>
            </a:endParaRPr>
          </a:p>
        </p:txBody>
      </p:sp>
      <p:sp>
        <p:nvSpPr>
          <p:cNvPr id="594" name="Google Shape;594;p16"/>
          <p:cNvSpPr/>
          <p:nvPr/>
        </p:nvSpPr>
        <p:spPr>
          <a:xfrm>
            <a:off x="14441686" y="3897630"/>
            <a:ext cx="939165" cy="52578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6"/>
          <p:cNvSpPr/>
          <p:nvPr/>
        </p:nvSpPr>
        <p:spPr>
          <a:xfrm>
            <a:off x="14403586" y="4011930"/>
            <a:ext cx="1015365"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3627A"/>
              </a:buClr>
              <a:buSzPts val="1800"/>
              <a:buFont typeface="IBM Plex Mono"/>
              <a:buNone/>
            </a:pPr>
            <a:r>
              <a:rPr b="0" i="0" lang="en-US" sz="1800" u="none" cap="none" strike="noStrike">
                <a:solidFill>
                  <a:srgbClr val="53627A"/>
                </a:solidFill>
                <a:latin typeface="IBM Plex Mono"/>
                <a:ea typeface="IBM Plex Mono"/>
                <a:cs typeface="IBM Plex Mono"/>
                <a:sym typeface="IBM Plex Mono"/>
              </a:rPr>
              <a:t>GGT</a:t>
            </a:r>
            <a:endParaRPr b="0" i="0" sz="1800" u="none" cap="none" strike="noStrike">
              <a:solidFill>
                <a:schemeClr val="dk1"/>
              </a:solidFill>
              <a:latin typeface="Calibri"/>
              <a:ea typeface="Calibri"/>
              <a:cs typeface="Calibri"/>
              <a:sym typeface="Calibri"/>
            </a:endParaRPr>
          </a:p>
        </p:txBody>
      </p:sp>
      <p:sp>
        <p:nvSpPr>
          <p:cNvPr id="596" name="Google Shape;596;p16"/>
          <p:cNvSpPr/>
          <p:nvPr/>
        </p:nvSpPr>
        <p:spPr>
          <a:xfrm>
            <a:off x="14403586" y="4537710"/>
            <a:ext cx="1015365" cy="40386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C2A44"/>
              </a:buClr>
              <a:buSzPts val="2250"/>
              <a:buFont typeface="IBM Plex Mono"/>
              <a:buNone/>
            </a:pPr>
            <a:r>
              <a:rPr b="0" i="0" lang="en-US" sz="2250" u="none" cap="none" strike="noStrike">
                <a:solidFill>
                  <a:srgbClr val="1C2A44"/>
                </a:solidFill>
                <a:latin typeface="IBM Plex Mono"/>
                <a:ea typeface="IBM Plex Mono"/>
                <a:cs typeface="IBM Plex Mono"/>
                <a:sym typeface="IBM Plex Mono"/>
              </a:rPr>
              <a:t>1</a:t>
            </a:r>
            <a:endParaRPr b="0" i="0" sz="2250" u="none" cap="none" strike="noStrike">
              <a:solidFill>
                <a:schemeClr val="dk1"/>
              </a:solidFill>
              <a:latin typeface="Calibri"/>
              <a:ea typeface="Calibri"/>
              <a:cs typeface="Calibri"/>
              <a:sym typeface="Calibri"/>
            </a:endParaRPr>
          </a:p>
        </p:txBody>
      </p:sp>
      <p:sp>
        <p:nvSpPr>
          <p:cNvPr id="597" name="Google Shape;597;p16"/>
          <p:cNvSpPr/>
          <p:nvPr/>
        </p:nvSpPr>
        <p:spPr>
          <a:xfrm>
            <a:off x="15476101" y="3897630"/>
            <a:ext cx="939165" cy="52578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6"/>
          <p:cNvSpPr/>
          <p:nvPr/>
        </p:nvSpPr>
        <p:spPr>
          <a:xfrm>
            <a:off x="15438001" y="4011930"/>
            <a:ext cx="1015365"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FFFFFF"/>
              </a:buClr>
              <a:buSzPts val="1800"/>
              <a:buFont typeface="IBM Plex Mono"/>
              <a:buNone/>
            </a:pPr>
            <a:r>
              <a:rPr b="0" i="0" lang="en-US" sz="1800" u="none" cap="none" strike="noStrike">
                <a:solidFill>
                  <a:srgbClr val="FFFFFF"/>
                </a:solidFill>
                <a:latin typeface="IBM Plex Mono"/>
                <a:ea typeface="IBM Plex Mono"/>
                <a:cs typeface="IBM Plex Mono"/>
                <a:sym typeface="IBM Plex Mono"/>
              </a:rPr>
              <a:t>TAC</a:t>
            </a:r>
            <a:endParaRPr b="0" i="0" sz="1800" u="none" cap="none" strike="noStrike">
              <a:solidFill>
                <a:schemeClr val="dk1"/>
              </a:solidFill>
              <a:latin typeface="Calibri"/>
              <a:ea typeface="Calibri"/>
              <a:cs typeface="Calibri"/>
              <a:sym typeface="Calibri"/>
            </a:endParaRPr>
          </a:p>
        </p:txBody>
      </p:sp>
      <p:sp>
        <p:nvSpPr>
          <p:cNvPr id="599" name="Google Shape;599;p16"/>
          <p:cNvSpPr/>
          <p:nvPr/>
        </p:nvSpPr>
        <p:spPr>
          <a:xfrm>
            <a:off x="15438001" y="4537710"/>
            <a:ext cx="1015365" cy="40386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E8A317"/>
              </a:buClr>
              <a:buSzPts val="2250"/>
              <a:buFont typeface="IBM Plex Mono"/>
              <a:buNone/>
            </a:pPr>
            <a:r>
              <a:rPr b="1" i="0" lang="en-US" sz="2250" u="none" cap="none" strike="noStrike">
                <a:solidFill>
                  <a:srgbClr val="E8A317"/>
                </a:solidFill>
                <a:latin typeface="IBM Plex Mono"/>
                <a:ea typeface="IBM Plex Mono"/>
                <a:cs typeface="IBM Plex Mono"/>
                <a:sym typeface="IBM Plex Mono"/>
              </a:rPr>
              <a:t>2</a:t>
            </a:r>
            <a:endParaRPr b="0" i="0" sz="2250" u="none" cap="none" strike="noStrike">
              <a:solidFill>
                <a:schemeClr val="dk1"/>
              </a:solidFill>
              <a:latin typeface="Calibri"/>
              <a:ea typeface="Calibri"/>
              <a:cs typeface="Calibri"/>
              <a:sym typeface="Calibri"/>
            </a:endParaRPr>
          </a:p>
        </p:txBody>
      </p:sp>
      <p:sp>
        <p:nvSpPr>
          <p:cNvPr id="600" name="Google Shape;600;p16"/>
          <p:cNvSpPr/>
          <p:nvPr/>
        </p:nvSpPr>
        <p:spPr>
          <a:xfrm>
            <a:off x="16510517" y="3897630"/>
            <a:ext cx="939165" cy="52578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6"/>
          <p:cNvSpPr/>
          <p:nvPr/>
        </p:nvSpPr>
        <p:spPr>
          <a:xfrm>
            <a:off x="16472417" y="4011930"/>
            <a:ext cx="1015365"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3627A"/>
              </a:buClr>
              <a:buSzPts val="1800"/>
              <a:buFont typeface="IBM Plex Mono"/>
              <a:buNone/>
            </a:pPr>
            <a:r>
              <a:rPr b="0" i="0" lang="en-US" sz="1800" u="none" cap="none" strike="noStrike">
                <a:solidFill>
                  <a:srgbClr val="53627A"/>
                </a:solidFill>
                <a:latin typeface="IBM Plex Mono"/>
                <a:ea typeface="IBM Plex Mono"/>
                <a:cs typeface="IBM Plex Mono"/>
                <a:sym typeface="IBM Plex Mono"/>
              </a:rPr>
              <a:t>…</a:t>
            </a:r>
            <a:endParaRPr b="0" i="0" sz="1800" u="none" cap="none" strike="noStrike">
              <a:solidFill>
                <a:schemeClr val="dk1"/>
              </a:solidFill>
              <a:latin typeface="Calibri"/>
              <a:ea typeface="Calibri"/>
              <a:cs typeface="Calibri"/>
              <a:sym typeface="Calibri"/>
            </a:endParaRPr>
          </a:p>
        </p:txBody>
      </p:sp>
      <p:sp>
        <p:nvSpPr>
          <p:cNvPr id="602" name="Google Shape;602;p16"/>
          <p:cNvSpPr/>
          <p:nvPr/>
        </p:nvSpPr>
        <p:spPr>
          <a:xfrm>
            <a:off x="16472417" y="4537710"/>
            <a:ext cx="1015365" cy="40386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a:t>
            </a:r>
            <a:endParaRPr b="0" i="0" sz="2250" u="none" cap="none" strike="noStrike">
              <a:solidFill>
                <a:schemeClr val="dk1"/>
              </a:solidFill>
              <a:latin typeface="Calibri"/>
              <a:ea typeface="Calibri"/>
              <a:cs typeface="Calibri"/>
              <a:sym typeface="Calibri"/>
            </a:endParaRPr>
          </a:p>
        </p:txBody>
      </p:sp>
      <p:sp>
        <p:nvSpPr>
          <p:cNvPr id="603" name="Google Shape;603;p16"/>
          <p:cNvSpPr/>
          <p:nvPr/>
        </p:nvSpPr>
        <p:spPr>
          <a:xfrm>
            <a:off x="10303907" y="5189220"/>
            <a:ext cx="7360148" cy="107823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There are 4³ = 64 possible 3-mers, so every window — whatever it contains — becomes the same 64 numbers in the same order. That fixed shape is what lets us compare two windows at all.</a:t>
            </a:r>
            <a:endParaRPr b="0" i="0" sz="1950" u="none" cap="none" strike="noStrike">
              <a:solidFill>
                <a:schemeClr val="dk1"/>
              </a:solidFill>
              <a:latin typeface="Calibri"/>
              <a:ea typeface="Calibri"/>
              <a:cs typeface="Calibri"/>
              <a:sym typeface="Calibri"/>
            </a:endParaRPr>
          </a:p>
        </p:txBody>
      </p:sp>
      <p:sp>
        <p:nvSpPr>
          <p:cNvPr id="604" name="Google Shape;604;p16"/>
          <p:cNvSpPr/>
          <p:nvPr/>
        </p:nvSpPr>
        <p:spPr>
          <a:xfrm>
            <a:off x="10303907" y="6400800"/>
            <a:ext cx="7145774" cy="60198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6"/>
          <p:cNvSpPr/>
          <p:nvPr/>
        </p:nvSpPr>
        <p:spPr>
          <a:xfrm>
            <a:off x="10494407" y="6553200"/>
            <a:ext cx="6979148"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1800"/>
              <a:buFont typeface="IBM Plex Mono"/>
              <a:buNone/>
            </a:pPr>
            <a:r>
              <a:rPr b="0" i="0" lang="en-US" sz="1800" u="none" cap="none" strike="noStrike">
                <a:solidFill>
                  <a:srgbClr val="3A4A63"/>
                </a:solidFill>
                <a:latin typeface="IBM Plex Mono"/>
                <a:ea typeface="IBM Plex Mono"/>
                <a:cs typeface="IBM Plex Mono"/>
                <a:sym typeface="IBM Plex Mono"/>
              </a:rPr>
              <a:t>k = 3 → 64 features · k = 4 → 256 · k = 6 → 4,096</a:t>
            </a:r>
            <a:endParaRPr b="0" i="0" sz="1800" u="none" cap="none" strike="noStrike">
              <a:solidFill>
                <a:schemeClr val="dk1"/>
              </a:solidFill>
              <a:latin typeface="Calibri"/>
              <a:ea typeface="Calibri"/>
              <a:cs typeface="Calibri"/>
              <a:sym typeface="Calibri"/>
            </a:endParaRPr>
          </a:p>
        </p:txBody>
      </p:sp>
      <p:sp>
        <p:nvSpPr>
          <p:cNvPr id="606" name="Google Shape;606;p16"/>
          <p:cNvSpPr/>
          <p:nvPr/>
        </p:nvSpPr>
        <p:spPr>
          <a:xfrm>
            <a:off x="838200" y="7576185"/>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6"/>
          <p:cNvSpPr/>
          <p:nvPr/>
        </p:nvSpPr>
        <p:spPr>
          <a:xfrm>
            <a:off x="838200" y="7839075"/>
            <a:ext cx="88849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WHY THIS ALREADY WORKS A BIT</a:t>
            </a:r>
            <a:endParaRPr b="0" i="0" sz="1800" u="none" cap="none" strike="noStrike">
              <a:solidFill>
                <a:schemeClr val="dk1"/>
              </a:solidFill>
              <a:latin typeface="Calibri"/>
              <a:ea typeface="Calibri"/>
              <a:cs typeface="Calibri"/>
              <a:sym typeface="Calibri"/>
            </a:endParaRPr>
          </a:p>
        </p:txBody>
      </p:sp>
      <p:sp>
        <p:nvSpPr>
          <p:cNvPr id="608" name="Google Shape;608;p16"/>
          <p:cNvSpPr/>
          <p:nvPr/>
        </p:nvSpPr>
        <p:spPr>
          <a:xfrm>
            <a:off x="838200" y="8193405"/>
            <a:ext cx="8319516"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GC-rich promoters have high counts for GCG, CGG and GGC. The classifier can pick that up without anyone mentioning CpG islands.</a:t>
            </a:r>
            <a:endParaRPr b="0" i="0" sz="2100" u="none" cap="none" strike="noStrike">
              <a:solidFill>
                <a:schemeClr val="dk1"/>
              </a:solidFill>
              <a:latin typeface="Calibri"/>
              <a:ea typeface="Calibri"/>
              <a:cs typeface="Calibri"/>
              <a:sym typeface="Calibri"/>
            </a:endParaRPr>
          </a:p>
        </p:txBody>
      </p:sp>
      <p:sp>
        <p:nvSpPr>
          <p:cNvPr id="609" name="Google Shape;609;p16"/>
          <p:cNvSpPr/>
          <p:nvPr/>
        </p:nvSpPr>
        <p:spPr>
          <a:xfrm>
            <a:off x="9372600" y="7839075"/>
            <a:ext cx="88849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WHAT IT THROWS AWAY</a:t>
            </a:r>
            <a:endParaRPr b="0" i="0" sz="1800" u="none" cap="none" strike="noStrike">
              <a:solidFill>
                <a:schemeClr val="dk1"/>
              </a:solidFill>
              <a:latin typeface="Calibri"/>
              <a:ea typeface="Calibri"/>
              <a:cs typeface="Calibri"/>
              <a:sym typeface="Calibri"/>
            </a:endParaRPr>
          </a:p>
        </p:txBody>
      </p:sp>
      <p:sp>
        <p:nvSpPr>
          <p:cNvPr id="610" name="Google Shape;610;p16"/>
          <p:cNvSpPr/>
          <p:nvPr/>
        </p:nvSpPr>
        <p:spPr>
          <a:xfrm>
            <a:off x="9372600" y="8193405"/>
            <a:ext cx="8319516"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All order. Counts cannot tell whether TATAAA sat 30 bases before the start site or 300 away. Everything after this slide is about keeping that information.</a:t>
            </a:r>
            <a:endParaRPr b="0" i="0" sz="2100" u="none" cap="none" strike="noStrike">
              <a:solidFill>
                <a:schemeClr val="dk1"/>
              </a:solidFill>
              <a:latin typeface="Calibri"/>
              <a:ea typeface="Calibri"/>
              <a:cs typeface="Calibri"/>
              <a:sym typeface="Calibri"/>
            </a:endParaRPr>
          </a:p>
        </p:txBody>
      </p:sp>
      <p:sp>
        <p:nvSpPr>
          <p:cNvPr id="611" name="Google Shape;611;p16"/>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6"/>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613" name="Google Shape;613;p16"/>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614" name="Google Shape;614;p16"/>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16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9" name="Shape 619"/>
        <p:cNvGrpSpPr/>
        <p:nvPr/>
      </p:nvGrpSpPr>
      <p:grpSpPr>
        <a:xfrm>
          <a:off x="0" y="0"/>
          <a:ext cx="0" cy="0"/>
          <a:chOff x="0" y="0"/>
          <a:chExt cx="0" cy="0"/>
        </a:xfrm>
      </p:grpSpPr>
      <p:sp>
        <p:nvSpPr>
          <p:cNvPr id="620" name="Google Shape;620;p17"/>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7"/>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622" name="Google Shape;622;p17"/>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623" name="Google Shape;623;p17"/>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03 · DNA AS A LANGUAGE</a:t>
            </a:r>
            <a:endParaRPr b="0" i="0" sz="1800" u="none" cap="none" strike="noStrike">
              <a:solidFill>
                <a:schemeClr val="dk1"/>
              </a:solidFill>
              <a:latin typeface="Calibri"/>
              <a:ea typeface="Calibri"/>
              <a:cs typeface="Calibri"/>
              <a:sym typeface="Calibri"/>
            </a:endParaRPr>
          </a:p>
        </p:txBody>
      </p:sp>
      <p:sp>
        <p:nvSpPr>
          <p:cNvPr id="624" name="Google Shape;624;p17"/>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Three ways to cut a sequence</a:t>
            </a:r>
            <a:endParaRPr b="0" i="0" sz="4500" u="none" cap="none" strike="noStrike">
              <a:solidFill>
                <a:schemeClr val="dk1"/>
              </a:solidFill>
              <a:latin typeface="Calibri"/>
              <a:ea typeface="Calibri"/>
              <a:cs typeface="Calibri"/>
              <a:sym typeface="Calibri"/>
            </a:endParaRPr>
          </a:p>
        </p:txBody>
      </p:sp>
      <p:sp>
        <p:nvSpPr>
          <p:cNvPr id="625" name="Google Shape;625;p17"/>
          <p:cNvSpPr/>
          <p:nvPr/>
        </p:nvSpPr>
        <p:spPr>
          <a:xfrm>
            <a:off x="838200" y="2314575"/>
            <a:ext cx="14912340" cy="866775"/>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Cutting the sequence into units is called tokenization, and each unit is a token. The same twelve bases, cut three different ways:</a:t>
            </a:r>
            <a:endParaRPr b="0" i="0" sz="2250" u="none" cap="none" strike="noStrike">
              <a:solidFill>
                <a:schemeClr val="dk1"/>
              </a:solidFill>
              <a:latin typeface="Calibri"/>
              <a:ea typeface="Calibri"/>
              <a:cs typeface="Calibri"/>
              <a:sym typeface="Calibri"/>
            </a:endParaRPr>
          </a:p>
        </p:txBody>
      </p:sp>
      <p:sp>
        <p:nvSpPr>
          <p:cNvPr id="626" name="Google Shape;626;p17"/>
          <p:cNvSpPr/>
          <p:nvPr/>
        </p:nvSpPr>
        <p:spPr>
          <a:xfrm>
            <a:off x="838200" y="3314700"/>
            <a:ext cx="1827276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IBM Plex Mono"/>
              <a:buNone/>
            </a:pPr>
            <a:r>
              <a:rPr b="0" i="0" lang="en-US" sz="2250" u="none" cap="none" strike="noStrike">
                <a:solidFill>
                  <a:srgbClr val="1C2A44"/>
                </a:solidFill>
                <a:latin typeface="IBM Plex Mono"/>
                <a:ea typeface="IBM Plex Mono"/>
                <a:cs typeface="IBM Plex Mono"/>
                <a:sym typeface="IBM Plex Mono"/>
              </a:rPr>
              <a:t>INPUT · ACGTTACGGTAC</a:t>
            </a:r>
            <a:endParaRPr b="0" i="0" sz="2250" u="none" cap="none" strike="noStrike">
              <a:solidFill>
                <a:schemeClr val="dk1"/>
              </a:solidFill>
              <a:latin typeface="Calibri"/>
              <a:ea typeface="Calibri"/>
              <a:cs typeface="Calibri"/>
              <a:sym typeface="Calibri"/>
            </a:endParaRPr>
          </a:p>
        </p:txBody>
      </p:sp>
      <p:sp>
        <p:nvSpPr>
          <p:cNvPr id="627" name="Google Shape;627;p17"/>
          <p:cNvSpPr/>
          <p:nvPr/>
        </p:nvSpPr>
        <p:spPr>
          <a:xfrm>
            <a:off x="838200" y="3870960"/>
            <a:ext cx="5283161" cy="365379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7"/>
          <p:cNvSpPr/>
          <p:nvPr/>
        </p:nvSpPr>
        <p:spPr>
          <a:xfrm>
            <a:off x="1085850" y="4107180"/>
            <a:ext cx="31999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OVERLAPPING 3-MERS</a:t>
            </a:r>
            <a:endParaRPr b="0" i="0" sz="1800" u="none" cap="none" strike="noStrike">
              <a:solidFill>
                <a:schemeClr val="dk1"/>
              </a:solidFill>
              <a:latin typeface="Calibri"/>
              <a:ea typeface="Calibri"/>
              <a:cs typeface="Calibri"/>
              <a:sym typeface="Calibri"/>
            </a:endParaRPr>
          </a:p>
        </p:txBody>
      </p:sp>
      <p:sp>
        <p:nvSpPr>
          <p:cNvPr id="629" name="Google Shape;629;p17"/>
          <p:cNvSpPr/>
          <p:nvPr/>
        </p:nvSpPr>
        <p:spPr>
          <a:xfrm>
            <a:off x="4536400" y="4061460"/>
            <a:ext cx="1471041"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950"/>
              <a:buFont typeface="IBM Plex Mono"/>
              <a:buNone/>
            </a:pPr>
            <a:r>
              <a:rPr b="1" i="0" lang="en-US" sz="1950" u="none" cap="none" strike="noStrike">
                <a:solidFill>
                  <a:srgbClr val="E8A317"/>
                </a:solidFill>
                <a:latin typeface="IBM Plex Mono"/>
                <a:ea typeface="IBM Plex Mono"/>
                <a:cs typeface="IBM Plex Mono"/>
                <a:sym typeface="IBM Plex Mono"/>
              </a:rPr>
              <a:t>10 tokens</a:t>
            </a:r>
            <a:endParaRPr b="0" i="0" sz="1950" u="none" cap="none" strike="noStrike">
              <a:solidFill>
                <a:schemeClr val="dk1"/>
              </a:solidFill>
              <a:latin typeface="Calibri"/>
              <a:ea typeface="Calibri"/>
              <a:cs typeface="Calibri"/>
              <a:sym typeface="Calibri"/>
            </a:endParaRPr>
          </a:p>
        </p:txBody>
      </p:sp>
      <p:sp>
        <p:nvSpPr>
          <p:cNvPr id="630" name="Google Shape;630;p17"/>
          <p:cNvSpPr/>
          <p:nvPr/>
        </p:nvSpPr>
        <p:spPr>
          <a:xfrm>
            <a:off x="1085850" y="4552950"/>
            <a:ext cx="601980" cy="43053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7"/>
          <p:cNvSpPr/>
          <p:nvPr/>
        </p:nvSpPr>
        <p:spPr>
          <a:xfrm>
            <a:off x="1181100" y="4619625"/>
            <a:ext cx="48768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ACG</a:t>
            </a:r>
            <a:endParaRPr b="0" i="0" sz="1800" u="none" cap="none" strike="noStrike">
              <a:solidFill>
                <a:schemeClr val="dk1"/>
              </a:solidFill>
              <a:latin typeface="Calibri"/>
              <a:ea typeface="Calibri"/>
              <a:cs typeface="Calibri"/>
              <a:sym typeface="Calibri"/>
            </a:endParaRPr>
          </a:p>
        </p:txBody>
      </p:sp>
      <p:sp>
        <p:nvSpPr>
          <p:cNvPr id="632" name="Google Shape;632;p17"/>
          <p:cNvSpPr/>
          <p:nvPr/>
        </p:nvSpPr>
        <p:spPr>
          <a:xfrm>
            <a:off x="1764030" y="4552950"/>
            <a:ext cx="601980" cy="43053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7"/>
          <p:cNvSpPr/>
          <p:nvPr/>
        </p:nvSpPr>
        <p:spPr>
          <a:xfrm>
            <a:off x="1859280" y="4619625"/>
            <a:ext cx="48768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CGT</a:t>
            </a:r>
            <a:endParaRPr b="0" i="0" sz="1800" u="none" cap="none" strike="noStrike">
              <a:solidFill>
                <a:schemeClr val="dk1"/>
              </a:solidFill>
              <a:latin typeface="Calibri"/>
              <a:ea typeface="Calibri"/>
              <a:cs typeface="Calibri"/>
              <a:sym typeface="Calibri"/>
            </a:endParaRPr>
          </a:p>
        </p:txBody>
      </p:sp>
      <p:sp>
        <p:nvSpPr>
          <p:cNvPr id="634" name="Google Shape;634;p17"/>
          <p:cNvSpPr/>
          <p:nvPr/>
        </p:nvSpPr>
        <p:spPr>
          <a:xfrm>
            <a:off x="2442210" y="4552950"/>
            <a:ext cx="601980" cy="43053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7"/>
          <p:cNvSpPr/>
          <p:nvPr/>
        </p:nvSpPr>
        <p:spPr>
          <a:xfrm>
            <a:off x="2537460" y="4619625"/>
            <a:ext cx="48768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GTT</a:t>
            </a:r>
            <a:endParaRPr b="0" i="0" sz="1800" u="none" cap="none" strike="noStrike">
              <a:solidFill>
                <a:schemeClr val="dk1"/>
              </a:solidFill>
              <a:latin typeface="Calibri"/>
              <a:ea typeface="Calibri"/>
              <a:cs typeface="Calibri"/>
              <a:sym typeface="Calibri"/>
            </a:endParaRPr>
          </a:p>
        </p:txBody>
      </p:sp>
      <p:sp>
        <p:nvSpPr>
          <p:cNvPr id="636" name="Google Shape;636;p17"/>
          <p:cNvSpPr/>
          <p:nvPr/>
        </p:nvSpPr>
        <p:spPr>
          <a:xfrm>
            <a:off x="3120390" y="4552950"/>
            <a:ext cx="601980" cy="43053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7"/>
          <p:cNvSpPr/>
          <p:nvPr/>
        </p:nvSpPr>
        <p:spPr>
          <a:xfrm>
            <a:off x="3215640" y="4619625"/>
            <a:ext cx="48768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TTA</a:t>
            </a:r>
            <a:endParaRPr b="0" i="0" sz="1800" u="none" cap="none" strike="noStrike">
              <a:solidFill>
                <a:schemeClr val="dk1"/>
              </a:solidFill>
              <a:latin typeface="Calibri"/>
              <a:ea typeface="Calibri"/>
              <a:cs typeface="Calibri"/>
              <a:sym typeface="Calibri"/>
            </a:endParaRPr>
          </a:p>
        </p:txBody>
      </p:sp>
      <p:sp>
        <p:nvSpPr>
          <p:cNvPr id="638" name="Google Shape;638;p17"/>
          <p:cNvSpPr/>
          <p:nvPr/>
        </p:nvSpPr>
        <p:spPr>
          <a:xfrm>
            <a:off x="3798570" y="4552950"/>
            <a:ext cx="601980" cy="43053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7"/>
          <p:cNvSpPr/>
          <p:nvPr/>
        </p:nvSpPr>
        <p:spPr>
          <a:xfrm>
            <a:off x="3893820" y="4619625"/>
            <a:ext cx="48768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TAC</a:t>
            </a:r>
            <a:endParaRPr b="0" i="0" sz="1800" u="none" cap="none" strike="noStrike">
              <a:solidFill>
                <a:schemeClr val="dk1"/>
              </a:solidFill>
              <a:latin typeface="Calibri"/>
              <a:ea typeface="Calibri"/>
              <a:cs typeface="Calibri"/>
              <a:sym typeface="Calibri"/>
            </a:endParaRPr>
          </a:p>
        </p:txBody>
      </p:sp>
      <p:sp>
        <p:nvSpPr>
          <p:cNvPr id="640" name="Google Shape;640;p17"/>
          <p:cNvSpPr/>
          <p:nvPr/>
        </p:nvSpPr>
        <p:spPr>
          <a:xfrm>
            <a:off x="4476750" y="4552950"/>
            <a:ext cx="601980" cy="43053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7"/>
          <p:cNvSpPr/>
          <p:nvPr/>
        </p:nvSpPr>
        <p:spPr>
          <a:xfrm>
            <a:off x="4572000" y="4619625"/>
            <a:ext cx="48768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ACG</a:t>
            </a:r>
            <a:endParaRPr b="0" i="0" sz="1800" u="none" cap="none" strike="noStrike">
              <a:solidFill>
                <a:schemeClr val="dk1"/>
              </a:solidFill>
              <a:latin typeface="Calibri"/>
              <a:ea typeface="Calibri"/>
              <a:cs typeface="Calibri"/>
              <a:sym typeface="Calibri"/>
            </a:endParaRPr>
          </a:p>
        </p:txBody>
      </p:sp>
      <p:sp>
        <p:nvSpPr>
          <p:cNvPr id="642" name="Google Shape;642;p17"/>
          <p:cNvSpPr/>
          <p:nvPr/>
        </p:nvSpPr>
        <p:spPr>
          <a:xfrm>
            <a:off x="5154930" y="4552950"/>
            <a:ext cx="601980" cy="43053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7"/>
          <p:cNvSpPr/>
          <p:nvPr/>
        </p:nvSpPr>
        <p:spPr>
          <a:xfrm>
            <a:off x="5250180" y="4619625"/>
            <a:ext cx="48768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CGG</a:t>
            </a:r>
            <a:endParaRPr b="0" i="0" sz="1800" u="none" cap="none" strike="noStrike">
              <a:solidFill>
                <a:schemeClr val="dk1"/>
              </a:solidFill>
              <a:latin typeface="Calibri"/>
              <a:ea typeface="Calibri"/>
              <a:cs typeface="Calibri"/>
              <a:sym typeface="Calibri"/>
            </a:endParaRPr>
          </a:p>
        </p:txBody>
      </p:sp>
      <p:sp>
        <p:nvSpPr>
          <p:cNvPr id="644" name="Google Shape;644;p17"/>
          <p:cNvSpPr/>
          <p:nvPr/>
        </p:nvSpPr>
        <p:spPr>
          <a:xfrm>
            <a:off x="1085850" y="5059680"/>
            <a:ext cx="601980" cy="43053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7"/>
          <p:cNvSpPr/>
          <p:nvPr/>
        </p:nvSpPr>
        <p:spPr>
          <a:xfrm>
            <a:off x="1181100" y="5126355"/>
            <a:ext cx="48768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GGT</a:t>
            </a:r>
            <a:endParaRPr b="0" i="0" sz="1800" u="none" cap="none" strike="noStrike">
              <a:solidFill>
                <a:schemeClr val="dk1"/>
              </a:solidFill>
              <a:latin typeface="Calibri"/>
              <a:ea typeface="Calibri"/>
              <a:cs typeface="Calibri"/>
              <a:sym typeface="Calibri"/>
            </a:endParaRPr>
          </a:p>
        </p:txBody>
      </p:sp>
      <p:sp>
        <p:nvSpPr>
          <p:cNvPr id="646" name="Google Shape;646;p17"/>
          <p:cNvSpPr/>
          <p:nvPr/>
        </p:nvSpPr>
        <p:spPr>
          <a:xfrm>
            <a:off x="1764030" y="5059680"/>
            <a:ext cx="601980" cy="43053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7"/>
          <p:cNvSpPr/>
          <p:nvPr/>
        </p:nvSpPr>
        <p:spPr>
          <a:xfrm>
            <a:off x="1859280" y="5126355"/>
            <a:ext cx="48768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GTA</a:t>
            </a:r>
            <a:endParaRPr b="0" i="0" sz="1800" u="none" cap="none" strike="noStrike">
              <a:solidFill>
                <a:schemeClr val="dk1"/>
              </a:solidFill>
              <a:latin typeface="Calibri"/>
              <a:ea typeface="Calibri"/>
              <a:cs typeface="Calibri"/>
              <a:sym typeface="Calibri"/>
            </a:endParaRPr>
          </a:p>
        </p:txBody>
      </p:sp>
      <p:sp>
        <p:nvSpPr>
          <p:cNvPr id="648" name="Google Shape;648;p17"/>
          <p:cNvSpPr/>
          <p:nvPr/>
        </p:nvSpPr>
        <p:spPr>
          <a:xfrm>
            <a:off x="2442210" y="5059680"/>
            <a:ext cx="601980" cy="43053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7"/>
          <p:cNvSpPr/>
          <p:nvPr/>
        </p:nvSpPr>
        <p:spPr>
          <a:xfrm>
            <a:off x="2537460" y="5126355"/>
            <a:ext cx="48768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TAC</a:t>
            </a:r>
            <a:endParaRPr b="0" i="0" sz="1800" u="none" cap="none" strike="noStrike">
              <a:solidFill>
                <a:schemeClr val="dk1"/>
              </a:solidFill>
              <a:latin typeface="Calibri"/>
              <a:ea typeface="Calibri"/>
              <a:cs typeface="Calibri"/>
              <a:sym typeface="Calibri"/>
            </a:endParaRPr>
          </a:p>
        </p:txBody>
      </p:sp>
      <p:sp>
        <p:nvSpPr>
          <p:cNvPr id="650" name="Google Shape;650;p17"/>
          <p:cNvSpPr/>
          <p:nvPr/>
        </p:nvSpPr>
        <p:spPr>
          <a:xfrm>
            <a:off x="1085850" y="5661660"/>
            <a:ext cx="4931496" cy="107823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Finest detail, every position covered — but the list is long and neighbouring tokens repeat most of their letters.</a:t>
            </a:r>
            <a:endParaRPr b="0" i="0" sz="1950" u="none" cap="none" strike="noStrike">
              <a:solidFill>
                <a:schemeClr val="dk1"/>
              </a:solidFill>
              <a:latin typeface="Calibri"/>
              <a:ea typeface="Calibri"/>
              <a:cs typeface="Calibri"/>
              <a:sym typeface="Calibri"/>
            </a:endParaRPr>
          </a:p>
        </p:txBody>
      </p:sp>
      <p:sp>
        <p:nvSpPr>
          <p:cNvPr id="651" name="Google Shape;651;p17"/>
          <p:cNvSpPr/>
          <p:nvPr/>
        </p:nvSpPr>
        <p:spPr>
          <a:xfrm>
            <a:off x="1085850" y="6816090"/>
            <a:ext cx="4931496" cy="5562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Used by DNABERT (2021) and k-mer baselines</a:t>
            </a:r>
            <a:endParaRPr b="0" i="0" sz="1800" u="none" cap="none" strike="noStrike">
              <a:solidFill>
                <a:schemeClr val="dk1"/>
              </a:solidFill>
              <a:latin typeface="Calibri"/>
              <a:ea typeface="Calibri"/>
              <a:cs typeface="Calibri"/>
              <a:sym typeface="Calibri"/>
            </a:endParaRPr>
          </a:p>
        </p:txBody>
      </p:sp>
      <p:sp>
        <p:nvSpPr>
          <p:cNvPr id="652" name="Google Shape;652;p17"/>
          <p:cNvSpPr/>
          <p:nvPr/>
        </p:nvSpPr>
        <p:spPr>
          <a:xfrm>
            <a:off x="6502361" y="3870960"/>
            <a:ext cx="5283161" cy="365379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7"/>
          <p:cNvSpPr/>
          <p:nvPr/>
        </p:nvSpPr>
        <p:spPr>
          <a:xfrm>
            <a:off x="6750011" y="4107180"/>
            <a:ext cx="3926312"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NON-OVERLAPPING 6-MERS</a:t>
            </a:r>
            <a:endParaRPr b="0" i="0" sz="1800" u="none" cap="none" strike="noStrike">
              <a:solidFill>
                <a:schemeClr val="dk1"/>
              </a:solidFill>
              <a:latin typeface="Calibri"/>
              <a:ea typeface="Calibri"/>
              <a:cs typeface="Calibri"/>
              <a:sym typeface="Calibri"/>
            </a:endParaRPr>
          </a:p>
        </p:txBody>
      </p:sp>
      <p:sp>
        <p:nvSpPr>
          <p:cNvPr id="654" name="Google Shape;654;p17"/>
          <p:cNvSpPr/>
          <p:nvPr/>
        </p:nvSpPr>
        <p:spPr>
          <a:xfrm>
            <a:off x="10349151" y="4061460"/>
            <a:ext cx="126492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950"/>
              <a:buFont typeface="IBM Plex Mono"/>
              <a:buNone/>
            </a:pPr>
            <a:r>
              <a:rPr b="1" i="0" lang="en-US" sz="1950" u="none" cap="none" strike="noStrike">
                <a:solidFill>
                  <a:srgbClr val="E8A317"/>
                </a:solidFill>
                <a:latin typeface="IBM Plex Mono"/>
                <a:ea typeface="IBM Plex Mono"/>
                <a:cs typeface="IBM Plex Mono"/>
                <a:sym typeface="IBM Plex Mono"/>
              </a:rPr>
              <a:t>2 tokens</a:t>
            </a:r>
            <a:endParaRPr b="0" i="0" sz="1950" u="none" cap="none" strike="noStrike">
              <a:solidFill>
                <a:schemeClr val="dk1"/>
              </a:solidFill>
              <a:latin typeface="Calibri"/>
              <a:ea typeface="Calibri"/>
              <a:cs typeface="Calibri"/>
              <a:sym typeface="Calibri"/>
            </a:endParaRPr>
          </a:p>
        </p:txBody>
      </p:sp>
      <p:sp>
        <p:nvSpPr>
          <p:cNvPr id="655" name="Google Shape;655;p17"/>
          <p:cNvSpPr/>
          <p:nvPr/>
        </p:nvSpPr>
        <p:spPr>
          <a:xfrm>
            <a:off x="6750011" y="4552950"/>
            <a:ext cx="1013460" cy="43053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7"/>
          <p:cNvSpPr/>
          <p:nvPr/>
        </p:nvSpPr>
        <p:spPr>
          <a:xfrm>
            <a:off x="6845261" y="4619625"/>
            <a:ext cx="89916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ACGTTA</a:t>
            </a:r>
            <a:endParaRPr b="0" i="0" sz="1800" u="none" cap="none" strike="noStrike">
              <a:solidFill>
                <a:schemeClr val="dk1"/>
              </a:solidFill>
              <a:latin typeface="Calibri"/>
              <a:ea typeface="Calibri"/>
              <a:cs typeface="Calibri"/>
              <a:sym typeface="Calibri"/>
            </a:endParaRPr>
          </a:p>
        </p:txBody>
      </p:sp>
      <p:sp>
        <p:nvSpPr>
          <p:cNvPr id="657" name="Google Shape;657;p17"/>
          <p:cNvSpPr/>
          <p:nvPr/>
        </p:nvSpPr>
        <p:spPr>
          <a:xfrm>
            <a:off x="7839670" y="4552950"/>
            <a:ext cx="1013460" cy="43053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7"/>
          <p:cNvSpPr/>
          <p:nvPr/>
        </p:nvSpPr>
        <p:spPr>
          <a:xfrm>
            <a:off x="7934920" y="4619625"/>
            <a:ext cx="89916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CGGTAC</a:t>
            </a:r>
            <a:endParaRPr b="0" i="0" sz="1800" u="none" cap="none" strike="noStrike">
              <a:solidFill>
                <a:schemeClr val="dk1"/>
              </a:solidFill>
              <a:latin typeface="Calibri"/>
              <a:ea typeface="Calibri"/>
              <a:cs typeface="Calibri"/>
              <a:sym typeface="Calibri"/>
            </a:endParaRPr>
          </a:p>
        </p:txBody>
      </p:sp>
      <p:sp>
        <p:nvSpPr>
          <p:cNvPr id="659" name="Google Shape;659;p17"/>
          <p:cNvSpPr/>
          <p:nvPr/>
        </p:nvSpPr>
        <p:spPr>
          <a:xfrm>
            <a:off x="6750011" y="5154930"/>
            <a:ext cx="4931496" cy="142494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Each token covers more sequence, so a fixed budget of tokens reaches much further — at the cost of blurring single-base detail.</a:t>
            </a:r>
            <a:endParaRPr b="0" i="0" sz="1950" u="none" cap="none" strike="noStrike">
              <a:solidFill>
                <a:schemeClr val="dk1"/>
              </a:solidFill>
              <a:latin typeface="Calibri"/>
              <a:ea typeface="Calibri"/>
              <a:cs typeface="Calibri"/>
              <a:sym typeface="Calibri"/>
            </a:endParaRPr>
          </a:p>
        </p:txBody>
      </p:sp>
      <p:sp>
        <p:nvSpPr>
          <p:cNvPr id="660" name="Google Shape;660;p17"/>
          <p:cNvSpPr/>
          <p:nvPr/>
        </p:nvSpPr>
        <p:spPr>
          <a:xfrm>
            <a:off x="6750011" y="7075170"/>
            <a:ext cx="493149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Used by the Nucleotide Transformer</a:t>
            </a:r>
            <a:endParaRPr b="0" i="0" sz="1800" u="none" cap="none" strike="noStrike">
              <a:solidFill>
                <a:schemeClr val="dk1"/>
              </a:solidFill>
              <a:latin typeface="Calibri"/>
              <a:ea typeface="Calibri"/>
              <a:cs typeface="Calibri"/>
              <a:sym typeface="Calibri"/>
            </a:endParaRPr>
          </a:p>
        </p:txBody>
      </p:sp>
      <p:sp>
        <p:nvSpPr>
          <p:cNvPr id="661" name="Google Shape;661;p17"/>
          <p:cNvSpPr/>
          <p:nvPr/>
        </p:nvSpPr>
        <p:spPr>
          <a:xfrm>
            <a:off x="12166521" y="3870960"/>
            <a:ext cx="5283161" cy="365379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7"/>
          <p:cNvSpPr/>
          <p:nvPr/>
        </p:nvSpPr>
        <p:spPr>
          <a:xfrm>
            <a:off x="12414171" y="4107180"/>
            <a:ext cx="307383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LEARNED SUBWORDS</a:t>
            </a:r>
            <a:endParaRPr b="0" i="0" sz="1800" u="none" cap="none" strike="noStrike">
              <a:solidFill>
                <a:schemeClr val="dk1"/>
              </a:solidFill>
              <a:latin typeface="Calibri"/>
              <a:ea typeface="Calibri"/>
              <a:cs typeface="Calibri"/>
              <a:sym typeface="Calibri"/>
            </a:endParaRPr>
          </a:p>
        </p:txBody>
      </p:sp>
      <p:sp>
        <p:nvSpPr>
          <p:cNvPr id="663" name="Google Shape;663;p17"/>
          <p:cNvSpPr/>
          <p:nvPr/>
        </p:nvSpPr>
        <p:spPr>
          <a:xfrm>
            <a:off x="16013311" y="4061460"/>
            <a:ext cx="126492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950"/>
              <a:buFont typeface="IBM Plex Mono"/>
              <a:buNone/>
            </a:pPr>
            <a:r>
              <a:rPr b="1" i="0" lang="en-US" sz="1950" u="none" cap="none" strike="noStrike">
                <a:solidFill>
                  <a:srgbClr val="E8A317"/>
                </a:solidFill>
                <a:latin typeface="IBM Plex Mono"/>
                <a:ea typeface="IBM Plex Mono"/>
                <a:cs typeface="IBM Plex Mono"/>
                <a:sym typeface="IBM Plex Mono"/>
              </a:rPr>
              <a:t>3 tokens</a:t>
            </a:r>
            <a:endParaRPr b="0" i="0" sz="1950" u="none" cap="none" strike="noStrike">
              <a:solidFill>
                <a:schemeClr val="dk1"/>
              </a:solidFill>
              <a:latin typeface="Calibri"/>
              <a:ea typeface="Calibri"/>
              <a:cs typeface="Calibri"/>
              <a:sym typeface="Calibri"/>
            </a:endParaRPr>
          </a:p>
        </p:txBody>
      </p:sp>
      <p:sp>
        <p:nvSpPr>
          <p:cNvPr id="664" name="Google Shape;664;p17"/>
          <p:cNvSpPr/>
          <p:nvPr/>
        </p:nvSpPr>
        <p:spPr>
          <a:xfrm>
            <a:off x="12414171" y="4552950"/>
            <a:ext cx="739140" cy="43053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7"/>
          <p:cNvSpPr/>
          <p:nvPr/>
        </p:nvSpPr>
        <p:spPr>
          <a:xfrm>
            <a:off x="12509421" y="4619625"/>
            <a:ext cx="62484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ACGT</a:t>
            </a:r>
            <a:endParaRPr b="0" i="0" sz="1800" u="none" cap="none" strike="noStrike">
              <a:solidFill>
                <a:schemeClr val="dk1"/>
              </a:solidFill>
              <a:latin typeface="Calibri"/>
              <a:ea typeface="Calibri"/>
              <a:cs typeface="Calibri"/>
              <a:sym typeface="Calibri"/>
            </a:endParaRPr>
          </a:p>
        </p:txBody>
      </p:sp>
      <p:sp>
        <p:nvSpPr>
          <p:cNvPr id="666" name="Google Shape;666;p17"/>
          <p:cNvSpPr/>
          <p:nvPr/>
        </p:nvSpPr>
        <p:spPr>
          <a:xfrm>
            <a:off x="13229511" y="4552950"/>
            <a:ext cx="876300" cy="43053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7"/>
          <p:cNvSpPr/>
          <p:nvPr/>
        </p:nvSpPr>
        <p:spPr>
          <a:xfrm>
            <a:off x="13324761" y="4619625"/>
            <a:ext cx="76200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TACGG</a:t>
            </a:r>
            <a:endParaRPr b="0" i="0" sz="1800" u="none" cap="none" strike="noStrike">
              <a:solidFill>
                <a:schemeClr val="dk1"/>
              </a:solidFill>
              <a:latin typeface="Calibri"/>
              <a:ea typeface="Calibri"/>
              <a:cs typeface="Calibri"/>
              <a:sym typeface="Calibri"/>
            </a:endParaRPr>
          </a:p>
        </p:txBody>
      </p:sp>
      <p:sp>
        <p:nvSpPr>
          <p:cNvPr id="668" name="Google Shape;668;p17"/>
          <p:cNvSpPr/>
          <p:nvPr/>
        </p:nvSpPr>
        <p:spPr>
          <a:xfrm>
            <a:off x="14182011" y="4552950"/>
            <a:ext cx="601980" cy="43053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7"/>
          <p:cNvSpPr/>
          <p:nvPr/>
        </p:nvSpPr>
        <p:spPr>
          <a:xfrm>
            <a:off x="14277261" y="4619625"/>
            <a:ext cx="48768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TAC</a:t>
            </a:r>
            <a:endParaRPr b="0" i="0" sz="1800" u="none" cap="none" strike="noStrike">
              <a:solidFill>
                <a:schemeClr val="dk1"/>
              </a:solidFill>
              <a:latin typeface="Calibri"/>
              <a:ea typeface="Calibri"/>
              <a:cs typeface="Calibri"/>
              <a:sym typeface="Calibri"/>
            </a:endParaRPr>
          </a:p>
        </p:txBody>
      </p:sp>
      <p:sp>
        <p:nvSpPr>
          <p:cNvPr id="670" name="Google Shape;670;p17"/>
          <p:cNvSpPr/>
          <p:nvPr/>
        </p:nvSpPr>
        <p:spPr>
          <a:xfrm>
            <a:off x="12414171" y="5154930"/>
            <a:ext cx="4931496" cy="142494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Boundaries are learned from the data: frequent stretches become one token, rare ones stay short. Common patterns cost fewer tokens.</a:t>
            </a:r>
            <a:endParaRPr b="0" i="0" sz="1950" u="none" cap="none" strike="noStrike">
              <a:solidFill>
                <a:schemeClr val="dk1"/>
              </a:solidFill>
              <a:latin typeface="Calibri"/>
              <a:ea typeface="Calibri"/>
              <a:cs typeface="Calibri"/>
              <a:sym typeface="Calibri"/>
            </a:endParaRPr>
          </a:p>
        </p:txBody>
      </p:sp>
      <p:sp>
        <p:nvSpPr>
          <p:cNvPr id="671" name="Google Shape;671;p17"/>
          <p:cNvSpPr/>
          <p:nvPr/>
        </p:nvSpPr>
        <p:spPr>
          <a:xfrm>
            <a:off x="12414171" y="7075170"/>
            <a:ext cx="493149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Used by DNABERT-2</a:t>
            </a:r>
            <a:endParaRPr b="0" i="0" sz="1800" u="none" cap="none" strike="noStrike">
              <a:solidFill>
                <a:schemeClr val="dk1"/>
              </a:solidFill>
              <a:latin typeface="Calibri"/>
              <a:ea typeface="Calibri"/>
              <a:cs typeface="Calibri"/>
              <a:sym typeface="Calibri"/>
            </a:endParaRPr>
          </a:p>
        </p:txBody>
      </p:sp>
      <p:sp>
        <p:nvSpPr>
          <p:cNvPr id="672" name="Google Shape;672;p17"/>
          <p:cNvSpPr/>
          <p:nvPr/>
        </p:nvSpPr>
        <p:spPr>
          <a:xfrm>
            <a:off x="838200" y="7576185"/>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7"/>
          <p:cNvSpPr/>
          <p:nvPr/>
        </p:nvSpPr>
        <p:spPr>
          <a:xfrm>
            <a:off x="838200" y="7839075"/>
            <a:ext cx="10661904"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PLAIN WORDS</a:t>
            </a:r>
            <a:endParaRPr b="0" i="0" sz="1800" u="none" cap="none" strike="noStrike">
              <a:solidFill>
                <a:schemeClr val="dk1"/>
              </a:solidFill>
              <a:latin typeface="Calibri"/>
              <a:ea typeface="Calibri"/>
              <a:cs typeface="Calibri"/>
              <a:sym typeface="Calibri"/>
            </a:endParaRPr>
          </a:p>
        </p:txBody>
      </p:sp>
      <p:sp>
        <p:nvSpPr>
          <p:cNvPr id="674" name="Google Shape;674;p17"/>
          <p:cNvSpPr/>
          <p:nvPr/>
        </p:nvSpPr>
        <p:spPr>
          <a:xfrm>
            <a:off x="838200" y="8193405"/>
            <a:ext cx="9983420"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Whatever the tokenizer calls one unit is the smallest thing the model can reason about. Change the tokenizer and you change what the model is able to notice — before any learning happens.</a:t>
            </a:r>
            <a:endParaRPr b="0" i="0" sz="2100" u="none" cap="none" strike="noStrike">
              <a:solidFill>
                <a:schemeClr val="dk1"/>
              </a:solidFill>
              <a:latin typeface="Calibri"/>
              <a:ea typeface="Calibri"/>
              <a:cs typeface="Calibri"/>
              <a:sym typeface="Calibri"/>
            </a:endParaRPr>
          </a:p>
        </p:txBody>
      </p:sp>
      <p:sp>
        <p:nvSpPr>
          <p:cNvPr id="675" name="Google Shape;675;p17"/>
          <p:cNvSpPr/>
          <p:nvPr/>
        </p:nvSpPr>
        <p:spPr>
          <a:xfrm>
            <a:off x="10988040" y="7839075"/>
            <a:ext cx="710793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RULE OF THUMB</a:t>
            </a:r>
            <a:endParaRPr b="0" i="0" sz="1800" u="none" cap="none" strike="noStrike">
              <a:solidFill>
                <a:schemeClr val="dk1"/>
              </a:solidFill>
              <a:latin typeface="Calibri"/>
              <a:ea typeface="Calibri"/>
              <a:cs typeface="Calibri"/>
              <a:sym typeface="Calibri"/>
            </a:endParaRPr>
          </a:p>
        </p:txBody>
      </p:sp>
      <p:sp>
        <p:nvSpPr>
          <p:cNvPr id="676" name="Google Shape;676;p17"/>
          <p:cNvSpPr/>
          <p:nvPr/>
        </p:nvSpPr>
        <p:spPr>
          <a:xfrm>
            <a:off x="10988040" y="8193405"/>
            <a:ext cx="6655613"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Smaller tokens: more detail, shorter reach. Larger tokens: longer reach, less detail.</a:t>
            </a:r>
            <a:endParaRPr b="0" i="0" sz="2100" u="none" cap="none" strike="noStrike">
              <a:solidFill>
                <a:schemeClr val="dk1"/>
              </a:solidFill>
              <a:latin typeface="Calibri"/>
              <a:ea typeface="Calibri"/>
              <a:cs typeface="Calibri"/>
              <a:sym typeface="Calibri"/>
            </a:endParaRPr>
          </a:p>
        </p:txBody>
      </p:sp>
      <p:sp>
        <p:nvSpPr>
          <p:cNvPr id="677" name="Google Shape;677;p17"/>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7"/>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679" name="Google Shape;679;p17"/>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680" name="Google Shape;680;p17"/>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17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5" name="Shape 685"/>
        <p:cNvGrpSpPr/>
        <p:nvPr/>
      </p:nvGrpSpPr>
      <p:grpSpPr>
        <a:xfrm>
          <a:off x="0" y="0"/>
          <a:ext cx="0" cy="0"/>
          <a:chOff x="0" y="0"/>
          <a:chExt cx="0" cy="0"/>
        </a:xfrm>
      </p:grpSpPr>
      <p:sp>
        <p:nvSpPr>
          <p:cNvPr id="686" name="Google Shape;686;p18"/>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8"/>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688" name="Google Shape;688;p18"/>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689" name="Google Shape;689;p18"/>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03 · DNA AS A LANGUAGE</a:t>
            </a:r>
            <a:endParaRPr b="0" i="0" sz="1800" u="none" cap="none" strike="noStrike">
              <a:solidFill>
                <a:schemeClr val="dk1"/>
              </a:solidFill>
              <a:latin typeface="Calibri"/>
              <a:ea typeface="Calibri"/>
              <a:cs typeface="Calibri"/>
              <a:sym typeface="Calibri"/>
            </a:endParaRPr>
          </a:p>
        </p:txBody>
      </p:sp>
      <p:sp>
        <p:nvSpPr>
          <p:cNvPr id="690" name="Google Shape;690;p18"/>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Attention, in three steps</a:t>
            </a:r>
            <a:endParaRPr b="0" i="0" sz="4500" u="none" cap="none" strike="noStrike">
              <a:solidFill>
                <a:schemeClr val="dk1"/>
              </a:solidFill>
              <a:latin typeface="Calibri"/>
              <a:ea typeface="Calibri"/>
              <a:cs typeface="Calibri"/>
              <a:sym typeface="Calibri"/>
            </a:endParaRPr>
          </a:p>
        </p:txBody>
      </p:sp>
      <p:sp>
        <p:nvSpPr>
          <p:cNvPr id="691" name="Google Shape;691;p18"/>
          <p:cNvSpPr/>
          <p:nvPr/>
        </p:nvSpPr>
        <p:spPr>
          <a:xfrm>
            <a:off x="838200" y="2314575"/>
            <a:ext cx="14912340" cy="866775"/>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Counting threw away order. Attention is the mechanism that puts it back: every position in the window looks at all the others and decides which of them matter to it.</a:t>
            </a:r>
            <a:endParaRPr b="0" i="0" sz="2250" u="none" cap="none" strike="noStrike">
              <a:solidFill>
                <a:schemeClr val="dk1"/>
              </a:solidFill>
              <a:latin typeface="Calibri"/>
              <a:ea typeface="Calibri"/>
              <a:cs typeface="Calibri"/>
              <a:sym typeface="Calibri"/>
            </a:endParaRPr>
          </a:p>
        </p:txBody>
      </p:sp>
      <p:sp>
        <p:nvSpPr>
          <p:cNvPr id="692" name="Google Shape;692;p18"/>
          <p:cNvSpPr/>
          <p:nvPr/>
        </p:nvSpPr>
        <p:spPr>
          <a:xfrm>
            <a:off x="838200" y="3505200"/>
            <a:ext cx="5308521"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8"/>
          <p:cNvSpPr/>
          <p:nvPr/>
        </p:nvSpPr>
        <p:spPr>
          <a:xfrm>
            <a:off x="838200" y="3729990"/>
            <a:ext cx="5839373"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STEP 1 · COMPARE</a:t>
            </a:r>
            <a:endParaRPr b="0" i="0" sz="1800" u="none" cap="none" strike="noStrike">
              <a:solidFill>
                <a:schemeClr val="dk1"/>
              </a:solidFill>
              <a:latin typeface="Calibri"/>
              <a:ea typeface="Calibri"/>
              <a:cs typeface="Calibri"/>
              <a:sym typeface="Calibri"/>
            </a:endParaRPr>
          </a:p>
        </p:txBody>
      </p:sp>
      <p:sp>
        <p:nvSpPr>
          <p:cNvPr id="694" name="Google Shape;694;p18"/>
          <p:cNvSpPr/>
          <p:nvPr/>
        </p:nvSpPr>
        <p:spPr>
          <a:xfrm>
            <a:off x="838200" y="4084320"/>
            <a:ext cx="5839373" cy="449580"/>
          </a:xfrm>
          <a:prstGeom prst="rect">
            <a:avLst/>
          </a:prstGeom>
          <a:noFill/>
          <a:ln>
            <a:noFill/>
          </a:ln>
        </p:spPr>
        <p:txBody>
          <a:bodyPr anchorCtr="0" anchor="t" bIns="25400" lIns="25400" spcFirstLastPara="1" rIns="25400" wrap="square" tIns="25400">
            <a:normAutofit/>
          </a:bodyPr>
          <a:lstStyle/>
          <a:p>
            <a:pPr indent="0" lvl="0" marL="0" marR="0" rtl="0" algn="l">
              <a:lnSpc>
                <a:spcPct val="103846"/>
              </a:lnSpc>
              <a:spcBef>
                <a:spcPts val="0"/>
              </a:spcBef>
              <a:spcAft>
                <a:spcPts val="0"/>
              </a:spcAft>
              <a:buClr>
                <a:srgbClr val="1C2A44"/>
              </a:buClr>
              <a:buSzPts val="2700"/>
              <a:buFont typeface="Helvetica Neue"/>
              <a:buNone/>
            </a:pPr>
            <a:r>
              <a:rPr b="1" i="0" lang="en-US" sz="2700" u="none" cap="none" strike="noStrike">
                <a:solidFill>
                  <a:srgbClr val="1C2A44"/>
                </a:solidFill>
                <a:latin typeface="Helvetica Neue"/>
                <a:ea typeface="Helvetica Neue"/>
                <a:cs typeface="Helvetica Neue"/>
                <a:sym typeface="Helvetica Neue"/>
              </a:rPr>
              <a:t>Who is relevant to me?</a:t>
            </a:r>
            <a:endParaRPr b="0" i="0" sz="2700" u="none" cap="none" strike="noStrike">
              <a:solidFill>
                <a:schemeClr val="dk1"/>
              </a:solidFill>
              <a:latin typeface="Calibri"/>
              <a:ea typeface="Calibri"/>
              <a:cs typeface="Calibri"/>
              <a:sym typeface="Calibri"/>
            </a:endParaRPr>
          </a:p>
        </p:txBody>
      </p:sp>
      <p:sp>
        <p:nvSpPr>
          <p:cNvPr id="695" name="Google Shape;695;p18"/>
          <p:cNvSpPr/>
          <p:nvPr/>
        </p:nvSpPr>
        <p:spPr>
          <a:xfrm>
            <a:off x="838200" y="4629150"/>
            <a:ext cx="5467776" cy="1156811"/>
          </a:xfrm>
          <a:prstGeom prst="rect">
            <a:avLst/>
          </a:prstGeom>
          <a:noFill/>
          <a:ln>
            <a:noFill/>
          </a:ln>
        </p:spPr>
        <p:txBody>
          <a:bodyPr anchorCtr="0" anchor="t" bIns="25400" lIns="25400" spcFirstLastPara="1" rIns="25400" wrap="square" tIns="25400">
            <a:normAutofit/>
          </a:bodyPr>
          <a:lstStyle/>
          <a:p>
            <a:pPr indent="0" lvl="0" marL="0" marR="0" rtl="0" algn="l">
              <a:lnSpc>
                <a:spcPct val="125481"/>
              </a:lnSpc>
              <a:spcBef>
                <a:spcPts val="0"/>
              </a:spcBef>
              <a:spcAft>
                <a:spcPts val="0"/>
              </a:spcAft>
              <a:buClr>
                <a:srgbClr val="53627A"/>
              </a:buClr>
              <a:buSzPts val="2025"/>
              <a:buFont typeface="Helvetica Neue"/>
              <a:buNone/>
            </a:pPr>
            <a:r>
              <a:rPr b="0" i="0" lang="en-US" sz="2025" u="none" cap="none" strike="noStrike">
                <a:solidFill>
                  <a:srgbClr val="53627A"/>
                </a:solidFill>
                <a:latin typeface="Helvetica Neue"/>
                <a:ea typeface="Helvetica Neue"/>
                <a:cs typeface="Helvetica Neue"/>
                <a:sym typeface="Helvetica Neue"/>
              </a:rPr>
              <a:t>Each position is compared with every other position in the window, producing one raw score per pair.</a:t>
            </a:r>
            <a:endParaRPr b="0" i="0" sz="2025" u="none" cap="none" strike="noStrike">
              <a:solidFill>
                <a:schemeClr val="dk1"/>
              </a:solidFill>
              <a:latin typeface="Calibri"/>
              <a:ea typeface="Calibri"/>
              <a:cs typeface="Calibri"/>
              <a:sym typeface="Calibri"/>
            </a:endParaRPr>
          </a:p>
        </p:txBody>
      </p:sp>
      <p:sp>
        <p:nvSpPr>
          <p:cNvPr id="696" name="Google Shape;696;p18"/>
          <p:cNvSpPr/>
          <p:nvPr/>
        </p:nvSpPr>
        <p:spPr>
          <a:xfrm>
            <a:off x="838200" y="5900261"/>
            <a:ext cx="5308521" cy="60198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8"/>
          <p:cNvSpPr/>
          <p:nvPr/>
        </p:nvSpPr>
        <p:spPr>
          <a:xfrm>
            <a:off x="1028700" y="6052661"/>
            <a:ext cx="5086776"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score(TATAAA, GCGCGG) = 3.1</a:t>
            </a:r>
            <a:endParaRPr b="0" i="0" sz="1800" u="none" cap="none" strike="noStrike">
              <a:solidFill>
                <a:schemeClr val="dk1"/>
              </a:solidFill>
              <a:latin typeface="Calibri"/>
              <a:ea typeface="Calibri"/>
              <a:cs typeface="Calibri"/>
              <a:sym typeface="Calibri"/>
            </a:endParaRPr>
          </a:p>
        </p:txBody>
      </p:sp>
      <p:sp>
        <p:nvSpPr>
          <p:cNvPr id="698" name="Google Shape;698;p18"/>
          <p:cNvSpPr/>
          <p:nvPr/>
        </p:nvSpPr>
        <p:spPr>
          <a:xfrm>
            <a:off x="6489621" y="3505200"/>
            <a:ext cx="530864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8"/>
          <p:cNvSpPr/>
          <p:nvPr/>
        </p:nvSpPr>
        <p:spPr>
          <a:xfrm>
            <a:off x="6489621" y="3729990"/>
            <a:ext cx="5839504"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STEP 2 · WEIGH</a:t>
            </a:r>
            <a:endParaRPr b="0" i="0" sz="1800" u="none" cap="none" strike="noStrike">
              <a:solidFill>
                <a:schemeClr val="dk1"/>
              </a:solidFill>
              <a:latin typeface="Calibri"/>
              <a:ea typeface="Calibri"/>
              <a:cs typeface="Calibri"/>
              <a:sym typeface="Calibri"/>
            </a:endParaRPr>
          </a:p>
        </p:txBody>
      </p:sp>
      <p:sp>
        <p:nvSpPr>
          <p:cNvPr id="700" name="Google Shape;700;p18"/>
          <p:cNvSpPr/>
          <p:nvPr/>
        </p:nvSpPr>
        <p:spPr>
          <a:xfrm>
            <a:off x="6489621" y="4084320"/>
            <a:ext cx="5839504" cy="449580"/>
          </a:xfrm>
          <a:prstGeom prst="rect">
            <a:avLst/>
          </a:prstGeom>
          <a:noFill/>
          <a:ln>
            <a:noFill/>
          </a:ln>
        </p:spPr>
        <p:txBody>
          <a:bodyPr anchorCtr="0" anchor="t" bIns="25400" lIns="25400" spcFirstLastPara="1" rIns="25400" wrap="square" tIns="25400">
            <a:normAutofit/>
          </a:bodyPr>
          <a:lstStyle/>
          <a:p>
            <a:pPr indent="0" lvl="0" marL="0" marR="0" rtl="0" algn="l">
              <a:lnSpc>
                <a:spcPct val="103846"/>
              </a:lnSpc>
              <a:spcBef>
                <a:spcPts val="0"/>
              </a:spcBef>
              <a:spcAft>
                <a:spcPts val="0"/>
              </a:spcAft>
              <a:buClr>
                <a:srgbClr val="1C2A44"/>
              </a:buClr>
              <a:buSzPts val="2700"/>
              <a:buFont typeface="Helvetica Neue"/>
              <a:buNone/>
            </a:pPr>
            <a:r>
              <a:rPr b="1" i="0" lang="en-US" sz="2700" u="none" cap="none" strike="noStrike">
                <a:solidFill>
                  <a:srgbClr val="1C2A44"/>
                </a:solidFill>
                <a:latin typeface="Helvetica Neue"/>
                <a:ea typeface="Helvetica Neue"/>
                <a:cs typeface="Helvetica Neue"/>
                <a:sym typeface="Helvetica Neue"/>
              </a:rPr>
              <a:t>Turn scores into shares</a:t>
            </a:r>
            <a:endParaRPr b="0" i="0" sz="2700" u="none" cap="none" strike="noStrike">
              <a:solidFill>
                <a:schemeClr val="dk1"/>
              </a:solidFill>
              <a:latin typeface="Calibri"/>
              <a:ea typeface="Calibri"/>
              <a:cs typeface="Calibri"/>
              <a:sym typeface="Calibri"/>
            </a:endParaRPr>
          </a:p>
        </p:txBody>
      </p:sp>
      <p:sp>
        <p:nvSpPr>
          <p:cNvPr id="701" name="Google Shape;701;p18"/>
          <p:cNvSpPr/>
          <p:nvPr/>
        </p:nvSpPr>
        <p:spPr>
          <a:xfrm>
            <a:off x="6489621" y="4629150"/>
            <a:ext cx="5467899" cy="1156811"/>
          </a:xfrm>
          <a:prstGeom prst="rect">
            <a:avLst/>
          </a:prstGeom>
          <a:noFill/>
          <a:ln>
            <a:noFill/>
          </a:ln>
        </p:spPr>
        <p:txBody>
          <a:bodyPr anchorCtr="0" anchor="t" bIns="25400" lIns="25400" spcFirstLastPara="1" rIns="25400" wrap="square" tIns="25400">
            <a:normAutofit/>
          </a:bodyPr>
          <a:lstStyle/>
          <a:p>
            <a:pPr indent="0" lvl="0" marL="0" marR="0" rtl="0" algn="l">
              <a:lnSpc>
                <a:spcPct val="125481"/>
              </a:lnSpc>
              <a:spcBef>
                <a:spcPts val="0"/>
              </a:spcBef>
              <a:spcAft>
                <a:spcPts val="0"/>
              </a:spcAft>
              <a:buClr>
                <a:srgbClr val="53627A"/>
              </a:buClr>
              <a:buSzPts val="2025"/>
              <a:buFont typeface="Helvetica Neue"/>
              <a:buNone/>
            </a:pPr>
            <a:r>
              <a:rPr b="0" i="0" lang="en-US" sz="2025" u="none" cap="none" strike="noStrike">
                <a:solidFill>
                  <a:srgbClr val="53627A"/>
                </a:solidFill>
                <a:latin typeface="Helvetica Neue"/>
                <a:ea typeface="Helvetica Neue"/>
                <a:cs typeface="Helvetica Neue"/>
                <a:sym typeface="Helvetica Neue"/>
              </a:rPr>
              <a:t>The scores are squashed into weights between 0 and 1 that add up to 1 — a fixed budget of attention to spend.</a:t>
            </a:r>
            <a:endParaRPr b="0" i="0" sz="2025" u="none" cap="none" strike="noStrike">
              <a:solidFill>
                <a:schemeClr val="dk1"/>
              </a:solidFill>
              <a:latin typeface="Calibri"/>
              <a:ea typeface="Calibri"/>
              <a:cs typeface="Calibri"/>
              <a:sym typeface="Calibri"/>
            </a:endParaRPr>
          </a:p>
        </p:txBody>
      </p:sp>
      <p:sp>
        <p:nvSpPr>
          <p:cNvPr id="702" name="Google Shape;702;p18"/>
          <p:cNvSpPr/>
          <p:nvPr/>
        </p:nvSpPr>
        <p:spPr>
          <a:xfrm>
            <a:off x="6489621" y="5900261"/>
            <a:ext cx="1362075"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GCGCGG</a:t>
            </a:r>
            <a:endParaRPr b="0" i="0" sz="1800" u="none" cap="none" strike="noStrike">
              <a:solidFill>
                <a:schemeClr val="dk1"/>
              </a:solidFill>
              <a:latin typeface="Calibri"/>
              <a:ea typeface="Calibri"/>
              <a:cs typeface="Calibri"/>
              <a:sym typeface="Calibri"/>
            </a:endParaRPr>
          </a:p>
        </p:txBody>
      </p:sp>
      <p:sp>
        <p:nvSpPr>
          <p:cNvPr id="703" name="Google Shape;703;p18"/>
          <p:cNvSpPr/>
          <p:nvPr/>
        </p:nvSpPr>
        <p:spPr>
          <a:xfrm>
            <a:off x="7842171" y="5953601"/>
            <a:ext cx="3293150" cy="19050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8"/>
          <p:cNvSpPr/>
          <p:nvPr/>
        </p:nvSpPr>
        <p:spPr>
          <a:xfrm>
            <a:off x="7842171" y="5953601"/>
            <a:ext cx="2041684" cy="19050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8"/>
          <p:cNvSpPr/>
          <p:nvPr/>
        </p:nvSpPr>
        <p:spPr>
          <a:xfrm>
            <a:off x="11249620" y="5900261"/>
            <a:ext cx="62484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0.62</a:t>
            </a:r>
            <a:endParaRPr b="0" i="0" sz="1800" u="none" cap="none" strike="noStrike">
              <a:solidFill>
                <a:schemeClr val="dk1"/>
              </a:solidFill>
              <a:latin typeface="Calibri"/>
              <a:ea typeface="Calibri"/>
              <a:cs typeface="Calibri"/>
              <a:sym typeface="Calibri"/>
            </a:endParaRPr>
          </a:p>
        </p:txBody>
      </p:sp>
      <p:sp>
        <p:nvSpPr>
          <p:cNvPr id="706" name="Google Shape;706;p18"/>
          <p:cNvSpPr/>
          <p:nvPr/>
        </p:nvSpPr>
        <p:spPr>
          <a:xfrm>
            <a:off x="6489621" y="6273641"/>
            <a:ext cx="1362075"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CCAAT</a:t>
            </a:r>
            <a:endParaRPr b="0" i="0" sz="1800" u="none" cap="none" strike="noStrike">
              <a:solidFill>
                <a:schemeClr val="dk1"/>
              </a:solidFill>
              <a:latin typeface="Calibri"/>
              <a:ea typeface="Calibri"/>
              <a:cs typeface="Calibri"/>
              <a:sym typeface="Calibri"/>
            </a:endParaRPr>
          </a:p>
        </p:txBody>
      </p:sp>
      <p:sp>
        <p:nvSpPr>
          <p:cNvPr id="707" name="Google Shape;707;p18"/>
          <p:cNvSpPr/>
          <p:nvPr/>
        </p:nvSpPr>
        <p:spPr>
          <a:xfrm>
            <a:off x="7842171" y="6326981"/>
            <a:ext cx="3293150" cy="19050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8"/>
          <p:cNvSpPr/>
          <p:nvPr/>
        </p:nvSpPr>
        <p:spPr>
          <a:xfrm>
            <a:off x="7842171" y="6326981"/>
            <a:ext cx="856178" cy="19050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8"/>
          <p:cNvSpPr/>
          <p:nvPr/>
        </p:nvSpPr>
        <p:spPr>
          <a:xfrm>
            <a:off x="11249620" y="6273641"/>
            <a:ext cx="62484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0.26</a:t>
            </a:r>
            <a:endParaRPr b="0" i="0" sz="1800" u="none" cap="none" strike="noStrike">
              <a:solidFill>
                <a:schemeClr val="dk1"/>
              </a:solidFill>
              <a:latin typeface="Calibri"/>
              <a:ea typeface="Calibri"/>
              <a:cs typeface="Calibri"/>
              <a:sym typeface="Calibri"/>
            </a:endParaRPr>
          </a:p>
        </p:txBody>
      </p:sp>
      <p:sp>
        <p:nvSpPr>
          <p:cNvPr id="710" name="Google Shape;710;p18"/>
          <p:cNvSpPr/>
          <p:nvPr/>
        </p:nvSpPr>
        <p:spPr>
          <a:xfrm>
            <a:off x="6489621" y="6647022"/>
            <a:ext cx="1362075"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AAATTT</a:t>
            </a:r>
            <a:endParaRPr b="0" i="0" sz="1800" u="none" cap="none" strike="noStrike">
              <a:solidFill>
                <a:schemeClr val="dk1"/>
              </a:solidFill>
              <a:latin typeface="Calibri"/>
              <a:ea typeface="Calibri"/>
              <a:cs typeface="Calibri"/>
              <a:sym typeface="Calibri"/>
            </a:endParaRPr>
          </a:p>
        </p:txBody>
      </p:sp>
      <p:sp>
        <p:nvSpPr>
          <p:cNvPr id="711" name="Google Shape;711;p18"/>
          <p:cNvSpPr/>
          <p:nvPr/>
        </p:nvSpPr>
        <p:spPr>
          <a:xfrm>
            <a:off x="7842171" y="6700361"/>
            <a:ext cx="3293150" cy="19050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8"/>
          <p:cNvSpPr/>
          <p:nvPr/>
        </p:nvSpPr>
        <p:spPr>
          <a:xfrm>
            <a:off x="7842171" y="6700361"/>
            <a:ext cx="395168" cy="19050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8"/>
          <p:cNvSpPr/>
          <p:nvPr/>
        </p:nvSpPr>
        <p:spPr>
          <a:xfrm>
            <a:off x="11249620" y="6647022"/>
            <a:ext cx="624840"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0.12</a:t>
            </a:r>
            <a:endParaRPr b="0" i="0" sz="1800" u="none" cap="none" strike="noStrike">
              <a:solidFill>
                <a:schemeClr val="dk1"/>
              </a:solidFill>
              <a:latin typeface="Calibri"/>
              <a:ea typeface="Calibri"/>
              <a:cs typeface="Calibri"/>
              <a:sym typeface="Calibri"/>
            </a:endParaRPr>
          </a:p>
        </p:txBody>
      </p:sp>
      <p:sp>
        <p:nvSpPr>
          <p:cNvPr id="714" name="Google Shape;714;p18"/>
          <p:cNvSpPr/>
          <p:nvPr/>
        </p:nvSpPr>
        <p:spPr>
          <a:xfrm>
            <a:off x="12141160" y="3505200"/>
            <a:ext cx="530864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8"/>
          <p:cNvSpPr/>
          <p:nvPr/>
        </p:nvSpPr>
        <p:spPr>
          <a:xfrm>
            <a:off x="12141160" y="3729990"/>
            <a:ext cx="5839504"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STEP 3 · MIX</a:t>
            </a:r>
            <a:endParaRPr b="0" i="0" sz="1800" u="none" cap="none" strike="noStrike">
              <a:solidFill>
                <a:schemeClr val="dk1"/>
              </a:solidFill>
              <a:latin typeface="Calibri"/>
              <a:ea typeface="Calibri"/>
              <a:cs typeface="Calibri"/>
              <a:sym typeface="Calibri"/>
            </a:endParaRPr>
          </a:p>
        </p:txBody>
      </p:sp>
      <p:sp>
        <p:nvSpPr>
          <p:cNvPr id="716" name="Google Shape;716;p18"/>
          <p:cNvSpPr/>
          <p:nvPr/>
        </p:nvSpPr>
        <p:spPr>
          <a:xfrm>
            <a:off x="12141160" y="4084320"/>
            <a:ext cx="5839504" cy="449580"/>
          </a:xfrm>
          <a:prstGeom prst="rect">
            <a:avLst/>
          </a:prstGeom>
          <a:noFill/>
          <a:ln>
            <a:noFill/>
          </a:ln>
        </p:spPr>
        <p:txBody>
          <a:bodyPr anchorCtr="0" anchor="t" bIns="25400" lIns="25400" spcFirstLastPara="1" rIns="25400" wrap="square" tIns="25400">
            <a:normAutofit/>
          </a:bodyPr>
          <a:lstStyle/>
          <a:p>
            <a:pPr indent="0" lvl="0" marL="0" marR="0" rtl="0" algn="l">
              <a:lnSpc>
                <a:spcPct val="103846"/>
              </a:lnSpc>
              <a:spcBef>
                <a:spcPts val="0"/>
              </a:spcBef>
              <a:spcAft>
                <a:spcPts val="0"/>
              </a:spcAft>
              <a:buClr>
                <a:srgbClr val="1C2A44"/>
              </a:buClr>
              <a:buSzPts val="2700"/>
              <a:buFont typeface="Helvetica Neue"/>
              <a:buNone/>
            </a:pPr>
            <a:r>
              <a:rPr b="1" i="0" lang="en-US" sz="2700" u="none" cap="none" strike="noStrike">
                <a:solidFill>
                  <a:srgbClr val="1C2A44"/>
                </a:solidFill>
                <a:latin typeface="Helvetica Neue"/>
                <a:ea typeface="Helvetica Neue"/>
                <a:cs typeface="Helvetica Neue"/>
                <a:sym typeface="Helvetica Neue"/>
              </a:rPr>
              <a:t>Rewrite each position</a:t>
            </a:r>
            <a:endParaRPr b="0" i="0" sz="2700" u="none" cap="none" strike="noStrike">
              <a:solidFill>
                <a:schemeClr val="dk1"/>
              </a:solidFill>
              <a:latin typeface="Calibri"/>
              <a:ea typeface="Calibri"/>
              <a:cs typeface="Calibri"/>
              <a:sym typeface="Calibri"/>
            </a:endParaRPr>
          </a:p>
        </p:txBody>
      </p:sp>
      <p:sp>
        <p:nvSpPr>
          <p:cNvPr id="717" name="Google Shape;717;p18"/>
          <p:cNvSpPr/>
          <p:nvPr/>
        </p:nvSpPr>
        <p:spPr>
          <a:xfrm>
            <a:off x="12141160" y="4629150"/>
            <a:ext cx="5467899" cy="1156811"/>
          </a:xfrm>
          <a:prstGeom prst="rect">
            <a:avLst/>
          </a:prstGeom>
          <a:noFill/>
          <a:ln>
            <a:noFill/>
          </a:ln>
        </p:spPr>
        <p:txBody>
          <a:bodyPr anchorCtr="0" anchor="t" bIns="25400" lIns="25400" spcFirstLastPara="1" rIns="25400" wrap="square" tIns="25400">
            <a:normAutofit/>
          </a:bodyPr>
          <a:lstStyle/>
          <a:p>
            <a:pPr indent="0" lvl="0" marL="0" marR="0" rtl="0" algn="l">
              <a:lnSpc>
                <a:spcPct val="125481"/>
              </a:lnSpc>
              <a:spcBef>
                <a:spcPts val="0"/>
              </a:spcBef>
              <a:spcAft>
                <a:spcPts val="0"/>
              </a:spcAft>
              <a:buClr>
                <a:srgbClr val="53627A"/>
              </a:buClr>
              <a:buSzPts val="2025"/>
              <a:buFont typeface="Helvetica Neue"/>
              <a:buNone/>
            </a:pPr>
            <a:r>
              <a:rPr b="0" i="0" lang="en-US" sz="2025" u="none" cap="none" strike="noStrike">
                <a:solidFill>
                  <a:srgbClr val="53627A"/>
                </a:solidFill>
                <a:latin typeface="Helvetica Neue"/>
                <a:ea typeface="Helvetica Neue"/>
                <a:cs typeface="Helvetica Neue"/>
                <a:sym typeface="Helvetica Neue"/>
              </a:rPr>
              <a:t>Every position is replaced by a blend of the positions it weighted highly. It now carries its context with it.</a:t>
            </a:r>
            <a:endParaRPr b="0" i="0" sz="2025" u="none" cap="none" strike="noStrike">
              <a:solidFill>
                <a:schemeClr val="dk1"/>
              </a:solidFill>
              <a:latin typeface="Calibri"/>
              <a:ea typeface="Calibri"/>
              <a:cs typeface="Calibri"/>
              <a:sym typeface="Calibri"/>
            </a:endParaRPr>
          </a:p>
        </p:txBody>
      </p:sp>
      <p:sp>
        <p:nvSpPr>
          <p:cNvPr id="718" name="Google Shape;718;p18"/>
          <p:cNvSpPr/>
          <p:nvPr/>
        </p:nvSpPr>
        <p:spPr>
          <a:xfrm>
            <a:off x="12141160" y="5900261"/>
            <a:ext cx="5308640" cy="89916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8"/>
          <p:cNvSpPr/>
          <p:nvPr/>
        </p:nvSpPr>
        <p:spPr>
          <a:xfrm>
            <a:off x="12331660" y="6052661"/>
            <a:ext cx="5086899" cy="6324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highlight>
                  <a:srgbClr val="F2F6FC"/>
                </a:highlight>
                <a:latin typeface="IBM Plex Mono"/>
                <a:ea typeface="IBM Plex Mono"/>
                <a:cs typeface="IBM Plex Mono"/>
                <a:sym typeface="IBM Plex Mono"/>
              </a:rPr>
              <a:t>TATAAA + 0.62·GCGCGG + 0.26·CCAAT …</a:t>
            </a:r>
            <a:endParaRPr b="0" i="0" sz="1800" u="none" cap="none" strike="noStrike">
              <a:solidFill>
                <a:schemeClr val="dk1"/>
              </a:solidFill>
              <a:latin typeface="Calibri"/>
              <a:ea typeface="Calibri"/>
              <a:cs typeface="Calibri"/>
              <a:sym typeface="Calibri"/>
            </a:endParaRPr>
          </a:p>
        </p:txBody>
      </p:sp>
      <p:sp>
        <p:nvSpPr>
          <p:cNvPr id="720" name="Google Shape;720;p18"/>
          <p:cNvSpPr/>
          <p:nvPr/>
        </p:nvSpPr>
        <p:spPr>
          <a:xfrm>
            <a:off x="838200" y="7189470"/>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8"/>
          <p:cNvSpPr/>
          <p:nvPr/>
        </p:nvSpPr>
        <p:spPr>
          <a:xfrm>
            <a:off x="838200" y="7452360"/>
            <a:ext cx="10365653"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WHY IT MATTERS FOR OUR TASK</a:t>
            </a:r>
            <a:endParaRPr b="0" i="0" sz="1800" u="none" cap="none" strike="noStrike">
              <a:solidFill>
                <a:schemeClr val="dk1"/>
              </a:solidFill>
              <a:latin typeface="Calibri"/>
              <a:ea typeface="Calibri"/>
              <a:cs typeface="Calibri"/>
              <a:sym typeface="Calibri"/>
            </a:endParaRPr>
          </a:p>
        </p:txBody>
      </p:sp>
      <p:sp>
        <p:nvSpPr>
          <p:cNvPr id="722" name="Google Shape;722;p18"/>
          <p:cNvSpPr/>
          <p:nvPr/>
        </p:nvSpPr>
        <p:spPr>
          <a:xfrm>
            <a:off x="838200" y="7806690"/>
            <a:ext cx="9706020"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TATAAA in a GC-rich neighbourhood with a CCAAT box nearby is a promoter signal. The same six letters in an AT-rich intron are not. Attention is how one model can tell those two apart.</a:t>
            </a:r>
            <a:endParaRPr b="0" i="0" sz="2100" u="none" cap="none" strike="noStrike">
              <a:solidFill>
                <a:schemeClr val="dk1"/>
              </a:solidFill>
              <a:latin typeface="Calibri"/>
              <a:ea typeface="Calibri"/>
              <a:cs typeface="Calibri"/>
              <a:sym typeface="Calibri"/>
            </a:endParaRPr>
          </a:p>
        </p:txBody>
      </p:sp>
      <p:sp>
        <p:nvSpPr>
          <p:cNvPr id="723" name="Google Shape;723;p18"/>
          <p:cNvSpPr/>
          <p:nvPr/>
        </p:nvSpPr>
        <p:spPr>
          <a:xfrm>
            <a:off x="10718721" y="7452360"/>
            <a:ext cx="740405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THE COST</a:t>
            </a:r>
            <a:endParaRPr b="0" i="0" sz="1800" u="none" cap="none" strike="noStrike">
              <a:solidFill>
                <a:schemeClr val="dk1"/>
              </a:solidFill>
              <a:latin typeface="Calibri"/>
              <a:ea typeface="Calibri"/>
              <a:cs typeface="Calibri"/>
              <a:sym typeface="Calibri"/>
            </a:endParaRPr>
          </a:p>
        </p:txBody>
      </p:sp>
      <p:sp>
        <p:nvSpPr>
          <p:cNvPr id="724" name="Google Shape;724;p18"/>
          <p:cNvSpPr/>
          <p:nvPr/>
        </p:nvSpPr>
        <p:spPr>
          <a:xfrm>
            <a:off x="10718721" y="7806690"/>
            <a:ext cx="6932889" cy="158496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Every position against every other: 300 positions is 90,000 comparisons, 3,000 is 9 million. Doubling the window quadruples the work — the fact that shapes Part 04.</a:t>
            </a:r>
            <a:endParaRPr b="0" i="0" sz="2100" u="none" cap="none" strike="noStrike">
              <a:solidFill>
                <a:schemeClr val="dk1"/>
              </a:solidFill>
              <a:latin typeface="Calibri"/>
              <a:ea typeface="Calibri"/>
              <a:cs typeface="Calibri"/>
              <a:sym typeface="Calibri"/>
            </a:endParaRPr>
          </a:p>
        </p:txBody>
      </p:sp>
      <p:sp>
        <p:nvSpPr>
          <p:cNvPr id="725" name="Google Shape;725;p18"/>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8"/>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727" name="Google Shape;727;p18"/>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728" name="Google Shape;728;p18"/>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18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3" name="Shape 733"/>
        <p:cNvGrpSpPr/>
        <p:nvPr/>
      </p:nvGrpSpPr>
      <p:grpSpPr>
        <a:xfrm>
          <a:off x="0" y="0"/>
          <a:ext cx="0" cy="0"/>
          <a:chOff x="0" y="0"/>
          <a:chExt cx="0" cy="0"/>
        </a:xfrm>
      </p:grpSpPr>
      <p:sp>
        <p:nvSpPr>
          <p:cNvPr id="734" name="Google Shape;734;p19"/>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9"/>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736" name="Google Shape;736;p19"/>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737" name="Google Shape;737;p19"/>
          <p:cNvSpPr/>
          <p:nvPr/>
        </p:nvSpPr>
        <p:spPr>
          <a:xfrm>
            <a:off x="838200" y="1093470"/>
            <a:ext cx="10467285"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03 · DNA AS A LANGUAGE</a:t>
            </a:r>
            <a:endParaRPr b="0" i="0" sz="1800" u="none" cap="none" strike="noStrike">
              <a:solidFill>
                <a:schemeClr val="dk1"/>
              </a:solidFill>
              <a:latin typeface="Calibri"/>
              <a:ea typeface="Calibri"/>
              <a:cs typeface="Calibri"/>
              <a:sym typeface="Calibri"/>
            </a:endParaRPr>
          </a:p>
        </p:txBody>
      </p:sp>
      <p:sp>
        <p:nvSpPr>
          <p:cNvPr id="738" name="Google Shape;738;p19"/>
          <p:cNvSpPr/>
          <p:nvPr/>
        </p:nvSpPr>
        <p:spPr>
          <a:xfrm>
            <a:off x="838200" y="1504950"/>
            <a:ext cx="10467285"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What attention looks at</a:t>
            </a:r>
            <a:endParaRPr b="0" i="0" sz="4500" u="none" cap="none" strike="noStrike">
              <a:solidFill>
                <a:schemeClr val="dk1"/>
              </a:solidFill>
              <a:latin typeface="Calibri"/>
              <a:ea typeface="Calibri"/>
              <a:cs typeface="Calibri"/>
              <a:sym typeface="Calibri"/>
            </a:endParaRPr>
          </a:p>
        </p:txBody>
      </p:sp>
      <p:sp>
        <p:nvSpPr>
          <p:cNvPr id="739" name="Google Shape;739;p19"/>
          <p:cNvSpPr/>
          <p:nvPr/>
        </p:nvSpPr>
        <p:spPr>
          <a:xfrm>
            <a:off x="838200" y="2314575"/>
            <a:ext cx="9515713" cy="6284595"/>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9"/>
          <p:cNvSpPr/>
          <p:nvPr/>
        </p:nvSpPr>
        <p:spPr>
          <a:xfrm>
            <a:off x="2343150" y="2673668"/>
            <a:ext cx="810577"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GGC</a:t>
            </a:r>
            <a:endParaRPr b="0" i="0" sz="1800" u="none" cap="none" strike="noStrike">
              <a:solidFill>
                <a:schemeClr val="dk1"/>
              </a:solidFill>
              <a:latin typeface="Calibri"/>
              <a:ea typeface="Calibri"/>
              <a:cs typeface="Calibri"/>
              <a:sym typeface="Calibri"/>
            </a:endParaRPr>
          </a:p>
        </p:txBody>
      </p:sp>
      <p:sp>
        <p:nvSpPr>
          <p:cNvPr id="741" name="Google Shape;741;p19"/>
          <p:cNvSpPr/>
          <p:nvPr/>
        </p:nvSpPr>
        <p:spPr>
          <a:xfrm>
            <a:off x="3115628" y="2673668"/>
            <a:ext cx="810697"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CGC</a:t>
            </a:r>
            <a:endParaRPr b="0" i="0" sz="1800" u="none" cap="none" strike="noStrike">
              <a:solidFill>
                <a:schemeClr val="dk1"/>
              </a:solidFill>
              <a:latin typeface="Calibri"/>
              <a:ea typeface="Calibri"/>
              <a:cs typeface="Calibri"/>
              <a:sym typeface="Calibri"/>
            </a:endParaRPr>
          </a:p>
        </p:txBody>
      </p:sp>
      <p:sp>
        <p:nvSpPr>
          <p:cNvPr id="742" name="Google Shape;742;p19"/>
          <p:cNvSpPr/>
          <p:nvPr/>
        </p:nvSpPr>
        <p:spPr>
          <a:xfrm>
            <a:off x="3888224" y="2673668"/>
            <a:ext cx="810577"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TAT</a:t>
            </a:r>
            <a:endParaRPr b="0" i="0" sz="1800" u="none" cap="none" strike="noStrike">
              <a:solidFill>
                <a:schemeClr val="dk1"/>
              </a:solidFill>
              <a:latin typeface="Calibri"/>
              <a:ea typeface="Calibri"/>
              <a:cs typeface="Calibri"/>
              <a:sym typeface="Calibri"/>
            </a:endParaRPr>
          </a:p>
        </p:txBody>
      </p:sp>
      <p:sp>
        <p:nvSpPr>
          <p:cNvPr id="743" name="Google Shape;743;p19"/>
          <p:cNvSpPr/>
          <p:nvPr/>
        </p:nvSpPr>
        <p:spPr>
          <a:xfrm>
            <a:off x="4660702" y="2673668"/>
            <a:ext cx="810697"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AAA</a:t>
            </a:r>
            <a:endParaRPr b="0" i="0" sz="1800" u="none" cap="none" strike="noStrike">
              <a:solidFill>
                <a:schemeClr val="dk1"/>
              </a:solidFill>
              <a:latin typeface="Calibri"/>
              <a:ea typeface="Calibri"/>
              <a:cs typeface="Calibri"/>
              <a:sym typeface="Calibri"/>
            </a:endParaRPr>
          </a:p>
        </p:txBody>
      </p:sp>
      <p:sp>
        <p:nvSpPr>
          <p:cNvPr id="744" name="Google Shape;744;p19"/>
          <p:cNvSpPr/>
          <p:nvPr/>
        </p:nvSpPr>
        <p:spPr>
          <a:xfrm>
            <a:off x="5433298" y="2673668"/>
            <a:ext cx="810577"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GCG</a:t>
            </a:r>
            <a:endParaRPr b="0" i="0" sz="1800" u="none" cap="none" strike="noStrike">
              <a:solidFill>
                <a:schemeClr val="dk1"/>
              </a:solidFill>
              <a:latin typeface="Calibri"/>
              <a:ea typeface="Calibri"/>
              <a:cs typeface="Calibri"/>
              <a:sym typeface="Calibri"/>
            </a:endParaRPr>
          </a:p>
        </p:txBody>
      </p:sp>
      <p:sp>
        <p:nvSpPr>
          <p:cNvPr id="745" name="Google Shape;745;p19"/>
          <p:cNvSpPr/>
          <p:nvPr/>
        </p:nvSpPr>
        <p:spPr>
          <a:xfrm>
            <a:off x="6205776" y="2673668"/>
            <a:ext cx="810577"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TTA</a:t>
            </a:r>
            <a:endParaRPr b="0" i="0" sz="1800" u="none" cap="none" strike="noStrike">
              <a:solidFill>
                <a:schemeClr val="dk1"/>
              </a:solidFill>
              <a:latin typeface="Calibri"/>
              <a:ea typeface="Calibri"/>
              <a:cs typeface="Calibri"/>
              <a:sym typeface="Calibri"/>
            </a:endParaRPr>
          </a:p>
        </p:txBody>
      </p:sp>
      <p:sp>
        <p:nvSpPr>
          <p:cNvPr id="746" name="Google Shape;746;p19"/>
          <p:cNvSpPr/>
          <p:nvPr/>
        </p:nvSpPr>
        <p:spPr>
          <a:xfrm>
            <a:off x="6978253" y="2673668"/>
            <a:ext cx="810577"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CCA</a:t>
            </a:r>
            <a:endParaRPr b="0" i="0" sz="1800" u="none" cap="none" strike="noStrike">
              <a:solidFill>
                <a:schemeClr val="dk1"/>
              </a:solidFill>
              <a:latin typeface="Calibri"/>
              <a:ea typeface="Calibri"/>
              <a:cs typeface="Calibri"/>
              <a:sym typeface="Calibri"/>
            </a:endParaRPr>
          </a:p>
        </p:txBody>
      </p:sp>
      <p:sp>
        <p:nvSpPr>
          <p:cNvPr id="747" name="Google Shape;747;p19"/>
          <p:cNvSpPr/>
          <p:nvPr/>
        </p:nvSpPr>
        <p:spPr>
          <a:xfrm>
            <a:off x="7750731" y="2673668"/>
            <a:ext cx="810577"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AAT</a:t>
            </a:r>
            <a:endParaRPr b="0" i="0" sz="1800" u="none" cap="none" strike="noStrike">
              <a:solidFill>
                <a:schemeClr val="dk1"/>
              </a:solidFill>
              <a:latin typeface="Calibri"/>
              <a:ea typeface="Calibri"/>
              <a:cs typeface="Calibri"/>
              <a:sym typeface="Calibri"/>
            </a:endParaRPr>
          </a:p>
        </p:txBody>
      </p:sp>
      <p:sp>
        <p:nvSpPr>
          <p:cNvPr id="748" name="Google Shape;748;p19"/>
          <p:cNvSpPr/>
          <p:nvPr/>
        </p:nvSpPr>
        <p:spPr>
          <a:xfrm>
            <a:off x="8523208" y="2673668"/>
            <a:ext cx="810577"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GTA</a:t>
            </a:r>
            <a:endParaRPr b="0" i="0" sz="1800" u="none" cap="none" strike="noStrike">
              <a:solidFill>
                <a:schemeClr val="dk1"/>
              </a:solidFill>
              <a:latin typeface="Calibri"/>
              <a:ea typeface="Calibri"/>
              <a:cs typeface="Calibri"/>
              <a:sym typeface="Calibri"/>
            </a:endParaRPr>
          </a:p>
        </p:txBody>
      </p:sp>
      <p:sp>
        <p:nvSpPr>
          <p:cNvPr id="749" name="Google Shape;749;p19"/>
          <p:cNvSpPr/>
          <p:nvPr/>
        </p:nvSpPr>
        <p:spPr>
          <a:xfrm>
            <a:off x="9295686" y="2673668"/>
            <a:ext cx="810577" cy="3352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ACG</a:t>
            </a:r>
            <a:endParaRPr b="0" i="0" sz="1800" u="none" cap="none" strike="noStrike">
              <a:solidFill>
                <a:schemeClr val="dk1"/>
              </a:solidFill>
              <a:latin typeface="Calibri"/>
              <a:ea typeface="Calibri"/>
              <a:cs typeface="Calibri"/>
              <a:sym typeface="Calibri"/>
            </a:endParaRPr>
          </a:p>
        </p:txBody>
      </p:sp>
      <p:sp>
        <p:nvSpPr>
          <p:cNvPr id="750" name="Google Shape;750;p19"/>
          <p:cNvSpPr/>
          <p:nvPr/>
        </p:nvSpPr>
        <p:spPr>
          <a:xfrm>
            <a:off x="1002030" y="3117533"/>
            <a:ext cx="1341120" cy="33528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GGC</a:t>
            </a:r>
            <a:endParaRPr b="0" i="0" sz="1800" u="none" cap="none" strike="noStrike">
              <a:solidFill>
                <a:schemeClr val="dk1"/>
              </a:solidFill>
              <a:latin typeface="Calibri"/>
              <a:ea typeface="Calibri"/>
              <a:cs typeface="Calibri"/>
              <a:sym typeface="Calibri"/>
            </a:endParaRPr>
          </a:p>
        </p:txBody>
      </p:sp>
      <p:sp>
        <p:nvSpPr>
          <p:cNvPr id="751" name="Google Shape;751;p19"/>
          <p:cNvSpPr/>
          <p:nvPr/>
        </p:nvSpPr>
        <p:spPr>
          <a:xfrm>
            <a:off x="2381250" y="3047047"/>
            <a:ext cx="734377" cy="438150"/>
          </a:xfrm>
          <a:prstGeom prst="rect">
            <a:avLst/>
          </a:prstGeom>
          <a:solidFill>
            <a:srgbClr val="1C2A44">
              <a:alpha val="3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9"/>
          <p:cNvSpPr/>
          <p:nvPr/>
        </p:nvSpPr>
        <p:spPr>
          <a:xfrm>
            <a:off x="3153728" y="3047047"/>
            <a:ext cx="734497" cy="438150"/>
          </a:xfrm>
          <a:prstGeom prst="rect">
            <a:avLst/>
          </a:prstGeom>
          <a:solidFill>
            <a:srgbClr val="1C2A44">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9"/>
          <p:cNvSpPr/>
          <p:nvPr/>
        </p:nvSpPr>
        <p:spPr>
          <a:xfrm>
            <a:off x="3926324" y="3047047"/>
            <a:ext cx="734377" cy="438150"/>
          </a:xfrm>
          <a:prstGeom prst="rect">
            <a:avLst/>
          </a:prstGeom>
          <a:solidFill>
            <a:srgbClr val="1C2A44">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9"/>
          <p:cNvSpPr/>
          <p:nvPr/>
        </p:nvSpPr>
        <p:spPr>
          <a:xfrm>
            <a:off x="4698802" y="3047047"/>
            <a:ext cx="734497" cy="438150"/>
          </a:xfrm>
          <a:prstGeom prst="rect">
            <a:avLst/>
          </a:prstGeom>
          <a:solidFill>
            <a:srgbClr val="1C2A44">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9"/>
          <p:cNvSpPr/>
          <p:nvPr/>
        </p:nvSpPr>
        <p:spPr>
          <a:xfrm>
            <a:off x="5471398" y="3047047"/>
            <a:ext cx="734377" cy="438150"/>
          </a:xfrm>
          <a:prstGeom prst="rect">
            <a:avLst/>
          </a:prstGeom>
          <a:solidFill>
            <a:srgbClr val="1C2A44">
              <a:alpha val="7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9"/>
          <p:cNvSpPr/>
          <p:nvPr/>
        </p:nvSpPr>
        <p:spPr>
          <a:xfrm>
            <a:off x="6243876" y="3047047"/>
            <a:ext cx="734377" cy="438150"/>
          </a:xfrm>
          <a:prstGeom prst="rect">
            <a:avLst/>
          </a:prstGeom>
          <a:solidFill>
            <a:srgbClr val="1C2A44">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9"/>
          <p:cNvSpPr/>
          <p:nvPr/>
        </p:nvSpPr>
        <p:spPr>
          <a:xfrm>
            <a:off x="7016353" y="3047047"/>
            <a:ext cx="734377" cy="438150"/>
          </a:xfrm>
          <a:prstGeom prst="rect">
            <a:avLst/>
          </a:prstGeom>
          <a:solidFill>
            <a:srgbClr val="1C2A44">
              <a:alpha val="4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9"/>
          <p:cNvSpPr/>
          <p:nvPr/>
        </p:nvSpPr>
        <p:spPr>
          <a:xfrm>
            <a:off x="7788831" y="3047047"/>
            <a:ext cx="734377" cy="438150"/>
          </a:xfrm>
          <a:prstGeom prst="rect">
            <a:avLst/>
          </a:prstGeom>
          <a:solidFill>
            <a:srgbClr val="1C2A44">
              <a:alpha val="90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9"/>
          <p:cNvSpPr/>
          <p:nvPr/>
        </p:nvSpPr>
        <p:spPr>
          <a:xfrm>
            <a:off x="8561308" y="3047047"/>
            <a:ext cx="734377" cy="438150"/>
          </a:xfrm>
          <a:prstGeom prst="rect">
            <a:avLst/>
          </a:prstGeom>
          <a:solidFill>
            <a:srgbClr val="1C2A44">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9"/>
          <p:cNvSpPr/>
          <p:nvPr/>
        </p:nvSpPr>
        <p:spPr>
          <a:xfrm>
            <a:off x="9333786" y="3047047"/>
            <a:ext cx="734377" cy="438150"/>
          </a:xfrm>
          <a:prstGeom prst="rect">
            <a:avLst/>
          </a:prstGeom>
          <a:solidFill>
            <a:srgbClr val="1C2A44">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9"/>
          <p:cNvSpPr/>
          <p:nvPr/>
        </p:nvSpPr>
        <p:spPr>
          <a:xfrm>
            <a:off x="1002030" y="3593783"/>
            <a:ext cx="1341120" cy="33528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CGC</a:t>
            </a:r>
            <a:endParaRPr b="0" i="0" sz="1800" u="none" cap="none" strike="noStrike">
              <a:solidFill>
                <a:schemeClr val="dk1"/>
              </a:solidFill>
              <a:latin typeface="Calibri"/>
              <a:ea typeface="Calibri"/>
              <a:cs typeface="Calibri"/>
              <a:sym typeface="Calibri"/>
            </a:endParaRPr>
          </a:p>
        </p:txBody>
      </p:sp>
      <p:sp>
        <p:nvSpPr>
          <p:cNvPr id="762" name="Google Shape;762;p19"/>
          <p:cNvSpPr/>
          <p:nvPr/>
        </p:nvSpPr>
        <p:spPr>
          <a:xfrm>
            <a:off x="2381250" y="3523297"/>
            <a:ext cx="734377" cy="438150"/>
          </a:xfrm>
          <a:prstGeom prst="rect">
            <a:avLst/>
          </a:prstGeom>
          <a:solidFill>
            <a:srgbClr val="1C2A44">
              <a:alpha val="1411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9"/>
          <p:cNvSpPr/>
          <p:nvPr/>
        </p:nvSpPr>
        <p:spPr>
          <a:xfrm>
            <a:off x="3153728" y="3523297"/>
            <a:ext cx="734497" cy="438150"/>
          </a:xfrm>
          <a:prstGeom prst="rect">
            <a:avLst/>
          </a:prstGeom>
          <a:solidFill>
            <a:srgbClr val="1C2A44">
              <a:alpha val="3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9"/>
          <p:cNvSpPr/>
          <p:nvPr/>
        </p:nvSpPr>
        <p:spPr>
          <a:xfrm>
            <a:off x="3926324" y="3523297"/>
            <a:ext cx="734377" cy="438150"/>
          </a:xfrm>
          <a:prstGeom prst="rect">
            <a:avLst/>
          </a:prstGeom>
          <a:solidFill>
            <a:srgbClr val="1C2A44">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9"/>
          <p:cNvSpPr/>
          <p:nvPr/>
        </p:nvSpPr>
        <p:spPr>
          <a:xfrm>
            <a:off x="4698802" y="3523297"/>
            <a:ext cx="734497" cy="438150"/>
          </a:xfrm>
          <a:prstGeom prst="rect">
            <a:avLst/>
          </a:prstGeom>
          <a:solidFill>
            <a:srgbClr val="1C2A44">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9"/>
          <p:cNvSpPr/>
          <p:nvPr/>
        </p:nvSpPr>
        <p:spPr>
          <a:xfrm>
            <a:off x="5471398" y="3523297"/>
            <a:ext cx="734377" cy="438150"/>
          </a:xfrm>
          <a:prstGeom prst="rect">
            <a:avLst/>
          </a:prstGeom>
          <a:solidFill>
            <a:srgbClr val="1C2A44">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9"/>
          <p:cNvSpPr/>
          <p:nvPr/>
        </p:nvSpPr>
        <p:spPr>
          <a:xfrm>
            <a:off x="6243876" y="3523297"/>
            <a:ext cx="734377" cy="438150"/>
          </a:xfrm>
          <a:prstGeom prst="rect">
            <a:avLst/>
          </a:prstGeom>
          <a:solidFill>
            <a:srgbClr val="1C2A44">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9"/>
          <p:cNvSpPr/>
          <p:nvPr/>
        </p:nvSpPr>
        <p:spPr>
          <a:xfrm>
            <a:off x="7016353" y="3523297"/>
            <a:ext cx="734377" cy="438150"/>
          </a:xfrm>
          <a:prstGeom prst="rect">
            <a:avLst/>
          </a:prstGeom>
          <a:solidFill>
            <a:srgbClr val="1C2A44">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9"/>
          <p:cNvSpPr/>
          <p:nvPr/>
        </p:nvSpPr>
        <p:spPr>
          <a:xfrm>
            <a:off x="7788831" y="3523297"/>
            <a:ext cx="734377" cy="438150"/>
          </a:xfrm>
          <a:prstGeom prst="rect">
            <a:avLst/>
          </a:prstGeom>
          <a:solidFill>
            <a:srgbClr val="1C2A44">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9"/>
          <p:cNvSpPr/>
          <p:nvPr/>
        </p:nvSpPr>
        <p:spPr>
          <a:xfrm>
            <a:off x="8561308" y="3523297"/>
            <a:ext cx="734377" cy="438150"/>
          </a:xfrm>
          <a:prstGeom prst="rect">
            <a:avLst/>
          </a:prstGeom>
          <a:solidFill>
            <a:srgbClr val="1C2A44">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9"/>
          <p:cNvSpPr/>
          <p:nvPr/>
        </p:nvSpPr>
        <p:spPr>
          <a:xfrm>
            <a:off x="9333786" y="3523297"/>
            <a:ext cx="734377" cy="438150"/>
          </a:xfrm>
          <a:prstGeom prst="rect">
            <a:avLst/>
          </a:prstGeom>
          <a:solidFill>
            <a:srgbClr val="1C2A44">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9"/>
          <p:cNvSpPr/>
          <p:nvPr/>
        </p:nvSpPr>
        <p:spPr>
          <a:xfrm>
            <a:off x="1002030" y="4070033"/>
            <a:ext cx="1341120" cy="33528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TAT</a:t>
            </a:r>
            <a:endParaRPr b="0" i="0" sz="1800" u="none" cap="none" strike="noStrike">
              <a:solidFill>
                <a:schemeClr val="dk1"/>
              </a:solidFill>
              <a:latin typeface="Calibri"/>
              <a:ea typeface="Calibri"/>
              <a:cs typeface="Calibri"/>
              <a:sym typeface="Calibri"/>
            </a:endParaRPr>
          </a:p>
        </p:txBody>
      </p:sp>
      <p:sp>
        <p:nvSpPr>
          <p:cNvPr id="773" name="Google Shape;773;p19"/>
          <p:cNvSpPr/>
          <p:nvPr/>
        </p:nvSpPr>
        <p:spPr>
          <a:xfrm>
            <a:off x="2381250" y="3999547"/>
            <a:ext cx="734377" cy="438150"/>
          </a:xfrm>
          <a:prstGeom prst="rect">
            <a:avLst/>
          </a:prstGeom>
          <a:solidFill>
            <a:srgbClr val="1C2A44">
              <a:alpha val="90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9"/>
          <p:cNvSpPr/>
          <p:nvPr/>
        </p:nvSpPr>
        <p:spPr>
          <a:xfrm>
            <a:off x="3153728" y="3999547"/>
            <a:ext cx="734497" cy="438150"/>
          </a:xfrm>
          <a:prstGeom prst="rect">
            <a:avLst/>
          </a:prstGeom>
          <a:solidFill>
            <a:srgbClr val="1C2A44">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9"/>
          <p:cNvSpPr/>
          <p:nvPr/>
        </p:nvSpPr>
        <p:spPr>
          <a:xfrm>
            <a:off x="3926324" y="3999547"/>
            <a:ext cx="734377" cy="438150"/>
          </a:xfrm>
          <a:prstGeom prst="rect">
            <a:avLst/>
          </a:prstGeom>
          <a:solidFill>
            <a:srgbClr val="E8A317">
              <a:alpha val="8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9"/>
          <p:cNvSpPr/>
          <p:nvPr/>
        </p:nvSpPr>
        <p:spPr>
          <a:xfrm>
            <a:off x="4698802" y="3999547"/>
            <a:ext cx="734497" cy="438150"/>
          </a:xfrm>
          <a:prstGeom prst="rect">
            <a:avLst/>
          </a:prstGeom>
          <a:solidFill>
            <a:srgbClr val="1C2A44">
              <a:alpha val="1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9"/>
          <p:cNvSpPr/>
          <p:nvPr/>
        </p:nvSpPr>
        <p:spPr>
          <a:xfrm>
            <a:off x="5471398" y="3999547"/>
            <a:ext cx="734377" cy="438150"/>
          </a:xfrm>
          <a:prstGeom prst="rect">
            <a:avLst/>
          </a:prstGeom>
          <a:solidFill>
            <a:srgbClr val="E8A317">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9"/>
          <p:cNvSpPr/>
          <p:nvPr/>
        </p:nvSpPr>
        <p:spPr>
          <a:xfrm>
            <a:off x="6243876" y="3999547"/>
            <a:ext cx="734377" cy="438150"/>
          </a:xfrm>
          <a:prstGeom prst="rect">
            <a:avLst/>
          </a:prstGeom>
          <a:solidFill>
            <a:srgbClr val="1C2A44">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9"/>
          <p:cNvSpPr/>
          <p:nvPr/>
        </p:nvSpPr>
        <p:spPr>
          <a:xfrm>
            <a:off x="7016353" y="3999547"/>
            <a:ext cx="734377" cy="438150"/>
          </a:xfrm>
          <a:prstGeom prst="rect">
            <a:avLst/>
          </a:prstGeom>
          <a:solidFill>
            <a:srgbClr val="E8A317">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9"/>
          <p:cNvSpPr/>
          <p:nvPr/>
        </p:nvSpPr>
        <p:spPr>
          <a:xfrm>
            <a:off x="7788831" y="3999547"/>
            <a:ext cx="734377" cy="438150"/>
          </a:xfrm>
          <a:prstGeom prst="rect">
            <a:avLst/>
          </a:prstGeom>
          <a:solidFill>
            <a:srgbClr val="1C2A44">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9"/>
          <p:cNvSpPr/>
          <p:nvPr/>
        </p:nvSpPr>
        <p:spPr>
          <a:xfrm>
            <a:off x="8561308" y="3999547"/>
            <a:ext cx="734377" cy="438150"/>
          </a:xfrm>
          <a:prstGeom prst="rect">
            <a:avLst/>
          </a:prstGeom>
          <a:solidFill>
            <a:srgbClr val="1C2A44">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9"/>
          <p:cNvSpPr/>
          <p:nvPr/>
        </p:nvSpPr>
        <p:spPr>
          <a:xfrm>
            <a:off x="9333786" y="3999547"/>
            <a:ext cx="734377" cy="438150"/>
          </a:xfrm>
          <a:prstGeom prst="rect">
            <a:avLst/>
          </a:prstGeom>
          <a:solidFill>
            <a:srgbClr val="1C2A44">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9"/>
          <p:cNvSpPr/>
          <p:nvPr/>
        </p:nvSpPr>
        <p:spPr>
          <a:xfrm>
            <a:off x="1002030" y="4546283"/>
            <a:ext cx="1341120" cy="33528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AAA</a:t>
            </a:r>
            <a:endParaRPr b="0" i="0" sz="1800" u="none" cap="none" strike="noStrike">
              <a:solidFill>
                <a:schemeClr val="dk1"/>
              </a:solidFill>
              <a:latin typeface="Calibri"/>
              <a:ea typeface="Calibri"/>
              <a:cs typeface="Calibri"/>
              <a:sym typeface="Calibri"/>
            </a:endParaRPr>
          </a:p>
        </p:txBody>
      </p:sp>
      <p:sp>
        <p:nvSpPr>
          <p:cNvPr id="784" name="Google Shape;784;p19"/>
          <p:cNvSpPr/>
          <p:nvPr/>
        </p:nvSpPr>
        <p:spPr>
          <a:xfrm>
            <a:off x="2381250" y="4475797"/>
            <a:ext cx="734377" cy="438150"/>
          </a:xfrm>
          <a:prstGeom prst="rect">
            <a:avLst/>
          </a:prstGeom>
          <a:solidFill>
            <a:srgbClr val="1C2A44">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9"/>
          <p:cNvSpPr/>
          <p:nvPr/>
        </p:nvSpPr>
        <p:spPr>
          <a:xfrm>
            <a:off x="3153728" y="4475797"/>
            <a:ext cx="734497" cy="438150"/>
          </a:xfrm>
          <a:prstGeom prst="rect">
            <a:avLst/>
          </a:prstGeom>
          <a:solidFill>
            <a:srgbClr val="1C2A44">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9"/>
          <p:cNvSpPr/>
          <p:nvPr/>
        </p:nvSpPr>
        <p:spPr>
          <a:xfrm>
            <a:off x="3926324" y="4475797"/>
            <a:ext cx="734377" cy="438150"/>
          </a:xfrm>
          <a:prstGeom prst="rect">
            <a:avLst/>
          </a:prstGeom>
          <a:solidFill>
            <a:srgbClr val="1C2A44">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9"/>
          <p:cNvSpPr/>
          <p:nvPr/>
        </p:nvSpPr>
        <p:spPr>
          <a:xfrm>
            <a:off x="4698802" y="4475797"/>
            <a:ext cx="734497" cy="438150"/>
          </a:xfrm>
          <a:prstGeom prst="rect">
            <a:avLst/>
          </a:prstGeom>
          <a:solidFill>
            <a:srgbClr val="1C2A44">
              <a:alpha val="3411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9"/>
          <p:cNvSpPr/>
          <p:nvPr/>
        </p:nvSpPr>
        <p:spPr>
          <a:xfrm>
            <a:off x="5471398" y="4475797"/>
            <a:ext cx="734377" cy="438150"/>
          </a:xfrm>
          <a:prstGeom prst="rect">
            <a:avLst/>
          </a:prstGeom>
          <a:solidFill>
            <a:srgbClr val="1C2A44">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9"/>
          <p:cNvSpPr/>
          <p:nvPr/>
        </p:nvSpPr>
        <p:spPr>
          <a:xfrm>
            <a:off x="6243876" y="4475797"/>
            <a:ext cx="734377" cy="438150"/>
          </a:xfrm>
          <a:prstGeom prst="rect">
            <a:avLst/>
          </a:prstGeom>
          <a:solidFill>
            <a:srgbClr val="1C2A44">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9"/>
          <p:cNvSpPr/>
          <p:nvPr/>
        </p:nvSpPr>
        <p:spPr>
          <a:xfrm>
            <a:off x="7016353" y="4475797"/>
            <a:ext cx="734377" cy="438150"/>
          </a:xfrm>
          <a:prstGeom prst="rect">
            <a:avLst/>
          </a:prstGeom>
          <a:solidFill>
            <a:srgbClr val="1C2A44">
              <a:alpha val="2196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9"/>
          <p:cNvSpPr/>
          <p:nvPr/>
        </p:nvSpPr>
        <p:spPr>
          <a:xfrm>
            <a:off x="7788831" y="4475797"/>
            <a:ext cx="734377" cy="438150"/>
          </a:xfrm>
          <a:prstGeom prst="rect">
            <a:avLst/>
          </a:prstGeom>
          <a:solidFill>
            <a:srgbClr val="1C2A44">
              <a:alpha val="1411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9"/>
          <p:cNvSpPr/>
          <p:nvPr/>
        </p:nvSpPr>
        <p:spPr>
          <a:xfrm>
            <a:off x="8561308" y="4475797"/>
            <a:ext cx="734377" cy="438150"/>
          </a:xfrm>
          <a:prstGeom prst="rect">
            <a:avLst/>
          </a:prstGeom>
          <a:solidFill>
            <a:srgbClr val="1C2A44">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9"/>
          <p:cNvSpPr/>
          <p:nvPr/>
        </p:nvSpPr>
        <p:spPr>
          <a:xfrm>
            <a:off x="9333786" y="4475797"/>
            <a:ext cx="734377" cy="438150"/>
          </a:xfrm>
          <a:prstGeom prst="rect">
            <a:avLst/>
          </a:prstGeom>
          <a:solidFill>
            <a:srgbClr val="1C2A44">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9"/>
          <p:cNvSpPr/>
          <p:nvPr/>
        </p:nvSpPr>
        <p:spPr>
          <a:xfrm>
            <a:off x="1002030" y="5022532"/>
            <a:ext cx="1341120" cy="33528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GCG</a:t>
            </a:r>
            <a:endParaRPr b="0" i="0" sz="1800" u="none" cap="none" strike="noStrike">
              <a:solidFill>
                <a:schemeClr val="dk1"/>
              </a:solidFill>
              <a:latin typeface="Calibri"/>
              <a:ea typeface="Calibri"/>
              <a:cs typeface="Calibri"/>
              <a:sym typeface="Calibri"/>
            </a:endParaRPr>
          </a:p>
        </p:txBody>
      </p:sp>
      <p:sp>
        <p:nvSpPr>
          <p:cNvPr id="795" name="Google Shape;795;p19"/>
          <p:cNvSpPr/>
          <p:nvPr/>
        </p:nvSpPr>
        <p:spPr>
          <a:xfrm>
            <a:off x="2381250" y="4952048"/>
            <a:ext cx="734377" cy="438150"/>
          </a:xfrm>
          <a:prstGeom prst="rect">
            <a:avLst/>
          </a:prstGeom>
          <a:solidFill>
            <a:srgbClr val="1C2A4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9"/>
          <p:cNvSpPr/>
          <p:nvPr/>
        </p:nvSpPr>
        <p:spPr>
          <a:xfrm>
            <a:off x="3153728" y="4952048"/>
            <a:ext cx="734497" cy="438150"/>
          </a:xfrm>
          <a:prstGeom prst="rect">
            <a:avLst/>
          </a:prstGeom>
          <a:solidFill>
            <a:srgbClr val="1C2A44">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9"/>
          <p:cNvSpPr/>
          <p:nvPr/>
        </p:nvSpPr>
        <p:spPr>
          <a:xfrm>
            <a:off x="3926324" y="4952048"/>
            <a:ext cx="734377" cy="438150"/>
          </a:xfrm>
          <a:prstGeom prst="rect">
            <a:avLst/>
          </a:prstGeom>
          <a:solidFill>
            <a:srgbClr val="1C2A44">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9"/>
          <p:cNvSpPr/>
          <p:nvPr/>
        </p:nvSpPr>
        <p:spPr>
          <a:xfrm>
            <a:off x="4698802" y="4952048"/>
            <a:ext cx="734497" cy="438150"/>
          </a:xfrm>
          <a:prstGeom prst="rect">
            <a:avLst/>
          </a:prstGeom>
          <a:solidFill>
            <a:srgbClr val="1C2A44">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9"/>
          <p:cNvSpPr/>
          <p:nvPr/>
        </p:nvSpPr>
        <p:spPr>
          <a:xfrm>
            <a:off x="5471398" y="4952048"/>
            <a:ext cx="734377" cy="438150"/>
          </a:xfrm>
          <a:prstGeom prst="rect">
            <a:avLst/>
          </a:prstGeom>
          <a:solidFill>
            <a:srgbClr val="1C2A44">
              <a:alpha val="7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9"/>
          <p:cNvSpPr/>
          <p:nvPr/>
        </p:nvSpPr>
        <p:spPr>
          <a:xfrm>
            <a:off x="6243876" y="4952048"/>
            <a:ext cx="734377" cy="438150"/>
          </a:xfrm>
          <a:prstGeom prst="rect">
            <a:avLst/>
          </a:prstGeom>
          <a:solidFill>
            <a:srgbClr val="1C2A44">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9"/>
          <p:cNvSpPr/>
          <p:nvPr/>
        </p:nvSpPr>
        <p:spPr>
          <a:xfrm>
            <a:off x="7016353" y="4952048"/>
            <a:ext cx="734377" cy="438150"/>
          </a:xfrm>
          <a:prstGeom prst="rect">
            <a:avLst/>
          </a:prstGeom>
          <a:solidFill>
            <a:srgbClr val="1C2A44">
              <a:alpha val="3411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9"/>
          <p:cNvSpPr/>
          <p:nvPr/>
        </p:nvSpPr>
        <p:spPr>
          <a:xfrm>
            <a:off x="7788831" y="4952048"/>
            <a:ext cx="734377" cy="438150"/>
          </a:xfrm>
          <a:prstGeom prst="rect">
            <a:avLst/>
          </a:prstGeom>
          <a:solidFill>
            <a:srgbClr val="1C2A44">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9"/>
          <p:cNvSpPr/>
          <p:nvPr/>
        </p:nvSpPr>
        <p:spPr>
          <a:xfrm>
            <a:off x="8561308" y="4952048"/>
            <a:ext cx="734377" cy="438150"/>
          </a:xfrm>
          <a:prstGeom prst="rect">
            <a:avLst/>
          </a:prstGeom>
          <a:solidFill>
            <a:srgbClr val="1C2A44">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9"/>
          <p:cNvSpPr/>
          <p:nvPr/>
        </p:nvSpPr>
        <p:spPr>
          <a:xfrm>
            <a:off x="9333786" y="4952048"/>
            <a:ext cx="734377" cy="438150"/>
          </a:xfrm>
          <a:prstGeom prst="rect">
            <a:avLst/>
          </a:prstGeom>
          <a:solidFill>
            <a:srgbClr val="1C2A44">
              <a:alpha val="1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9"/>
          <p:cNvSpPr/>
          <p:nvPr/>
        </p:nvSpPr>
        <p:spPr>
          <a:xfrm>
            <a:off x="1002030" y="5498782"/>
            <a:ext cx="1341120" cy="33528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TTA</a:t>
            </a:r>
            <a:endParaRPr b="0" i="0" sz="1800" u="none" cap="none" strike="noStrike">
              <a:solidFill>
                <a:schemeClr val="dk1"/>
              </a:solidFill>
              <a:latin typeface="Calibri"/>
              <a:ea typeface="Calibri"/>
              <a:cs typeface="Calibri"/>
              <a:sym typeface="Calibri"/>
            </a:endParaRPr>
          </a:p>
        </p:txBody>
      </p:sp>
      <p:sp>
        <p:nvSpPr>
          <p:cNvPr id="806" name="Google Shape;806;p19"/>
          <p:cNvSpPr/>
          <p:nvPr/>
        </p:nvSpPr>
        <p:spPr>
          <a:xfrm>
            <a:off x="2381250" y="5428298"/>
            <a:ext cx="734377" cy="438150"/>
          </a:xfrm>
          <a:prstGeom prst="rect">
            <a:avLst/>
          </a:prstGeom>
          <a:solidFill>
            <a:srgbClr val="1C2A44">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9"/>
          <p:cNvSpPr/>
          <p:nvPr/>
        </p:nvSpPr>
        <p:spPr>
          <a:xfrm>
            <a:off x="3153728" y="5428298"/>
            <a:ext cx="734497" cy="438150"/>
          </a:xfrm>
          <a:prstGeom prst="rect">
            <a:avLst/>
          </a:prstGeom>
          <a:solidFill>
            <a:srgbClr val="1C2A44">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9"/>
          <p:cNvSpPr/>
          <p:nvPr/>
        </p:nvSpPr>
        <p:spPr>
          <a:xfrm>
            <a:off x="3926324" y="5428298"/>
            <a:ext cx="734377" cy="438150"/>
          </a:xfrm>
          <a:prstGeom prst="rect">
            <a:avLst/>
          </a:prstGeom>
          <a:solidFill>
            <a:srgbClr val="1C2A4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9"/>
          <p:cNvSpPr/>
          <p:nvPr/>
        </p:nvSpPr>
        <p:spPr>
          <a:xfrm>
            <a:off x="4698802" y="5428298"/>
            <a:ext cx="734497" cy="438150"/>
          </a:xfrm>
          <a:prstGeom prst="rect">
            <a:avLst/>
          </a:prstGeom>
          <a:solidFill>
            <a:srgbClr val="1C2A44">
              <a:alpha val="1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9"/>
          <p:cNvSpPr/>
          <p:nvPr/>
        </p:nvSpPr>
        <p:spPr>
          <a:xfrm>
            <a:off x="5471398" y="5428298"/>
            <a:ext cx="734377" cy="438150"/>
          </a:xfrm>
          <a:prstGeom prst="rect">
            <a:avLst/>
          </a:prstGeom>
          <a:solidFill>
            <a:srgbClr val="1C2A44">
              <a:alpha val="2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9"/>
          <p:cNvSpPr/>
          <p:nvPr/>
        </p:nvSpPr>
        <p:spPr>
          <a:xfrm>
            <a:off x="6243876" y="5428298"/>
            <a:ext cx="734377" cy="438150"/>
          </a:xfrm>
          <a:prstGeom prst="rect">
            <a:avLst/>
          </a:prstGeom>
          <a:solidFill>
            <a:srgbClr val="1C2A44">
              <a:alpha val="3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9"/>
          <p:cNvSpPr/>
          <p:nvPr/>
        </p:nvSpPr>
        <p:spPr>
          <a:xfrm>
            <a:off x="7016353" y="5428298"/>
            <a:ext cx="734377" cy="438150"/>
          </a:xfrm>
          <a:prstGeom prst="rect">
            <a:avLst/>
          </a:prstGeom>
          <a:solidFill>
            <a:srgbClr val="1C2A44">
              <a:alpha val="1803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9"/>
          <p:cNvSpPr/>
          <p:nvPr/>
        </p:nvSpPr>
        <p:spPr>
          <a:xfrm>
            <a:off x="7788831" y="5428298"/>
            <a:ext cx="734377" cy="438150"/>
          </a:xfrm>
          <a:prstGeom prst="rect">
            <a:avLst/>
          </a:prstGeom>
          <a:solidFill>
            <a:srgbClr val="1C2A44">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9"/>
          <p:cNvSpPr/>
          <p:nvPr/>
        </p:nvSpPr>
        <p:spPr>
          <a:xfrm>
            <a:off x="8561308" y="5428298"/>
            <a:ext cx="734377" cy="438150"/>
          </a:xfrm>
          <a:prstGeom prst="rect">
            <a:avLst/>
          </a:prstGeom>
          <a:solidFill>
            <a:srgbClr val="1C2A44">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9"/>
          <p:cNvSpPr/>
          <p:nvPr/>
        </p:nvSpPr>
        <p:spPr>
          <a:xfrm>
            <a:off x="9333786" y="5428298"/>
            <a:ext cx="734377" cy="438150"/>
          </a:xfrm>
          <a:prstGeom prst="rect">
            <a:avLst/>
          </a:prstGeom>
          <a:solidFill>
            <a:srgbClr val="1C2A44">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9"/>
          <p:cNvSpPr/>
          <p:nvPr/>
        </p:nvSpPr>
        <p:spPr>
          <a:xfrm>
            <a:off x="1002030" y="5975032"/>
            <a:ext cx="1341120" cy="33528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CCA</a:t>
            </a:r>
            <a:endParaRPr b="0" i="0" sz="1800" u="none" cap="none" strike="noStrike">
              <a:solidFill>
                <a:schemeClr val="dk1"/>
              </a:solidFill>
              <a:latin typeface="Calibri"/>
              <a:ea typeface="Calibri"/>
              <a:cs typeface="Calibri"/>
              <a:sym typeface="Calibri"/>
            </a:endParaRPr>
          </a:p>
        </p:txBody>
      </p:sp>
      <p:sp>
        <p:nvSpPr>
          <p:cNvPr id="817" name="Google Shape;817;p19"/>
          <p:cNvSpPr/>
          <p:nvPr/>
        </p:nvSpPr>
        <p:spPr>
          <a:xfrm>
            <a:off x="2381250" y="5904548"/>
            <a:ext cx="734377" cy="438150"/>
          </a:xfrm>
          <a:prstGeom prst="rect">
            <a:avLst/>
          </a:prstGeom>
          <a:solidFill>
            <a:srgbClr val="1C2A44">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9"/>
          <p:cNvSpPr/>
          <p:nvPr/>
        </p:nvSpPr>
        <p:spPr>
          <a:xfrm>
            <a:off x="3153728" y="5904548"/>
            <a:ext cx="734497" cy="438150"/>
          </a:xfrm>
          <a:prstGeom prst="rect">
            <a:avLst/>
          </a:prstGeom>
          <a:solidFill>
            <a:srgbClr val="1C2A44">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9"/>
          <p:cNvSpPr/>
          <p:nvPr/>
        </p:nvSpPr>
        <p:spPr>
          <a:xfrm>
            <a:off x="3926324" y="5904548"/>
            <a:ext cx="734377" cy="438150"/>
          </a:xfrm>
          <a:prstGeom prst="rect">
            <a:avLst/>
          </a:prstGeom>
          <a:solidFill>
            <a:srgbClr val="1C2A44">
              <a:alpha val="2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9"/>
          <p:cNvSpPr/>
          <p:nvPr/>
        </p:nvSpPr>
        <p:spPr>
          <a:xfrm>
            <a:off x="4698802" y="5904548"/>
            <a:ext cx="734497" cy="438150"/>
          </a:xfrm>
          <a:prstGeom prst="rect">
            <a:avLst/>
          </a:prstGeom>
          <a:solidFill>
            <a:srgbClr val="1C2A44">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9"/>
          <p:cNvSpPr/>
          <p:nvPr/>
        </p:nvSpPr>
        <p:spPr>
          <a:xfrm>
            <a:off x="5471398" y="5904548"/>
            <a:ext cx="734377" cy="438150"/>
          </a:xfrm>
          <a:prstGeom prst="rect">
            <a:avLst/>
          </a:prstGeom>
          <a:solidFill>
            <a:srgbClr val="1C2A44">
              <a:alpha val="5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9"/>
          <p:cNvSpPr/>
          <p:nvPr/>
        </p:nvSpPr>
        <p:spPr>
          <a:xfrm>
            <a:off x="6243876" y="5904548"/>
            <a:ext cx="734377" cy="438150"/>
          </a:xfrm>
          <a:prstGeom prst="rect">
            <a:avLst/>
          </a:prstGeom>
          <a:solidFill>
            <a:srgbClr val="1C2A44">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9"/>
          <p:cNvSpPr/>
          <p:nvPr/>
        </p:nvSpPr>
        <p:spPr>
          <a:xfrm>
            <a:off x="7016353" y="5904548"/>
            <a:ext cx="734377" cy="438150"/>
          </a:xfrm>
          <a:prstGeom prst="rect">
            <a:avLst/>
          </a:prstGeom>
          <a:solidFill>
            <a:srgbClr val="1C2A44">
              <a:alpha val="6196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9"/>
          <p:cNvSpPr/>
          <p:nvPr/>
        </p:nvSpPr>
        <p:spPr>
          <a:xfrm>
            <a:off x="7788831" y="5904548"/>
            <a:ext cx="734377" cy="438150"/>
          </a:xfrm>
          <a:prstGeom prst="rect">
            <a:avLst/>
          </a:prstGeom>
          <a:solidFill>
            <a:srgbClr val="1C2A44">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9"/>
          <p:cNvSpPr/>
          <p:nvPr/>
        </p:nvSpPr>
        <p:spPr>
          <a:xfrm>
            <a:off x="8561308" y="5904548"/>
            <a:ext cx="734377" cy="438150"/>
          </a:xfrm>
          <a:prstGeom prst="rect">
            <a:avLst/>
          </a:prstGeom>
          <a:solidFill>
            <a:srgbClr val="1C2A44">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9"/>
          <p:cNvSpPr/>
          <p:nvPr/>
        </p:nvSpPr>
        <p:spPr>
          <a:xfrm>
            <a:off x="9333786" y="5904548"/>
            <a:ext cx="734377" cy="438150"/>
          </a:xfrm>
          <a:prstGeom prst="rect">
            <a:avLst/>
          </a:prstGeom>
          <a:solidFill>
            <a:srgbClr val="1C2A44">
              <a:alpha val="90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9"/>
          <p:cNvSpPr/>
          <p:nvPr/>
        </p:nvSpPr>
        <p:spPr>
          <a:xfrm>
            <a:off x="1002030" y="6451282"/>
            <a:ext cx="1341120" cy="33528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AAT</a:t>
            </a:r>
            <a:endParaRPr b="0" i="0" sz="1800" u="none" cap="none" strike="noStrike">
              <a:solidFill>
                <a:schemeClr val="dk1"/>
              </a:solidFill>
              <a:latin typeface="Calibri"/>
              <a:ea typeface="Calibri"/>
              <a:cs typeface="Calibri"/>
              <a:sym typeface="Calibri"/>
            </a:endParaRPr>
          </a:p>
        </p:txBody>
      </p:sp>
      <p:sp>
        <p:nvSpPr>
          <p:cNvPr id="828" name="Google Shape;828;p19"/>
          <p:cNvSpPr/>
          <p:nvPr/>
        </p:nvSpPr>
        <p:spPr>
          <a:xfrm>
            <a:off x="2381250" y="6380798"/>
            <a:ext cx="734377" cy="438150"/>
          </a:xfrm>
          <a:prstGeom prst="rect">
            <a:avLst/>
          </a:prstGeom>
          <a:solidFill>
            <a:srgbClr val="1C2A44">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9"/>
          <p:cNvSpPr/>
          <p:nvPr/>
        </p:nvSpPr>
        <p:spPr>
          <a:xfrm>
            <a:off x="3153728" y="6380798"/>
            <a:ext cx="734497" cy="438150"/>
          </a:xfrm>
          <a:prstGeom prst="rect">
            <a:avLst/>
          </a:prstGeom>
          <a:solidFill>
            <a:srgbClr val="1C2A44">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9"/>
          <p:cNvSpPr/>
          <p:nvPr/>
        </p:nvSpPr>
        <p:spPr>
          <a:xfrm>
            <a:off x="3926324" y="6380798"/>
            <a:ext cx="734377" cy="438150"/>
          </a:xfrm>
          <a:prstGeom prst="rect">
            <a:avLst/>
          </a:prstGeom>
          <a:solidFill>
            <a:srgbClr val="1C2A44">
              <a:alpha val="1411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9"/>
          <p:cNvSpPr/>
          <p:nvPr/>
        </p:nvSpPr>
        <p:spPr>
          <a:xfrm>
            <a:off x="4698802" y="6380798"/>
            <a:ext cx="734497" cy="438150"/>
          </a:xfrm>
          <a:prstGeom prst="rect">
            <a:avLst/>
          </a:prstGeom>
          <a:solidFill>
            <a:srgbClr val="1C2A44">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9"/>
          <p:cNvSpPr/>
          <p:nvPr/>
        </p:nvSpPr>
        <p:spPr>
          <a:xfrm>
            <a:off x="5471398" y="6380798"/>
            <a:ext cx="734377" cy="438150"/>
          </a:xfrm>
          <a:prstGeom prst="rect">
            <a:avLst/>
          </a:prstGeom>
          <a:solidFill>
            <a:srgbClr val="1C2A44">
              <a:alpha val="2196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9"/>
          <p:cNvSpPr/>
          <p:nvPr/>
        </p:nvSpPr>
        <p:spPr>
          <a:xfrm>
            <a:off x="6243876" y="6380798"/>
            <a:ext cx="734377" cy="438150"/>
          </a:xfrm>
          <a:prstGeom prst="rect">
            <a:avLst/>
          </a:prstGeom>
          <a:solidFill>
            <a:srgbClr val="1C2A44">
              <a:alpha val="1411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9"/>
          <p:cNvSpPr/>
          <p:nvPr/>
        </p:nvSpPr>
        <p:spPr>
          <a:xfrm>
            <a:off x="7016353" y="6380798"/>
            <a:ext cx="734377" cy="438150"/>
          </a:xfrm>
          <a:prstGeom prst="rect">
            <a:avLst/>
          </a:prstGeom>
          <a:solidFill>
            <a:srgbClr val="1C2A44">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9"/>
          <p:cNvSpPr/>
          <p:nvPr/>
        </p:nvSpPr>
        <p:spPr>
          <a:xfrm>
            <a:off x="7788831" y="6380798"/>
            <a:ext cx="734377" cy="438150"/>
          </a:xfrm>
          <a:prstGeom prst="rect">
            <a:avLst/>
          </a:prstGeom>
          <a:solidFill>
            <a:srgbClr val="1C2A44">
              <a:alpha val="2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9"/>
          <p:cNvSpPr/>
          <p:nvPr/>
        </p:nvSpPr>
        <p:spPr>
          <a:xfrm>
            <a:off x="8561308" y="6380798"/>
            <a:ext cx="734377" cy="438150"/>
          </a:xfrm>
          <a:prstGeom prst="rect">
            <a:avLst/>
          </a:prstGeom>
          <a:solidFill>
            <a:srgbClr val="1C2A44">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9"/>
          <p:cNvSpPr/>
          <p:nvPr/>
        </p:nvSpPr>
        <p:spPr>
          <a:xfrm>
            <a:off x="9333786" y="6380798"/>
            <a:ext cx="734377" cy="438150"/>
          </a:xfrm>
          <a:prstGeom prst="rect">
            <a:avLst/>
          </a:prstGeom>
          <a:solidFill>
            <a:srgbClr val="1C2A44">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9"/>
          <p:cNvSpPr/>
          <p:nvPr/>
        </p:nvSpPr>
        <p:spPr>
          <a:xfrm>
            <a:off x="1002030" y="6927532"/>
            <a:ext cx="1341120" cy="33528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GTA</a:t>
            </a:r>
            <a:endParaRPr b="0" i="0" sz="1800" u="none" cap="none" strike="noStrike">
              <a:solidFill>
                <a:schemeClr val="dk1"/>
              </a:solidFill>
              <a:latin typeface="Calibri"/>
              <a:ea typeface="Calibri"/>
              <a:cs typeface="Calibri"/>
              <a:sym typeface="Calibri"/>
            </a:endParaRPr>
          </a:p>
        </p:txBody>
      </p:sp>
      <p:sp>
        <p:nvSpPr>
          <p:cNvPr id="839" name="Google Shape;839;p19"/>
          <p:cNvSpPr/>
          <p:nvPr/>
        </p:nvSpPr>
        <p:spPr>
          <a:xfrm>
            <a:off x="2381250" y="6857048"/>
            <a:ext cx="734377" cy="438150"/>
          </a:xfrm>
          <a:prstGeom prst="rect">
            <a:avLst/>
          </a:prstGeom>
          <a:solidFill>
            <a:srgbClr val="1C2A44">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9"/>
          <p:cNvSpPr/>
          <p:nvPr/>
        </p:nvSpPr>
        <p:spPr>
          <a:xfrm>
            <a:off x="3153728" y="6857048"/>
            <a:ext cx="734497" cy="438150"/>
          </a:xfrm>
          <a:prstGeom prst="rect">
            <a:avLst/>
          </a:prstGeom>
          <a:solidFill>
            <a:srgbClr val="1C2A44">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9"/>
          <p:cNvSpPr/>
          <p:nvPr/>
        </p:nvSpPr>
        <p:spPr>
          <a:xfrm>
            <a:off x="3926324" y="6857048"/>
            <a:ext cx="734377" cy="438150"/>
          </a:xfrm>
          <a:prstGeom prst="rect">
            <a:avLst/>
          </a:prstGeom>
          <a:solidFill>
            <a:srgbClr val="1C2A44">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9"/>
          <p:cNvSpPr/>
          <p:nvPr/>
        </p:nvSpPr>
        <p:spPr>
          <a:xfrm>
            <a:off x="4698802" y="6857048"/>
            <a:ext cx="734497" cy="438150"/>
          </a:xfrm>
          <a:prstGeom prst="rect">
            <a:avLst/>
          </a:prstGeom>
          <a:solidFill>
            <a:srgbClr val="1C2A44">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9"/>
          <p:cNvSpPr/>
          <p:nvPr/>
        </p:nvSpPr>
        <p:spPr>
          <a:xfrm>
            <a:off x="5471398" y="6857048"/>
            <a:ext cx="734377" cy="438150"/>
          </a:xfrm>
          <a:prstGeom prst="rect">
            <a:avLst/>
          </a:prstGeom>
          <a:solidFill>
            <a:srgbClr val="1C2A44">
              <a:alpha val="4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9"/>
          <p:cNvSpPr/>
          <p:nvPr/>
        </p:nvSpPr>
        <p:spPr>
          <a:xfrm>
            <a:off x="6243876" y="6857048"/>
            <a:ext cx="734377" cy="438150"/>
          </a:xfrm>
          <a:prstGeom prst="rect">
            <a:avLst/>
          </a:prstGeom>
          <a:solidFill>
            <a:srgbClr val="1C2A44">
              <a:alpha val="90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9"/>
          <p:cNvSpPr/>
          <p:nvPr/>
        </p:nvSpPr>
        <p:spPr>
          <a:xfrm>
            <a:off x="7016353" y="6857048"/>
            <a:ext cx="734377" cy="438150"/>
          </a:xfrm>
          <a:prstGeom prst="rect">
            <a:avLst/>
          </a:prstGeom>
          <a:solidFill>
            <a:srgbClr val="1C2A44">
              <a:alpha val="2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9"/>
          <p:cNvSpPr/>
          <p:nvPr/>
        </p:nvSpPr>
        <p:spPr>
          <a:xfrm>
            <a:off x="7788831" y="6857048"/>
            <a:ext cx="734377" cy="438150"/>
          </a:xfrm>
          <a:prstGeom prst="rect">
            <a:avLst/>
          </a:prstGeom>
          <a:solidFill>
            <a:srgbClr val="1C2A44">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9"/>
          <p:cNvSpPr/>
          <p:nvPr/>
        </p:nvSpPr>
        <p:spPr>
          <a:xfrm>
            <a:off x="8561308" y="6857048"/>
            <a:ext cx="734377" cy="438150"/>
          </a:xfrm>
          <a:prstGeom prst="rect">
            <a:avLst/>
          </a:prstGeom>
          <a:solidFill>
            <a:srgbClr val="1C2A44">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9"/>
          <p:cNvSpPr/>
          <p:nvPr/>
        </p:nvSpPr>
        <p:spPr>
          <a:xfrm>
            <a:off x="9333786" y="6857048"/>
            <a:ext cx="734377" cy="438150"/>
          </a:xfrm>
          <a:prstGeom prst="rect">
            <a:avLst/>
          </a:prstGeom>
          <a:solidFill>
            <a:srgbClr val="1C2A44">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9"/>
          <p:cNvSpPr/>
          <p:nvPr/>
        </p:nvSpPr>
        <p:spPr>
          <a:xfrm>
            <a:off x="1002030" y="7403782"/>
            <a:ext cx="1341120" cy="33528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C8CA8"/>
              </a:buClr>
              <a:buSzPts val="1800"/>
              <a:buFont typeface="IBM Plex Mono"/>
              <a:buNone/>
            </a:pPr>
            <a:r>
              <a:rPr b="0" i="0" lang="en-US" sz="1800" u="none" cap="none" strike="noStrike">
                <a:solidFill>
                  <a:srgbClr val="7C8CA8"/>
                </a:solidFill>
                <a:latin typeface="IBM Plex Mono"/>
                <a:ea typeface="IBM Plex Mono"/>
                <a:cs typeface="IBM Plex Mono"/>
                <a:sym typeface="IBM Plex Mono"/>
              </a:rPr>
              <a:t>ACG</a:t>
            </a:r>
            <a:endParaRPr b="0" i="0" sz="1800" u="none" cap="none" strike="noStrike">
              <a:solidFill>
                <a:schemeClr val="dk1"/>
              </a:solidFill>
              <a:latin typeface="Calibri"/>
              <a:ea typeface="Calibri"/>
              <a:cs typeface="Calibri"/>
              <a:sym typeface="Calibri"/>
            </a:endParaRPr>
          </a:p>
        </p:txBody>
      </p:sp>
      <p:sp>
        <p:nvSpPr>
          <p:cNvPr id="850" name="Google Shape;850;p19"/>
          <p:cNvSpPr/>
          <p:nvPr/>
        </p:nvSpPr>
        <p:spPr>
          <a:xfrm>
            <a:off x="2381250" y="7333298"/>
            <a:ext cx="734377" cy="438150"/>
          </a:xfrm>
          <a:prstGeom prst="rect">
            <a:avLst/>
          </a:prstGeom>
          <a:solidFill>
            <a:srgbClr val="1C2A44">
              <a:alpha val="1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9"/>
          <p:cNvSpPr/>
          <p:nvPr/>
        </p:nvSpPr>
        <p:spPr>
          <a:xfrm>
            <a:off x="3153728" y="7333298"/>
            <a:ext cx="734497" cy="438150"/>
          </a:xfrm>
          <a:prstGeom prst="rect">
            <a:avLst/>
          </a:prstGeom>
          <a:solidFill>
            <a:srgbClr val="1C2A44">
              <a:alpha val="1411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9"/>
          <p:cNvSpPr/>
          <p:nvPr/>
        </p:nvSpPr>
        <p:spPr>
          <a:xfrm>
            <a:off x="3926324" y="7333298"/>
            <a:ext cx="734377" cy="438150"/>
          </a:xfrm>
          <a:prstGeom prst="rect">
            <a:avLst/>
          </a:prstGeom>
          <a:solidFill>
            <a:srgbClr val="1C2A44">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9"/>
          <p:cNvSpPr/>
          <p:nvPr/>
        </p:nvSpPr>
        <p:spPr>
          <a:xfrm>
            <a:off x="4698802" y="7333298"/>
            <a:ext cx="734497" cy="438150"/>
          </a:xfrm>
          <a:prstGeom prst="rect">
            <a:avLst/>
          </a:prstGeom>
          <a:solidFill>
            <a:srgbClr val="1C2A44">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9"/>
          <p:cNvSpPr/>
          <p:nvPr/>
        </p:nvSpPr>
        <p:spPr>
          <a:xfrm>
            <a:off x="5471398" y="7333298"/>
            <a:ext cx="734377" cy="438150"/>
          </a:xfrm>
          <a:prstGeom prst="rect">
            <a:avLst/>
          </a:prstGeom>
          <a:solidFill>
            <a:srgbClr val="1C2A44">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9"/>
          <p:cNvSpPr/>
          <p:nvPr/>
        </p:nvSpPr>
        <p:spPr>
          <a:xfrm>
            <a:off x="6243876" y="7333298"/>
            <a:ext cx="734377" cy="438150"/>
          </a:xfrm>
          <a:prstGeom prst="rect">
            <a:avLst/>
          </a:prstGeom>
          <a:solidFill>
            <a:srgbClr val="1C2A44">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9"/>
          <p:cNvSpPr/>
          <p:nvPr/>
        </p:nvSpPr>
        <p:spPr>
          <a:xfrm>
            <a:off x="7016353" y="7333298"/>
            <a:ext cx="734377" cy="438150"/>
          </a:xfrm>
          <a:prstGeom prst="rect">
            <a:avLst/>
          </a:prstGeom>
          <a:solidFill>
            <a:srgbClr val="1C2A44">
              <a:alpha val="3607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9"/>
          <p:cNvSpPr/>
          <p:nvPr/>
        </p:nvSpPr>
        <p:spPr>
          <a:xfrm>
            <a:off x="7788831" y="7333298"/>
            <a:ext cx="734377" cy="438150"/>
          </a:xfrm>
          <a:prstGeom prst="rect">
            <a:avLst/>
          </a:prstGeom>
          <a:solidFill>
            <a:srgbClr val="1C2A44">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9"/>
          <p:cNvSpPr/>
          <p:nvPr/>
        </p:nvSpPr>
        <p:spPr>
          <a:xfrm>
            <a:off x="8561308" y="7333298"/>
            <a:ext cx="734377" cy="438150"/>
          </a:xfrm>
          <a:prstGeom prst="rect">
            <a:avLst/>
          </a:prstGeom>
          <a:solidFill>
            <a:srgbClr val="1C2A44">
              <a:alpha val="90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9"/>
          <p:cNvSpPr/>
          <p:nvPr/>
        </p:nvSpPr>
        <p:spPr>
          <a:xfrm>
            <a:off x="9333786" y="7333298"/>
            <a:ext cx="734377" cy="438150"/>
          </a:xfrm>
          <a:prstGeom prst="rect">
            <a:avLst/>
          </a:prstGeom>
          <a:solidFill>
            <a:srgbClr val="1C2A44">
              <a:alpha val="3411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9"/>
          <p:cNvSpPr/>
          <p:nvPr/>
        </p:nvSpPr>
        <p:spPr>
          <a:xfrm>
            <a:off x="1123950" y="7942898"/>
            <a:ext cx="4604468" cy="3352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One row highlighted: what </a:t>
            </a:r>
            <a:r>
              <a:rPr b="0" i="0" lang="en-US" sz="1800" u="none" cap="none" strike="noStrike">
                <a:solidFill>
                  <a:srgbClr val="1C2A44"/>
                </a:solidFill>
                <a:latin typeface="IBM Plex Mono"/>
                <a:ea typeface="IBM Plex Mono"/>
                <a:cs typeface="IBM Plex Mono"/>
                <a:sym typeface="IBM Plex Mono"/>
              </a:rPr>
              <a:t>TAT </a:t>
            </a:r>
            <a:r>
              <a:rPr b="0" i="0" lang="en-US" sz="1800" u="none" cap="none" strike="noStrike">
                <a:solidFill>
                  <a:srgbClr val="53627A"/>
                </a:solidFill>
                <a:latin typeface="Helvetica Neue"/>
                <a:ea typeface="Helvetica Neue"/>
                <a:cs typeface="Helvetica Neue"/>
                <a:sym typeface="Helvetica Neue"/>
              </a:rPr>
              <a:t>attends to</a:t>
            </a:r>
            <a:endParaRPr b="0" i="0" sz="1800" u="none" cap="none" strike="noStrike">
              <a:solidFill>
                <a:schemeClr val="dk1"/>
              </a:solidFill>
              <a:latin typeface="Calibri"/>
              <a:ea typeface="Calibri"/>
              <a:cs typeface="Calibri"/>
              <a:sym typeface="Calibri"/>
            </a:endParaRPr>
          </a:p>
        </p:txBody>
      </p:sp>
      <p:sp>
        <p:nvSpPr>
          <p:cNvPr id="861" name="Google Shape;861;p19"/>
          <p:cNvSpPr/>
          <p:nvPr/>
        </p:nvSpPr>
        <p:spPr>
          <a:xfrm>
            <a:off x="6542842" y="7961948"/>
            <a:ext cx="1423273" cy="28956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less attention</a:t>
            </a:r>
            <a:endParaRPr b="0" i="0" sz="1800" u="none" cap="none" strike="noStrike">
              <a:solidFill>
                <a:schemeClr val="dk1"/>
              </a:solidFill>
              <a:latin typeface="Calibri"/>
              <a:ea typeface="Calibri"/>
              <a:cs typeface="Calibri"/>
              <a:sym typeface="Calibri"/>
            </a:endParaRPr>
          </a:p>
        </p:txBody>
      </p:sp>
      <p:sp>
        <p:nvSpPr>
          <p:cNvPr id="862" name="Google Shape;862;p19"/>
          <p:cNvSpPr/>
          <p:nvPr/>
        </p:nvSpPr>
        <p:spPr>
          <a:xfrm>
            <a:off x="8004215" y="8015288"/>
            <a:ext cx="1428750" cy="152400"/>
          </a:xfrm>
          <a:prstGeom prst="rect">
            <a:avLst/>
          </a:prstGeom>
          <a:gradFill>
            <a:gsLst>
              <a:gs pos="0">
                <a:srgbClr val="1C2A44">
                  <a:alpha val="5098"/>
                </a:srgbClr>
              </a:gs>
              <a:gs pos="100000">
                <a:srgbClr val="1C2A44">
                  <a:alpha val="85098"/>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9"/>
          <p:cNvSpPr/>
          <p:nvPr/>
        </p:nvSpPr>
        <p:spPr>
          <a:xfrm>
            <a:off x="9547265" y="7961948"/>
            <a:ext cx="597098" cy="28956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more</a:t>
            </a:r>
            <a:endParaRPr b="0" i="0" sz="1800" u="none" cap="none" strike="noStrike">
              <a:solidFill>
                <a:schemeClr val="dk1"/>
              </a:solidFill>
              <a:latin typeface="Calibri"/>
              <a:ea typeface="Calibri"/>
              <a:cs typeface="Calibri"/>
              <a:sym typeface="Calibri"/>
            </a:endParaRPr>
          </a:p>
        </p:txBody>
      </p:sp>
      <p:sp>
        <p:nvSpPr>
          <p:cNvPr id="864" name="Google Shape;864;p19"/>
          <p:cNvSpPr/>
          <p:nvPr/>
        </p:nvSpPr>
        <p:spPr>
          <a:xfrm>
            <a:off x="838200" y="8713470"/>
            <a:ext cx="9801185" cy="678180"/>
          </a:xfrm>
          <a:prstGeom prst="rect">
            <a:avLst/>
          </a:prstGeom>
          <a:noFill/>
          <a:ln>
            <a:noFill/>
          </a:ln>
        </p:spPr>
        <p:txBody>
          <a:bodyPr anchorCtr="0" anchor="t" bIns="25400" lIns="25400" spcFirstLastPara="1" rIns="25400" wrap="square" tIns="25400">
            <a:normAutofit/>
          </a:bodyPr>
          <a:lstStyle/>
          <a:p>
            <a:pPr indent="0" lvl="0" marL="0" marR="0" rtl="0" algn="l">
              <a:lnSpc>
                <a:spcPct val="123529"/>
              </a:lnSpc>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Schematic of one attention head, drawn in the style of the published DNABERT maps (Ji et al., </a:t>
            </a:r>
            <a:r>
              <a:rPr b="0" i="1" lang="en-US" sz="1800" u="none" cap="none" strike="noStrike">
                <a:solidFill>
                  <a:srgbClr val="7C8CA8"/>
                </a:solidFill>
                <a:latin typeface="Helvetica Neue"/>
                <a:ea typeface="Helvetica Neue"/>
                <a:cs typeface="Helvetica Neue"/>
                <a:sym typeface="Helvetica Neue"/>
              </a:rPr>
              <a:t>Bioinformatics</a:t>
            </a:r>
            <a:r>
              <a:rPr b="0" i="0" lang="en-US" sz="1800" u="none" cap="none" strike="noStrike">
                <a:solidFill>
                  <a:srgbClr val="7C8CA8"/>
                </a:solidFill>
                <a:latin typeface="Helvetica Neue"/>
                <a:ea typeface="Helvetica Neue"/>
                <a:cs typeface="Helvetica Neue"/>
                <a:sym typeface="Helvetica Neue"/>
              </a:rPr>
              <a:t>, 2021).</a:t>
            </a:r>
            <a:endParaRPr b="0" i="0" sz="1800" u="none" cap="none" strike="noStrike">
              <a:solidFill>
                <a:schemeClr val="dk1"/>
              </a:solidFill>
              <a:latin typeface="Calibri"/>
              <a:ea typeface="Calibri"/>
              <a:cs typeface="Calibri"/>
              <a:sym typeface="Calibri"/>
            </a:endParaRPr>
          </a:p>
        </p:txBody>
      </p:sp>
      <p:sp>
        <p:nvSpPr>
          <p:cNvPr id="865" name="Google Shape;865;p19"/>
          <p:cNvSpPr/>
          <p:nvPr/>
        </p:nvSpPr>
        <p:spPr>
          <a:xfrm>
            <a:off x="10887313" y="1458278"/>
            <a:ext cx="6562487"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9"/>
          <p:cNvSpPr/>
          <p:nvPr/>
        </p:nvSpPr>
        <p:spPr>
          <a:xfrm>
            <a:off x="10887313" y="1664017"/>
            <a:ext cx="721873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HOW TO READ IT</a:t>
            </a:r>
            <a:endParaRPr b="0" i="0" sz="1800" u="none" cap="none" strike="noStrike">
              <a:solidFill>
                <a:schemeClr val="dk1"/>
              </a:solidFill>
              <a:latin typeface="Calibri"/>
              <a:ea typeface="Calibri"/>
              <a:cs typeface="Calibri"/>
              <a:sym typeface="Calibri"/>
            </a:endParaRPr>
          </a:p>
        </p:txBody>
      </p:sp>
      <p:sp>
        <p:nvSpPr>
          <p:cNvPr id="867" name="Google Shape;867;p19"/>
          <p:cNvSpPr/>
          <p:nvPr/>
        </p:nvSpPr>
        <p:spPr>
          <a:xfrm>
            <a:off x="10887313" y="2018348"/>
            <a:ext cx="6759362"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Each row is one position asking a question; each column is a position being looked at. A dark cell means that row paid a lot of attention to that column.</a:t>
            </a:r>
            <a:endParaRPr b="0" i="0" sz="2100" u="none" cap="none" strike="noStrike">
              <a:solidFill>
                <a:schemeClr val="dk1"/>
              </a:solidFill>
              <a:latin typeface="Calibri"/>
              <a:ea typeface="Calibri"/>
              <a:cs typeface="Calibri"/>
              <a:sym typeface="Calibri"/>
            </a:endParaRPr>
          </a:p>
        </p:txBody>
      </p:sp>
      <p:sp>
        <p:nvSpPr>
          <p:cNvPr id="868" name="Google Shape;868;p19"/>
          <p:cNvSpPr/>
          <p:nvPr/>
        </p:nvSpPr>
        <p:spPr>
          <a:xfrm>
            <a:off x="10887313" y="3464243"/>
            <a:ext cx="6562487"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9"/>
          <p:cNvSpPr/>
          <p:nvPr/>
        </p:nvSpPr>
        <p:spPr>
          <a:xfrm>
            <a:off x="10887313" y="3669983"/>
            <a:ext cx="721873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WHAT TO NOTICE</a:t>
            </a:r>
            <a:endParaRPr b="0" i="0" sz="1800" u="none" cap="none" strike="noStrike">
              <a:solidFill>
                <a:schemeClr val="dk1"/>
              </a:solidFill>
              <a:latin typeface="Calibri"/>
              <a:ea typeface="Calibri"/>
              <a:cs typeface="Calibri"/>
              <a:sym typeface="Calibri"/>
            </a:endParaRPr>
          </a:p>
        </p:txBody>
      </p:sp>
      <p:sp>
        <p:nvSpPr>
          <p:cNvPr id="870" name="Google Shape;870;p19"/>
          <p:cNvSpPr/>
          <p:nvPr/>
        </p:nvSpPr>
        <p:spPr>
          <a:xfrm>
            <a:off x="10887313" y="4024313"/>
            <a:ext cx="6759362" cy="274510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Weight piles up in narrow vertical bands rather than spreading evenly: almost every position is watching GCG and CCA. In real models those bands land on known functional motifs — although nobody ever told the model those motifs exist. Different attention heads specialise: some watch short local patterns, others long distances.</a:t>
            </a:r>
            <a:endParaRPr b="0" i="0" sz="2100" u="none" cap="none" strike="noStrike">
              <a:solidFill>
                <a:schemeClr val="dk1"/>
              </a:solidFill>
              <a:latin typeface="Calibri"/>
              <a:ea typeface="Calibri"/>
              <a:cs typeface="Calibri"/>
              <a:sym typeface="Calibri"/>
            </a:endParaRPr>
          </a:p>
        </p:txBody>
      </p:sp>
      <p:sp>
        <p:nvSpPr>
          <p:cNvPr id="871" name="Google Shape;871;p19"/>
          <p:cNvSpPr/>
          <p:nvPr/>
        </p:nvSpPr>
        <p:spPr>
          <a:xfrm>
            <a:off x="10887313" y="7017068"/>
            <a:ext cx="6562487" cy="1971675"/>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9"/>
          <p:cNvSpPr/>
          <p:nvPr/>
        </p:nvSpPr>
        <p:spPr>
          <a:xfrm>
            <a:off x="11154013" y="7245668"/>
            <a:ext cx="663199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WATCH OUT</a:t>
            </a:r>
            <a:endParaRPr b="0" i="0" sz="1800" u="none" cap="none" strike="noStrike">
              <a:solidFill>
                <a:schemeClr val="dk1"/>
              </a:solidFill>
              <a:latin typeface="Calibri"/>
              <a:ea typeface="Calibri"/>
              <a:cs typeface="Calibri"/>
              <a:sym typeface="Calibri"/>
            </a:endParaRPr>
          </a:p>
        </p:txBody>
      </p:sp>
      <p:sp>
        <p:nvSpPr>
          <p:cNvPr id="873" name="Google Shape;873;p19"/>
          <p:cNvSpPr/>
          <p:nvPr/>
        </p:nvSpPr>
        <p:spPr>
          <a:xfrm>
            <a:off x="11154013" y="7599998"/>
            <a:ext cx="6209960"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High attention tells you where the model looked. It is not evidence that the motif causes the biology — for that you still need an experiment.</a:t>
            </a:r>
            <a:endParaRPr b="0" i="0" sz="2100" u="none" cap="none" strike="noStrike">
              <a:solidFill>
                <a:schemeClr val="dk1"/>
              </a:solidFill>
              <a:latin typeface="Calibri"/>
              <a:ea typeface="Calibri"/>
              <a:cs typeface="Calibri"/>
              <a:sym typeface="Calibri"/>
            </a:endParaRPr>
          </a:p>
        </p:txBody>
      </p:sp>
      <p:sp>
        <p:nvSpPr>
          <p:cNvPr id="874" name="Google Shape;874;p19"/>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9"/>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876" name="Google Shape;876;p19"/>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877" name="Google Shape;877;p19"/>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19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23A"/>
        </a:solidFill>
      </p:bgPr>
    </p:bg>
    <p:spTree>
      <p:nvGrpSpPr>
        <p:cNvPr id="882" name="Shape 882"/>
        <p:cNvGrpSpPr/>
        <p:nvPr/>
      </p:nvGrpSpPr>
      <p:grpSpPr>
        <a:xfrm>
          <a:off x="0" y="0"/>
          <a:ext cx="0" cy="0"/>
          <a:chOff x="0" y="0"/>
          <a:chExt cx="0" cy="0"/>
        </a:xfrm>
      </p:grpSpPr>
      <p:pic>
        <p:nvPicPr>
          <p:cNvPr descr="preencoded.png" id="883" name="Google Shape;883;p20"/>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884" name="Google Shape;884;p20"/>
          <p:cNvSpPr/>
          <p:nvPr/>
        </p:nvSpPr>
        <p:spPr>
          <a:xfrm>
            <a:off x="914400" y="765810"/>
            <a:ext cx="685136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9BBD6"/>
              </a:buClr>
              <a:buSzPts val="1800"/>
              <a:buFont typeface="Helvetica Neue"/>
              <a:buNone/>
            </a:pPr>
            <a:r>
              <a:rPr b="0" i="0" lang="en-US" sz="1800" u="none" cap="none" strike="noStrike">
                <a:solidFill>
                  <a:srgbClr val="A9BBD6"/>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sp>
        <p:nvSpPr>
          <p:cNvPr id="885" name="Google Shape;885;p20"/>
          <p:cNvSpPr/>
          <p:nvPr/>
        </p:nvSpPr>
        <p:spPr>
          <a:xfrm>
            <a:off x="914400" y="3285172"/>
            <a:ext cx="9499557" cy="1371600"/>
          </a:xfrm>
          <a:prstGeom prst="rect">
            <a:avLst/>
          </a:prstGeom>
          <a:noFill/>
          <a:ln>
            <a:noFill/>
          </a:ln>
        </p:spPr>
        <p:txBody>
          <a:bodyPr anchorCtr="0" anchor="t" bIns="25400" lIns="25400" spcFirstLastPara="1" rIns="25400" wrap="square" tIns="25400">
            <a:normAutofit/>
          </a:bodyPr>
          <a:lstStyle/>
          <a:p>
            <a:pPr indent="0" lvl="0" marL="0" marR="0" rtl="0" algn="l">
              <a:lnSpc>
                <a:spcPct val="77093"/>
              </a:lnSpc>
              <a:spcBef>
                <a:spcPts val="0"/>
              </a:spcBef>
              <a:spcAft>
                <a:spcPts val="0"/>
              </a:spcAft>
              <a:buClr>
                <a:srgbClr val="E8A317"/>
              </a:buClr>
              <a:buSzPts val="10500"/>
              <a:buFont typeface="IBM Plex Mono"/>
              <a:buNone/>
            </a:pPr>
            <a:r>
              <a:rPr b="1" i="0" lang="en-US" sz="10500" u="none" cap="none" strike="noStrike">
                <a:solidFill>
                  <a:srgbClr val="E8A317"/>
                </a:solidFill>
                <a:latin typeface="IBM Plex Mono"/>
                <a:ea typeface="IBM Plex Mono"/>
                <a:cs typeface="IBM Plex Mono"/>
                <a:sym typeface="IBM Plex Mono"/>
              </a:rPr>
              <a:t>04</a:t>
            </a:r>
            <a:endParaRPr b="0" i="0" sz="10500" u="none" cap="none" strike="noStrike">
              <a:solidFill>
                <a:schemeClr val="dk1"/>
              </a:solidFill>
              <a:latin typeface="Calibri"/>
              <a:ea typeface="Calibri"/>
              <a:cs typeface="Calibri"/>
              <a:sym typeface="Calibri"/>
            </a:endParaRPr>
          </a:p>
        </p:txBody>
      </p:sp>
      <p:sp>
        <p:nvSpPr>
          <p:cNvPr id="886" name="Google Shape;886;p20"/>
          <p:cNvSpPr/>
          <p:nvPr/>
        </p:nvSpPr>
        <p:spPr>
          <a:xfrm>
            <a:off x="914400" y="4847272"/>
            <a:ext cx="9499557" cy="798195"/>
          </a:xfrm>
          <a:prstGeom prst="rect">
            <a:avLst/>
          </a:prstGeom>
          <a:noFill/>
          <a:ln>
            <a:noFill/>
          </a:ln>
        </p:spPr>
        <p:txBody>
          <a:bodyPr anchorCtr="0" anchor="t" bIns="25400" lIns="25400" spcFirstLastPara="1" rIns="25400" wrap="square" tIns="25400">
            <a:normAutofit/>
          </a:bodyPr>
          <a:lstStyle/>
          <a:p>
            <a:pPr indent="0" lvl="0" marL="0" marR="0" rtl="0" algn="l">
              <a:lnSpc>
                <a:spcPct val="91514"/>
              </a:lnSpc>
              <a:spcBef>
                <a:spcPts val="0"/>
              </a:spcBef>
              <a:spcAft>
                <a:spcPts val="0"/>
              </a:spcAft>
              <a:buClr>
                <a:srgbClr val="FFFFFF"/>
              </a:buClr>
              <a:buSzPts val="5700"/>
              <a:buFont typeface="Helvetica Neue"/>
              <a:buNone/>
            </a:pPr>
            <a:r>
              <a:rPr b="1" i="0" lang="en-US" sz="5700" u="none" cap="none" strike="noStrike">
                <a:solidFill>
                  <a:srgbClr val="FFFFFF"/>
                </a:solidFill>
                <a:latin typeface="Helvetica Neue"/>
                <a:ea typeface="Helvetica Neue"/>
                <a:cs typeface="Helvetica Neue"/>
                <a:sym typeface="Helvetica Neue"/>
              </a:rPr>
              <a:t>Pretrained DNA models</a:t>
            </a:r>
            <a:endParaRPr b="0" i="0" sz="5700" u="none" cap="none" strike="noStrike">
              <a:solidFill>
                <a:schemeClr val="dk1"/>
              </a:solidFill>
              <a:latin typeface="Calibri"/>
              <a:ea typeface="Calibri"/>
              <a:cs typeface="Calibri"/>
              <a:sym typeface="Calibri"/>
            </a:endParaRPr>
          </a:p>
        </p:txBody>
      </p:sp>
      <p:sp>
        <p:nvSpPr>
          <p:cNvPr id="887" name="Google Shape;887;p20"/>
          <p:cNvSpPr/>
          <p:nvPr/>
        </p:nvSpPr>
        <p:spPr>
          <a:xfrm>
            <a:off x="914400" y="5874068"/>
            <a:ext cx="8437245" cy="1363980"/>
          </a:xfrm>
          <a:prstGeom prst="rect">
            <a:avLst/>
          </a:prstGeom>
          <a:noFill/>
          <a:ln>
            <a:noFill/>
          </a:ln>
        </p:spPr>
        <p:txBody>
          <a:bodyPr anchorCtr="0" anchor="t" bIns="25400" lIns="25400" spcFirstLastPara="1" rIns="25400" wrap="square" tIns="25400">
            <a:normAutofit/>
          </a:bodyPr>
          <a:lstStyle/>
          <a:p>
            <a:pPr indent="0" lvl="0" marL="0" marR="0" rtl="0" algn="l">
              <a:lnSpc>
                <a:spcPct val="128889"/>
              </a:lnSpc>
              <a:spcBef>
                <a:spcPts val="0"/>
              </a:spcBef>
              <a:spcAft>
                <a:spcPts val="0"/>
              </a:spcAft>
              <a:buClr>
                <a:srgbClr val="C8D6EA"/>
              </a:buClr>
              <a:buSzPts val="2400"/>
              <a:buFont typeface="Helvetica Neue"/>
              <a:buNone/>
            </a:pPr>
            <a:r>
              <a:rPr b="0" i="0" lang="en-US" sz="2400" u="none" cap="none" strike="noStrike">
                <a:solidFill>
                  <a:srgbClr val="C8D6EA"/>
                </a:solidFill>
                <a:latin typeface="Helvetica Neue"/>
                <a:ea typeface="Helvetica Neue"/>
                <a:cs typeface="Helvetica Neue"/>
                <a:sym typeface="Helvetica Neue"/>
              </a:rPr>
              <a:t>First a model reads enormous amounts of DNA with no labels at all. Then we reuse what it learned for our own small, labelled task.</a:t>
            </a:r>
            <a:endParaRPr b="0" i="0" sz="2400" u="none" cap="none" strike="noStrike">
              <a:solidFill>
                <a:schemeClr val="dk1"/>
              </a:solidFill>
              <a:latin typeface="Calibri"/>
              <a:ea typeface="Calibri"/>
              <a:cs typeface="Calibri"/>
              <a:sym typeface="Calibri"/>
            </a:endParaRPr>
          </a:p>
        </p:txBody>
      </p:sp>
      <p:sp>
        <p:nvSpPr>
          <p:cNvPr id="888" name="Google Shape;888;p20"/>
          <p:cNvSpPr/>
          <p:nvPr/>
        </p:nvSpPr>
        <p:spPr>
          <a:xfrm>
            <a:off x="10464760" y="3963352"/>
            <a:ext cx="6908840" cy="9525"/>
          </a:xfrm>
          <a:prstGeom prst="rect">
            <a:avLst/>
          </a:prstGeom>
          <a:solidFill>
            <a:srgbClr val="5362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0"/>
          <p:cNvSpPr/>
          <p:nvPr/>
        </p:nvSpPr>
        <p:spPr>
          <a:xfrm>
            <a:off x="10464760" y="3551872"/>
            <a:ext cx="7116105"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THIS PART</a:t>
            </a:r>
            <a:endParaRPr b="0" i="0" sz="1800" u="none" cap="none" strike="noStrike">
              <a:solidFill>
                <a:schemeClr val="dk1"/>
              </a:solidFill>
              <a:latin typeface="Calibri"/>
              <a:ea typeface="Calibri"/>
              <a:cs typeface="Calibri"/>
              <a:sym typeface="Calibri"/>
            </a:endParaRPr>
          </a:p>
        </p:txBody>
      </p:sp>
      <p:sp>
        <p:nvSpPr>
          <p:cNvPr id="890" name="Google Shape;890;p20"/>
          <p:cNvSpPr/>
          <p:nvPr/>
        </p:nvSpPr>
        <p:spPr>
          <a:xfrm>
            <a:off x="10464760" y="4717732"/>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0"/>
          <p:cNvSpPr/>
          <p:nvPr/>
        </p:nvSpPr>
        <p:spPr>
          <a:xfrm>
            <a:off x="10464760" y="4161472"/>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21</a:t>
            </a:r>
            <a:endParaRPr b="0" i="0" sz="2250" u="none" cap="none" strike="noStrike">
              <a:solidFill>
                <a:schemeClr val="dk1"/>
              </a:solidFill>
              <a:latin typeface="Calibri"/>
              <a:ea typeface="Calibri"/>
              <a:cs typeface="Calibri"/>
              <a:sym typeface="Calibri"/>
            </a:endParaRPr>
          </a:p>
        </p:txBody>
      </p:sp>
      <p:sp>
        <p:nvSpPr>
          <p:cNvPr id="892" name="Google Shape;892;p20"/>
          <p:cNvSpPr/>
          <p:nvPr/>
        </p:nvSpPr>
        <p:spPr>
          <a:xfrm>
            <a:off x="11074360" y="4161472"/>
            <a:ext cx="3215283"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Learning with no labels</a:t>
            </a:r>
            <a:endParaRPr b="0" i="0" sz="2250" u="none" cap="none" strike="noStrike">
              <a:solidFill>
                <a:schemeClr val="dk1"/>
              </a:solidFill>
              <a:latin typeface="Calibri"/>
              <a:ea typeface="Calibri"/>
              <a:cs typeface="Calibri"/>
              <a:sym typeface="Calibri"/>
            </a:endParaRPr>
          </a:p>
        </p:txBody>
      </p:sp>
      <p:sp>
        <p:nvSpPr>
          <p:cNvPr id="893" name="Google Shape;893;p20"/>
          <p:cNvSpPr/>
          <p:nvPr/>
        </p:nvSpPr>
        <p:spPr>
          <a:xfrm>
            <a:off x="10464760" y="5472113"/>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0"/>
          <p:cNvSpPr/>
          <p:nvPr/>
        </p:nvSpPr>
        <p:spPr>
          <a:xfrm>
            <a:off x="10464760" y="4915853"/>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22</a:t>
            </a:r>
            <a:endParaRPr b="0" i="0" sz="2250" u="none" cap="none" strike="noStrike">
              <a:solidFill>
                <a:schemeClr val="dk1"/>
              </a:solidFill>
              <a:latin typeface="Calibri"/>
              <a:ea typeface="Calibri"/>
              <a:cs typeface="Calibri"/>
              <a:sym typeface="Calibri"/>
            </a:endParaRPr>
          </a:p>
        </p:txBody>
      </p:sp>
      <p:sp>
        <p:nvSpPr>
          <p:cNvPr id="895" name="Google Shape;895;p20"/>
          <p:cNvSpPr/>
          <p:nvPr/>
        </p:nvSpPr>
        <p:spPr>
          <a:xfrm>
            <a:off x="11074360" y="4915853"/>
            <a:ext cx="3354765"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The models on the shelf</a:t>
            </a:r>
            <a:endParaRPr b="0" i="0" sz="2250" u="none" cap="none" strike="noStrike">
              <a:solidFill>
                <a:schemeClr val="dk1"/>
              </a:solidFill>
              <a:latin typeface="Calibri"/>
              <a:ea typeface="Calibri"/>
              <a:cs typeface="Calibri"/>
              <a:sym typeface="Calibri"/>
            </a:endParaRPr>
          </a:p>
        </p:txBody>
      </p:sp>
      <p:sp>
        <p:nvSpPr>
          <p:cNvPr id="896" name="Google Shape;896;p20"/>
          <p:cNvSpPr/>
          <p:nvPr/>
        </p:nvSpPr>
        <p:spPr>
          <a:xfrm>
            <a:off x="10464760" y="6226492"/>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0"/>
          <p:cNvSpPr/>
          <p:nvPr/>
        </p:nvSpPr>
        <p:spPr>
          <a:xfrm>
            <a:off x="10464760" y="5670232"/>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23</a:t>
            </a:r>
            <a:endParaRPr b="0" i="0" sz="2250" u="none" cap="none" strike="noStrike">
              <a:solidFill>
                <a:schemeClr val="dk1"/>
              </a:solidFill>
              <a:latin typeface="Calibri"/>
              <a:ea typeface="Calibri"/>
              <a:cs typeface="Calibri"/>
              <a:sym typeface="Calibri"/>
            </a:endParaRPr>
          </a:p>
        </p:txBody>
      </p:sp>
      <p:sp>
        <p:nvSpPr>
          <p:cNvPr id="898" name="Google Shape;898;p20"/>
          <p:cNvSpPr/>
          <p:nvPr/>
        </p:nvSpPr>
        <p:spPr>
          <a:xfrm>
            <a:off x="11074360" y="5670232"/>
            <a:ext cx="3476827"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How far a model can see</a:t>
            </a:r>
            <a:endParaRPr b="0" i="0" sz="2250" u="none" cap="none" strike="noStrike">
              <a:solidFill>
                <a:schemeClr val="dk1"/>
              </a:solidFill>
              <a:latin typeface="Calibri"/>
              <a:ea typeface="Calibri"/>
              <a:cs typeface="Calibri"/>
              <a:sym typeface="Calibri"/>
            </a:endParaRPr>
          </a:p>
        </p:txBody>
      </p:sp>
      <p:sp>
        <p:nvSpPr>
          <p:cNvPr id="899" name="Google Shape;899;p20"/>
          <p:cNvSpPr/>
          <p:nvPr/>
        </p:nvSpPr>
        <p:spPr>
          <a:xfrm>
            <a:off x="914400" y="9418320"/>
            <a:ext cx="181051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PART 04 OF 06</a:t>
            </a:r>
            <a:endParaRPr b="0" i="0" sz="1800" u="none" cap="none" strike="noStrike">
              <a:solidFill>
                <a:schemeClr val="dk1"/>
              </a:solidFill>
              <a:latin typeface="Calibri"/>
              <a:ea typeface="Calibri"/>
              <a:cs typeface="Calibri"/>
              <a:sym typeface="Calibri"/>
            </a:endParaRPr>
          </a:p>
        </p:txBody>
      </p:sp>
      <p:pic>
        <p:nvPicPr>
          <p:cNvPr descr="preencoded.png" id="900" name="Google Shape;900;p20"/>
          <p:cNvPicPr preferRelativeResize="0"/>
          <p:nvPr/>
        </p:nvPicPr>
        <p:blipFill rotWithShape="1">
          <a:blip r:embed="rId4">
            <a:alphaModFix/>
          </a:blip>
          <a:srcRect b="0" l="0" r="0" t="0"/>
          <a:stretch/>
        </p:blipFill>
        <p:spPr>
          <a:xfrm>
            <a:off x="16850202" y="487725"/>
            <a:ext cx="1008525" cy="11158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5" name="Shape 905"/>
        <p:cNvGrpSpPr/>
        <p:nvPr/>
      </p:nvGrpSpPr>
      <p:grpSpPr>
        <a:xfrm>
          <a:off x="0" y="0"/>
          <a:ext cx="0" cy="0"/>
          <a:chOff x="0" y="0"/>
          <a:chExt cx="0" cy="0"/>
        </a:xfrm>
      </p:grpSpPr>
      <p:sp>
        <p:nvSpPr>
          <p:cNvPr id="906" name="Google Shape;906;p21"/>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1"/>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908" name="Google Shape;908;p21"/>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909" name="Google Shape;909;p21"/>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04 · PRETRAINED DNA MODELS</a:t>
            </a:r>
            <a:endParaRPr b="0" i="0" sz="1800" u="none" cap="none" strike="noStrike">
              <a:solidFill>
                <a:schemeClr val="dk1"/>
              </a:solidFill>
              <a:latin typeface="Calibri"/>
              <a:ea typeface="Calibri"/>
              <a:cs typeface="Calibri"/>
              <a:sym typeface="Calibri"/>
            </a:endParaRPr>
          </a:p>
        </p:txBody>
      </p:sp>
      <p:sp>
        <p:nvSpPr>
          <p:cNvPr id="910" name="Google Shape;910;p21"/>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Learning with no labels</a:t>
            </a:r>
            <a:endParaRPr b="0" i="0" sz="4500" u="none" cap="none" strike="noStrike">
              <a:solidFill>
                <a:schemeClr val="dk1"/>
              </a:solidFill>
              <a:latin typeface="Calibri"/>
              <a:ea typeface="Calibri"/>
              <a:cs typeface="Calibri"/>
              <a:sym typeface="Calibri"/>
            </a:endParaRPr>
          </a:p>
        </p:txBody>
      </p:sp>
      <p:sp>
        <p:nvSpPr>
          <p:cNvPr id="911" name="Google Shape;911;p21"/>
          <p:cNvSpPr/>
          <p:nvPr/>
        </p:nvSpPr>
        <p:spPr>
          <a:xfrm>
            <a:off x="838200" y="2314575"/>
            <a:ext cx="14912340" cy="866775"/>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Annotated promoters are scarce; raw sequence is not. So the training task is invented out of the sequence itself — hide part of it, and predict what was hidden.</a:t>
            </a:r>
            <a:endParaRPr b="0" i="0" sz="2250" u="none" cap="none" strike="noStrike">
              <a:solidFill>
                <a:schemeClr val="dk1"/>
              </a:solidFill>
              <a:latin typeface="Calibri"/>
              <a:ea typeface="Calibri"/>
              <a:cs typeface="Calibri"/>
              <a:sym typeface="Calibri"/>
            </a:endParaRPr>
          </a:p>
        </p:txBody>
      </p:sp>
      <p:sp>
        <p:nvSpPr>
          <p:cNvPr id="912" name="Google Shape;912;p21"/>
          <p:cNvSpPr/>
          <p:nvPr/>
        </p:nvSpPr>
        <p:spPr>
          <a:xfrm>
            <a:off x="838200" y="3505200"/>
            <a:ext cx="8077200" cy="3633311"/>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1"/>
          <p:cNvSpPr/>
          <p:nvPr/>
        </p:nvSpPr>
        <p:spPr>
          <a:xfrm>
            <a:off x="1123950" y="3733800"/>
            <a:ext cx="825627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RECIPE ONE</a:t>
            </a:r>
            <a:endParaRPr b="0" i="0" sz="1800" u="none" cap="none" strike="noStrike">
              <a:solidFill>
                <a:schemeClr val="dk1"/>
              </a:solidFill>
              <a:latin typeface="Calibri"/>
              <a:ea typeface="Calibri"/>
              <a:cs typeface="Calibri"/>
              <a:sym typeface="Calibri"/>
            </a:endParaRPr>
          </a:p>
        </p:txBody>
      </p:sp>
      <p:sp>
        <p:nvSpPr>
          <p:cNvPr id="914" name="Google Shape;914;p21"/>
          <p:cNvSpPr/>
          <p:nvPr/>
        </p:nvSpPr>
        <p:spPr>
          <a:xfrm>
            <a:off x="1123950" y="4069080"/>
            <a:ext cx="8256270" cy="457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850"/>
              <a:buFont typeface="Helvetica Neue"/>
              <a:buNone/>
            </a:pPr>
            <a:r>
              <a:rPr b="1" i="0" lang="en-US" sz="2850" u="none" cap="none" strike="noStrike">
                <a:solidFill>
                  <a:srgbClr val="1C2A44"/>
                </a:solidFill>
                <a:latin typeface="Helvetica Neue"/>
                <a:ea typeface="Helvetica Neue"/>
                <a:cs typeface="Helvetica Neue"/>
                <a:sym typeface="Helvetica Neue"/>
              </a:rPr>
              <a:t>Fill in the blank</a:t>
            </a:r>
            <a:endParaRPr b="0" i="0" sz="2850" u="none" cap="none" strike="noStrike">
              <a:solidFill>
                <a:schemeClr val="dk1"/>
              </a:solidFill>
              <a:latin typeface="Calibri"/>
              <a:ea typeface="Calibri"/>
              <a:cs typeface="Calibri"/>
              <a:sym typeface="Calibri"/>
            </a:endParaRPr>
          </a:p>
        </p:txBody>
      </p:sp>
      <p:sp>
        <p:nvSpPr>
          <p:cNvPr id="915" name="Google Shape;915;p21"/>
          <p:cNvSpPr/>
          <p:nvPr/>
        </p:nvSpPr>
        <p:spPr>
          <a:xfrm>
            <a:off x="1123950" y="4678680"/>
            <a:ext cx="750570" cy="5486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1"/>
          <p:cNvSpPr/>
          <p:nvPr/>
        </p:nvSpPr>
        <p:spPr>
          <a:xfrm>
            <a:off x="1276350" y="4792980"/>
            <a:ext cx="52197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IBM Plex Mono"/>
              <a:buNone/>
            </a:pPr>
            <a:r>
              <a:rPr b="0" i="0" lang="en-US" sz="1950" u="none" cap="none" strike="noStrike">
                <a:solidFill>
                  <a:srgbClr val="1C2A44"/>
                </a:solidFill>
                <a:latin typeface="IBM Plex Mono"/>
                <a:ea typeface="IBM Plex Mono"/>
                <a:cs typeface="IBM Plex Mono"/>
                <a:sym typeface="IBM Plex Mono"/>
              </a:rPr>
              <a:t>GGC</a:t>
            </a:r>
            <a:endParaRPr b="0" i="0" sz="1950" u="none" cap="none" strike="noStrike">
              <a:solidFill>
                <a:schemeClr val="dk1"/>
              </a:solidFill>
              <a:latin typeface="Calibri"/>
              <a:ea typeface="Calibri"/>
              <a:cs typeface="Calibri"/>
              <a:sym typeface="Calibri"/>
            </a:endParaRPr>
          </a:p>
        </p:txBody>
      </p:sp>
      <p:sp>
        <p:nvSpPr>
          <p:cNvPr id="917" name="Google Shape;917;p21"/>
          <p:cNvSpPr/>
          <p:nvPr/>
        </p:nvSpPr>
        <p:spPr>
          <a:xfrm>
            <a:off x="1969770" y="4678680"/>
            <a:ext cx="750570" cy="5486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1"/>
          <p:cNvSpPr/>
          <p:nvPr/>
        </p:nvSpPr>
        <p:spPr>
          <a:xfrm>
            <a:off x="2122170" y="4792980"/>
            <a:ext cx="52197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IBM Plex Mono"/>
              <a:buNone/>
            </a:pPr>
            <a:r>
              <a:rPr b="0" i="0" lang="en-US" sz="1950" u="none" cap="none" strike="noStrike">
                <a:solidFill>
                  <a:srgbClr val="1C2A44"/>
                </a:solidFill>
                <a:latin typeface="IBM Plex Mono"/>
                <a:ea typeface="IBM Plex Mono"/>
                <a:cs typeface="IBM Plex Mono"/>
                <a:sym typeface="IBM Plex Mono"/>
              </a:rPr>
              <a:t>TAT</a:t>
            </a:r>
            <a:endParaRPr b="0" i="0" sz="1950" u="none" cap="none" strike="noStrike">
              <a:solidFill>
                <a:schemeClr val="dk1"/>
              </a:solidFill>
              <a:latin typeface="Calibri"/>
              <a:ea typeface="Calibri"/>
              <a:cs typeface="Calibri"/>
              <a:sym typeface="Calibri"/>
            </a:endParaRPr>
          </a:p>
        </p:txBody>
      </p:sp>
      <p:sp>
        <p:nvSpPr>
          <p:cNvPr id="919" name="Google Shape;919;p21"/>
          <p:cNvSpPr/>
          <p:nvPr/>
        </p:nvSpPr>
        <p:spPr>
          <a:xfrm>
            <a:off x="2815590" y="4678680"/>
            <a:ext cx="1047750" cy="5486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1"/>
          <p:cNvSpPr/>
          <p:nvPr/>
        </p:nvSpPr>
        <p:spPr>
          <a:xfrm>
            <a:off x="2967990" y="4792980"/>
            <a:ext cx="81915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950"/>
              <a:buFont typeface="IBM Plex Mono"/>
              <a:buNone/>
            </a:pPr>
            <a:r>
              <a:rPr b="1" i="0" lang="en-US" sz="1950" u="none" cap="none" strike="noStrike">
                <a:solidFill>
                  <a:srgbClr val="E8A317"/>
                </a:solidFill>
                <a:latin typeface="IBM Plex Mono"/>
                <a:ea typeface="IBM Plex Mono"/>
                <a:cs typeface="IBM Plex Mono"/>
                <a:sym typeface="IBM Plex Mono"/>
              </a:rPr>
              <a:t>?????</a:t>
            </a:r>
            <a:endParaRPr b="0" i="0" sz="1950" u="none" cap="none" strike="noStrike">
              <a:solidFill>
                <a:schemeClr val="dk1"/>
              </a:solidFill>
              <a:latin typeface="Calibri"/>
              <a:ea typeface="Calibri"/>
              <a:cs typeface="Calibri"/>
              <a:sym typeface="Calibri"/>
            </a:endParaRPr>
          </a:p>
        </p:txBody>
      </p:sp>
      <p:sp>
        <p:nvSpPr>
          <p:cNvPr id="921" name="Google Shape;921;p21"/>
          <p:cNvSpPr/>
          <p:nvPr/>
        </p:nvSpPr>
        <p:spPr>
          <a:xfrm>
            <a:off x="3958590" y="4678680"/>
            <a:ext cx="750570" cy="5486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1"/>
          <p:cNvSpPr/>
          <p:nvPr/>
        </p:nvSpPr>
        <p:spPr>
          <a:xfrm>
            <a:off x="4110990" y="4792980"/>
            <a:ext cx="52197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IBM Plex Mono"/>
              <a:buNone/>
            </a:pPr>
            <a:r>
              <a:rPr b="0" i="0" lang="en-US" sz="1950" u="none" cap="none" strike="noStrike">
                <a:solidFill>
                  <a:srgbClr val="1C2A44"/>
                </a:solidFill>
                <a:latin typeface="IBM Plex Mono"/>
                <a:ea typeface="IBM Plex Mono"/>
                <a:cs typeface="IBM Plex Mono"/>
                <a:sym typeface="IBM Plex Mono"/>
              </a:rPr>
              <a:t>GGC</a:t>
            </a:r>
            <a:endParaRPr b="0" i="0" sz="1950" u="none" cap="none" strike="noStrike">
              <a:solidFill>
                <a:schemeClr val="dk1"/>
              </a:solidFill>
              <a:latin typeface="Calibri"/>
              <a:ea typeface="Calibri"/>
              <a:cs typeface="Calibri"/>
              <a:sym typeface="Calibri"/>
            </a:endParaRPr>
          </a:p>
        </p:txBody>
      </p:sp>
      <p:sp>
        <p:nvSpPr>
          <p:cNvPr id="923" name="Google Shape;923;p21"/>
          <p:cNvSpPr/>
          <p:nvPr/>
        </p:nvSpPr>
        <p:spPr>
          <a:xfrm>
            <a:off x="4804410" y="4678680"/>
            <a:ext cx="750570" cy="5486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1"/>
          <p:cNvSpPr/>
          <p:nvPr/>
        </p:nvSpPr>
        <p:spPr>
          <a:xfrm>
            <a:off x="4956810" y="4792980"/>
            <a:ext cx="52197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IBM Plex Mono"/>
              <a:buNone/>
            </a:pPr>
            <a:r>
              <a:rPr b="0" i="0" lang="en-US" sz="1950" u="none" cap="none" strike="noStrike">
                <a:solidFill>
                  <a:srgbClr val="1C2A44"/>
                </a:solidFill>
                <a:latin typeface="IBM Plex Mono"/>
                <a:ea typeface="IBM Plex Mono"/>
                <a:cs typeface="IBM Plex Mono"/>
                <a:sym typeface="IBM Plex Mono"/>
              </a:rPr>
              <a:t>ACG</a:t>
            </a:r>
            <a:endParaRPr b="0" i="0" sz="1950" u="none" cap="none" strike="noStrike">
              <a:solidFill>
                <a:schemeClr val="dk1"/>
              </a:solidFill>
              <a:latin typeface="Calibri"/>
              <a:ea typeface="Calibri"/>
              <a:cs typeface="Calibri"/>
              <a:sym typeface="Calibri"/>
            </a:endParaRPr>
          </a:p>
        </p:txBody>
      </p:sp>
      <p:sp>
        <p:nvSpPr>
          <p:cNvPr id="925" name="Google Shape;925;p21"/>
          <p:cNvSpPr/>
          <p:nvPr/>
        </p:nvSpPr>
        <p:spPr>
          <a:xfrm>
            <a:off x="1123950" y="5417820"/>
            <a:ext cx="7730871" cy="1156811"/>
          </a:xfrm>
          <a:prstGeom prst="rect">
            <a:avLst/>
          </a:prstGeom>
          <a:noFill/>
          <a:ln>
            <a:noFill/>
          </a:ln>
        </p:spPr>
        <p:txBody>
          <a:bodyPr anchorCtr="0" anchor="t" bIns="25400" lIns="25400" spcFirstLastPara="1" rIns="25400" wrap="square" tIns="25400">
            <a:normAutofit/>
          </a:bodyPr>
          <a:lstStyle/>
          <a:p>
            <a:pPr indent="0" lvl="0" marL="0" marR="0" rtl="0" algn="l">
              <a:lnSpc>
                <a:spcPct val="125481"/>
              </a:lnSpc>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The model sees both sides and must recover the hidden piece. To do that well it has to learn which patterns go together — which is precisely the knowledge we want to borrow.</a:t>
            </a:r>
            <a:endParaRPr b="0" i="0" sz="2025" u="none" cap="none" strike="noStrike">
              <a:solidFill>
                <a:schemeClr val="dk1"/>
              </a:solidFill>
              <a:latin typeface="Calibri"/>
              <a:ea typeface="Calibri"/>
              <a:cs typeface="Calibri"/>
              <a:sym typeface="Calibri"/>
            </a:endParaRPr>
          </a:p>
        </p:txBody>
      </p:sp>
      <p:sp>
        <p:nvSpPr>
          <p:cNvPr id="926" name="Google Shape;926;p21"/>
          <p:cNvSpPr/>
          <p:nvPr/>
        </p:nvSpPr>
        <p:spPr>
          <a:xfrm>
            <a:off x="1123950" y="6650831"/>
            <a:ext cx="7730871"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Used by DNABERT-2 and the Nucleotide Transformer</a:t>
            </a:r>
            <a:endParaRPr b="0" i="0" sz="1800" u="none" cap="none" strike="noStrike">
              <a:solidFill>
                <a:schemeClr val="dk1"/>
              </a:solidFill>
              <a:latin typeface="Calibri"/>
              <a:ea typeface="Calibri"/>
              <a:cs typeface="Calibri"/>
              <a:sym typeface="Calibri"/>
            </a:endParaRPr>
          </a:p>
        </p:txBody>
      </p:sp>
      <p:sp>
        <p:nvSpPr>
          <p:cNvPr id="927" name="Google Shape;927;p21"/>
          <p:cNvSpPr/>
          <p:nvPr/>
        </p:nvSpPr>
        <p:spPr>
          <a:xfrm>
            <a:off x="9372600" y="3505200"/>
            <a:ext cx="8077200" cy="3633311"/>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1"/>
          <p:cNvSpPr/>
          <p:nvPr/>
        </p:nvSpPr>
        <p:spPr>
          <a:xfrm>
            <a:off x="9658350" y="3733800"/>
            <a:ext cx="825627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RECIPE TWO</a:t>
            </a:r>
            <a:endParaRPr b="0" i="0" sz="1800" u="none" cap="none" strike="noStrike">
              <a:solidFill>
                <a:schemeClr val="dk1"/>
              </a:solidFill>
              <a:latin typeface="Calibri"/>
              <a:ea typeface="Calibri"/>
              <a:cs typeface="Calibri"/>
              <a:sym typeface="Calibri"/>
            </a:endParaRPr>
          </a:p>
        </p:txBody>
      </p:sp>
      <p:sp>
        <p:nvSpPr>
          <p:cNvPr id="929" name="Google Shape;929;p21"/>
          <p:cNvSpPr/>
          <p:nvPr/>
        </p:nvSpPr>
        <p:spPr>
          <a:xfrm>
            <a:off x="9658350" y="4069080"/>
            <a:ext cx="8256270" cy="457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850"/>
              <a:buFont typeface="Helvetica Neue"/>
              <a:buNone/>
            </a:pPr>
            <a:r>
              <a:rPr b="1" i="0" lang="en-US" sz="2850" u="none" cap="none" strike="noStrike">
                <a:solidFill>
                  <a:srgbClr val="1C2A44"/>
                </a:solidFill>
                <a:latin typeface="Helvetica Neue"/>
                <a:ea typeface="Helvetica Neue"/>
                <a:cs typeface="Helvetica Neue"/>
                <a:sym typeface="Helvetica Neue"/>
              </a:rPr>
              <a:t>Guess what comes next</a:t>
            </a:r>
            <a:endParaRPr b="0" i="0" sz="2850" u="none" cap="none" strike="noStrike">
              <a:solidFill>
                <a:schemeClr val="dk1"/>
              </a:solidFill>
              <a:latin typeface="Calibri"/>
              <a:ea typeface="Calibri"/>
              <a:cs typeface="Calibri"/>
              <a:sym typeface="Calibri"/>
            </a:endParaRPr>
          </a:p>
        </p:txBody>
      </p:sp>
      <p:sp>
        <p:nvSpPr>
          <p:cNvPr id="930" name="Google Shape;930;p21"/>
          <p:cNvSpPr/>
          <p:nvPr/>
        </p:nvSpPr>
        <p:spPr>
          <a:xfrm>
            <a:off x="9658350" y="4678680"/>
            <a:ext cx="2087880" cy="5486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1"/>
          <p:cNvSpPr/>
          <p:nvPr/>
        </p:nvSpPr>
        <p:spPr>
          <a:xfrm>
            <a:off x="9810750" y="4792980"/>
            <a:ext cx="185928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IBM Plex Mono"/>
              <a:buNone/>
            </a:pPr>
            <a:r>
              <a:rPr b="0" i="0" lang="en-US" sz="1950" u="none" cap="none" strike="noStrike">
                <a:solidFill>
                  <a:srgbClr val="1C2A44"/>
                </a:solidFill>
                <a:latin typeface="IBM Plex Mono"/>
                <a:ea typeface="IBM Plex Mono"/>
                <a:cs typeface="IBM Plex Mono"/>
                <a:sym typeface="IBM Plex Mono"/>
              </a:rPr>
              <a:t>GGCTATAAAGGC</a:t>
            </a:r>
            <a:endParaRPr b="0" i="0" sz="1950" u="none" cap="none" strike="noStrike">
              <a:solidFill>
                <a:schemeClr val="dk1"/>
              </a:solidFill>
              <a:latin typeface="Calibri"/>
              <a:ea typeface="Calibri"/>
              <a:cs typeface="Calibri"/>
              <a:sym typeface="Calibri"/>
            </a:endParaRPr>
          </a:p>
        </p:txBody>
      </p:sp>
      <p:sp>
        <p:nvSpPr>
          <p:cNvPr id="932" name="Google Shape;932;p21"/>
          <p:cNvSpPr/>
          <p:nvPr/>
        </p:nvSpPr>
        <p:spPr>
          <a:xfrm>
            <a:off x="11879581" y="4792980"/>
            <a:ext cx="212408"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950"/>
              <a:buFont typeface="IBM Plex Mono"/>
              <a:buNone/>
            </a:pPr>
            <a:r>
              <a:rPr b="0" i="0" lang="en-US" sz="1950" u="none" cap="none" strike="noStrike">
                <a:solidFill>
                  <a:srgbClr val="E8A317"/>
                </a:solidFill>
                <a:latin typeface="IBM Plex Mono"/>
                <a:ea typeface="IBM Plex Mono"/>
                <a:cs typeface="IBM Plex Mono"/>
                <a:sym typeface="IBM Plex Mono"/>
              </a:rPr>
              <a:t>→</a:t>
            </a:r>
            <a:endParaRPr b="0" i="0" sz="1950" u="none" cap="none" strike="noStrike">
              <a:solidFill>
                <a:schemeClr val="dk1"/>
              </a:solidFill>
              <a:latin typeface="Calibri"/>
              <a:ea typeface="Calibri"/>
              <a:cs typeface="Calibri"/>
              <a:sym typeface="Calibri"/>
            </a:endParaRPr>
          </a:p>
        </p:txBody>
      </p:sp>
      <p:sp>
        <p:nvSpPr>
          <p:cNvPr id="933" name="Google Shape;933;p21"/>
          <p:cNvSpPr/>
          <p:nvPr/>
        </p:nvSpPr>
        <p:spPr>
          <a:xfrm>
            <a:off x="12149138" y="4678680"/>
            <a:ext cx="453390" cy="5486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1"/>
          <p:cNvSpPr/>
          <p:nvPr/>
        </p:nvSpPr>
        <p:spPr>
          <a:xfrm>
            <a:off x="12301538" y="4792980"/>
            <a:ext cx="22479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950"/>
              <a:buFont typeface="IBM Plex Mono"/>
              <a:buNone/>
            </a:pPr>
            <a:r>
              <a:rPr b="1" i="0" lang="en-US" sz="1950" u="none" cap="none" strike="noStrike">
                <a:solidFill>
                  <a:srgbClr val="E8A317"/>
                </a:solidFill>
                <a:latin typeface="IBM Plex Mono"/>
                <a:ea typeface="IBM Plex Mono"/>
                <a:cs typeface="IBM Plex Mono"/>
                <a:sym typeface="IBM Plex Mono"/>
              </a:rPr>
              <a:t>?</a:t>
            </a:r>
            <a:endParaRPr b="0" i="0" sz="1950" u="none" cap="none" strike="noStrike">
              <a:solidFill>
                <a:schemeClr val="dk1"/>
              </a:solidFill>
              <a:latin typeface="Calibri"/>
              <a:ea typeface="Calibri"/>
              <a:cs typeface="Calibri"/>
              <a:sym typeface="Calibri"/>
            </a:endParaRPr>
          </a:p>
        </p:txBody>
      </p:sp>
      <p:sp>
        <p:nvSpPr>
          <p:cNvPr id="935" name="Google Shape;935;p21"/>
          <p:cNvSpPr/>
          <p:nvPr/>
        </p:nvSpPr>
        <p:spPr>
          <a:xfrm>
            <a:off x="9658350" y="5417820"/>
            <a:ext cx="7730871" cy="1156811"/>
          </a:xfrm>
          <a:prstGeom prst="rect">
            <a:avLst/>
          </a:prstGeom>
          <a:noFill/>
          <a:ln>
            <a:noFill/>
          </a:ln>
        </p:spPr>
        <p:txBody>
          <a:bodyPr anchorCtr="0" anchor="t" bIns="25400" lIns="25400" spcFirstLastPara="1" rIns="25400" wrap="square" tIns="25400">
            <a:normAutofit/>
          </a:bodyPr>
          <a:lstStyle/>
          <a:p>
            <a:pPr indent="0" lvl="0" marL="0" marR="0" rtl="0" algn="l">
              <a:lnSpc>
                <a:spcPct val="125481"/>
              </a:lnSpc>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Only the sequence so far is visible. The same idea in one direction — and it lets the model generate new sequence as well as score existing sequence.</a:t>
            </a:r>
            <a:endParaRPr b="0" i="0" sz="2025" u="none" cap="none" strike="noStrike">
              <a:solidFill>
                <a:schemeClr val="dk1"/>
              </a:solidFill>
              <a:latin typeface="Calibri"/>
              <a:ea typeface="Calibri"/>
              <a:cs typeface="Calibri"/>
              <a:sym typeface="Calibri"/>
            </a:endParaRPr>
          </a:p>
        </p:txBody>
      </p:sp>
      <p:sp>
        <p:nvSpPr>
          <p:cNvPr id="936" name="Google Shape;936;p21"/>
          <p:cNvSpPr/>
          <p:nvPr/>
        </p:nvSpPr>
        <p:spPr>
          <a:xfrm>
            <a:off x="9658350" y="6650831"/>
            <a:ext cx="7730871"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Used by HyenaDNA and Evo</a:t>
            </a:r>
            <a:endParaRPr b="0" i="0" sz="1800" u="none" cap="none" strike="noStrike">
              <a:solidFill>
                <a:schemeClr val="dk1"/>
              </a:solidFill>
              <a:latin typeface="Calibri"/>
              <a:ea typeface="Calibri"/>
              <a:cs typeface="Calibri"/>
              <a:sym typeface="Calibri"/>
            </a:endParaRPr>
          </a:p>
        </p:txBody>
      </p:sp>
      <p:sp>
        <p:nvSpPr>
          <p:cNvPr id="937" name="Google Shape;937;p21"/>
          <p:cNvSpPr/>
          <p:nvPr/>
        </p:nvSpPr>
        <p:spPr>
          <a:xfrm>
            <a:off x="838200" y="7576185"/>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1"/>
          <p:cNvSpPr/>
          <p:nvPr/>
        </p:nvSpPr>
        <p:spPr>
          <a:xfrm>
            <a:off x="838200" y="7839075"/>
            <a:ext cx="578358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THE TERM FOR IT</a:t>
            </a:r>
            <a:endParaRPr b="0" i="0" sz="1800" u="none" cap="none" strike="noStrike">
              <a:solidFill>
                <a:schemeClr val="dk1"/>
              </a:solidFill>
              <a:latin typeface="Calibri"/>
              <a:ea typeface="Calibri"/>
              <a:cs typeface="Calibri"/>
              <a:sym typeface="Calibri"/>
            </a:endParaRPr>
          </a:p>
        </p:txBody>
      </p:sp>
      <p:sp>
        <p:nvSpPr>
          <p:cNvPr id="939" name="Google Shape;939;p21"/>
          <p:cNvSpPr/>
          <p:nvPr/>
        </p:nvSpPr>
        <p:spPr>
          <a:xfrm>
            <a:off x="838200" y="8193405"/>
            <a:ext cx="5415534"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Self-supervised learning: the answer key is the piece of sequence that was hidden, so no human labelling is involved at all.</a:t>
            </a:r>
            <a:endParaRPr b="0" i="0" sz="2100" u="none" cap="none" strike="noStrike">
              <a:solidFill>
                <a:schemeClr val="dk1"/>
              </a:solidFill>
              <a:latin typeface="Calibri"/>
              <a:ea typeface="Calibri"/>
              <a:cs typeface="Calibri"/>
              <a:sym typeface="Calibri"/>
            </a:endParaRPr>
          </a:p>
        </p:txBody>
      </p:sp>
      <p:sp>
        <p:nvSpPr>
          <p:cNvPr id="940" name="Google Shape;940;p21"/>
          <p:cNvSpPr/>
          <p:nvPr/>
        </p:nvSpPr>
        <p:spPr>
          <a:xfrm>
            <a:off x="6515100" y="7839075"/>
            <a:ext cx="578358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WHAT IT COSTS</a:t>
            </a:r>
            <a:endParaRPr b="0" i="0" sz="1800" u="none" cap="none" strike="noStrike">
              <a:solidFill>
                <a:schemeClr val="dk1"/>
              </a:solidFill>
              <a:latin typeface="Calibri"/>
              <a:ea typeface="Calibri"/>
              <a:cs typeface="Calibri"/>
              <a:sym typeface="Calibri"/>
            </a:endParaRPr>
          </a:p>
        </p:txBody>
      </p:sp>
      <p:sp>
        <p:nvSpPr>
          <p:cNvPr id="941" name="Google Shape;941;p21"/>
          <p:cNvSpPr/>
          <p:nvPr/>
        </p:nvSpPr>
        <p:spPr>
          <a:xfrm>
            <a:off x="6515100" y="8193405"/>
            <a:ext cx="5415534"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Weeks on many GPUs — done once, by the group that publishes the model.</a:t>
            </a:r>
            <a:endParaRPr b="0" i="0" sz="2100" u="none" cap="none" strike="noStrike">
              <a:solidFill>
                <a:schemeClr val="dk1"/>
              </a:solidFill>
              <a:latin typeface="Calibri"/>
              <a:ea typeface="Calibri"/>
              <a:cs typeface="Calibri"/>
              <a:sym typeface="Calibri"/>
            </a:endParaRPr>
          </a:p>
        </p:txBody>
      </p:sp>
      <p:sp>
        <p:nvSpPr>
          <p:cNvPr id="942" name="Google Shape;942;p21"/>
          <p:cNvSpPr/>
          <p:nvPr/>
        </p:nvSpPr>
        <p:spPr>
          <a:xfrm>
            <a:off x="12192000" y="7839075"/>
            <a:ext cx="578358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WHAT WE PAY</a:t>
            </a:r>
            <a:endParaRPr b="0" i="0" sz="1800" u="none" cap="none" strike="noStrike">
              <a:solidFill>
                <a:schemeClr val="dk1"/>
              </a:solidFill>
              <a:latin typeface="Calibri"/>
              <a:ea typeface="Calibri"/>
              <a:cs typeface="Calibri"/>
              <a:sym typeface="Calibri"/>
            </a:endParaRPr>
          </a:p>
        </p:txBody>
      </p:sp>
      <p:sp>
        <p:nvSpPr>
          <p:cNvPr id="943" name="Google Shape;943;p21"/>
          <p:cNvSpPr/>
          <p:nvPr/>
        </p:nvSpPr>
        <p:spPr>
          <a:xfrm>
            <a:off x="12192000" y="8193405"/>
            <a:ext cx="5415534"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A download. We never repeat the pretraining; we reuse the result.</a:t>
            </a:r>
            <a:endParaRPr b="0" i="0" sz="2100" u="none" cap="none" strike="noStrike">
              <a:solidFill>
                <a:schemeClr val="dk1"/>
              </a:solidFill>
              <a:latin typeface="Calibri"/>
              <a:ea typeface="Calibri"/>
              <a:cs typeface="Calibri"/>
              <a:sym typeface="Calibri"/>
            </a:endParaRPr>
          </a:p>
        </p:txBody>
      </p:sp>
      <p:sp>
        <p:nvSpPr>
          <p:cNvPr id="944" name="Google Shape;944;p21"/>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1"/>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946" name="Google Shape;946;p21"/>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947" name="Google Shape;947;p21"/>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21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2" name="Shape 952"/>
        <p:cNvGrpSpPr/>
        <p:nvPr/>
      </p:nvGrpSpPr>
      <p:grpSpPr>
        <a:xfrm>
          <a:off x="0" y="0"/>
          <a:ext cx="0" cy="0"/>
          <a:chOff x="0" y="0"/>
          <a:chExt cx="0" cy="0"/>
        </a:xfrm>
      </p:grpSpPr>
      <p:sp>
        <p:nvSpPr>
          <p:cNvPr id="953" name="Google Shape;953;p22"/>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2"/>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955" name="Google Shape;955;p22"/>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956" name="Google Shape;956;p22"/>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04 · PRETRAINED DNA MODELS</a:t>
            </a:r>
            <a:endParaRPr b="0" i="0" sz="1800" u="none" cap="none" strike="noStrike">
              <a:solidFill>
                <a:schemeClr val="dk1"/>
              </a:solidFill>
              <a:latin typeface="Calibri"/>
              <a:ea typeface="Calibri"/>
              <a:cs typeface="Calibri"/>
              <a:sym typeface="Calibri"/>
            </a:endParaRPr>
          </a:p>
        </p:txBody>
      </p:sp>
      <p:sp>
        <p:nvSpPr>
          <p:cNvPr id="957" name="Google Shape;957;p22"/>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The models on the shelf</a:t>
            </a:r>
            <a:endParaRPr b="0" i="0" sz="4500" u="none" cap="none" strike="noStrike">
              <a:solidFill>
                <a:schemeClr val="dk1"/>
              </a:solidFill>
              <a:latin typeface="Calibri"/>
              <a:ea typeface="Calibri"/>
              <a:cs typeface="Calibri"/>
              <a:sym typeface="Calibri"/>
            </a:endParaRPr>
          </a:p>
        </p:txBody>
      </p:sp>
      <p:sp>
        <p:nvSpPr>
          <p:cNvPr id="958" name="Google Shape;958;p22"/>
          <p:cNvSpPr/>
          <p:nvPr/>
        </p:nvSpPr>
        <p:spPr>
          <a:xfrm>
            <a:off x="838200" y="2802255"/>
            <a:ext cx="3193137"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2"/>
          <p:cNvSpPr/>
          <p:nvPr/>
        </p:nvSpPr>
        <p:spPr>
          <a:xfrm>
            <a:off x="838200" y="2409825"/>
            <a:ext cx="3288931"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MODEL</a:t>
            </a:r>
            <a:endParaRPr b="0" i="0" sz="1800" u="none" cap="none" strike="noStrike">
              <a:solidFill>
                <a:schemeClr val="dk1"/>
              </a:solidFill>
              <a:latin typeface="Calibri"/>
              <a:ea typeface="Calibri"/>
              <a:cs typeface="Calibri"/>
              <a:sym typeface="Calibri"/>
            </a:endParaRPr>
          </a:p>
        </p:txBody>
      </p:sp>
      <p:sp>
        <p:nvSpPr>
          <p:cNvPr id="960" name="Google Shape;960;p22"/>
          <p:cNvSpPr/>
          <p:nvPr/>
        </p:nvSpPr>
        <p:spPr>
          <a:xfrm>
            <a:off x="4374237" y="2802255"/>
            <a:ext cx="2467332"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2"/>
          <p:cNvSpPr/>
          <p:nvPr/>
        </p:nvSpPr>
        <p:spPr>
          <a:xfrm>
            <a:off x="4374237" y="2409825"/>
            <a:ext cx="2543532"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TOKENS</a:t>
            </a:r>
            <a:endParaRPr b="0" i="0" sz="1800" u="none" cap="none" strike="noStrike">
              <a:solidFill>
                <a:schemeClr val="dk1"/>
              </a:solidFill>
              <a:latin typeface="Calibri"/>
              <a:ea typeface="Calibri"/>
              <a:cs typeface="Calibri"/>
              <a:sym typeface="Calibri"/>
            </a:endParaRPr>
          </a:p>
        </p:txBody>
      </p:sp>
      <p:sp>
        <p:nvSpPr>
          <p:cNvPr id="962" name="Google Shape;962;p22"/>
          <p:cNvSpPr/>
          <p:nvPr/>
        </p:nvSpPr>
        <p:spPr>
          <a:xfrm>
            <a:off x="7184470" y="2802255"/>
            <a:ext cx="2902863"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2"/>
          <p:cNvSpPr/>
          <p:nvPr/>
        </p:nvSpPr>
        <p:spPr>
          <a:xfrm>
            <a:off x="7184470" y="2409825"/>
            <a:ext cx="298994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REACH</a:t>
            </a:r>
            <a:endParaRPr b="0" i="0" sz="1800" u="none" cap="none" strike="noStrike">
              <a:solidFill>
                <a:schemeClr val="dk1"/>
              </a:solidFill>
              <a:latin typeface="Calibri"/>
              <a:ea typeface="Calibri"/>
              <a:cs typeface="Calibri"/>
              <a:sym typeface="Calibri"/>
            </a:endParaRPr>
          </a:p>
        </p:txBody>
      </p:sp>
      <p:sp>
        <p:nvSpPr>
          <p:cNvPr id="964" name="Google Shape;964;p22"/>
          <p:cNvSpPr/>
          <p:nvPr/>
        </p:nvSpPr>
        <p:spPr>
          <a:xfrm>
            <a:off x="10430232" y="2802255"/>
            <a:ext cx="2322314"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2"/>
          <p:cNvSpPr/>
          <p:nvPr/>
        </p:nvSpPr>
        <p:spPr>
          <a:xfrm>
            <a:off x="10430232" y="2409825"/>
            <a:ext cx="2398514"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SIZE</a:t>
            </a:r>
            <a:endParaRPr b="0" i="0" sz="1800" u="none" cap="none" strike="noStrike">
              <a:solidFill>
                <a:schemeClr val="dk1"/>
              </a:solidFill>
              <a:latin typeface="Calibri"/>
              <a:ea typeface="Calibri"/>
              <a:cs typeface="Calibri"/>
              <a:sym typeface="Calibri"/>
            </a:endParaRPr>
          </a:p>
        </p:txBody>
      </p:sp>
      <p:sp>
        <p:nvSpPr>
          <p:cNvPr id="966" name="Google Shape;966;p22"/>
          <p:cNvSpPr/>
          <p:nvPr/>
        </p:nvSpPr>
        <p:spPr>
          <a:xfrm>
            <a:off x="13095446" y="2802255"/>
            <a:ext cx="4354354"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2"/>
          <p:cNvSpPr/>
          <p:nvPr/>
        </p:nvSpPr>
        <p:spPr>
          <a:xfrm>
            <a:off x="13095446" y="2409825"/>
            <a:ext cx="4484984"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WHAT IT IS GOOD FOR</a:t>
            </a:r>
            <a:endParaRPr b="0" i="0" sz="1800" u="none" cap="none" strike="noStrike">
              <a:solidFill>
                <a:schemeClr val="dk1"/>
              </a:solidFill>
              <a:latin typeface="Calibri"/>
              <a:ea typeface="Calibri"/>
              <a:cs typeface="Calibri"/>
              <a:sym typeface="Calibri"/>
            </a:endParaRPr>
          </a:p>
        </p:txBody>
      </p:sp>
      <p:sp>
        <p:nvSpPr>
          <p:cNvPr id="968" name="Google Shape;968;p22"/>
          <p:cNvSpPr/>
          <p:nvPr/>
        </p:nvSpPr>
        <p:spPr>
          <a:xfrm>
            <a:off x="838200" y="3918585"/>
            <a:ext cx="3193137"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2"/>
          <p:cNvSpPr/>
          <p:nvPr/>
        </p:nvSpPr>
        <p:spPr>
          <a:xfrm>
            <a:off x="838200" y="3007995"/>
            <a:ext cx="3512451" cy="381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DNABERT-2</a:t>
            </a:r>
            <a:endParaRPr b="0" i="0" sz="2400" u="none" cap="none" strike="noStrike">
              <a:solidFill>
                <a:schemeClr val="dk1"/>
              </a:solidFill>
              <a:latin typeface="Calibri"/>
              <a:ea typeface="Calibri"/>
              <a:cs typeface="Calibri"/>
              <a:sym typeface="Calibri"/>
            </a:endParaRPr>
          </a:p>
        </p:txBody>
      </p:sp>
      <p:sp>
        <p:nvSpPr>
          <p:cNvPr id="970" name="Google Shape;970;p22"/>
          <p:cNvSpPr/>
          <p:nvPr/>
        </p:nvSpPr>
        <p:spPr>
          <a:xfrm>
            <a:off x="838200" y="3381375"/>
            <a:ext cx="1887391" cy="2895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Zhou et al., 2023</a:t>
            </a:r>
            <a:endParaRPr b="0" i="0" sz="1800" u="none" cap="none" strike="noStrike">
              <a:solidFill>
                <a:schemeClr val="dk1"/>
              </a:solidFill>
              <a:latin typeface="Calibri"/>
              <a:ea typeface="Calibri"/>
              <a:cs typeface="Calibri"/>
              <a:sym typeface="Calibri"/>
            </a:endParaRPr>
          </a:p>
        </p:txBody>
      </p:sp>
      <p:sp>
        <p:nvSpPr>
          <p:cNvPr id="971" name="Google Shape;971;p22"/>
          <p:cNvSpPr/>
          <p:nvPr/>
        </p:nvSpPr>
        <p:spPr>
          <a:xfrm>
            <a:off x="4374237" y="3918585"/>
            <a:ext cx="2467332"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2"/>
          <p:cNvSpPr/>
          <p:nvPr/>
        </p:nvSpPr>
        <p:spPr>
          <a:xfrm>
            <a:off x="4374237" y="3007995"/>
            <a:ext cx="2543532"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learned subwords</a:t>
            </a:r>
            <a:endParaRPr b="0" i="0" sz="2025" u="none" cap="none" strike="noStrike">
              <a:solidFill>
                <a:schemeClr val="dk1"/>
              </a:solidFill>
              <a:latin typeface="Calibri"/>
              <a:ea typeface="Calibri"/>
              <a:cs typeface="Calibri"/>
              <a:sym typeface="Calibri"/>
            </a:endParaRPr>
          </a:p>
        </p:txBody>
      </p:sp>
      <p:sp>
        <p:nvSpPr>
          <p:cNvPr id="973" name="Google Shape;973;p22"/>
          <p:cNvSpPr/>
          <p:nvPr/>
        </p:nvSpPr>
        <p:spPr>
          <a:xfrm>
            <a:off x="7184470" y="3918585"/>
            <a:ext cx="2902863"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2"/>
          <p:cNvSpPr/>
          <p:nvPr/>
        </p:nvSpPr>
        <p:spPr>
          <a:xfrm>
            <a:off x="7184470" y="3007995"/>
            <a:ext cx="2989949"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512 tokens</a:t>
            </a:r>
            <a:endParaRPr b="0" i="0" sz="2025" u="none" cap="none" strike="noStrike">
              <a:solidFill>
                <a:schemeClr val="dk1"/>
              </a:solidFill>
              <a:latin typeface="Calibri"/>
              <a:ea typeface="Calibri"/>
              <a:cs typeface="Calibri"/>
              <a:sym typeface="Calibri"/>
            </a:endParaRPr>
          </a:p>
        </p:txBody>
      </p:sp>
      <p:sp>
        <p:nvSpPr>
          <p:cNvPr id="975" name="Google Shape;975;p22"/>
          <p:cNvSpPr/>
          <p:nvPr/>
        </p:nvSpPr>
        <p:spPr>
          <a:xfrm>
            <a:off x="10430232" y="3918585"/>
            <a:ext cx="2322314"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2"/>
          <p:cNvSpPr/>
          <p:nvPr/>
        </p:nvSpPr>
        <p:spPr>
          <a:xfrm>
            <a:off x="10430232" y="3007995"/>
            <a:ext cx="2398514"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117 M</a:t>
            </a:r>
            <a:endParaRPr b="0" i="0" sz="2025" u="none" cap="none" strike="noStrike">
              <a:solidFill>
                <a:schemeClr val="dk1"/>
              </a:solidFill>
              <a:latin typeface="Calibri"/>
              <a:ea typeface="Calibri"/>
              <a:cs typeface="Calibri"/>
              <a:sym typeface="Calibri"/>
            </a:endParaRPr>
          </a:p>
        </p:txBody>
      </p:sp>
      <p:sp>
        <p:nvSpPr>
          <p:cNvPr id="977" name="Google Shape;977;p22"/>
          <p:cNvSpPr/>
          <p:nvPr/>
        </p:nvSpPr>
        <p:spPr>
          <a:xfrm>
            <a:off x="13095446" y="3918585"/>
            <a:ext cx="4354354"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2"/>
          <p:cNvSpPr/>
          <p:nvPr/>
        </p:nvSpPr>
        <p:spPr>
          <a:xfrm>
            <a:off x="13095446" y="3007995"/>
            <a:ext cx="4484984" cy="758190"/>
          </a:xfrm>
          <a:prstGeom prst="rect">
            <a:avLst/>
          </a:prstGeom>
          <a:noFill/>
          <a:ln>
            <a:noFill/>
          </a:ln>
        </p:spPr>
        <p:txBody>
          <a:bodyPr anchorCtr="0" anchor="t" bIns="25400" lIns="25400" spcFirstLastPara="1" rIns="25400" wrap="square" tIns="25400">
            <a:normAutofit/>
          </a:bodyPr>
          <a:lstStyle/>
          <a:p>
            <a:pPr indent="0" lvl="0" marL="0" marR="0" rtl="0" algn="l">
              <a:lnSpc>
                <a:spcPct val="121154"/>
              </a:lnSpc>
              <a:spcBef>
                <a:spcPts val="0"/>
              </a:spcBef>
              <a:spcAft>
                <a:spcPts val="0"/>
              </a:spcAft>
              <a:buClr>
                <a:srgbClr val="53627A"/>
              </a:buClr>
              <a:buSzPts val="2025"/>
              <a:buFont typeface="Helvetica Neue"/>
              <a:buNone/>
            </a:pPr>
            <a:r>
              <a:rPr b="0" i="0" lang="en-US" sz="2025" u="none" cap="none" strike="noStrike">
                <a:solidFill>
                  <a:srgbClr val="53627A"/>
                </a:solidFill>
                <a:latin typeface="Helvetica Neue"/>
                <a:ea typeface="Helvetica Neue"/>
                <a:cs typeface="Helvetica Neue"/>
                <a:sym typeface="Helvetica Neue"/>
              </a:rPr>
              <a:t>Short windows, cheap to run — a sensible default for our task</a:t>
            </a:r>
            <a:endParaRPr b="0" i="0" sz="2025" u="none" cap="none" strike="noStrike">
              <a:solidFill>
                <a:schemeClr val="dk1"/>
              </a:solidFill>
              <a:latin typeface="Calibri"/>
              <a:ea typeface="Calibri"/>
              <a:cs typeface="Calibri"/>
              <a:sym typeface="Calibri"/>
            </a:endParaRPr>
          </a:p>
        </p:txBody>
      </p:sp>
      <p:sp>
        <p:nvSpPr>
          <p:cNvPr id="979" name="Google Shape;979;p22"/>
          <p:cNvSpPr/>
          <p:nvPr/>
        </p:nvSpPr>
        <p:spPr>
          <a:xfrm>
            <a:off x="838200" y="5290185"/>
            <a:ext cx="3193137"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2"/>
          <p:cNvSpPr/>
          <p:nvPr/>
        </p:nvSpPr>
        <p:spPr>
          <a:xfrm>
            <a:off x="838200" y="4116705"/>
            <a:ext cx="3288931" cy="723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Nucleotide Transformer</a:t>
            </a:r>
            <a:endParaRPr b="0" i="0" sz="2400" u="none" cap="none" strike="noStrike">
              <a:solidFill>
                <a:schemeClr val="dk1"/>
              </a:solidFill>
              <a:latin typeface="Calibri"/>
              <a:ea typeface="Calibri"/>
              <a:cs typeface="Calibri"/>
              <a:sym typeface="Calibri"/>
            </a:endParaRPr>
          </a:p>
        </p:txBody>
      </p:sp>
      <p:sp>
        <p:nvSpPr>
          <p:cNvPr id="981" name="Google Shape;981;p22"/>
          <p:cNvSpPr/>
          <p:nvPr/>
        </p:nvSpPr>
        <p:spPr>
          <a:xfrm>
            <a:off x="838200" y="4832985"/>
            <a:ext cx="2543937" cy="2895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Dalla-Torre et al., 2025</a:t>
            </a:r>
            <a:endParaRPr b="0" i="0" sz="1800" u="none" cap="none" strike="noStrike">
              <a:solidFill>
                <a:schemeClr val="dk1"/>
              </a:solidFill>
              <a:latin typeface="Calibri"/>
              <a:ea typeface="Calibri"/>
              <a:cs typeface="Calibri"/>
              <a:sym typeface="Calibri"/>
            </a:endParaRPr>
          </a:p>
        </p:txBody>
      </p:sp>
      <p:sp>
        <p:nvSpPr>
          <p:cNvPr id="982" name="Google Shape;982;p22"/>
          <p:cNvSpPr/>
          <p:nvPr/>
        </p:nvSpPr>
        <p:spPr>
          <a:xfrm>
            <a:off x="4374237" y="5290185"/>
            <a:ext cx="2467332"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2"/>
          <p:cNvSpPr/>
          <p:nvPr/>
        </p:nvSpPr>
        <p:spPr>
          <a:xfrm>
            <a:off x="4374237" y="4116705"/>
            <a:ext cx="2543532" cy="10210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6-mers</a:t>
            </a:r>
            <a:endParaRPr b="0" i="0" sz="2025" u="none" cap="none" strike="noStrike">
              <a:solidFill>
                <a:schemeClr val="dk1"/>
              </a:solidFill>
              <a:latin typeface="Calibri"/>
              <a:ea typeface="Calibri"/>
              <a:cs typeface="Calibri"/>
              <a:sym typeface="Calibri"/>
            </a:endParaRPr>
          </a:p>
        </p:txBody>
      </p:sp>
      <p:sp>
        <p:nvSpPr>
          <p:cNvPr id="984" name="Google Shape;984;p22"/>
          <p:cNvSpPr/>
          <p:nvPr/>
        </p:nvSpPr>
        <p:spPr>
          <a:xfrm>
            <a:off x="7184470" y="5290185"/>
            <a:ext cx="2902863"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2"/>
          <p:cNvSpPr/>
          <p:nvPr/>
        </p:nvSpPr>
        <p:spPr>
          <a:xfrm>
            <a:off x="7184470" y="4116705"/>
            <a:ext cx="2989949" cy="10210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1,000 tokens ≈ 6 kb</a:t>
            </a:r>
            <a:endParaRPr b="0" i="0" sz="2025" u="none" cap="none" strike="noStrike">
              <a:solidFill>
                <a:schemeClr val="dk1"/>
              </a:solidFill>
              <a:latin typeface="Calibri"/>
              <a:ea typeface="Calibri"/>
              <a:cs typeface="Calibri"/>
              <a:sym typeface="Calibri"/>
            </a:endParaRPr>
          </a:p>
        </p:txBody>
      </p:sp>
      <p:sp>
        <p:nvSpPr>
          <p:cNvPr id="986" name="Google Shape;986;p22"/>
          <p:cNvSpPr/>
          <p:nvPr/>
        </p:nvSpPr>
        <p:spPr>
          <a:xfrm>
            <a:off x="10430232" y="5290185"/>
            <a:ext cx="2322314"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2"/>
          <p:cNvSpPr/>
          <p:nvPr/>
        </p:nvSpPr>
        <p:spPr>
          <a:xfrm>
            <a:off x="10430232" y="4116705"/>
            <a:ext cx="2398514" cy="10210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50 M – 2.5 B</a:t>
            </a:r>
            <a:endParaRPr b="0" i="0" sz="2025" u="none" cap="none" strike="noStrike">
              <a:solidFill>
                <a:schemeClr val="dk1"/>
              </a:solidFill>
              <a:latin typeface="Calibri"/>
              <a:ea typeface="Calibri"/>
              <a:cs typeface="Calibri"/>
              <a:sym typeface="Calibri"/>
            </a:endParaRPr>
          </a:p>
        </p:txBody>
      </p:sp>
      <p:sp>
        <p:nvSpPr>
          <p:cNvPr id="988" name="Google Shape;988;p22"/>
          <p:cNvSpPr/>
          <p:nvPr/>
        </p:nvSpPr>
        <p:spPr>
          <a:xfrm>
            <a:off x="13095446" y="5290185"/>
            <a:ext cx="4354354"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2"/>
          <p:cNvSpPr/>
          <p:nvPr/>
        </p:nvSpPr>
        <p:spPr>
          <a:xfrm>
            <a:off x="13095446" y="4116705"/>
            <a:ext cx="4484984" cy="1021080"/>
          </a:xfrm>
          <a:prstGeom prst="rect">
            <a:avLst/>
          </a:prstGeom>
          <a:noFill/>
          <a:ln>
            <a:noFill/>
          </a:ln>
        </p:spPr>
        <p:txBody>
          <a:bodyPr anchorCtr="0" anchor="t" bIns="25400" lIns="25400" spcFirstLastPara="1" rIns="25400" wrap="square" tIns="25400">
            <a:normAutofit/>
          </a:bodyPr>
          <a:lstStyle/>
          <a:p>
            <a:pPr indent="0" lvl="0" marL="0" marR="0" rtl="0" algn="l">
              <a:lnSpc>
                <a:spcPct val="121154"/>
              </a:lnSpc>
              <a:spcBef>
                <a:spcPts val="0"/>
              </a:spcBef>
              <a:spcAft>
                <a:spcPts val="0"/>
              </a:spcAft>
              <a:buClr>
                <a:srgbClr val="53627A"/>
              </a:buClr>
              <a:buSzPts val="2025"/>
              <a:buFont typeface="Helvetica Neue"/>
              <a:buNone/>
            </a:pPr>
            <a:r>
              <a:rPr b="0" i="0" lang="en-US" sz="2025" u="none" cap="none" strike="noStrike">
                <a:solidFill>
                  <a:srgbClr val="53627A"/>
                </a:solidFill>
                <a:latin typeface="Helvetica Neue"/>
                <a:ea typeface="Helvetica Neue"/>
                <a:cs typeface="Helvetica Neue"/>
                <a:sym typeface="Helvetica Neue"/>
              </a:rPr>
              <a:t>Broad benchmark coverage; pretrained across many species</a:t>
            </a:r>
            <a:endParaRPr b="0" i="0" sz="2025" u="none" cap="none" strike="noStrike">
              <a:solidFill>
                <a:schemeClr val="dk1"/>
              </a:solidFill>
              <a:latin typeface="Calibri"/>
              <a:ea typeface="Calibri"/>
              <a:cs typeface="Calibri"/>
              <a:sym typeface="Calibri"/>
            </a:endParaRPr>
          </a:p>
        </p:txBody>
      </p:sp>
      <p:sp>
        <p:nvSpPr>
          <p:cNvPr id="990" name="Google Shape;990;p22"/>
          <p:cNvSpPr/>
          <p:nvPr/>
        </p:nvSpPr>
        <p:spPr>
          <a:xfrm>
            <a:off x="838200" y="6398895"/>
            <a:ext cx="3193137"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2"/>
          <p:cNvSpPr/>
          <p:nvPr/>
        </p:nvSpPr>
        <p:spPr>
          <a:xfrm>
            <a:off x="838200" y="5488305"/>
            <a:ext cx="3512451" cy="381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HyenaDNA</a:t>
            </a:r>
            <a:endParaRPr b="0" i="0" sz="2400" u="none" cap="none" strike="noStrike">
              <a:solidFill>
                <a:schemeClr val="dk1"/>
              </a:solidFill>
              <a:latin typeface="Calibri"/>
              <a:ea typeface="Calibri"/>
              <a:cs typeface="Calibri"/>
              <a:sym typeface="Calibri"/>
            </a:endParaRPr>
          </a:p>
        </p:txBody>
      </p:sp>
      <p:sp>
        <p:nvSpPr>
          <p:cNvPr id="992" name="Google Shape;992;p22"/>
          <p:cNvSpPr/>
          <p:nvPr/>
        </p:nvSpPr>
        <p:spPr>
          <a:xfrm>
            <a:off x="838200" y="5861685"/>
            <a:ext cx="2180892" cy="2895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Nguyen et al., 2023</a:t>
            </a:r>
            <a:endParaRPr b="0" i="0" sz="1800" u="none" cap="none" strike="noStrike">
              <a:solidFill>
                <a:schemeClr val="dk1"/>
              </a:solidFill>
              <a:latin typeface="Calibri"/>
              <a:ea typeface="Calibri"/>
              <a:cs typeface="Calibri"/>
              <a:sym typeface="Calibri"/>
            </a:endParaRPr>
          </a:p>
        </p:txBody>
      </p:sp>
      <p:sp>
        <p:nvSpPr>
          <p:cNvPr id="993" name="Google Shape;993;p22"/>
          <p:cNvSpPr/>
          <p:nvPr/>
        </p:nvSpPr>
        <p:spPr>
          <a:xfrm>
            <a:off x="4374237" y="6398895"/>
            <a:ext cx="2467332"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2"/>
          <p:cNvSpPr/>
          <p:nvPr/>
        </p:nvSpPr>
        <p:spPr>
          <a:xfrm>
            <a:off x="4374237" y="5488305"/>
            <a:ext cx="2543532"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single bases</a:t>
            </a:r>
            <a:endParaRPr b="0" i="0" sz="2025" u="none" cap="none" strike="noStrike">
              <a:solidFill>
                <a:schemeClr val="dk1"/>
              </a:solidFill>
              <a:latin typeface="Calibri"/>
              <a:ea typeface="Calibri"/>
              <a:cs typeface="Calibri"/>
              <a:sym typeface="Calibri"/>
            </a:endParaRPr>
          </a:p>
        </p:txBody>
      </p:sp>
      <p:sp>
        <p:nvSpPr>
          <p:cNvPr id="995" name="Google Shape;995;p22"/>
          <p:cNvSpPr/>
          <p:nvPr/>
        </p:nvSpPr>
        <p:spPr>
          <a:xfrm>
            <a:off x="7184470" y="6398895"/>
            <a:ext cx="2902863"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2"/>
          <p:cNvSpPr/>
          <p:nvPr/>
        </p:nvSpPr>
        <p:spPr>
          <a:xfrm>
            <a:off x="7184470" y="5488305"/>
            <a:ext cx="2989949"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up to 1 M bases</a:t>
            </a:r>
            <a:endParaRPr b="0" i="0" sz="2025" u="none" cap="none" strike="noStrike">
              <a:solidFill>
                <a:schemeClr val="dk1"/>
              </a:solidFill>
              <a:latin typeface="Calibri"/>
              <a:ea typeface="Calibri"/>
              <a:cs typeface="Calibri"/>
              <a:sym typeface="Calibri"/>
            </a:endParaRPr>
          </a:p>
        </p:txBody>
      </p:sp>
      <p:sp>
        <p:nvSpPr>
          <p:cNvPr id="997" name="Google Shape;997;p22"/>
          <p:cNvSpPr/>
          <p:nvPr/>
        </p:nvSpPr>
        <p:spPr>
          <a:xfrm>
            <a:off x="10430232" y="6398895"/>
            <a:ext cx="2322314"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2"/>
          <p:cNvSpPr/>
          <p:nvPr/>
        </p:nvSpPr>
        <p:spPr>
          <a:xfrm>
            <a:off x="10430232" y="5488305"/>
            <a:ext cx="2398514"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2 M – 7 M</a:t>
            </a:r>
            <a:endParaRPr b="0" i="0" sz="2025" u="none" cap="none" strike="noStrike">
              <a:solidFill>
                <a:schemeClr val="dk1"/>
              </a:solidFill>
              <a:latin typeface="Calibri"/>
              <a:ea typeface="Calibri"/>
              <a:cs typeface="Calibri"/>
              <a:sym typeface="Calibri"/>
            </a:endParaRPr>
          </a:p>
        </p:txBody>
      </p:sp>
      <p:sp>
        <p:nvSpPr>
          <p:cNvPr id="999" name="Google Shape;999;p22"/>
          <p:cNvSpPr/>
          <p:nvPr/>
        </p:nvSpPr>
        <p:spPr>
          <a:xfrm>
            <a:off x="13095446" y="6398895"/>
            <a:ext cx="4354354"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2"/>
          <p:cNvSpPr/>
          <p:nvPr/>
        </p:nvSpPr>
        <p:spPr>
          <a:xfrm>
            <a:off x="13095446" y="5488305"/>
            <a:ext cx="4484984" cy="758190"/>
          </a:xfrm>
          <a:prstGeom prst="rect">
            <a:avLst/>
          </a:prstGeom>
          <a:noFill/>
          <a:ln>
            <a:noFill/>
          </a:ln>
        </p:spPr>
        <p:txBody>
          <a:bodyPr anchorCtr="0" anchor="t" bIns="25400" lIns="25400" spcFirstLastPara="1" rIns="25400" wrap="square" tIns="25400">
            <a:normAutofit/>
          </a:bodyPr>
          <a:lstStyle/>
          <a:p>
            <a:pPr indent="0" lvl="0" marL="0" marR="0" rtl="0" algn="l">
              <a:lnSpc>
                <a:spcPct val="121154"/>
              </a:lnSpc>
              <a:spcBef>
                <a:spcPts val="0"/>
              </a:spcBef>
              <a:spcAft>
                <a:spcPts val="0"/>
              </a:spcAft>
              <a:buClr>
                <a:srgbClr val="53627A"/>
              </a:buClr>
              <a:buSzPts val="2025"/>
              <a:buFont typeface="Helvetica Neue"/>
              <a:buNone/>
            </a:pPr>
            <a:r>
              <a:rPr b="0" i="0" lang="en-US" sz="2025" u="none" cap="none" strike="noStrike">
                <a:solidFill>
                  <a:srgbClr val="53627A"/>
                </a:solidFill>
                <a:latin typeface="Helvetica Neue"/>
                <a:ea typeface="Helvetica Neue"/>
                <a:cs typeface="Helvetica Neue"/>
                <a:sym typeface="Helvetica Neue"/>
              </a:rPr>
              <a:t>Long-range questions at single-base resolution, without attention's cost</a:t>
            </a:r>
            <a:endParaRPr b="0" i="0" sz="2025" u="none" cap="none" strike="noStrike">
              <a:solidFill>
                <a:schemeClr val="dk1"/>
              </a:solidFill>
              <a:latin typeface="Calibri"/>
              <a:ea typeface="Calibri"/>
              <a:cs typeface="Calibri"/>
              <a:sym typeface="Calibri"/>
            </a:endParaRPr>
          </a:p>
        </p:txBody>
      </p:sp>
      <p:sp>
        <p:nvSpPr>
          <p:cNvPr id="1001" name="Google Shape;1001;p22"/>
          <p:cNvSpPr/>
          <p:nvPr/>
        </p:nvSpPr>
        <p:spPr>
          <a:xfrm>
            <a:off x="838200" y="6597015"/>
            <a:ext cx="3512451" cy="381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Evo</a:t>
            </a:r>
            <a:endParaRPr b="0" i="0" sz="2400" u="none" cap="none" strike="noStrike">
              <a:solidFill>
                <a:schemeClr val="dk1"/>
              </a:solidFill>
              <a:latin typeface="Calibri"/>
              <a:ea typeface="Calibri"/>
              <a:cs typeface="Calibri"/>
              <a:sym typeface="Calibri"/>
            </a:endParaRPr>
          </a:p>
        </p:txBody>
      </p:sp>
      <p:sp>
        <p:nvSpPr>
          <p:cNvPr id="1002" name="Google Shape;1002;p22"/>
          <p:cNvSpPr/>
          <p:nvPr/>
        </p:nvSpPr>
        <p:spPr>
          <a:xfrm>
            <a:off x="838200" y="6970395"/>
            <a:ext cx="3215283" cy="2895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Nguyen et al., Science, 2024</a:t>
            </a:r>
            <a:endParaRPr b="0" i="0" sz="1800" u="none" cap="none" strike="noStrike">
              <a:solidFill>
                <a:schemeClr val="dk1"/>
              </a:solidFill>
              <a:latin typeface="Calibri"/>
              <a:ea typeface="Calibri"/>
              <a:cs typeface="Calibri"/>
              <a:sym typeface="Calibri"/>
            </a:endParaRPr>
          </a:p>
        </p:txBody>
      </p:sp>
      <p:sp>
        <p:nvSpPr>
          <p:cNvPr id="1003" name="Google Shape;1003;p22"/>
          <p:cNvSpPr/>
          <p:nvPr/>
        </p:nvSpPr>
        <p:spPr>
          <a:xfrm>
            <a:off x="4374237" y="6597015"/>
            <a:ext cx="2543532"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single bases</a:t>
            </a:r>
            <a:endParaRPr b="0" i="0" sz="2025" u="none" cap="none" strike="noStrike">
              <a:solidFill>
                <a:schemeClr val="dk1"/>
              </a:solidFill>
              <a:latin typeface="Calibri"/>
              <a:ea typeface="Calibri"/>
              <a:cs typeface="Calibri"/>
              <a:sym typeface="Calibri"/>
            </a:endParaRPr>
          </a:p>
        </p:txBody>
      </p:sp>
      <p:sp>
        <p:nvSpPr>
          <p:cNvPr id="1004" name="Google Shape;1004;p22"/>
          <p:cNvSpPr/>
          <p:nvPr/>
        </p:nvSpPr>
        <p:spPr>
          <a:xfrm>
            <a:off x="7184470" y="6597015"/>
            <a:ext cx="2989949"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131 k tokens</a:t>
            </a:r>
            <a:endParaRPr b="0" i="0" sz="2025" u="none" cap="none" strike="noStrike">
              <a:solidFill>
                <a:schemeClr val="dk1"/>
              </a:solidFill>
              <a:latin typeface="Calibri"/>
              <a:ea typeface="Calibri"/>
              <a:cs typeface="Calibri"/>
              <a:sym typeface="Calibri"/>
            </a:endParaRPr>
          </a:p>
        </p:txBody>
      </p:sp>
      <p:sp>
        <p:nvSpPr>
          <p:cNvPr id="1005" name="Google Shape;1005;p22"/>
          <p:cNvSpPr/>
          <p:nvPr/>
        </p:nvSpPr>
        <p:spPr>
          <a:xfrm>
            <a:off x="10430232" y="6597015"/>
            <a:ext cx="2398514"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7 B</a:t>
            </a:r>
            <a:endParaRPr b="0" i="0" sz="2025" u="none" cap="none" strike="noStrike">
              <a:solidFill>
                <a:schemeClr val="dk1"/>
              </a:solidFill>
              <a:latin typeface="Calibri"/>
              <a:ea typeface="Calibri"/>
              <a:cs typeface="Calibri"/>
              <a:sym typeface="Calibri"/>
            </a:endParaRPr>
          </a:p>
        </p:txBody>
      </p:sp>
      <p:sp>
        <p:nvSpPr>
          <p:cNvPr id="1006" name="Google Shape;1006;p22"/>
          <p:cNvSpPr/>
          <p:nvPr/>
        </p:nvSpPr>
        <p:spPr>
          <a:xfrm>
            <a:off x="13095446" y="6597015"/>
            <a:ext cx="4484984" cy="758190"/>
          </a:xfrm>
          <a:prstGeom prst="rect">
            <a:avLst/>
          </a:prstGeom>
          <a:noFill/>
          <a:ln>
            <a:noFill/>
          </a:ln>
        </p:spPr>
        <p:txBody>
          <a:bodyPr anchorCtr="0" anchor="t" bIns="25400" lIns="25400" spcFirstLastPara="1" rIns="25400" wrap="square" tIns="25400">
            <a:normAutofit/>
          </a:bodyPr>
          <a:lstStyle/>
          <a:p>
            <a:pPr indent="0" lvl="0" marL="0" marR="0" rtl="0" algn="l">
              <a:lnSpc>
                <a:spcPct val="121154"/>
              </a:lnSpc>
              <a:spcBef>
                <a:spcPts val="0"/>
              </a:spcBef>
              <a:spcAft>
                <a:spcPts val="0"/>
              </a:spcAft>
              <a:buClr>
                <a:srgbClr val="53627A"/>
              </a:buClr>
              <a:buSzPts val="2025"/>
              <a:buFont typeface="Helvetica Neue"/>
              <a:buNone/>
            </a:pPr>
            <a:r>
              <a:rPr b="0" i="0" lang="en-US" sz="2025" u="none" cap="none" strike="noStrike">
                <a:solidFill>
                  <a:srgbClr val="53627A"/>
                </a:solidFill>
                <a:latin typeface="Helvetica Neue"/>
                <a:ea typeface="Helvetica Neue"/>
                <a:cs typeface="Helvetica Neue"/>
                <a:sym typeface="Helvetica Neue"/>
              </a:rPr>
              <a:t>Generation and variant scoring, mostly on microbial genomes</a:t>
            </a:r>
            <a:endParaRPr b="0" i="0" sz="2025" u="none" cap="none" strike="noStrike">
              <a:solidFill>
                <a:schemeClr val="dk1"/>
              </a:solidFill>
              <a:latin typeface="Calibri"/>
              <a:ea typeface="Calibri"/>
              <a:cs typeface="Calibri"/>
              <a:sym typeface="Calibri"/>
            </a:endParaRPr>
          </a:p>
        </p:txBody>
      </p:sp>
      <p:sp>
        <p:nvSpPr>
          <p:cNvPr id="1007" name="Google Shape;1007;p22"/>
          <p:cNvSpPr/>
          <p:nvPr/>
        </p:nvSpPr>
        <p:spPr>
          <a:xfrm>
            <a:off x="838200" y="8035290"/>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2"/>
          <p:cNvSpPr/>
          <p:nvPr/>
        </p:nvSpPr>
        <p:spPr>
          <a:xfrm>
            <a:off x="838200" y="8279130"/>
            <a:ext cx="5783580" cy="342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100"/>
              <a:buFont typeface="Helvetica Neue"/>
              <a:buNone/>
            </a:pPr>
            <a:r>
              <a:rPr b="1" i="0" lang="en-US" sz="2100" u="none" cap="none" strike="noStrike">
                <a:solidFill>
                  <a:srgbClr val="1C2A44"/>
                </a:solidFill>
                <a:latin typeface="Helvetica Neue"/>
                <a:ea typeface="Helvetica Neue"/>
                <a:cs typeface="Helvetica Neue"/>
                <a:sym typeface="Helvetica Neue"/>
              </a:rPr>
              <a:t>Tokenizer</a:t>
            </a:r>
            <a:endParaRPr b="0" i="0" sz="2100" u="none" cap="none" strike="noStrike">
              <a:solidFill>
                <a:schemeClr val="dk1"/>
              </a:solidFill>
              <a:latin typeface="Calibri"/>
              <a:ea typeface="Calibri"/>
              <a:cs typeface="Calibri"/>
              <a:sym typeface="Calibri"/>
            </a:endParaRPr>
          </a:p>
        </p:txBody>
      </p:sp>
      <p:sp>
        <p:nvSpPr>
          <p:cNvPr id="1009" name="Google Shape;1009;p22"/>
          <p:cNvSpPr/>
          <p:nvPr/>
        </p:nvSpPr>
        <p:spPr>
          <a:xfrm>
            <a:off x="838200" y="8660130"/>
            <a:ext cx="5415534"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Sets the smallest thing the model can notice, and how many tokens a window costs.</a:t>
            </a:r>
            <a:endParaRPr b="0" i="0" sz="1950" u="none" cap="none" strike="noStrike">
              <a:solidFill>
                <a:schemeClr val="dk1"/>
              </a:solidFill>
              <a:latin typeface="Calibri"/>
              <a:ea typeface="Calibri"/>
              <a:cs typeface="Calibri"/>
              <a:sym typeface="Calibri"/>
            </a:endParaRPr>
          </a:p>
        </p:txBody>
      </p:sp>
      <p:sp>
        <p:nvSpPr>
          <p:cNvPr id="1010" name="Google Shape;1010;p22"/>
          <p:cNvSpPr/>
          <p:nvPr/>
        </p:nvSpPr>
        <p:spPr>
          <a:xfrm>
            <a:off x="6515100" y="8279130"/>
            <a:ext cx="5783580" cy="342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100"/>
              <a:buFont typeface="Helvetica Neue"/>
              <a:buNone/>
            </a:pPr>
            <a:r>
              <a:rPr b="1" i="0" lang="en-US" sz="2100" u="none" cap="none" strike="noStrike">
                <a:solidFill>
                  <a:srgbClr val="1C2A44"/>
                </a:solidFill>
                <a:latin typeface="Helvetica Neue"/>
                <a:ea typeface="Helvetica Neue"/>
                <a:cs typeface="Helvetica Neue"/>
                <a:sym typeface="Helvetica Neue"/>
              </a:rPr>
              <a:t>Reach</a:t>
            </a:r>
            <a:endParaRPr b="0" i="0" sz="2100" u="none" cap="none" strike="noStrike">
              <a:solidFill>
                <a:schemeClr val="dk1"/>
              </a:solidFill>
              <a:latin typeface="Calibri"/>
              <a:ea typeface="Calibri"/>
              <a:cs typeface="Calibri"/>
              <a:sym typeface="Calibri"/>
            </a:endParaRPr>
          </a:p>
        </p:txBody>
      </p:sp>
      <p:sp>
        <p:nvSpPr>
          <p:cNvPr id="1011" name="Google Shape;1011;p22"/>
          <p:cNvSpPr/>
          <p:nvPr/>
        </p:nvSpPr>
        <p:spPr>
          <a:xfrm>
            <a:off x="6515100" y="8660130"/>
            <a:ext cx="5415534"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How much sequence fits in at once — short motifs only, or distant regulation too.</a:t>
            </a:r>
            <a:endParaRPr b="0" i="0" sz="1950" u="none" cap="none" strike="noStrike">
              <a:solidFill>
                <a:schemeClr val="dk1"/>
              </a:solidFill>
              <a:latin typeface="Calibri"/>
              <a:ea typeface="Calibri"/>
              <a:cs typeface="Calibri"/>
              <a:sym typeface="Calibri"/>
            </a:endParaRPr>
          </a:p>
        </p:txBody>
      </p:sp>
      <p:sp>
        <p:nvSpPr>
          <p:cNvPr id="1012" name="Google Shape;1012;p22"/>
          <p:cNvSpPr/>
          <p:nvPr/>
        </p:nvSpPr>
        <p:spPr>
          <a:xfrm>
            <a:off x="12192000" y="8279130"/>
            <a:ext cx="5783580" cy="342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100"/>
              <a:buFont typeface="Helvetica Neue"/>
              <a:buNone/>
            </a:pPr>
            <a:r>
              <a:rPr b="1" i="0" lang="en-US" sz="2100" u="none" cap="none" strike="noStrike">
                <a:solidFill>
                  <a:srgbClr val="1C2A44"/>
                </a:solidFill>
                <a:latin typeface="Helvetica Neue"/>
                <a:ea typeface="Helvetica Neue"/>
                <a:cs typeface="Helvetica Neue"/>
                <a:sym typeface="Helvetica Neue"/>
              </a:rPr>
              <a:t>Size</a:t>
            </a:r>
            <a:endParaRPr b="0" i="0" sz="2100" u="none" cap="none" strike="noStrike">
              <a:solidFill>
                <a:schemeClr val="dk1"/>
              </a:solidFill>
              <a:latin typeface="Calibri"/>
              <a:ea typeface="Calibri"/>
              <a:cs typeface="Calibri"/>
              <a:sym typeface="Calibri"/>
            </a:endParaRPr>
          </a:p>
        </p:txBody>
      </p:sp>
      <p:sp>
        <p:nvSpPr>
          <p:cNvPr id="1013" name="Google Shape;1013;p22"/>
          <p:cNvSpPr/>
          <p:nvPr/>
        </p:nvSpPr>
        <p:spPr>
          <a:xfrm>
            <a:off x="12192000" y="8660130"/>
            <a:ext cx="5415534"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More parameters can store more patterns, but need more data, memory and time.</a:t>
            </a:r>
            <a:endParaRPr b="0" i="0" sz="1950" u="none" cap="none" strike="noStrike">
              <a:solidFill>
                <a:schemeClr val="dk1"/>
              </a:solidFill>
              <a:latin typeface="Calibri"/>
              <a:ea typeface="Calibri"/>
              <a:cs typeface="Calibri"/>
              <a:sym typeface="Calibri"/>
            </a:endParaRPr>
          </a:p>
        </p:txBody>
      </p:sp>
      <p:sp>
        <p:nvSpPr>
          <p:cNvPr id="1014" name="Google Shape;1014;p22"/>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2"/>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016" name="Google Shape;1016;p22"/>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017" name="Google Shape;1017;p22"/>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22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2" name="Shape 1022"/>
        <p:cNvGrpSpPr/>
        <p:nvPr/>
      </p:nvGrpSpPr>
      <p:grpSpPr>
        <a:xfrm>
          <a:off x="0" y="0"/>
          <a:ext cx="0" cy="0"/>
          <a:chOff x="0" y="0"/>
          <a:chExt cx="0" cy="0"/>
        </a:xfrm>
      </p:grpSpPr>
      <p:sp>
        <p:nvSpPr>
          <p:cNvPr id="1023" name="Google Shape;1023;p23"/>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3"/>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025" name="Google Shape;1025;p23"/>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026" name="Google Shape;1026;p23"/>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04 · PRETRAINED DNA MODELS</a:t>
            </a:r>
            <a:endParaRPr b="0" i="0" sz="1800" u="none" cap="none" strike="noStrike">
              <a:solidFill>
                <a:schemeClr val="dk1"/>
              </a:solidFill>
              <a:latin typeface="Calibri"/>
              <a:ea typeface="Calibri"/>
              <a:cs typeface="Calibri"/>
              <a:sym typeface="Calibri"/>
            </a:endParaRPr>
          </a:p>
        </p:txBody>
      </p:sp>
      <p:sp>
        <p:nvSpPr>
          <p:cNvPr id="1027" name="Google Shape;1027;p23"/>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How far a model can see</a:t>
            </a:r>
            <a:endParaRPr b="0" i="0" sz="4500" u="none" cap="none" strike="noStrike">
              <a:solidFill>
                <a:schemeClr val="dk1"/>
              </a:solidFill>
              <a:latin typeface="Calibri"/>
              <a:ea typeface="Calibri"/>
              <a:cs typeface="Calibri"/>
              <a:sym typeface="Calibri"/>
            </a:endParaRPr>
          </a:p>
        </p:txBody>
      </p:sp>
      <p:sp>
        <p:nvSpPr>
          <p:cNvPr id="1028" name="Google Shape;1028;p23"/>
          <p:cNvSpPr/>
          <p:nvPr/>
        </p:nvSpPr>
        <p:spPr>
          <a:xfrm>
            <a:off x="838200" y="2314575"/>
            <a:ext cx="14912340" cy="866775"/>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How much sequence a model can hold at once is its context window. Bars below are on a logarithmic scale — each step is ten times the one before.</a:t>
            </a:r>
            <a:endParaRPr b="0" i="0" sz="2250" u="none" cap="none" strike="noStrike">
              <a:solidFill>
                <a:schemeClr val="dk1"/>
              </a:solidFill>
              <a:latin typeface="Calibri"/>
              <a:ea typeface="Calibri"/>
              <a:cs typeface="Calibri"/>
              <a:sym typeface="Calibri"/>
            </a:endParaRPr>
          </a:p>
        </p:txBody>
      </p:sp>
      <p:sp>
        <p:nvSpPr>
          <p:cNvPr id="1029" name="Google Shape;1029;p23"/>
          <p:cNvSpPr/>
          <p:nvPr/>
        </p:nvSpPr>
        <p:spPr>
          <a:xfrm>
            <a:off x="838200" y="3436620"/>
            <a:ext cx="419100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Helvetica Neue"/>
              <a:buNone/>
            </a:pPr>
            <a:r>
              <a:rPr b="1" i="0" lang="en-US" sz="2250" u="none" cap="none" strike="noStrike">
                <a:solidFill>
                  <a:srgbClr val="1C2A44"/>
                </a:solidFill>
                <a:latin typeface="Helvetica Neue"/>
                <a:ea typeface="Helvetica Neue"/>
                <a:cs typeface="Helvetica Neue"/>
                <a:sym typeface="Helvetica Neue"/>
              </a:rPr>
              <a:t>DNABERT-2</a:t>
            </a:r>
            <a:endParaRPr b="0" i="0" sz="2250" u="none" cap="none" strike="noStrike">
              <a:solidFill>
                <a:schemeClr val="dk1"/>
              </a:solidFill>
              <a:latin typeface="Calibri"/>
              <a:ea typeface="Calibri"/>
              <a:cs typeface="Calibri"/>
              <a:sym typeface="Calibri"/>
            </a:endParaRPr>
          </a:p>
        </p:txBody>
      </p:sp>
      <p:sp>
        <p:nvSpPr>
          <p:cNvPr id="1030" name="Google Shape;1030;p23"/>
          <p:cNvSpPr/>
          <p:nvPr/>
        </p:nvSpPr>
        <p:spPr>
          <a:xfrm>
            <a:off x="4914900" y="3390900"/>
            <a:ext cx="9029700" cy="41910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3"/>
          <p:cNvSpPr/>
          <p:nvPr/>
        </p:nvSpPr>
        <p:spPr>
          <a:xfrm>
            <a:off x="4914900" y="3390900"/>
            <a:ext cx="2708910" cy="41910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3"/>
          <p:cNvSpPr/>
          <p:nvPr/>
        </p:nvSpPr>
        <p:spPr>
          <a:xfrm>
            <a:off x="14211300" y="3440430"/>
            <a:ext cx="356235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1950"/>
              <a:buFont typeface="IBM Plex Mono"/>
              <a:buNone/>
            </a:pPr>
            <a:r>
              <a:rPr b="0" i="0" lang="en-US" sz="1950" u="none" cap="none" strike="noStrike">
                <a:solidFill>
                  <a:srgbClr val="3A4A63"/>
                </a:solidFill>
                <a:latin typeface="IBM Plex Mono"/>
                <a:ea typeface="IBM Plex Mono"/>
                <a:cs typeface="IBM Plex Mono"/>
                <a:sym typeface="IBM Plex Mono"/>
              </a:rPr>
              <a:t>512 tokens</a:t>
            </a:r>
            <a:endParaRPr b="0" i="0" sz="1950" u="none" cap="none" strike="noStrike">
              <a:solidFill>
                <a:schemeClr val="dk1"/>
              </a:solidFill>
              <a:latin typeface="Calibri"/>
              <a:ea typeface="Calibri"/>
              <a:cs typeface="Calibri"/>
              <a:sym typeface="Calibri"/>
            </a:endParaRPr>
          </a:p>
        </p:txBody>
      </p:sp>
      <p:sp>
        <p:nvSpPr>
          <p:cNvPr id="1033" name="Google Shape;1033;p23"/>
          <p:cNvSpPr/>
          <p:nvPr/>
        </p:nvSpPr>
        <p:spPr>
          <a:xfrm>
            <a:off x="838200" y="4008120"/>
            <a:ext cx="419100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Helvetica Neue"/>
              <a:buNone/>
            </a:pPr>
            <a:r>
              <a:rPr b="1" i="0" lang="en-US" sz="2250" u="none" cap="none" strike="noStrike">
                <a:solidFill>
                  <a:srgbClr val="1C2A44"/>
                </a:solidFill>
                <a:latin typeface="Helvetica Neue"/>
                <a:ea typeface="Helvetica Neue"/>
                <a:cs typeface="Helvetica Neue"/>
                <a:sym typeface="Helvetica Neue"/>
              </a:rPr>
              <a:t>Nucleotide Transformer</a:t>
            </a:r>
            <a:endParaRPr b="0" i="0" sz="2250" u="none" cap="none" strike="noStrike">
              <a:solidFill>
                <a:schemeClr val="dk1"/>
              </a:solidFill>
              <a:latin typeface="Calibri"/>
              <a:ea typeface="Calibri"/>
              <a:cs typeface="Calibri"/>
              <a:sym typeface="Calibri"/>
            </a:endParaRPr>
          </a:p>
        </p:txBody>
      </p:sp>
      <p:sp>
        <p:nvSpPr>
          <p:cNvPr id="1034" name="Google Shape;1034;p23"/>
          <p:cNvSpPr/>
          <p:nvPr/>
        </p:nvSpPr>
        <p:spPr>
          <a:xfrm>
            <a:off x="4914900" y="3962400"/>
            <a:ext cx="9029700" cy="41910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3"/>
          <p:cNvSpPr/>
          <p:nvPr/>
        </p:nvSpPr>
        <p:spPr>
          <a:xfrm>
            <a:off x="4914900" y="3962400"/>
            <a:ext cx="3431262" cy="41910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3"/>
          <p:cNvSpPr/>
          <p:nvPr/>
        </p:nvSpPr>
        <p:spPr>
          <a:xfrm>
            <a:off x="14211300" y="4011930"/>
            <a:ext cx="356235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1950"/>
              <a:buFont typeface="IBM Plex Mono"/>
              <a:buNone/>
            </a:pPr>
            <a:r>
              <a:rPr b="0" i="0" lang="en-US" sz="1950" u="none" cap="none" strike="noStrike">
                <a:solidFill>
                  <a:srgbClr val="3A4A63"/>
                </a:solidFill>
                <a:latin typeface="IBM Plex Mono"/>
                <a:ea typeface="IBM Plex Mono"/>
                <a:cs typeface="IBM Plex Mono"/>
                <a:sym typeface="IBM Plex Mono"/>
              </a:rPr>
              <a:t>1,000 tokens ≈ 6 kb</a:t>
            </a:r>
            <a:endParaRPr b="0" i="0" sz="1950" u="none" cap="none" strike="noStrike">
              <a:solidFill>
                <a:schemeClr val="dk1"/>
              </a:solidFill>
              <a:latin typeface="Calibri"/>
              <a:ea typeface="Calibri"/>
              <a:cs typeface="Calibri"/>
              <a:sym typeface="Calibri"/>
            </a:endParaRPr>
          </a:p>
        </p:txBody>
      </p:sp>
      <p:sp>
        <p:nvSpPr>
          <p:cNvPr id="1037" name="Google Shape;1037;p23"/>
          <p:cNvSpPr/>
          <p:nvPr/>
        </p:nvSpPr>
        <p:spPr>
          <a:xfrm>
            <a:off x="838200" y="4579620"/>
            <a:ext cx="419100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Helvetica Neue"/>
              <a:buNone/>
            </a:pPr>
            <a:r>
              <a:rPr b="1" i="0" lang="en-US" sz="2250" u="none" cap="none" strike="noStrike">
                <a:solidFill>
                  <a:srgbClr val="1C2A44"/>
                </a:solidFill>
                <a:latin typeface="Helvetica Neue"/>
                <a:ea typeface="Helvetica Neue"/>
                <a:cs typeface="Helvetica Neue"/>
                <a:sym typeface="Helvetica Neue"/>
              </a:rPr>
              <a:t>Evo</a:t>
            </a:r>
            <a:endParaRPr b="0" i="0" sz="2250" u="none" cap="none" strike="noStrike">
              <a:solidFill>
                <a:schemeClr val="dk1"/>
              </a:solidFill>
              <a:latin typeface="Calibri"/>
              <a:ea typeface="Calibri"/>
              <a:cs typeface="Calibri"/>
              <a:sym typeface="Calibri"/>
            </a:endParaRPr>
          </a:p>
        </p:txBody>
      </p:sp>
      <p:sp>
        <p:nvSpPr>
          <p:cNvPr id="1038" name="Google Shape;1038;p23"/>
          <p:cNvSpPr/>
          <p:nvPr/>
        </p:nvSpPr>
        <p:spPr>
          <a:xfrm>
            <a:off x="4914900" y="4533900"/>
            <a:ext cx="9029700" cy="41910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3"/>
          <p:cNvSpPr/>
          <p:nvPr/>
        </p:nvSpPr>
        <p:spPr>
          <a:xfrm>
            <a:off x="4914900" y="4533900"/>
            <a:ext cx="6681907" cy="41910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3"/>
          <p:cNvSpPr/>
          <p:nvPr/>
        </p:nvSpPr>
        <p:spPr>
          <a:xfrm>
            <a:off x="14211300" y="4583430"/>
            <a:ext cx="356235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1950"/>
              <a:buFont typeface="IBM Plex Mono"/>
              <a:buNone/>
            </a:pPr>
            <a:r>
              <a:rPr b="0" i="0" lang="en-US" sz="1950" u="none" cap="none" strike="noStrike">
                <a:solidFill>
                  <a:srgbClr val="3A4A63"/>
                </a:solidFill>
                <a:latin typeface="IBM Plex Mono"/>
                <a:ea typeface="IBM Plex Mono"/>
                <a:cs typeface="IBM Plex Mono"/>
                <a:sym typeface="IBM Plex Mono"/>
              </a:rPr>
              <a:t>131,000 tokens</a:t>
            </a:r>
            <a:endParaRPr b="0" i="0" sz="1950" u="none" cap="none" strike="noStrike">
              <a:solidFill>
                <a:schemeClr val="dk1"/>
              </a:solidFill>
              <a:latin typeface="Calibri"/>
              <a:ea typeface="Calibri"/>
              <a:cs typeface="Calibri"/>
              <a:sym typeface="Calibri"/>
            </a:endParaRPr>
          </a:p>
        </p:txBody>
      </p:sp>
      <p:sp>
        <p:nvSpPr>
          <p:cNvPr id="1041" name="Google Shape;1041;p23"/>
          <p:cNvSpPr/>
          <p:nvPr/>
        </p:nvSpPr>
        <p:spPr>
          <a:xfrm>
            <a:off x="838200" y="5151120"/>
            <a:ext cx="4191000" cy="3657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250"/>
              <a:buFont typeface="Helvetica Neue"/>
              <a:buNone/>
            </a:pPr>
            <a:r>
              <a:rPr b="1" i="0" lang="en-US" sz="2250" u="none" cap="none" strike="noStrike">
                <a:solidFill>
                  <a:srgbClr val="1C2A44"/>
                </a:solidFill>
                <a:latin typeface="Helvetica Neue"/>
                <a:ea typeface="Helvetica Neue"/>
                <a:cs typeface="Helvetica Neue"/>
                <a:sym typeface="Helvetica Neue"/>
              </a:rPr>
              <a:t>HyenaDNA</a:t>
            </a:r>
            <a:endParaRPr b="0" i="0" sz="2250" u="none" cap="none" strike="noStrike">
              <a:solidFill>
                <a:schemeClr val="dk1"/>
              </a:solidFill>
              <a:latin typeface="Calibri"/>
              <a:ea typeface="Calibri"/>
              <a:cs typeface="Calibri"/>
              <a:sym typeface="Calibri"/>
            </a:endParaRPr>
          </a:p>
        </p:txBody>
      </p:sp>
      <p:sp>
        <p:nvSpPr>
          <p:cNvPr id="1042" name="Google Shape;1042;p23"/>
          <p:cNvSpPr/>
          <p:nvPr/>
        </p:nvSpPr>
        <p:spPr>
          <a:xfrm>
            <a:off x="4914900" y="5105400"/>
            <a:ext cx="9029700" cy="41910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3"/>
          <p:cNvSpPr/>
          <p:nvPr/>
        </p:nvSpPr>
        <p:spPr>
          <a:xfrm>
            <a:off x="4914900" y="5105400"/>
            <a:ext cx="9029700" cy="41910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3"/>
          <p:cNvSpPr/>
          <p:nvPr/>
        </p:nvSpPr>
        <p:spPr>
          <a:xfrm>
            <a:off x="14211300" y="5154930"/>
            <a:ext cx="3562350" cy="3581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1950"/>
              <a:buFont typeface="IBM Plex Mono"/>
              <a:buNone/>
            </a:pPr>
            <a:r>
              <a:rPr b="0" i="0" lang="en-US" sz="1950" u="none" cap="none" strike="noStrike">
                <a:solidFill>
                  <a:srgbClr val="3A4A63"/>
                </a:solidFill>
                <a:latin typeface="IBM Plex Mono"/>
                <a:ea typeface="IBM Plex Mono"/>
                <a:cs typeface="IBM Plex Mono"/>
                <a:sym typeface="IBM Plex Mono"/>
              </a:rPr>
              <a:t>1,000,000 bases</a:t>
            </a:r>
            <a:endParaRPr b="0" i="0" sz="1950" u="none" cap="none" strike="noStrike">
              <a:solidFill>
                <a:schemeClr val="dk1"/>
              </a:solidFill>
              <a:latin typeface="Calibri"/>
              <a:ea typeface="Calibri"/>
              <a:cs typeface="Calibri"/>
              <a:sym typeface="Calibri"/>
            </a:endParaRPr>
          </a:p>
        </p:txBody>
      </p:sp>
      <p:sp>
        <p:nvSpPr>
          <p:cNvPr id="1045" name="Google Shape;1045;p23"/>
          <p:cNvSpPr/>
          <p:nvPr/>
        </p:nvSpPr>
        <p:spPr>
          <a:xfrm>
            <a:off x="838200" y="5695950"/>
            <a:ext cx="17109948" cy="678180"/>
          </a:xfrm>
          <a:prstGeom prst="rect">
            <a:avLst/>
          </a:prstGeom>
          <a:noFill/>
          <a:ln>
            <a:noFill/>
          </a:ln>
        </p:spPr>
        <p:txBody>
          <a:bodyPr anchorCtr="0" anchor="t" bIns="25400" lIns="25400" spcFirstLastPara="1" rIns="25400" wrap="square" tIns="25400">
            <a:normAutofit/>
          </a:bodyPr>
          <a:lstStyle/>
          <a:p>
            <a:pPr indent="0" lvl="0" marL="0" marR="0" rtl="0" algn="l">
              <a:lnSpc>
                <a:spcPct val="123529"/>
              </a:lnSpc>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Context windows as reported by each model's own paper. HyenaDNA works at single-base resolution, so one token is one base; the Nucleotide Transformer's 1,000 six-mer tokens cover about 6 kb.</a:t>
            </a:r>
            <a:endParaRPr b="0" i="0" sz="1800" u="none" cap="none" strike="noStrike">
              <a:solidFill>
                <a:schemeClr val="dk1"/>
              </a:solidFill>
              <a:latin typeface="Calibri"/>
              <a:ea typeface="Calibri"/>
              <a:cs typeface="Calibri"/>
              <a:sym typeface="Calibri"/>
            </a:endParaRPr>
          </a:p>
        </p:txBody>
      </p:sp>
      <p:sp>
        <p:nvSpPr>
          <p:cNvPr id="1046" name="Google Shape;1046;p23"/>
          <p:cNvSpPr/>
          <p:nvPr/>
        </p:nvSpPr>
        <p:spPr>
          <a:xfrm>
            <a:off x="838200" y="6573203"/>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3"/>
          <p:cNvSpPr/>
          <p:nvPr/>
        </p:nvSpPr>
        <p:spPr>
          <a:xfrm>
            <a:off x="838200" y="6836093"/>
            <a:ext cx="5415534" cy="756285"/>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Attention cost grows with the square of the length, so reach is expensive to buy.</a:t>
            </a:r>
            <a:endParaRPr b="0" i="0" sz="1950" u="none" cap="none" strike="noStrike">
              <a:solidFill>
                <a:schemeClr val="dk1"/>
              </a:solidFill>
              <a:latin typeface="Calibri"/>
              <a:ea typeface="Calibri"/>
              <a:cs typeface="Calibri"/>
              <a:sym typeface="Calibri"/>
            </a:endParaRPr>
          </a:p>
        </p:txBody>
      </p:sp>
      <p:sp>
        <p:nvSpPr>
          <p:cNvPr id="1048" name="Google Shape;1048;p23"/>
          <p:cNvSpPr/>
          <p:nvPr/>
        </p:nvSpPr>
        <p:spPr>
          <a:xfrm>
            <a:off x="6515100" y="6836093"/>
            <a:ext cx="5415534" cy="1115377"/>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Enhancers can sit tens of thousands of bases from the gene they control, so short windows genuinely miss biology.</a:t>
            </a:r>
            <a:endParaRPr b="0" i="0" sz="1950" u="none" cap="none" strike="noStrike">
              <a:solidFill>
                <a:schemeClr val="dk1"/>
              </a:solidFill>
              <a:latin typeface="Calibri"/>
              <a:ea typeface="Calibri"/>
              <a:cs typeface="Calibri"/>
              <a:sym typeface="Calibri"/>
            </a:endParaRPr>
          </a:p>
        </p:txBody>
      </p:sp>
      <p:sp>
        <p:nvSpPr>
          <p:cNvPr id="1049" name="Google Shape;1049;p23"/>
          <p:cNvSpPr/>
          <p:nvPr/>
        </p:nvSpPr>
        <p:spPr>
          <a:xfrm>
            <a:off x="12192000" y="6836093"/>
            <a:ext cx="5415534" cy="1115377"/>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Even a million bases is a slice of one chromosome (50–250 million), so nobody reads a whole genome at once.</a:t>
            </a:r>
            <a:endParaRPr b="0" i="0" sz="1950" u="none" cap="none" strike="noStrike">
              <a:solidFill>
                <a:schemeClr val="dk1"/>
              </a:solidFill>
              <a:latin typeface="Calibri"/>
              <a:ea typeface="Calibri"/>
              <a:cs typeface="Calibri"/>
              <a:sym typeface="Calibri"/>
            </a:endParaRPr>
          </a:p>
        </p:txBody>
      </p:sp>
      <p:sp>
        <p:nvSpPr>
          <p:cNvPr id="1050" name="Google Shape;1050;p23"/>
          <p:cNvSpPr/>
          <p:nvPr/>
        </p:nvSpPr>
        <p:spPr>
          <a:xfrm>
            <a:off x="838200" y="8122920"/>
            <a:ext cx="16611600" cy="123063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3"/>
          <p:cNvSpPr/>
          <p:nvPr/>
        </p:nvSpPr>
        <p:spPr>
          <a:xfrm>
            <a:off x="1123950" y="8608695"/>
            <a:ext cx="2432221"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PLAIN WORDS</a:t>
            </a:r>
            <a:endParaRPr b="0" i="0" sz="1800" u="none" cap="none" strike="noStrike">
              <a:solidFill>
                <a:schemeClr val="dk1"/>
              </a:solidFill>
              <a:latin typeface="Calibri"/>
              <a:ea typeface="Calibri"/>
              <a:cs typeface="Calibri"/>
              <a:sym typeface="Calibri"/>
            </a:endParaRPr>
          </a:p>
        </p:txBody>
      </p:sp>
      <p:sp>
        <p:nvSpPr>
          <p:cNvPr id="1052" name="Google Shape;1052;p23"/>
          <p:cNvSpPr/>
          <p:nvPr/>
        </p:nvSpPr>
        <p:spPr>
          <a:xfrm>
            <a:off x="3716060" y="8351520"/>
            <a:ext cx="13851431"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For our promoter task, 300 to 1,000 bases is plenty. A longer reach is a design choice, not a measure of how much the model understands.</a:t>
            </a:r>
            <a:endParaRPr b="0" i="0" sz="2100" u="none" cap="none" strike="noStrike">
              <a:solidFill>
                <a:schemeClr val="dk1"/>
              </a:solidFill>
              <a:latin typeface="Calibri"/>
              <a:ea typeface="Calibri"/>
              <a:cs typeface="Calibri"/>
              <a:sym typeface="Calibri"/>
            </a:endParaRPr>
          </a:p>
        </p:txBody>
      </p:sp>
      <p:sp>
        <p:nvSpPr>
          <p:cNvPr id="1053" name="Google Shape;1053;p23"/>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3"/>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055" name="Google Shape;1055;p23"/>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056" name="Google Shape;1056;p23"/>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23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23A"/>
        </a:solidFill>
      </p:bgPr>
    </p:bg>
    <p:spTree>
      <p:nvGrpSpPr>
        <p:cNvPr id="1061" name="Shape 1061"/>
        <p:cNvGrpSpPr/>
        <p:nvPr/>
      </p:nvGrpSpPr>
      <p:grpSpPr>
        <a:xfrm>
          <a:off x="0" y="0"/>
          <a:ext cx="0" cy="0"/>
          <a:chOff x="0" y="0"/>
          <a:chExt cx="0" cy="0"/>
        </a:xfrm>
      </p:grpSpPr>
      <p:pic>
        <p:nvPicPr>
          <p:cNvPr descr="preencoded.png" id="1062" name="Google Shape;1062;p24"/>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1063" name="Google Shape;1063;p24"/>
          <p:cNvSpPr/>
          <p:nvPr/>
        </p:nvSpPr>
        <p:spPr>
          <a:xfrm>
            <a:off x="914400" y="765810"/>
            <a:ext cx="685136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9BBD6"/>
              </a:buClr>
              <a:buSzPts val="1800"/>
              <a:buFont typeface="Helvetica Neue"/>
              <a:buNone/>
            </a:pPr>
            <a:r>
              <a:rPr b="0" i="0" lang="en-US" sz="1800" u="none" cap="none" strike="noStrike">
                <a:solidFill>
                  <a:srgbClr val="A9BBD6"/>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sp>
        <p:nvSpPr>
          <p:cNvPr id="1064" name="Google Shape;1064;p24"/>
          <p:cNvSpPr/>
          <p:nvPr/>
        </p:nvSpPr>
        <p:spPr>
          <a:xfrm>
            <a:off x="914400" y="3108960"/>
            <a:ext cx="9499557" cy="1371600"/>
          </a:xfrm>
          <a:prstGeom prst="rect">
            <a:avLst/>
          </a:prstGeom>
          <a:noFill/>
          <a:ln>
            <a:noFill/>
          </a:ln>
        </p:spPr>
        <p:txBody>
          <a:bodyPr anchorCtr="0" anchor="t" bIns="25400" lIns="25400" spcFirstLastPara="1" rIns="25400" wrap="square" tIns="25400">
            <a:normAutofit/>
          </a:bodyPr>
          <a:lstStyle/>
          <a:p>
            <a:pPr indent="0" lvl="0" marL="0" marR="0" rtl="0" algn="l">
              <a:lnSpc>
                <a:spcPct val="77093"/>
              </a:lnSpc>
              <a:spcBef>
                <a:spcPts val="0"/>
              </a:spcBef>
              <a:spcAft>
                <a:spcPts val="0"/>
              </a:spcAft>
              <a:buClr>
                <a:srgbClr val="E8A317"/>
              </a:buClr>
              <a:buSzPts val="10500"/>
              <a:buFont typeface="IBM Plex Mono"/>
              <a:buNone/>
            </a:pPr>
            <a:r>
              <a:rPr b="1" i="0" lang="en-US" sz="10500" u="none" cap="none" strike="noStrike">
                <a:solidFill>
                  <a:srgbClr val="E8A317"/>
                </a:solidFill>
                <a:latin typeface="IBM Plex Mono"/>
                <a:ea typeface="IBM Plex Mono"/>
                <a:cs typeface="IBM Plex Mono"/>
                <a:sym typeface="IBM Plex Mono"/>
              </a:rPr>
              <a:t>05</a:t>
            </a:r>
            <a:endParaRPr b="0" i="0" sz="10500" u="none" cap="none" strike="noStrike">
              <a:solidFill>
                <a:schemeClr val="dk1"/>
              </a:solidFill>
              <a:latin typeface="Calibri"/>
              <a:ea typeface="Calibri"/>
              <a:cs typeface="Calibri"/>
              <a:sym typeface="Calibri"/>
            </a:endParaRPr>
          </a:p>
        </p:txBody>
      </p:sp>
      <p:sp>
        <p:nvSpPr>
          <p:cNvPr id="1065" name="Google Shape;1065;p24"/>
          <p:cNvSpPr/>
          <p:nvPr/>
        </p:nvSpPr>
        <p:spPr>
          <a:xfrm>
            <a:off x="914400" y="4671060"/>
            <a:ext cx="9499557" cy="798195"/>
          </a:xfrm>
          <a:prstGeom prst="rect">
            <a:avLst/>
          </a:prstGeom>
          <a:noFill/>
          <a:ln>
            <a:noFill/>
          </a:ln>
        </p:spPr>
        <p:txBody>
          <a:bodyPr anchorCtr="0" anchor="t" bIns="25400" lIns="25400" spcFirstLastPara="1" rIns="25400" wrap="square" tIns="25400">
            <a:normAutofit/>
          </a:bodyPr>
          <a:lstStyle/>
          <a:p>
            <a:pPr indent="0" lvl="0" marL="0" marR="0" rtl="0" algn="l">
              <a:lnSpc>
                <a:spcPct val="91514"/>
              </a:lnSpc>
              <a:spcBef>
                <a:spcPts val="0"/>
              </a:spcBef>
              <a:spcAft>
                <a:spcPts val="0"/>
              </a:spcAft>
              <a:buClr>
                <a:srgbClr val="FFFFFF"/>
              </a:buClr>
              <a:buSzPts val="5700"/>
              <a:buFont typeface="Helvetica Neue"/>
              <a:buNone/>
            </a:pPr>
            <a:r>
              <a:rPr b="1" i="0" lang="en-US" sz="5700" u="none" cap="none" strike="noStrike">
                <a:solidFill>
                  <a:srgbClr val="FFFFFF"/>
                </a:solidFill>
                <a:latin typeface="Helvetica Neue"/>
                <a:ea typeface="Helvetica Neue"/>
                <a:cs typeface="Helvetica Neue"/>
                <a:sym typeface="Helvetica Neue"/>
              </a:rPr>
              <a:t>Building the classifier</a:t>
            </a:r>
            <a:endParaRPr b="0" i="0" sz="5700" u="none" cap="none" strike="noStrike">
              <a:solidFill>
                <a:schemeClr val="dk1"/>
              </a:solidFill>
              <a:latin typeface="Calibri"/>
              <a:ea typeface="Calibri"/>
              <a:cs typeface="Calibri"/>
              <a:sym typeface="Calibri"/>
            </a:endParaRPr>
          </a:p>
        </p:txBody>
      </p:sp>
      <p:sp>
        <p:nvSpPr>
          <p:cNvPr id="1066" name="Google Shape;1066;p24"/>
          <p:cNvSpPr/>
          <p:nvPr/>
        </p:nvSpPr>
        <p:spPr>
          <a:xfrm>
            <a:off x="914400" y="5697855"/>
            <a:ext cx="8437245" cy="922020"/>
          </a:xfrm>
          <a:prstGeom prst="rect">
            <a:avLst/>
          </a:prstGeom>
          <a:noFill/>
          <a:ln>
            <a:noFill/>
          </a:ln>
        </p:spPr>
        <p:txBody>
          <a:bodyPr anchorCtr="0" anchor="t" bIns="25400" lIns="25400" spcFirstLastPara="1" rIns="25400" wrap="square" tIns="25400">
            <a:normAutofit/>
          </a:bodyPr>
          <a:lstStyle/>
          <a:p>
            <a:pPr indent="0" lvl="0" marL="0" marR="0" rtl="0" algn="l">
              <a:lnSpc>
                <a:spcPct val="128889"/>
              </a:lnSpc>
              <a:spcBef>
                <a:spcPts val="0"/>
              </a:spcBef>
              <a:spcAft>
                <a:spcPts val="0"/>
              </a:spcAft>
              <a:buClr>
                <a:srgbClr val="C8D6EA"/>
              </a:buClr>
              <a:buSzPts val="2400"/>
              <a:buFont typeface="Helvetica Neue"/>
              <a:buNone/>
            </a:pPr>
            <a:r>
              <a:rPr b="0" i="0" lang="en-US" sz="2400" u="none" cap="none" strike="noStrike">
                <a:solidFill>
                  <a:srgbClr val="C8D6EA"/>
                </a:solidFill>
                <a:latin typeface="Helvetica Neue"/>
                <a:ea typeface="Helvetica Neue"/>
                <a:cs typeface="Helvetica Neue"/>
                <a:sym typeface="Helvetica Neue"/>
              </a:rPr>
              <a:t>Take the numbers a pretrained model hands us, fit a small classifier on top of them, and read what it says.</a:t>
            </a:r>
            <a:endParaRPr b="0" i="0" sz="2400" u="none" cap="none" strike="noStrike">
              <a:solidFill>
                <a:schemeClr val="dk1"/>
              </a:solidFill>
              <a:latin typeface="Calibri"/>
              <a:ea typeface="Calibri"/>
              <a:cs typeface="Calibri"/>
              <a:sym typeface="Calibri"/>
            </a:endParaRPr>
          </a:p>
        </p:txBody>
      </p:sp>
      <p:sp>
        <p:nvSpPr>
          <p:cNvPr id="1067" name="Google Shape;1067;p24"/>
          <p:cNvSpPr/>
          <p:nvPr/>
        </p:nvSpPr>
        <p:spPr>
          <a:xfrm>
            <a:off x="10464760" y="3787140"/>
            <a:ext cx="6908840" cy="9525"/>
          </a:xfrm>
          <a:prstGeom prst="rect">
            <a:avLst/>
          </a:prstGeom>
          <a:solidFill>
            <a:srgbClr val="5362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4"/>
          <p:cNvSpPr/>
          <p:nvPr/>
        </p:nvSpPr>
        <p:spPr>
          <a:xfrm>
            <a:off x="10464760" y="3375660"/>
            <a:ext cx="7116105"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THIS PART</a:t>
            </a:r>
            <a:endParaRPr b="0" i="0" sz="1800" u="none" cap="none" strike="noStrike">
              <a:solidFill>
                <a:schemeClr val="dk1"/>
              </a:solidFill>
              <a:latin typeface="Calibri"/>
              <a:ea typeface="Calibri"/>
              <a:cs typeface="Calibri"/>
              <a:sym typeface="Calibri"/>
            </a:endParaRPr>
          </a:p>
        </p:txBody>
      </p:sp>
      <p:sp>
        <p:nvSpPr>
          <p:cNvPr id="1069" name="Google Shape;1069;p24"/>
          <p:cNvSpPr/>
          <p:nvPr/>
        </p:nvSpPr>
        <p:spPr>
          <a:xfrm>
            <a:off x="10464760" y="4503420"/>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4"/>
          <p:cNvSpPr/>
          <p:nvPr/>
        </p:nvSpPr>
        <p:spPr>
          <a:xfrm>
            <a:off x="10464760" y="3966210"/>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25</a:t>
            </a:r>
            <a:endParaRPr b="0" i="0" sz="2250" u="none" cap="none" strike="noStrike">
              <a:solidFill>
                <a:schemeClr val="dk1"/>
              </a:solidFill>
              <a:latin typeface="Calibri"/>
              <a:ea typeface="Calibri"/>
              <a:cs typeface="Calibri"/>
              <a:sym typeface="Calibri"/>
            </a:endParaRPr>
          </a:p>
        </p:txBody>
      </p:sp>
      <p:sp>
        <p:nvSpPr>
          <p:cNvPr id="1071" name="Google Shape;1071;p24"/>
          <p:cNvSpPr/>
          <p:nvPr/>
        </p:nvSpPr>
        <p:spPr>
          <a:xfrm>
            <a:off x="11074360" y="3966210"/>
            <a:ext cx="3127665"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What an embedding is</a:t>
            </a:r>
            <a:endParaRPr b="0" i="0" sz="2250" u="none" cap="none" strike="noStrike">
              <a:solidFill>
                <a:schemeClr val="dk1"/>
              </a:solidFill>
              <a:latin typeface="Calibri"/>
              <a:ea typeface="Calibri"/>
              <a:cs typeface="Calibri"/>
              <a:sym typeface="Calibri"/>
            </a:endParaRPr>
          </a:p>
        </p:txBody>
      </p:sp>
      <p:sp>
        <p:nvSpPr>
          <p:cNvPr id="1072" name="Google Shape;1072;p24"/>
          <p:cNvSpPr/>
          <p:nvPr/>
        </p:nvSpPr>
        <p:spPr>
          <a:xfrm>
            <a:off x="10464760" y="5219700"/>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4"/>
          <p:cNvSpPr/>
          <p:nvPr/>
        </p:nvSpPr>
        <p:spPr>
          <a:xfrm>
            <a:off x="10464760" y="4682490"/>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26</a:t>
            </a:r>
            <a:endParaRPr b="0" i="0" sz="2250" u="none" cap="none" strike="noStrike">
              <a:solidFill>
                <a:schemeClr val="dk1"/>
              </a:solidFill>
              <a:latin typeface="Calibri"/>
              <a:ea typeface="Calibri"/>
              <a:cs typeface="Calibri"/>
              <a:sym typeface="Calibri"/>
            </a:endParaRPr>
          </a:p>
        </p:txBody>
      </p:sp>
      <p:sp>
        <p:nvSpPr>
          <p:cNvPr id="1074" name="Google Shape;1074;p24"/>
          <p:cNvSpPr/>
          <p:nvPr/>
        </p:nvSpPr>
        <p:spPr>
          <a:xfrm>
            <a:off x="11074360" y="4682490"/>
            <a:ext cx="491028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Embedding space, before and after</a:t>
            </a:r>
            <a:endParaRPr b="0" i="0" sz="2250" u="none" cap="none" strike="noStrike">
              <a:solidFill>
                <a:schemeClr val="dk1"/>
              </a:solidFill>
              <a:latin typeface="Calibri"/>
              <a:ea typeface="Calibri"/>
              <a:cs typeface="Calibri"/>
              <a:sym typeface="Calibri"/>
            </a:endParaRPr>
          </a:p>
        </p:txBody>
      </p:sp>
      <p:sp>
        <p:nvSpPr>
          <p:cNvPr id="1075" name="Google Shape;1075;p24"/>
          <p:cNvSpPr/>
          <p:nvPr/>
        </p:nvSpPr>
        <p:spPr>
          <a:xfrm>
            <a:off x="10464760" y="5935980"/>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4"/>
          <p:cNvSpPr/>
          <p:nvPr/>
        </p:nvSpPr>
        <p:spPr>
          <a:xfrm>
            <a:off x="10464760" y="5398770"/>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27</a:t>
            </a:r>
            <a:endParaRPr b="0" i="0" sz="2250" u="none" cap="none" strike="noStrike">
              <a:solidFill>
                <a:schemeClr val="dk1"/>
              </a:solidFill>
              <a:latin typeface="Calibri"/>
              <a:ea typeface="Calibri"/>
              <a:cs typeface="Calibri"/>
              <a:sym typeface="Calibri"/>
            </a:endParaRPr>
          </a:p>
        </p:txBody>
      </p:sp>
      <p:sp>
        <p:nvSpPr>
          <p:cNvPr id="1077" name="Google Shape;1077;p24"/>
          <p:cNvSpPr/>
          <p:nvPr/>
        </p:nvSpPr>
        <p:spPr>
          <a:xfrm>
            <a:off x="11074360" y="5398770"/>
            <a:ext cx="3529215"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Logistic regression, in full</a:t>
            </a:r>
            <a:endParaRPr b="0" i="0" sz="2250" u="none" cap="none" strike="noStrike">
              <a:solidFill>
                <a:schemeClr val="dk1"/>
              </a:solidFill>
              <a:latin typeface="Calibri"/>
              <a:ea typeface="Calibri"/>
              <a:cs typeface="Calibri"/>
              <a:sym typeface="Calibri"/>
            </a:endParaRPr>
          </a:p>
        </p:txBody>
      </p:sp>
      <p:sp>
        <p:nvSpPr>
          <p:cNvPr id="1078" name="Google Shape;1078;p24"/>
          <p:cNvSpPr/>
          <p:nvPr/>
        </p:nvSpPr>
        <p:spPr>
          <a:xfrm>
            <a:off x="10464760" y="6652260"/>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4"/>
          <p:cNvSpPr/>
          <p:nvPr/>
        </p:nvSpPr>
        <p:spPr>
          <a:xfrm>
            <a:off x="10464760" y="6115050"/>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28</a:t>
            </a:r>
            <a:endParaRPr b="0" i="0" sz="2250" u="none" cap="none" strike="noStrike">
              <a:solidFill>
                <a:schemeClr val="dk1"/>
              </a:solidFill>
              <a:latin typeface="Calibri"/>
              <a:ea typeface="Calibri"/>
              <a:cs typeface="Calibri"/>
              <a:sym typeface="Calibri"/>
            </a:endParaRPr>
          </a:p>
        </p:txBody>
      </p:sp>
      <p:sp>
        <p:nvSpPr>
          <p:cNvPr id="1080" name="Google Shape;1080;p24"/>
          <p:cNvSpPr/>
          <p:nvPr/>
        </p:nvSpPr>
        <p:spPr>
          <a:xfrm>
            <a:off x="11074360" y="6115050"/>
            <a:ext cx="4280583"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Three ways to use a big model</a:t>
            </a:r>
            <a:endParaRPr b="0" i="0" sz="2250" u="none" cap="none" strike="noStrike">
              <a:solidFill>
                <a:schemeClr val="dk1"/>
              </a:solidFill>
              <a:latin typeface="Calibri"/>
              <a:ea typeface="Calibri"/>
              <a:cs typeface="Calibri"/>
              <a:sym typeface="Calibri"/>
            </a:endParaRPr>
          </a:p>
        </p:txBody>
      </p:sp>
      <p:sp>
        <p:nvSpPr>
          <p:cNvPr id="1081" name="Google Shape;1081;p24"/>
          <p:cNvSpPr/>
          <p:nvPr/>
        </p:nvSpPr>
        <p:spPr>
          <a:xfrm>
            <a:off x="10464760" y="7368540"/>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4"/>
          <p:cNvSpPr/>
          <p:nvPr/>
        </p:nvSpPr>
        <p:spPr>
          <a:xfrm>
            <a:off x="10464760" y="6831330"/>
            <a:ext cx="419100"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250"/>
              <a:buFont typeface="IBM Plex Mono"/>
              <a:buNone/>
            </a:pPr>
            <a:r>
              <a:rPr b="0" i="0" lang="en-US" sz="2250" u="none" cap="none" strike="noStrike">
                <a:solidFill>
                  <a:srgbClr val="8FA6C8"/>
                </a:solidFill>
                <a:latin typeface="IBM Plex Mono"/>
                <a:ea typeface="IBM Plex Mono"/>
                <a:cs typeface="IBM Plex Mono"/>
                <a:sym typeface="IBM Plex Mono"/>
              </a:rPr>
              <a:t>29</a:t>
            </a:r>
            <a:endParaRPr b="0" i="0" sz="2250" u="none" cap="none" strike="noStrike">
              <a:solidFill>
                <a:schemeClr val="dk1"/>
              </a:solidFill>
              <a:latin typeface="Calibri"/>
              <a:ea typeface="Calibri"/>
              <a:cs typeface="Calibri"/>
              <a:sym typeface="Calibri"/>
            </a:endParaRPr>
          </a:p>
        </p:txBody>
      </p:sp>
      <p:sp>
        <p:nvSpPr>
          <p:cNvPr id="1083" name="Google Shape;1083;p24"/>
          <p:cNvSpPr/>
          <p:nvPr/>
        </p:nvSpPr>
        <p:spPr>
          <a:xfrm>
            <a:off x="11074360" y="6831330"/>
            <a:ext cx="3791938"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250"/>
              <a:buFont typeface="Helvetica Neue"/>
              <a:buNone/>
            </a:pPr>
            <a:r>
              <a:rPr b="0" i="0" lang="en-US" sz="2250" u="none" cap="none" strike="noStrike">
                <a:solidFill>
                  <a:srgbClr val="FFFFFF"/>
                </a:solidFill>
                <a:latin typeface="Helvetica Neue"/>
                <a:ea typeface="Helvetica Neue"/>
                <a:cs typeface="Helvetica Neue"/>
                <a:sym typeface="Helvetica Neue"/>
              </a:rPr>
              <a:t>The notebook, step by step</a:t>
            </a:r>
            <a:endParaRPr b="0" i="0" sz="2250" u="none" cap="none" strike="noStrike">
              <a:solidFill>
                <a:schemeClr val="dk1"/>
              </a:solidFill>
              <a:latin typeface="Calibri"/>
              <a:ea typeface="Calibri"/>
              <a:cs typeface="Calibri"/>
              <a:sym typeface="Calibri"/>
            </a:endParaRPr>
          </a:p>
        </p:txBody>
      </p:sp>
      <p:sp>
        <p:nvSpPr>
          <p:cNvPr id="1084" name="Google Shape;1084;p24"/>
          <p:cNvSpPr/>
          <p:nvPr/>
        </p:nvSpPr>
        <p:spPr>
          <a:xfrm>
            <a:off x="914400" y="9418320"/>
            <a:ext cx="181051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PART 05 OF 06</a:t>
            </a:r>
            <a:endParaRPr b="0" i="0" sz="1800" u="none" cap="none" strike="noStrike">
              <a:solidFill>
                <a:schemeClr val="dk1"/>
              </a:solidFill>
              <a:latin typeface="Calibri"/>
              <a:ea typeface="Calibri"/>
              <a:cs typeface="Calibri"/>
              <a:sym typeface="Calibri"/>
            </a:endParaRPr>
          </a:p>
        </p:txBody>
      </p:sp>
      <p:pic>
        <p:nvPicPr>
          <p:cNvPr descr="preencoded.png" id="1085" name="Google Shape;1085;p24"/>
          <p:cNvPicPr preferRelativeResize="0"/>
          <p:nvPr/>
        </p:nvPicPr>
        <p:blipFill rotWithShape="1">
          <a:blip r:embed="rId4">
            <a:alphaModFix/>
          </a:blip>
          <a:srcRect b="0" l="0" r="0" t="0"/>
          <a:stretch/>
        </p:blipFill>
        <p:spPr>
          <a:xfrm>
            <a:off x="16850202" y="487725"/>
            <a:ext cx="1008525" cy="1115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0" name="Shape 1090"/>
        <p:cNvGrpSpPr/>
        <p:nvPr/>
      </p:nvGrpSpPr>
      <p:grpSpPr>
        <a:xfrm>
          <a:off x="0" y="0"/>
          <a:ext cx="0" cy="0"/>
          <a:chOff x="0" y="0"/>
          <a:chExt cx="0" cy="0"/>
        </a:xfrm>
      </p:grpSpPr>
      <p:sp>
        <p:nvSpPr>
          <p:cNvPr id="1091" name="Google Shape;1091;p25"/>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5"/>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093" name="Google Shape;1093;p25"/>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094" name="Google Shape;1094;p25"/>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05 · BUILDING THE CLASSIFIER</a:t>
            </a:r>
            <a:endParaRPr b="0" i="0" sz="1800" u="none" cap="none" strike="noStrike">
              <a:solidFill>
                <a:schemeClr val="dk1"/>
              </a:solidFill>
              <a:latin typeface="Calibri"/>
              <a:ea typeface="Calibri"/>
              <a:cs typeface="Calibri"/>
              <a:sym typeface="Calibri"/>
            </a:endParaRPr>
          </a:p>
        </p:txBody>
      </p:sp>
      <p:sp>
        <p:nvSpPr>
          <p:cNvPr id="1095" name="Google Shape;1095;p25"/>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What an embedding is</a:t>
            </a:r>
            <a:endParaRPr b="0" i="0" sz="4500" u="none" cap="none" strike="noStrike">
              <a:solidFill>
                <a:schemeClr val="dk1"/>
              </a:solidFill>
              <a:latin typeface="Calibri"/>
              <a:ea typeface="Calibri"/>
              <a:cs typeface="Calibri"/>
              <a:sym typeface="Calibri"/>
            </a:endParaRPr>
          </a:p>
        </p:txBody>
      </p:sp>
      <p:sp>
        <p:nvSpPr>
          <p:cNvPr id="1096" name="Google Shape;1096;p25"/>
          <p:cNvSpPr/>
          <p:nvPr/>
        </p:nvSpPr>
        <p:spPr>
          <a:xfrm>
            <a:off x="838200" y="2466975"/>
            <a:ext cx="3673197" cy="309372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5"/>
          <p:cNvSpPr/>
          <p:nvPr/>
        </p:nvSpPr>
        <p:spPr>
          <a:xfrm>
            <a:off x="1104900" y="2714625"/>
            <a:ext cx="34537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1 · INPUT</a:t>
            </a:r>
            <a:endParaRPr b="0" i="0" sz="1800" u="none" cap="none" strike="noStrike">
              <a:solidFill>
                <a:schemeClr val="dk1"/>
              </a:solidFill>
              <a:latin typeface="Calibri"/>
              <a:ea typeface="Calibri"/>
              <a:cs typeface="Calibri"/>
              <a:sym typeface="Calibri"/>
            </a:endParaRPr>
          </a:p>
        </p:txBody>
      </p:sp>
      <p:sp>
        <p:nvSpPr>
          <p:cNvPr id="1098" name="Google Shape;1098;p25"/>
          <p:cNvSpPr/>
          <p:nvPr/>
        </p:nvSpPr>
        <p:spPr>
          <a:xfrm>
            <a:off x="1104900" y="3107055"/>
            <a:ext cx="3233991" cy="723900"/>
          </a:xfrm>
          <a:prstGeom prst="rect">
            <a:avLst/>
          </a:prstGeom>
          <a:noFill/>
          <a:ln>
            <a:noFill/>
          </a:ln>
        </p:spPr>
        <p:txBody>
          <a:bodyPr anchorCtr="0" anchor="t" bIns="25400" lIns="25400" spcFirstLastPara="1" rIns="25400" wrap="square" tIns="25400">
            <a:normAutofit/>
          </a:bodyPr>
          <a:lstStyle/>
          <a:p>
            <a:pPr indent="0" lvl="0" marL="0" marR="0" rtl="0" algn="l">
              <a:lnSpc>
                <a:spcPct val="115385"/>
              </a:lnSpc>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GGCTATAAAGGCACGTGCCAAT…</a:t>
            </a:r>
            <a:endParaRPr b="0" i="0" sz="1800" u="none" cap="none" strike="noStrike">
              <a:solidFill>
                <a:schemeClr val="dk1"/>
              </a:solidFill>
              <a:latin typeface="Calibri"/>
              <a:ea typeface="Calibri"/>
              <a:cs typeface="Calibri"/>
              <a:sym typeface="Calibri"/>
            </a:endParaRPr>
          </a:p>
        </p:txBody>
      </p:sp>
      <p:sp>
        <p:nvSpPr>
          <p:cNvPr id="1099" name="Google Shape;1099;p25"/>
          <p:cNvSpPr/>
          <p:nvPr/>
        </p:nvSpPr>
        <p:spPr>
          <a:xfrm>
            <a:off x="1104900" y="3926205"/>
            <a:ext cx="3233991"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One 300-base window, still as letters.</a:t>
            </a:r>
            <a:endParaRPr b="0" i="0" sz="1950" u="none" cap="none" strike="noStrike">
              <a:solidFill>
                <a:schemeClr val="dk1"/>
              </a:solidFill>
              <a:latin typeface="Calibri"/>
              <a:ea typeface="Calibri"/>
              <a:cs typeface="Calibri"/>
              <a:sym typeface="Calibri"/>
            </a:endParaRPr>
          </a:p>
        </p:txBody>
      </p:sp>
      <p:sp>
        <p:nvSpPr>
          <p:cNvPr id="1100" name="Google Shape;1100;p25"/>
          <p:cNvSpPr/>
          <p:nvPr/>
        </p:nvSpPr>
        <p:spPr>
          <a:xfrm>
            <a:off x="4720947" y="2466975"/>
            <a:ext cx="419100" cy="313182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E8A317"/>
              </a:buClr>
              <a:buSzPts val="2700"/>
              <a:buFont typeface="Helvetica Neue"/>
              <a:buNone/>
            </a:pPr>
            <a:r>
              <a:rPr b="0" i="0" lang="en-US" sz="2700" u="none" cap="none" strike="noStrike">
                <a:solidFill>
                  <a:srgbClr val="E8A317"/>
                </a:solidFill>
                <a:latin typeface="Helvetica Neue"/>
                <a:ea typeface="Helvetica Neue"/>
                <a:cs typeface="Helvetica Neue"/>
                <a:sym typeface="Helvetica Neue"/>
              </a:rPr>
              <a:t>→</a:t>
            </a:r>
            <a:endParaRPr b="0" i="0" sz="2700" u="none" cap="none" strike="noStrike">
              <a:solidFill>
                <a:schemeClr val="dk1"/>
              </a:solidFill>
              <a:latin typeface="Calibri"/>
              <a:ea typeface="Calibri"/>
              <a:cs typeface="Calibri"/>
              <a:sym typeface="Calibri"/>
            </a:endParaRPr>
          </a:p>
        </p:txBody>
      </p:sp>
      <p:sp>
        <p:nvSpPr>
          <p:cNvPr id="1101" name="Google Shape;1101;p25"/>
          <p:cNvSpPr/>
          <p:nvPr/>
        </p:nvSpPr>
        <p:spPr>
          <a:xfrm>
            <a:off x="5273397" y="2466975"/>
            <a:ext cx="3673197" cy="309372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5"/>
          <p:cNvSpPr/>
          <p:nvPr/>
        </p:nvSpPr>
        <p:spPr>
          <a:xfrm>
            <a:off x="5540097" y="2714625"/>
            <a:ext cx="3233991" cy="5562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9BBD6"/>
              </a:buClr>
              <a:buSzPts val="1800"/>
              <a:buFont typeface="Helvetica Neue"/>
              <a:buNone/>
            </a:pPr>
            <a:r>
              <a:rPr b="0" i="0" lang="en-US" sz="1800" u="none" cap="none" strike="noStrike">
                <a:solidFill>
                  <a:srgbClr val="A9BBD6"/>
                </a:solidFill>
                <a:latin typeface="Helvetica Neue"/>
                <a:ea typeface="Helvetica Neue"/>
                <a:cs typeface="Helvetica Neue"/>
                <a:sym typeface="Helvetica Neue"/>
              </a:rPr>
              <a:t>2 · PRETRAINED ENCODER</a:t>
            </a:r>
            <a:endParaRPr b="0" i="0" sz="1800" u="none" cap="none" strike="noStrike">
              <a:solidFill>
                <a:schemeClr val="dk1"/>
              </a:solidFill>
              <a:latin typeface="Calibri"/>
              <a:ea typeface="Calibri"/>
              <a:cs typeface="Calibri"/>
              <a:sym typeface="Calibri"/>
            </a:endParaRPr>
          </a:p>
        </p:txBody>
      </p:sp>
      <p:sp>
        <p:nvSpPr>
          <p:cNvPr id="1103" name="Google Shape;1103;p25"/>
          <p:cNvSpPr/>
          <p:nvPr/>
        </p:nvSpPr>
        <p:spPr>
          <a:xfrm>
            <a:off x="5540097" y="3366135"/>
            <a:ext cx="3453777"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550"/>
              <a:buFont typeface="Helvetica Neue"/>
              <a:buNone/>
            </a:pPr>
            <a:r>
              <a:rPr b="1" i="0" lang="en-US" sz="2550" u="none" cap="none" strike="noStrike">
                <a:solidFill>
                  <a:srgbClr val="FFFFFF"/>
                </a:solidFill>
                <a:latin typeface="Helvetica Neue"/>
                <a:ea typeface="Helvetica Neue"/>
                <a:cs typeface="Helvetica Neue"/>
                <a:sym typeface="Helvetica Neue"/>
              </a:rPr>
              <a:t>The model</a:t>
            </a:r>
            <a:endParaRPr b="0" i="0" sz="2550" u="none" cap="none" strike="noStrike">
              <a:solidFill>
                <a:schemeClr val="dk1"/>
              </a:solidFill>
              <a:latin typeface="Calibri"/>
              <a:ea typeface="Calibri"/>
              <a:cs typeface="Calibri"/>
              <a:sym typeface="Calibri"/>
            </a:endParaRPr>
          </a:p>
        </p:txBody>
      </p:sp>
      <p:sp>
        <p:nvSpPr>
          <p:cNvPr id="1104" name="Google Shape;1104;p25"/>
          <p:cNvSpPr/>
          <p:nvPr/>
        </p:nvSpPr>
        <p:spPr>
          <a:xfrm>
            <a:off x="5540097" y="3865245"/>
            <a:ext cx="3233991" cy="142494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C8D6EA"/>
              </a:buClr>
              <a:buSzPts val="1950"/>
              <a:buFont typeface="Helvetica Neue"/>
              <a:buNone/>
            </a:pPr>
            <a:r>
              <a:rPr b="0" i="0" lang="en-US" sz="1950" u="none" cap="none" strike="noStrike">
                <a:solidFill>
                  <a:srgbClr val="C8D6EA"/>
                </a:solidFill>
                <a:latin typeface="Helvetica Neue"/>
                <a:ea typeface="Helvetica Neue"/>
                <a:cs typeface="Helvetica Neue"/>
                <a:sym typeface="Helvetica Neue"/>
              </a:rPr>
              <a:t>Already trained on billions of bases. We change none of its weights — we only read what it produces.</a:t>
            </a:r>
            <a:endParaRPr b="0" i="0" sz="1950" u="none" cap="none" strike="noStrike">
              <a:solidFill>
                <a:schemeClr val="dk1"/>
              </a:solidFill>
              <a:latin typeface="Calibri"/>
              <a:ea typeface="Calibri"/>
              <a:cs typeface="Calibri"/>
              <a:sym typeface="Calibri"/>
            </a:endParaRPr>
          </a:p>
        </p:txBody>
      </p:sp>
      <p:sp>
        <p:nvSpPr>
          <p:cNvPr id="1105" name="Google Shape;1105;p25"/>
          <p:cNvSpPr/>
          <p:nvPr/>
        </p:nvSpPr>
        <p:spPr>
          <a:xfrm>
            <a:off x="9156145" y="2466975"/>
            <a:ext cx="419100" cy="313182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E8A317"/>
              </a:buClr>
              <a:buSzPts val="2700"/>
              <a:buFont typeface="Helvetica Neue"/>
              <a:buNone/>
            </a:pPr>
            <a:r>
              <a:rPr b="0" i="0" lang="en-US" sz="2700" u="none" cap="none" strike="noStrike">
                <a:solidFill>
                  <a:srgbClr val="E8A317"/>
                </a:solidFill>
                <a:latin typeface="Helvetica Neue"/>
                <a:ea typeface="Helvetica Neue"/>
                <a:cs typeface="Helvetica Neue"/>
                <a:sym typeface="Helvetica Neue"/>
              </a:rPr>
              <a:t>→</a:t>
            </a:r>
            <a:endParaRPr b="0" i="0" sz="2700" u="none" cap="none" strike="noStrike">
              <a:solidFill>
                <a:schemeClr val="dk1"/>
              </a:solidFill>
              <a:latin typeface="Calibri"/>
              <a:ea typeface="Calibri"/>
              <a:cs typeface="Calibri"/>
              <a:sym typeface="Calibri"/>
            </a:endParaRPr>
          </a:p>
        </p:txBody>
      </p:sp>
      <p:sp>
        <p:nvSpPr>
          <p:cNvPr id="1106" name="Google Shape;1106;p25"/>
          <p:cNvSpPr/>
          <p:nvPr/>
        </p:nvSpPr>
        <p:spPr>
          <a:xfrm>
            <a:off x="9708595" y="2466975"/>
            <a:ext cx="3673197" cy="309372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5"/>
          <p:cNvSpPr/>
          <p:nvPr/>
        </p:nvSpPr>
        <p:spPr>
          <a:xfrm>
            <a:off x="9975295" y="2714625"/>
            <a:ext cx="34537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3 · EMBEDDING</a:t>
            </a:r>
            <a:endParaRPr b="0" i="0" sz="1800" u="none" cap="none" strike="noStrike">
              <a:solidFill>
                <a:schemeClr val="dk1"/>
              </a:solidFill>
              <a:latin typeface="Calibri"/>
              <a:ea typeface="Calibri"/>
              <a:cs typeface="Calibri"/>
              <a:sym typeface="Calibri"/>
            </a:endParaRPr>
          </a:p>
        </p:txBody>
      </p:sp>
      <p:sp>
        <p:nvSpPr>
          <p:cNvPr id="1108" name="Google Shape;1108;p25"/>
          <p:cNvSpPr/>
          <p:nvPr/>
        </p:nvSpPr>
        <p:spPr>
          <a:xfrm>
            <a:off x="9975295" y="3107055"/>
            <a:ext cx="3233991" cy="723900"/>
          </a:xfrm>
          <a:prstGeom prst="rect">
            <a:avLst/>
          </a:prstGeom>
          <a:noFill/>
          <a:ln>
            <a:noFill/>
          </a:ln>
        </p:spPr>
        <p:txBody>
          <a:bodyPr anchorCtr="0" anchor="t" bIns="25400" lIns="25400" spcFirstLastPara="1" rIns="25400" wrap="square" tIns="25400">
            <a:normAutofit/>
          </a:bodyPr>
          <a:lstStyle/>
          <a:p>
            <a:pPr indent="0" lvl="0" marL="0" marR="0" rtl="0" algn="l">
              <a:lnSpc>
                <a:spcPct val="115385"/>
              </a:lnSpc>
              <a:spcBef>
                <a:spcPts val="0"/>
              </a:spcBef>
              <a:spcAft>
                <a:spcPts val="0"/>
              </a:spcAft>
              <a:buClr>
                <a:srgbClr val="E8A317"/>
              </a:buClr>
              <a:buSzPts val="1800"/>
              <a:buFont typeface="IBM Plex Mono"/>
              <a:buNone/>
            </a:pPr>
            <a:r>
              <a:rPr b="0" i="0" lang="en-US" sz="1800" u="none" cap="none" strike="noStrike">
                <a:solidFill>
                  <a:srgbClr val="E8A317"/>
                </a:solidFill>
                <a:latin typeface="IBM Plex Mono"/>
                <a:ea typeface="IBM Plex Mono"/>
                <a:cs typeface="IBM Plex Mono"/>
                <a:sym typeface="IBM Plex Mono"/>
              </a:rPr>
              <a:t>[ 0.42, −1.03, 0.87, 0.11, … ]</a:t>
            </a:r>
            <a:endParaRPr b="0" i="0" sz="1800" u="none" cap="none" strike="noStrike">
              <a:solidFill>
                <a:schemeClr val="dk1"/>
              </a:solidFill>
              <a:latin typeface="Calibri"/>
              <a:ea typeface="Calibri"/>
              <a:cs typeface="Calibri"/>
              <a:sym typeface="Calibri"/>
            </a:endParaRPr>
          </a:p>
        </p:txBody>
      </p:sp>
      <p:sp>
        <p:nvSpPr>
          <p:cNvPr id="1109" name="Google Shape;1109;p25"/>
          <p:cNvSpPr/>
          <p:nvPr/>
        </p:nvSpPr>
        <p:spPr>
          <a:xfrm>
            <a:off x="9975295" y="3926205"/>
            <a:ext cx="3233991" cy="142494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A list of 768 numbers — the same length for every window, whatever it contains.</a:t>
            </a:r>
            <a:endParaRPr b="0" i="0" sz="1950" u="none" cap="none" strike="noStrike">
              <a:solidFill>
                <a:schemeClr val="dk1"/>
              </a:solidFill>
              <a:latin typeface="Calibri"/>
              <a:ea typeface="Calibri"/>
              <a:cs typeface="Calibri"/>
              <a:sym typeface="Calibri"/>
            </a:endParaRPr>
          </a:p>
        </p:txBody>
      </p:sp>
      <p:sp>
        <p:nvSpPr>
          <p:cNvPr id="1110" name="Google Shape;1110;p25"/>
          <p:cNvSpPr/>
          <p:nvPr/>
        </p:nvSpPr>
        <p:spPr>
          <a:xfrm>
            <a:off x="13591341" y="2466975"/>
            <a:ext cx="419219" cy="313182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E8A317"/>
              </a:buClr>
              <a:buSzPts val="2700"/>
              <a:buFont typeface="Helvetica Neue"/>
              <a:buNone/>
            </a:pPr>
            <a:r>
              <a:rPr b="0" i="0" lang="en-US" sz="2700" u="none" cap="none" strike="noStrike">
                <a:solidFill>
                  <a:srgbClr val="E8A317"/>
                </a:solidFill>
                <a:latin typeface="Helvetica Neue"/>
                <a:ea typeface="Helvetica Neue"/>
                <a:cs typeface="Helvetica Neue"/>
                <a:sym typeface="Helvetica Neue"/>
              </a:rPr>
              <a:t>→</a:t>
            </a:r>
            <a:endParaRPr b="0" i="0" sz="2700" u="none" cap="none" strike="noStrike">
              <a:solidFill>
                <a:schemeClr val="dk1"/>
              </a:solidFill>
              <a:latin typeface="Calibri"/>
              <a:ea typeface="Calibri"/>
              <a:cs typeface="Calibri"/>
              <a:sym typeface="Calibri"/>
            </a:endParaRPr>
          </a:p>
        </p:txBody>
      </p:sp>
      <p:sp>
        <p:nvSpPr>
          <p:cNvPr id="1111" name="Google Shape;1111;p25"/>
          <p:cNvSpPr/>
          <p:nvPr/>
        </p:nvSpPr>
        <p:spPr>
          <a:xfrm>
            <a:off x="14143911" y="2466975"/>
            <a:ext cx="3305889" cy="309372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5"/>
          <p:cNvSpPr/>
          <p:nvPr/>
        </p:nvSpPr>
        <p:spPr>
          <a:xfrm>
            <a:off x="14410611" y="2714625"/>
            <a:ext cx="304973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4 · A POINT IN SPACE</a:t>
            </a:r>
            <a:endParaRPr b="0" i="0" sz="1800" u="none" cap="none" strike="noStrike">
              <a:solidFill>
                <a:schemeClr val="dk1"/>
              </a:solidFill>
              <a:latin typeface="Calibri"/>
              <a:ea typeface="Calibri"/>
              <a:cs typeface="Calibri"/>
              <a:sym typeface="Calibri"/>
            </a:endParaRPr>
          </a:p>
        </p:txBody>
      </p:sp>
      <p:sp>
        <p:nvSpPr>
          <p:cNvPr id="1113" name="Google Shape;1113;p25"/>
          <p:cNvSpPr/>
          <p:nvPr/>
        </p:nvSpPr>
        <p:spPr>
          <a:xfrm>
            <a:off x="14410611" y="3107055"/>
            <a:ext cx="3049738"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One dot</a:t>
            </a:r>
            <a:endParaRPr b="0" i="0" sz="2550" u="none" cap="none" strike="noStrike">
              <a:solidFill>
                <a:schemeClr val="dk1"/>
              </a:solidFill>
              <a:latin typeface="Calibri"/>
              <a:ea typeface="Calibri"/>
              <a:cs typeface="Calibri"/>
              <a:sym typeface="Calibri"/>
            </a:endParaRPr>
          </a:p>
        </p:txBody>
      </p:sp>
      <p:sp>
        <p:nvSpPr>
          <p:cNvPr id="1114" name="Google Shape;1114;p25"/>
          <p:cNvSpPr/>
          <p:nvPr/>
        </p:nvSpPr>
        <p:spPr>
          <a:xfrm>
            <a:off x="14410611" y="3606165"/>
            <a:ext cx="2855664" cy="107823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Windows the model finds similar end up close together.</a:t>
            </a:r>
            <a:endParaRPr b="0" i="0" sz="1950" u="none" cap="none" strike="noStrike">
              <a:solidFill>
                <a:schemeClr val="dk1"/>
              </a:solidFill>
              <a:latin typeface="Calibri"/>
              <a:ea typeface="Calibri"/>
              <a:cs typeface="Calibri"/>
              <a:sym typeface="Calibri"/>
            </a:endParaRPr>
          </a:p>
        </p:txBody>
      </p:sp>
      <p:sp>
        <p:nvSpPr>
          <p:cNvPr id="1115" name="Google Shape;1115;p25"/>
          <p:cNvSpPr/>
          <p:nvPr/>
        </p:nvSpPr>
        <p:spPr>
          <a:xfrm>
            <a:off x="838200" y="6802755"/>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5"/>
          <p:cNvSpPr/>
          <p:nvPr/>
        </p:nvSpPr>
        <p:spPr>
          <a:xfrm>
            <a:off x="838200" y="7065645"/>
            <a:ext cx="578358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PLAIN WORDS</a:t>
            </a:r>
            <a:endParaRPr b="0" i="0" sz="1800" u="none" cap="none" strike="noStrike">
              <a:solidFill>
                <a:schemeClr val="dk1"/>
              </a:solidFill>
              <a:latin typeface="Calibri"/>
              <a:ea typeface="Calibri"/>
              <a:cs typeface="Calibri"/>
              <a:sym typeface="Calibri"/>
            </a:endParaRPr>
          </a:p>
        </p:txBody>
      </p:sp>
      <p:sp>
        <p:nvSpPr>
          <p:cNvPr id="1117" name="Google Shape;1117;p25"/>
          <p:cNvSpPr/>
          <p:nvPr/>
        </p:nvSpPr>
        <p:spPr>
          <a:xfrm>
            <a:off x="838200" y="7419975"/>
            <a:ext cx="5415534" cy="197167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An embedding is a summary of the window written as numbers, produced by a model that has read a great deal of DNA. It is the same idea as the 64 k-mer counts — just richer.</a:t>
            </a:r>
            <a:endParaRPr b="0" i="0" sz="2100" u="none" cap="none" strike="noStrike">
              <a:solidFill>
                <a:schemeClr val="dk1"/>
              </a:solidFill>
              <a:latin typeface="Calibri"/>
              <a:ea typeface="Calibri"/>
              <a:cs typeface="Calibri"/>
              <a:sym typeface="Calibri"/>
            </a:endParaRPr>
          </a:p>
        </p:txBody>
      </p:sp>
      <p:sp>
        <p:nvSpPr>
          <p:cNvPr id="1118" name="Google Shape;1118;p25"/>
          <p:cNvSpPr/>
          <p:nvPr/>
        </p:nvSpPr>
        <p:spPr>
          <a:xfrm>
            <a:off x="6515100" y="7065645"/>
            <a:ext cx="578358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COMPARED WITH K-MER COUNTS</a:t>
            </a:r>
            <a:endParaRPr b="0" i="0" sz="1800" u="none" cap="none" strike="noStrike">
              <a:solidFill>
                <a:schemeClr val="dk1"/>
              </a:solidFill>
              <a:latin typeface="Calibri"/>
              <a:ea typeface="Calibri"/>
              <a:cs typeface="Calibri"/>
              <a:sym typeface="Calibri"/>
            </a:endParaRPr>
          </a:p>
        </p:txBody>
      </p:sp>
      <p:sp>
        <p:nvSpPr>
          <p:cNvPr id="1119" name="Google Shape;1119;p25"/>
          <p:cNvSpPr/>
          <p:nvPr/>
        </p:nvSpPr>
        <p:spPr>
          <a:xfrm>
            <a:off x="6515100" y="7419975"/>
            <a:ext cx="5415534" cy="197167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Counts are 64 numbers you could work out by hand. An embedding is hundreds of numbers that also carry order and context — but no single one of them has a name you can explain.</a:t>
            </a:r>
            <a:endParaRPr b="0" i="0" sz="2100" u="none" cap="none" strike="noStrike">
              <a:solidFill>
                <a:schemeClr val="dk1"/>
              </a:solidFill>
              <a:latin typeface="Calibri"/>
              <a:ea typeface="Calibri"/>
              <a:cs typeface="Calibri"/>
              <a:sym typeface="Calibri"/>
            </a:endParaRPr>
          </a:p>
        </p:txBody>
      </p:sp>
      <p:sp>
        <p:nvSpPr>
          <p:cNvPr id="1120" name="Google Shape;1120;p25"/>
          <p:cNvSpPr/>
          <p:nvPr/>
        </p:nvSpPr>
        <p:spPr>
          <a:xfrm>
            <a:off x="12192000" y="7065645"/>
            <a:ext cx="578358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THE DIVISION OF LABOUR</a:t>
            </a:r>
            <a:endParaRPr b="0" i="0" sz="1800" u="none" cap="none" strike="noStrike">
              <a:solidFill>
                <a:schemeClr val="dk1"/>
              </a:solidFill>
              <a:latin typeface="Calibri"/>
              <a:ea typeface="Calibri"/>
              <a:cs typeface="Calibri"/>
              <a:sym typeface="Calibri"/>
            </a:endParaRPr>
          </a:p>
        </p:txBody>
      </p:sp>
      <p:sp>
        <p:nvSpPr>
          <p:cNvPr id="1121" name="Google Shape;1121;p25"/>
          <p:cNvSpPr/>
          <p:nvPr/>
        </p:nvSpPr>
        <p:spPr>
          <a:xfrm>
            <a:off x="12192000" y="7419975"/>
            <a:ext cx="5415534" cy="158496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The encoder turns sequence into numbers. The classifier only has to draw a boundary between two clouds of numbers — a much smaller job, trainable in seconds.</a:t>
            </a:r>
            <a:endParaRPr b="0" i="0" sz="2100" u="none" cap="none" strike="noStrike">
              <a:solidFill>
                <a:schemeClr val="dk1"/>
              </a:solidFill>
              <a:latin typeface="Calibri"/>
              <a:ea typeface="Calibri"/>
              <a:cs typeface="Calibri"/>
              <a:sym typeface="Calibri"/>
            </a:endParaRPr>
          </a:p>
        </p:txBody>
      </p:sp>
      <p:sp>
        <p:nvSpPr>
          <p:cNvPr id="1122" name="Google Shape;1122;p25"/>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5"/>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124" name="Google Shape;1124;p25"/>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125" name="Google Shape;1125;p25"/>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25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0" name="Shape 1130"/>
        <p:cNvGrpSpPr/>
        <p:nvPr/>
      </p:nvGrpSpPr>
      <p:grpSpPr>
        <a:xfrm>
          <a:off x="0" y="0"/>
          <a:ext cx="0" cy="0"/>
          <a:chOff x="0" y="0"/>
          <a:chExt cx="0" cy="0"/>
        </a:xfrm>
      </p:grpSpPr>
      <p:sp>
        <p:nvSpPr>
          <p:cNvPr id="1131" name="Google Shape;1131;p26"/>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6"/>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133" name="Google Shape;1133;p26"/>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134" name="Google Shape;1134;p26"/>
          <p:cNvSpPr/>
          <p:nvPr/>
        </p:nvSpPr>
        <p:spPr>
          <a:xfrm>
            <a:off x="838200" y="1207770"/>
            <a:ext cx="1030697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05 · BUILDING THE CLASSIFIER</a:t>
            </a:r>
            <a:endParaRPr b="0" i="0" sz="1800" u="none" cap="none" strike="noStrike">
              <a:solidFill>
                <a:schemeClr val="dk1"/>
              </a:solidFill>
              <a:latin typeface="Calibri"/>
              <a:ea typeface="Calibri"/>
              <a:cs typeface="Calibri"/>
              <a:sym typeface="Calibri"/>
            </a:endParaRPr>
          </a:p>
        </p:txBody>
      </p:sp>
      <p:sp>
        <p:nvSpPr>
          <p:cNvPr id="1135" name="Google Shape;1135;p26"/>
          <p:cNvSpPr/>
          <p:nvPr/>
        </p:nvSpPr>
        <p:spPr>
          <a:xfrm>
            <a:off x="838200" y="1619250"/>
            <a:ext cx="10306979"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Embedding space, before and after</a:t>
            </a:r>
            <a:endParaRPr b="0" i="0" sz="4500" u="none" cap="none" strike="noStrike">
              <a:solidFill>
                <a:schemeClr val="dk1"/>
              </a:solidFill>
              <a:latin typeface="Calibri"/>
              <a:ea typeface="Calibri"/>
              <a:cs typeface="Calibri"/>
              <a:sym typeface="Calibri"/>
            </a:endParaRPr>
          </a:p>
        </p:txBody>
      </p:sp>
      <p:sp>
        <p:nvSpPr>
          <p:cNvPr id="1136" name="Google Shape;1136;p26"/>
          <p:cNvSpPr/>
          <p:nvPr/>
        </p:nvSpPr>
        <p:spPr>
          <a:xfrm>
            <a:off x="12086154" y="1876425"/>
            <a:ext cx="2488799" cy="381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C78B5"/>
              </a:buClr>
              <a:buSzPts val="2400"/>
              <a:buFont typeface="Helvetica Neue"/>
              <a:buNone/>
            </a:pPr>
            <a:r>
              <a:rPr b="0" i="0" lang="en-US" sz="2400" u="none" cap="none" strike="noStrike">
                <a:solidFill>
                  <a:srgbClr val="4C78B5"/>
                </a:solidFill>
                <a:latin typeface="Helvetica Neue"/>
                <a:ea typeface="Helvetica Neue"/>
                <a:cs typeface="Helvetica Neue"/>
                <a:sym typeface="Helvetica Neue"/>
              </a:rPr>
              <a:t>● </a:t>
            </a:r>
            <a:r>
              <a:rPr b="0" i="0" lang="en-US" sz="1950" u="none" cap="none" strike="noStrike">
                <a:solidFill>
                  <a:srgbClr val="3A4A63"/>
                </a:solidFill>
                <a:latin typeface="Helvetica Neue"/>
                <a:ea typeface="Helvetica Neue"/>
                <a:cs typeface="Helvetica Neue"/>
                <a:sym typeface="Helvetica Neue"/>
              </a:rPr>
              <a:t>promoter windows</a:t>
            </a:r>
            <a:endParaRPr b="0" i="0" sz="1950" u="none" cap="none" strike="noStrike">
              <a:solidFill>
                <a:schemeClr val="dk1"/>
              </a:solidFill>
              <a:latin typeface="Calibri"/>
              <a:ea typeface="Calibri"/>
              <a:cs typeface="Calibri"/>
              <a:sym typeface="Calibri"/>
            </a:endParaRPr>
          </a:p>
        </p:txBody>
      </p:sp>
      <p:sp>
        <p:nvSpPr>
          <p:cNvPr id="1137" name="Google Shape;1137;p26"/>
          <p:cNvSpPr/>
          <p:nvPr/>
        </p:nvSpPr>
        <p:spPr>
          <a:xfrm>
            <a:off x="14691599" y="1876425"/>
            <a:ext cx="3034022" cy="381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862E"/>
              </a:buClr>
              <a:buSzPts val="2400"/>
              <a:buFont typeface="Helvetica Neue"/>
              <a:buNone/>
            </a:pPr>
            <a:r>
              <a:rPr b="0" i="0" lang="en-US" sz="2400" u="none" cap="none" strike="noStrike">
                <a:solidFill>
                  <a:srgbClr val="E8862E"/>
                </a:solidFill>
                <a:latin typeface="Helvetica Neue"/>
                <a:ea typeface="Helvetica Neue"/>
                <a:cs typeface="Helvetica Neue"/>
                <a:sym typeface="Helvetica Neue"/>
              </a:rPr>
              <a:t>● </a:t>
            </a:r>
            <a:r>
              <a:rPr b="0" i="0" lang="en-US" sz="1950" u="none" cap="none" strike="noStrike">
                <a:solidFill>
                  <a:srgbClr val="3A4A63"/>
                </a:solidFill>
                <a:latin typeface="Helvetica Neue"/>
                <a:ea typeface="Helvetica Neue"/>
                <a:cs typeface="Helvetica Neue"/>
                <a:sym typeface="Helvetica Neue"/>
              </a:rPr>
              <a:t>non-promoter windows</a:t>
            </a:r>
            <a:endParaRPr b="0" i="0" sz="1950" u="none" cap="none" strike="noStrike">
              <a:solidFill>
                <a:schemeClr val="dk1"/>
              </a:solidFill>
              <a:latin typeface="Calibri"/>
              <a:ea typeface="Calibri"/>
              <a:cs typeface="Calibri"/>
              <a:sym typeface="Calibri"/>
            </a:endParaRPr>
          </a:p>
        </p:txBody>
      </p:sp>
      <p:sp>
        <p:nvSpPr>
          <p:cNvPr id="1138" name="Google Shape;1138;p26"/>
          <p:cNvSpPr/>
          <p:nvPr/>
        </p:nvSpPr>
        <p:spPr>
          <a:xfrm>
            <a:off x="838200" y="2409825"/>
            <a:ext cx="16611600" cy="4928235"/>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6"/>
          <p:cNvSpPr/>
          <p:nvPr/>
        </p:nvSpPr>
        <p:spPr>
          <a:xfrm>
            <a:off x="2409706" y="2562225"/>
            <a:ext cx="13468470" cy="462331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40" name="Google Shape;1140;p26"/>
          <p:cNvPicPr preferRelativeResize="0"/>
          <p:nvPr/>
        </p:nvPicPr>
        <p:blipFill rotWithShape="1">
          <a:blip r:embed="rId4">
            <a:alphaModFix/>
          </a:blip>
          <a:srcRect b="0" l="-1" r="-1" t="0"/>
          <a:stretch/>
        </p:blipFill>
        <p:spPr>
          <a:xfrm>
            <a:off x="2409706" y="2562225"/>
            <a:ext cx="13468470" cy="4623316"/>
          </a:xfrm>
          <a:prstGeom prst="rect">
            <a:avLst/>
          </a:prstGeom>
          <a:noFill/>
          <a:ln>
            <a:noFill/>
          </a:ln>
        </p:spPr>
      </p:pic>
      <p:sp>
        <p:nvSpPr>
          <p:cNvPr id="1141" name="Google Shape;1141;p26"/>
          <p:cNvSpPr/>
          <p:nvPr/>
        </p:nvSpPr>
        <p:spPr>
          <a:xfrm>
            <a:off x="838200" y="7433310"/>
            <a:ext cx="18272760" cy="358140"/>
          </a:xfrm>
          <a:prstGeom prst="rect">
            <a:avLst/>
          </a:prstGeom>
          <a:noFill/>
          <a:ln>
            <a:noFill/>
          </a:ln>
        </p:spPr>
        <p:txBody>
          <a:bodyPr anchorCtr="0" anchor="t" bIns="25400" lIns="25400" spcFirstLastPara="1" rIns="25400" wrap="square" tIns="25400">
            <a:normAutofit/>
          </a:bodyPr>
          <a:lstStyle/>
          <a:p>
            <a:pPr indent="0" lvl="0" marL="0" marR="0" rtl="0" algn="l">
              <a:lnSpc>
                <a:spcPct val="123529"/>
              </a:lnSpc>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Each dot is one window, projected from hundreds of dimensions down to two.</a:t>
            </a:r>
            <a:endParaRPr b="0" i="0" sz="1800" u="none" cap="none" strike="noStrike">
              <a:solidFill>
                <a:schemeClr val="dk1"/>
              </a:solidFill>
              <a:latin typeface="Calibri"/>
              <a:ea typeface="Calibri"/>
              <a:cs typeface="Calibri"/>
              <a:sym typeface="Calibri"/>
            </a:endParaRPr>
          </a:p>
        </p:txBody>
      </p:sp>
      <p:sp>
        <p:nvSpPr>
          <p:cNvPr id="1142" name="Google Shape;1142;p26"/>
          <p:cNvSpPr/>
          <p:nvPr/>
        </p:nvSpPr>
        <p:spPr>
          <a:xfrm>
            <a:off x="838200" y="7924800"/>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6"/>
          <p:cNvSpPr/>
          <p:nvPr/>
        </p:nvSpPr>
        <p:spPr>
          <a:xfrm>
            <a:off x="838200" y="8111490"/>
            <a:ext cx="578358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LEFT · STRAIGHT FROM PRETRAINING</a:t>
            </a:r>
            <a:endParaRPr b="0" i="0" sz="1800" u="none" cap="none" strike="noStrike">
              <a:solidFill>
                <a:schemeClr val="dk1"/>
              </a:solidFill>
              <a:latin typeface="Calibri"/>
              <a:ea typeface="Calibri"/>
              <a:cs typeface="Calibri"/>
              <a:sym typeface="Calibri"/>
            </a:endParaRPr>
          </a:p>
        </p:txBody>
      </p:sp>
      <p:sp>
        <p:nvSpPr>
          <p:cNvPr id="1144" name="Google Shape;1144;p26"/>
          <p:cNvSpPr/>
          <p:nvPr/>
        </p:nvSpPr>
        <p:spPr>
          <a:xfrm>
            <a:off x="838200" y="8446770"/>
            <a:ext cx="5415534"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The classes are mixed. The model was never told this task existed.</a:t>
            </a:r>
            <a:endParaRPr b="0" i="0" sz="1950" u="none" cap="none" strike="noStrike">
              <a:solidFill>
                <a:schemeClr val="dk1"/>
              </a:solidFill>
              <a:latin typeface="Calibri"/>
              <a:ea typeface="Calibri"/>
              <a:cs typeface="Calibri"/>
              <a:sym typeface="Calibri"/>
            </a:endParaRPr>
          </a:p>
        </p:txBody>
      </p:sp>
      <p:sp>
        <p:nvSpPr>
          <p:cNvPr id="1145" name="Google Shape;1145;p26"/>
          <p:cNvSpPr/>
          <p:nvPr/>
        </p:nvSpPr>
        <p:spPr>
          <a:xfrm>
            <a:off x="6515100" y="8111490"/>
            <a:ext cx="578358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RIGHT · AFTER TASK TRAINING</a:t>
            </a:r>
            <a:endParaRPr b="0" i="0" sz="1800" u="none" cap="none" strike="noStrike">
              <a:solidFill>
                <a:schemeClr val="dk1"/>
              </a:solidFill>
              <a:latin typeface="Calibri"/>
              <a:ea typeface="Calibri"/>
              <a:cs typeface="Calibri"/>
              <a:sym typeface="Calibri"/>
            </a:endParaRPr>
          </a:p>
        </p:txBody>
      </p:sp>
      <p:sp>
        <p:nvSpPr>
          <p:cNvPr id="1146" name="Google Shape;1146;p26"/>
          <p:cNvSpPr/>
          <p:nvPr/>
        </p:nvSpPr>
        <p:spPr>
          <a:xfrm>
            <a:off x="6515100" y="8446770"/>
            <a:ext cx="5415534" cy="107823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Two groups. One straight boundary now separates most points — all a simple classifier needs.</a:t>
            </a:r>
            <a:endParaRPr b="0" i="0" sz="1950" u="none" cap="none" strike="noStrike">
              <a:solidFill>
                <a:schemeClr val="dk1"/>
              </a:solidFill>
              <a:latin typeface="Calibri"/>
              <a:ea typeface="Calibri"/>
              <a:cs typeface="Calibri"/>
              <a:sym typeface="Calibri"/>
            </a:endParaRPr>
          </a:p>
        </p:txBody>
      </p:sp>
      <p:sp>
        <p:nvSpPr>
          <p:cNvPr id="1147" name="Google Shape;1147;p26"/>
          <p:cNvSpPr/>
          <p:nvPr/>
        </p:nvSpPr>
        <p:spPr>
          <a:xfrm>
            <a:off x="12192000" y="8111490"/>
            <a:ext cx="578358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WATCH OUT</a:t>
            </a:r>
            <a:endParaRPr b="0" i="0" sz="1800" u="none" cap="none" strike="noStrike">
              <a:solidFill>
                <a:schemeClr val="dk1"/>
              </a:solidFill>
              <a:latin typeface="Calibri"/>
              <a:ea typeface="Calibri"/>
              <a:cs typeface="Calibri"/>
              <a:sym typeface="Calibri"/>
            </a:endParaRPr>
          </a:p>
        </p:txBody>
      </p:sp>
      <p:sp>
        <p:nvSpPr>
          <p:cNvPr id="1148" name="Google Shape;1148;p26"/>
          <p:cNvSpPr/>
          <p:nvPr/>
        </p:nvSpPr>
        <p:spPr>
          <a:xfrm>
            <a:off x="12192000" y="8446770"/>
            <a:ext cx="5415534"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Distances in a 2-D projection are not real distances. Take the idea, not the coordinates.</a:t>
            </a:r>
            <a:endParaRPr b="0" i="0" sz="1950" u="none" cap="none" strike="noStrike">
              <a:solidFill>
                <a:schemeClr val="dk1"/>
              </a:solidFill>
              <a:latin typeface="Calibri"/>
              <a:ea typeface="Calibri"/>
              <a:cs typeface="Calibri"/>
              <a:sym typeface="Calibri"/>
            </a:endParaRPr>
          </a:p>
        </p:txBody>
      </p:sp>
      <p:sp>
        <p:nvSpPr>
          <p:cNvPr id="1149" name="Google Shape;1149;p26"/>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6"/>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151" name="Google Shape;1151;p26"/>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152" name="Google Shape;1152;p26"/>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26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7" name="Shape 1157"/>
        <p:cNvGrpSpPr/>
        <p:nvPr/>
      </p:nvGrpSpPr>
      <p:grpSpPr>
        <a:xfrm>
          <a:off x="0" y="0"/>
          <a:ext cx="0" cy="0"/>
          <a:chOff x="0" y="0"/>
          <a:chExt cx="0" cy="0"/>
        </a:xfrm>
      </p:grpSpPr>
      <p:sp>
        <p:nvSpPr>
          <p:cNvPr id="1158" name="Google Shape;1158;p27"/>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7"/>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160" name="Google Shape;1160;p27"/>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161" name="Google Shape;1161;p27"/>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05 · BUILDING THE CLASSIFIER · WORKED EXAMPLE</a:t>
            </a:r>
            <a:endParaRPr b="0" i="0" sz="1800" u="none" cap="none" strike="noStrike">
              <a:solidFill>
                <a:schemeClr val="dk1"/>
              </a:solidFill>
              <a:latin typeface="Calibri"/>
              <a:ea typeface="Calibri"/>
              <a:cs typeface="Calibri"/>
              <a:sym typeface="Calibri"/>
            </a:endParaRPr>
          </a:p>
        </p:txBody>
      </p:sp>
      <p:sp>
        <p:nvSpPr>
          <p:cNvPr id="1162" name="Google Shape;1162;p27"/>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Logistic regression, in full</a:t>
            </a:r>
            <a:endParaRPr b="0" i="0" sz="4500" u="none" cap="none" strike="noStrike">
              <a:solidFill>
                <a:schemeClr val="dk1"/>
              </a:solidFill>
              <a:latin typeface="Calibri"/>
              <a:ea typeface="Calibri"/>
              <a:cs typeface="Calibri"/>
              <a:sym typeface="Calibri"/>
            </a:endParaRPr>
          </a:p>
        </p:txBody>
      </p:sp>
      <p:sp>
        <p:nvSpPr>
          <p:cNvPr id="1163" name="Google Shape;1163;p27"/>
          <p:cNvSpPr/>
          <p:nvPr/>
        </p:nvSpPr>
        <p:spPr>
          <a:xfrm>
            <a:off x="838200" y="2276475"/>
            <a:ext cx="15925800" cy="452438"/>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Each feature gets a weight; the contributions are added up and squashed into a probability.</a:t>
            </a:r>
            <a:endParaRPr b="0" i="0" sz="2250" u="none" cap="none" strike="noStrike">
              <a:solidFill>
                <a:schemeClr val="dk1"/>
              </a:solidFill>
              <a:latin typeface="Calibri"/>
              <a:ea typeface="Calibri"/>
              <a:cs typeface="Calibri"/>
              <a:sym typeface="Calibri"/>
            </a:endParaRPr>
          </a:p>
        </p:txBody>
      </p:sp>
      <p:sp>
        <p:nvSpPr>
          <p:cNvPr id="1164" name="Google Shape;1164;p27"/>
          <p:cNvSpPr/>
          <p:nvPr/>
        </p:nvSpPr>
        <p:spPr>
          <a:xfrm>
            <a:off x="838200" y="2862263"/>
            <a:ext cx="10160032"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STEP 1 — WEIGH THE FEATURES AND ADD THEM UP</a:t>
            </a:r>
            <a:endParaRPr b="0" i="0" sz="1800" u="none" cap="none" strike="noStrike">
              <a:solidFill>
                <a:schemeClr val="dk1"/>
              </a:solidFill>
              <a:latin typeface="Calibri"/>
              <a:ea typeface="Calibri"/>
              <a:cs typeface="Calibri"/>
              <a:sym typeface="Calibri"/>
            </a:endParaRPr>
          </a:p>
        </p:txBody>
      </p:sp>
      <p:sp>
        <p:nvSpPr>
          <p:cNvPr id="1165" name="Google Shape;1165;p27"/>
          <p:cNvSpPr/>
          <p:nvPr/>
        </p:nvSpPr>
        <p:spPr>
          <a:xfrm>
            <a:off x="838200" y="3589973"/>
            <a:ext cx="3004185"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7"/>
          <p:cNvSpPr/>
          <p:nvPr/>
        </p:nvSpPr>
        <p:spPr>
          <a:xfrm>
            <a:off x="838200" y="3273743"/>
            <a:ext cx="3304603"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Feature</a:t>
            </a:r>
            <a:endParaRPr b="0" i="0" sz="1800" u="none" cap="none" strike="noStrike">
              <a:solidFill>
                <a:schemeClr val="dk1"/>
              </a:solidFill>
              <a:latin typeface="Calibri"/>
              <a:ea typeface="Calibri"/>
              <a:cs typeface="Calibri"/>
              <a:sym typeface="Calibri"/>
            </a:endParaRPr>
          </a:p>
        </p:txBody>
      </p:sp>
      <p:sp>
        <p:nvSpPr>
          <p:cNvPr id="1167" name="Google Shape;1167;p27"/>
          <p:cNvSpPr/>
          <p:nvPr/>
        </p:nvSpPr>
        <p:spPr>
          <a:xfrm>
            <a:off x="4070985" y="3589973"/>
            <a:ext cx="1617702"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7"/>
          <p:cNvSpPr/>
          <p:nvPr/>
        </p:nvSpPr>
        <p:spPr>
          <a:xfrm>
            <a:off x="3909215" y="3273743"/>
            <a:ext cx="1779473" cy="29718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Value</a:t>
            </a:r>
            <a:endParaRPr b="0" i="0" sz="1800" u="none" cap="none" strike="noStrike">
              <a:solidFill>
                <a:schemeClr val="dk1"/>
              </a:solidFill>
              <a:latin typeface="Calibri"/>
              <a:ea typeface="Calibri"/>
              <a:cs typeface="Calibri"/>
              <a:sym typeface="Calibri"/>
            </a:endParaRPr>
          </a:p>
        </p:txBody>
      </p:sp>
      <p:sp>
        <p:nvSpPr>
          <p:cNvPr id="1169" name="Google Shape;1169;p27"/>
          <p:cNvSpPr/>
          <p:nvPr/>
        </p:nvSpPr>
        <p:spPr>
          <a:xfrm>
            <a:off x="5917287" y="3589973"/>
            <a:ext cx="1617702"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7"/>
          <p:cNvSpPr/>
          <p:nvPr/>
        </p:nvSpPr>
        <p:spPr>
          <a:xfrm>
            <a:off x="5755517" y="3273743"/>
            <a:ext cx="1779473" cy="29718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Weight</a:t>
            </a:r>
            <a:endParaRPr b="0" i="0" sz="1800" u="none" cap="none" strike="noStrike">
              <a:solidFill>
                <a:schemeClr val="dk1"/>
              </a:solidFill>
              <a:latin typeface="Calibri"/>
              <a:ea typeface="Calibri"/>
              <a:cs typeface="Calibri"/>
              <a:sym typeface="Calibri"/>
            </a:endParaRPr>
          </a:p>
        </p:txBody>
      </p:sp>
      <p:sp>
        <p:nvSpPr>
          <p:cNvPr id="1171" name="Google Shape;1171;p27"/>
          <p:cNvSpPr/>
          <p:nvPr/>
        </p:nvSpPr>
        <p:spPr>
          <a:xfrm>
            <a:off x="7763589" y="3589973"/>
            <a:ext cx="2310884"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7"/>
          <p:cNvSpPr/>
          <p:nvPr/>
        </p:nvSpPr>
        <p:spPr>
          <a:xfrm>
            <a:off x="7532501" y="3273743"/>
            <a:ext cx="2541973" cy="29718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Contribution</a:t>
            </a:r>
            <a:endParaRPr b="0" i="0" sz="1800" u="none" cap="none" strike="noStrike">
              <a:solidFill>
                <a:schemeClr val="dk1"/>
              </a:solidFill>
              <a:latin typeface="Calibri"/>
              <a:ea typeface="Calibri"/>
              <a:cs typeface="Calibri"/>
              <a:sym typeface="Calibri"/>
            </a:endParaRPr>
          </a:p>
        </p:txBody>
      </p:sp>
      <p:sp>
        <p:nvSpPr>
          <p:cNvPr id="1173" name="Google Shape;1173;p27"/>
          <p:cNvSpPr/>
          <p:nvPr/>
        </p:nvSpPr>
        <p:spPr>
          <a:xfrm>
            <a:off x="838200" y="4070033"/>
            <a:ext cx="3004185"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7"/>
          <p:cNvSpPr/>
          <p:nvPr/>
        </p:nvSpPr>
        <p:spPr>
          <a:xfrm>
            <a:off x="838200" y="3662363"/>
            <a:ext cx="309431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100"/>
              <a:buFont typeface="Helvetica Neue"/>
              <a:buNone/>
            </a:pPr>
            <a:r>
              <a:rPr b="0" i="0" lang="en-US" sz="2100" u="none" cap="none" strike="noStrike">
                <a:solidFill>
                  <a:srgbClr val="1C2A44"/>
                </a:solidFill>
                <a:latin typeface="Helvetica Neue"/>
                <a:ea typeface="Helvetica Neue"/>
                <a:cs typeface="Helvetica Neue"/>
                <a:sym typeface="Helvetica Neue"/>
              </a:rPr>
              <a:t>GC content</a:t>
            </a:r>
            <a:endParaRPr b="0" i="0" sz="2100" u="none" cap="none" strike="noStrike">
              <a:solidFill>
                <a:schemeClr val="dk1"/>
              </a:solidFill>
              <a:latin typeface="Calibri"/>
              <a:ea typeface="Calibri"/>
              <a:cs typeface="Calibri"/>
              <a:sym typeface="Calibri"/>
            </a:endParaRPr>
          </a:p>
        </p:txBody>
      </p:sp>
      <p:sp>
        <p:nvSpPr>
          <p:cNvPr id="1175" name="Google Shape;1175;p27"/>
          <p:cNvSpPr/>
          <p:nvPr/>
        </p:nvSpPr>
        <p:spPr>
          <a:xfrm>
            <a:off x="4070985" y="4070033"/>
            <a:ext cx="1617702"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7"/>
          <p:cNvSpPr/>
          <p:nvPr/>
        </p:nvSpPr>
        <p:spPr>
          <a:xfrm>
            <a:off x="3994785" y="3662363"/>
            <a:ext cx="1693902" cy="38862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1C2A44"/>
              </a:buClr>
              <a:buSzPts val="2100"/>
              <a:buFont typeface="IBM Plex Mono"/>
              <a:buNone/>
            </a:pPr>
            <a:r>
              <a:rPr b="0" i="0" lang="en-US" sz="2100" u="none" cap="none" strike="noStrike">
                <a:solidFill>
                  <a:srgbClr val="1C2A44"/>
                </a:solidFill>
                <a:latin typeface="IBM Plex Mono"/>
                <a:ea typeface="IBM Plex Mono"/>
                <a:cs typeface="IBM Plex Mono"/>
                <a:sym typeface="IBM Plex Mono"/>
              </a:rPr>
              <a:t>0.68</a:t>
            </a:r>
            <a:endParaRPr b="0" i="0" sz="2100" u="none" cap="none" strike="noStrike">
              <a:solidFill>
                <a:schemeClr val="dk1"/>
              </a:solidFill>
              <a:latin typeface="Calibri"/>
              <a:ea typeface="Calibri"/>
              <a:cs typeface="Calibri"/>
              <a:sym typeface="Calibri"/>
            </a:endParaRPr>
          </a:p>
        </p:txBody>
      </p:sp>
      <p:sp>
        <p:nvSpPr>
          <p:cNvPr id="1177" name="Google Shape;1177;p27"/>
          <p:cNvSpPr/>
          <p:nvPr/>
        </p:nvSpPr>
        <p:spPr>
          <a:xfrm>
            <a:off x="5917287" y="4070033"/>
            <a:ext cx="1617702"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7"/>
          <p:cNvSpPr/>
          <p:nvPr/>
        </p:nvSpPr>
        <p:spPr>
          <a:xfrm>
            <a:off x="5841087" y="3662363"/>
            <a:ext cx="1693902" cy="38862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1C2A44"/>
              </a:buClr>
              <a:buSzPts val="2100"/>
              <a:buFont typeface="IBM Plex Mono"/>
              <a:buNone/>
            </a:pPr>
            <a:r>
              <a:rPr b="0" i="0" lang="en-US" sz="2100" u="none" cap="none" strike="noStrike">
                <a:solidFill>
                  <a:srgbClr val="1C2A44"/>
                </a:solidFill>
                <a:latin typeface="IBM Plex Mono"/>
                <a:ea typeface="IBM Plex Mono"/>
                <a:cs typeface="IBM Plex Mono"/>
                <a:sym typeface="IBM Plex Mono"/>
              </a:rPr>
              <a:t>+3.0</a:t>
            </a:r>
            <a:endParaRPr b="0" i="0" sz="2100" u="none" cap="none" strike="noStrike">
              <a:solidFill>
                <a:schemeClr val="dk1"/>
              </a:solidFill>
              <a:latin typeface="Calibri"/>
              <a:ea typeface="Calibri"/>
              <a:cs typeface="Calibri"/>
              <a:sym typeface="Calibri"/>
            </a:endParaRPr>
          </a:p>
        </p:txBody>
      </p:sp>
      <p:sp>
        <p:nvSpPr>
          <p:cNvPr id="1179" name="Google Shape;1179;p27"/>
          <p:cNvSpPr/>
          <p:nvPr/>
        </p:nvSpPr>
        <p:spPr>
          <a:xfrm>
            <a:off x="7763589" y="4070033"/>
            <a:ext cx="2310884"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7"/>
          <p:cNvSpPr/>
          <p:nvPr/>
        </p:nvSpPr>
        <p:spPr>
          <a:xfrm>
            <a:off x="7687389" y="3662363"/>
            <a:ext cx="2387084" cy="38862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1C2A44"/>
              </a:buClr>
              <a:buSzPts val="2100"/>
              <a:buFont typeface="IBM Plex Mono"/>
              <a:buNone/>
            </a:pPr>
            <a:r>
              <a:rPr b="1" i="0" lang="en-US" sz="2100" u="none" cap="none" strike="noStrike">
                <a:solidFill>
                  <a:srgbClr val="1C2A44"/>
                </a:solidFill>
                <a:latin typeface="IBM Plex Mono"/>
                <a:ea typeface="IBM Plex Mono"/>
                <a:cs typeface="IBM Plex Mono"/>
                <a:sym typeface="IBM Plex Mono"/>
              </a:rPr>
              <a:t>+2.04</a:t>
            </a:r>
            <a:endParaRPr b="0" i="0" sz="2100" u="none" cap="none" strike="noStrike">
              <a:solidFill>
                <a:schemeClr val="dk1"/>
              </a:solidFill>
              <a:latin typeface="Calibri"/>
              <a:ea typeface="Calibri"/>
              <a:cs typeface="Calibri"/>
              <a:sym typeface="Calibri"/>
            </a:endParaRPr>
          </a:p>
        </p:txBody>
      </p:sp>
      <p:sp>
        <p:nvSpPr>
          <p:cNvPr id="1181" name="Google Shape;1181;p27"/>
          <p:cNvSpPr/>
          <p:nvPr/>
        </p:nvSpPr>
        <p:spPr>
          <a:xfrm>
            <a:off x="838200" y="4542473"/>
            <a:ext cx="3004185"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7"/>
          <p:cNvSpPr/>
          <p:nvPr/>
        </p:nvSpPr>
        <p:spPr>
          <a:xfrm>
            <a:off x="838200" y="4134803"/>
            <a:ext cx="309431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100"/>
              <a:buFont typeface="Helvetica Neue"/>
              <a:buNone/>
            </a:pPr>
            <a:r>
              <a:rPr b="0" i="0" lang="en-US" sz="2100" u="none" cap="none" strike="noStrike">
                <a:solidFill>
                  <a:srgbClr val="1C2A44"/>
                </a:solidFill>
                <a:latin typeface="Helvetica Neue"/>
                <a:ea typeface="Helvetica Neue"/>
                <a:cs typeface="Helvetica Neue"/>
                <a:sym typeface="Helvetica Neue"/>
              </a:rPr>
              <a:t>count of CGG</a:t>
            </a:r>
            <a:endParaRPr b="0" i="0" sz="2100" u="none" cap="none" strike="noStrike">
              <a:solidFill>
                <a:schemeClr val="dk1"/>
              </a:solidFill>
              <a:latin typeface="Calibri"/>
              <a:ea typeface="Calibri"/>
              <a:cs typeface="Calibri"/>
              <a:sym typeface="Calibri"/>
            </a:endParaRPr>
          </a:p>
        </p:txBody>
      </p:sp>
      <p:sp>
        <p:nvSpPr>
          <p:cNvPr id="1183" name="Google Shape;1183;p27"/>
          <p:cNvSpPr/>
          <p:nvPr/>
        </p:nvSpPr>
        <p:spPr>
          <a:xfrm>
            <a:off x="4070985" y="4542473"/>
            <a:ext cx="1617702"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7"/>
          <p:cNvSpPr/>
          <p:nvPr/>
        </p:nvSpPr>
        <p:spPr>
          <a:xfrm>
            <a:off x="3994785" y="4134803"/>
            <a:ext cx="1693902" cy="38862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1C2A44"/>
              </a:buClr>
              <a:buSzPts val="2100"/>
              <a:buFont typeface="IBM Plex Mono"/>
              <a:buNone/>
            </a:pPr>
            <a:r>
              <a:rPr b="0" i="0" lang="en-US" sz="2100" u="none" cap="none" strike="noStrike">
                <a:solidFill>
                  <a:srgbClr val="1C2A44"/>
                </a:solidFill>
                <a:latin typeface="IBM Plex Mono"/>
                <a:ea typeface="IBM Plex Mono"/>
                <a:cs typeface="IBM Plex Mono"/>
                <a:sym typeface="IBM Plex Mono"/>
              </a:rPr>
              <a:t>0.31</a:t>
            </a:r>
            <a:endParaRPr b="0" i="0" sz="2100" u="none" cap="none" strike="noStrike">
              <a:solidFill>
                <a:schemeClr val="dk1"/>
              </a:solidFill>
              <a:latin typeface="Calibri"/>
              <a:ea typeface="Calibri"/>
              <a:cs typeface="Calibri"/>
              <a:sym typeface="Calibri"/>
            </a:endParaRPr>
          </a:p>
        </p:txBody>
      </p:sp>
      <p:sp>
        <p:nvSpPr>
          <p:cNvPr id="1185" name="Google Shape;1185;p27"/>
          <p:cNvSpPr/>
          <p:nvPr/>
        </p:nvSpPr>
        <p:spPr>
          <a:xfrm>
            <a:off x="5917287" y="4542473"/>
            <a:ext cx="1617702"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7"/>
          <p:cNvSpPr/>
          <p:nvPr/>
        </p:nvSpPr>
        <p:spPr>
          <a:xfrm>
            <a:off x="5841087" y="4134803"/>
            <a:ext cx="1693902" cy="38862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1C2A44"/>
              </a:buClr>
              <a:buSzPts val="2100"/>
              <a:buFont typeface="IBM Plex Mono"/>
              <a:buNone/>
            </a:pPr>
            <a:r>
              <a:rPr b="0" i="0" lang="en-US" sz="2100" u="none" cap="none" strike="noStrike">
                <a:solidFill>
                  <a:srgbClr val="1C2A44"/>
                </a:solidFill>
                <a:latin typeface="IBM Plex Mono"/>
                <a:ea typeface="IBM Plex Mono"/>
                <a:cs typeface="IBM Plex Mono"/>
                <a:sym typeface="IBM Plex Mono"/>
              </a:rPr>
              <a:t>+1.2</a:t>
            </a:r>
            <a:endParaRPr b="0" i="0" sz="2100" u="none" cap="none" strike="noStrike">
              <a:solidFill>
                <a:schemeClr val="dk1"/>
              </a:solidFill>
              <a:latin typeface="Calibri"/>
              <a:ea typeface="Calibri"/>
              <a:cs typeface="Calibri"/>
              <a:sym typeface="Calibri"/>
            </a:endParaRPr>
          </a:p>
        </p:txBody>
      </p:sp>
      <p:sp>
        <p:nvSpPr>
          <p:cNvPr id="1187" name="Google Shape;1187;p27"/>
          <p:cNvSpPr/>
          <p:nvPr/>
        </p:nvSpPr>
        <p:spPr>
          <a:xfrm>
            <a:off x="7763589" y="4542473"/>
            <a:ext cx="2310884"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7"/>
          <p:cNvSpPr/>
          <p:nvPr/>
        </p:nvSpPr>
        <p:spPr>
          <a:xfrm>
            <a:off x="7687389" y="4134803"/>
            <a:ext cx="2387084" cy="38862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1C2A44"/>
              </a:buClr>
              <a:buSzPts val="2100"/>
              <a:buFont typeface="IBM Plex Mono"/>
              <a:buNone/>
            </a:pPr>
            <a:r>
              <a:rPr b="1" i="0" lang="en-US" sz="2100" u="none" cap="none" strike="noStrike">
                <a:solidFill>
                  <a:srgbClr val="1C2A44"/>
                </a:solidFill>
                <a:latin typeface="IBM Plex Mono"/>
                <a:ea typeface="IBM Plex Mono"/>
                <a:cs typeface="IBM Plex Mono"/>
                <a:sym typeface="IBM Plex Mono"/>
              </a:rPr>
              <a:t>+0.37</a:t>
            </a:r>
            <a:endParaRPr b="0" i="0" sz="2100" u="none" cap="none" strike="noStrike">
              <a:solidFill>
                <a:schemeClr val="dk1"/>
              </a:solidFill>
              <a:latin typeface="Calibri"/>
              <a:ea typeface="Calibri"/>
              <a:cs typeface="Calibri"/>
              <a:sym typeface="Calibri"/>
            </a:endParaRPr>
          </a:p>
        </p:txBody>
      </p:sp>
      <p:sp>
        <p:nvSpPr>
          <p:cNvPr id="1189" name="Google Shape;1189;p27"/>
          <p:cNvSpPr/>
          <p:nvPr/>
        </p:nvSpPr>
        <p:spPr>
          <a:xfrm>
            <a:off x="838200" y="5014913"/>
            <a:ext cx="3004185"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7"/>
          <p:cNvSpPr/>
          <p:nvPr/>
        </p:nvSpPr>
        <p:spPr>
          <a:xfrm>
            <a:off x="838200" y="4607243"/>
            <a:ext cx="309431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100"/>
              <a:buFont typeface="Helvetica Neue"/>
              <a:buNone/>
            </a:pPr>
            <a:r>
              <a:rPr b="0" i="0" lang="en-US" sz="2100" u="none" cap="none" strike="noStrike">
                <a:solidFill>
                  <a:srgbClr val="1C2A44"/>
                </a:solidFill>
                <a:latin typeface="Helvetica Neue"/>
                <a:ea typeface="Helvetica Neue"/>
                <a:cs typeface="Helvetica Neue"/>
                <a:sym typeface="Helvetica Neue"/>
              </a:rPr>
              <a:t>count of AAATT</a:t>
            </a:r>
            <a:endParaRPr b="0" i="0" sz="2100" u="none" cap="none" strike="noStrike">
              <a:solidFill>
                <a:schemeClr val="dk1"/>
              </a:solidFill>
              <a:latin typeface="Calibri"/>
              <a:ea typeface="Calibri"/>
              <a:cs typeface="Calibri"/>
              <a:sym typeface="Calibri"/>
            </a:endParaRPr>
          </a:p>
        </p:txBody>
      </p:sp>
      <p:sp>
        <p:nvSpPr>
          <p:cNvPr id="1191" name="Google Shape;1191;p27"/>
          <p:cNvSpPr/>
          <p:nvPr/>
        </p:nvSpPr>
        <p:spPr>
          <a:xfrm>
            <a:off x="4070985" y="5014913"/>
            <a:ext cx="1617702"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7"/>
          <p:cNvSpPr/>
          <p:nvPr/>
        </p:nvSpPr>
        <p:spPr>
          <a:xfrm>
            <a:off x="3994785" y="4607243"/>
            <a:ext cx="1693902" cy="38862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1C2A44"/>
              </a:buClr>
              <a:buSzPts val="2100"/>
              <a:buFont typeface="IBM Plex Mono"/>
              <a:buNone/>
            </a:pPr>
            <a:r>
              <a:rPr b="0" i="0" lang="en-US" sz="2100" u="none" cap="none" strike="noStrike">
                <a:solidFill>
                  <a:srgbClr val="1C2A44"/>
                </a:solidFill>
                <a:latin typeface="IBM Plex Mono"/>
                <a:ea typeface="IBM Plex Mono"/>
                <a:cs typeface="IBM Plex Mono"/>
                <a:sym typeface="IBM Plex Mono"/>
              </a:rPr>
              <a:t>0.55</a:t>
            </a:r>
            <a:endParaRPr b="0" i="0" sz="2100" u="none" cap="none" strike="noStrike">
              <a:solidFill>
                <a:schemeClr val="dk1"/>
              </a:solidFill>
              <a:latin typeface="Calibri"/>
              <a:ea typeface="Calibri"/>
              <a:cs typeface="Calibri"/>
              <a:sym typeface="Calibri"/>
            </a:endParaRPr>
          </a:p>
        </p:txBody>
      </p:sp>
      <p:sp>
        <p:nvSpPr>
          <p:cNvPr id="1193" name="Google Shape;1193;p27"/>
          <p:cNvSpPr/>
          <p:nvPr/>
        </p:nvSpPr>
        <p:spPr>
          <a:xfrm>
            <a:off x="5917287" y="5014913"/>
            <a:ext cx="1617702"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7"/>
          <p:cNvSpPr/>
          <p:nvPr/>
        </p:nvSpPr>
        <p:spPr>
          <a:xfrm>
            <a:off x="5841087" y="4607243"/>
            <a:ext cx="1693902" cy="38862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1C2A44"/>
              </a:buClr>
              <a:buSzPts val="2100"/>
              <a:buFont typeface="IBM Plex Mono"/>
              <a:buNone/>
            </a:pPr>
            <a:r>
              <a:rPr b="0" i="0" lang="en-US" sz="2100" u="none" cap="none" strike="noStrike">
                <a:solidFill>
                  <a:srgbClr val="1C2A44"/>
                </a:solidFill>
                <a:latin typeface="IBM Plex Mono"/>
                <a:ea typeface="IBM Plex Mono"/>
                <a:cs typeface="IBM Plex Mono"/>
                <a:sym typeface="IBM Plex Mono"/>
              </a:rPr>
              <a:t>−1.6</a:t>
            </a:r>
            <a:endParaRPr b="0" i="0" sz="2100" u="none" cap="none" strike="noStrike">
              <a:solidFill>
                <a:schemeClr val="dk1"/>
              </a:solidFill>
              <a:latin typeface="Calibri"/>
              <a:ea typeface="Calibri"/>
              <a:cs typeface="Calibri"/>
              <a:sym typeface="Calibri"/>
            </a:endParaRPr>
          </a:p>
        </p:txBody>
      </p:sp>
      <p:sp>
        <p:nvSpPr>
          <p:cNvPr id="1195" name="Google Shape;1195;p27"/>
          <p:cNvSpPr/>
          <p:nvPr/>
        </p:nvSpPr>
        <p:spPr>
          <a:xfrm>
            <a:off x="7763589" y="5014913"/>
            <a:ext cx="2310884"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7"/>
          <p:cNvSpPr/>
          <p:nvPr/>
        </p:nvSpPr>
        <p:spPr>
          <a:xfrm>
            <a:off x="7687389" y="4607243"/>
            <a:ext cx="2387084" cy="38862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1C2A44"/>
              </a:buClr>
              <a:buSzPts val="2100"/>
              <a:buFont typeface="IBM Plex Mono"/>
              <a:buNone/>
            </a:pPr>
            <a:r>
              <a:rPr b="1" i="0" lang="en-US" sz="2100" u="none" cap="none" strike="noStrike">
                <a:solidFill>
                  <a:srgbClr val="1C2A44"/>
                </a:solidFill>
                <a:latin typeface="IBM Plex Mono"/>
                <a:ea typeface="IBM Plex Mono"/>
                <a:cs typeface="IBM Plex Mono"/>
                <a:sym typeface="IBM Plex Mono"/>
              </a:rPr>
              <a:t>−0.88</a:t>
            </a:r>
            <a:endParaRPr b="0" i="0" sz="2100" u="none" cap="none" strike="noStrike">
              <a:solidFill>
                <a:schemeClr val="dk1"/>
              </a:solidFill>
              <a:latin typeface="Calibri"/>
              <a:ea typeface="Calibri"/>
              <a:cs typeface="Calibri"/>
              <a:sym typeface="Calibri"/>
            </a:endParaRPr>
          </a:p>
        </p:txBody>
      </p:sp>
      <p:sp>
        <p:nvSpPr>
          <p:cNvPr id="1197" name="Google Shape;1197;p27"/>
          <p:cNvSpPr/>
          <p:nvPr/>
        </p:nvSpPr>
        <p:spPr>
          <a:xfrm>
            <a:off x="838200" y="5117782"/>
            <a:ext cx="3094310" cy="4343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100"/>
              <a:buFont typeface="Helvetica Neue"/>
              <a:buNone/>
            </a:pPr>
            <a:r>
              <a:rPr b="1" i="0" lang="en-US" sz="2100" u="none" cap="none" strike="noStrike">
                <a:solidFill>
                  <a:srgbClr val="1C2A44"/>
                </a:solidFill>
                <a:latin typeface="Helvetica Neue"/>
                <a:ea typeface="Helvetica Neue"/>
                <a:cs typeface="Helvetica Neue"/>
                <a:sym typeface="Helvetica Neue"/>
              </a:rPr>
              <a:t>total</a:t>
            </a:r>
            <a:endParaRPr b="0" i="0" sz="2100" u="none" cap="none" strike="noStrike">
              <a:solidFill>
                <a:schemeClr val="dk1"/>
              </a:solidFill>
              <a:latin typeface="Calibri"/>
              <a:ea typeface="Calibri"/>
              <a:cs typeface="Calibri"/>
              <a:sym typeface="Calibri"/>
            </a:endParaRPr>
          </a:p>
        </p:txBody>
      </p:sp>
      <p:sp>
        <p:nvSpPr>
          <p:cNvPr id="1198" name="Google Shape;1198;p27"/>
          <p:cNvSpPr/>
          <p:nvPr/>
        </p:nvSpPr>
        <p:spPr>
          <a:xfrm>
            <a:off x="7687389" y="5117782"/>
            <a:ext cx="2387084" cy="43434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E8A317"/>
              </a:buClr>
              <a:buSzPts val="2400"/>
              <a:buFont typeface="IBM Plex Mono"/>
              <a:buNone/>
            </a:pPr>
            <a:r>
              <a:rPr b="1" i="0" lang="en-US" sz="2400" u="none" cap="none" strike="noStrike">
                <a:solidFill>
                  <a:srgbClr val="E8A317"/>
                </a:solidFill>
                <a:latin typeface="IBM Plex Mono"/>
                <a:ea typeface="IBM Plex Mono"/>
                <a:cs typeface="IBM Plex Mono"/>
                <a:sym typeface="IBM Plex Mono"/>
              </a:rPr>
              <a:t>+1.53</a:t>
            </a:r>
            <a:endParaRPr b="0" i="0" sz="2400" u="none" cap="none" strike="noStrike">
              <a:solidFill>
                <a:schemeClr val="dk1"/>
              </a:solidFill>
              <a:latin typeface="Calibri"/>
              <a:ea typeface="Calibri"/>
              <a:cs typeface="Calibri"/>
              <a:sym typeface="Calibri"/>
            </a:endParaRPr>
          </a:p>
        </p:txBody>
      </p:sp>
      <p:sp>
        <p:nvSpPr>
          <p:cNvPr id="1199" name="Google Shape;1199;p27"/>
          <p:cNvSpPr/>
          <p:nvPr/>
        </p:nvSpPr>
        <p:spPr>
          <a:xfrm>
            <a:off x="838200" y="5666423"/>
            <a:ext cx="9513484"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Positive weights push towards "promoter", negative ones push away. Training just searches for the weights that fit the examples best.</a:t>
            </a:r>
            <a:endParaRPr b="0" i="0" sz="1950" u="none" cap="none" strike="noStrike">
              <a:solidFill>
                <a:schemeClr val="dk1"/>
              </a:solidFill>
              <a:latin typeface="Calibri"/>
              <a:ea typeface="Calibri"/>
              <a:cs typeface="Calibri"/>
              <a:sym typeface="Calibri"/>
            </a:endParaRPr>
          </a:p>
        </p:txBody>
      </p:sp>
      <p:sp>
        <p:nvSpPr>
          <p:cNvPr id="1200" name="Google Shape;1200;p27"/>
          <p:cNvSpPr/>
          <p:nvPr/>
        </p:nvSpPr>
        <p:spPr>
          <a:xfrm>
            <a:off x="10607993" y="2862263"/>
            <a:ext cx="6841807" cy="246888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7"/>
          <p:cNvSpPr/>
          <p:nvPr/>
        </p:nvSpPr>
        <p:spPr>
          <a:xfrm>
            <a:off x="10855643" y="3052763"/>
            <a:ext cx="698115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STEP 2 — SQUASH THE TOTAL INTO 0…1</a:t>
            </a:r>
            <a:endParaRPr b="0" i="0" sz="1800" u="none" cap="none" strike="noStrike">
              <a:solidFill>
                <a:schemeClr val="dk1"/>
              </a:solidFill>
              <a:latin typeface="Calibri"/>
              <a:ea typeface="Calibri"/>
              <a:cs typeface="Calibri"/>
              <a:sym typeface="Calibri"/>
            </a:endParaRPr>
          </a:p>
        </p:txBody>
      </p:sp>
      <p:sp>
        <p:nvSpPr>
          <p:cNvPr id="1202" name="Google Shape;1202;p27"/>
          <p:cNvSpPr/>
          <p:nvPr/>
        </p:nvSpPr>
        <p:spPr>
          <a:xfrm>
            <a:off x="10855643" y="3445193"/>
            <a:ext cx="1383030" cy="5791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3300"/>
              <a:buFont typeface="IBM Plex Mono"/>
              <a:buNone/>
            </a:pPr>
            <a:r>
              <a:rPr b="1" i="0" lang="en-US" sz="3300" u="none" cap="none" strike="noStrike">
                <a:solidFill>
                  <a:srgbClr val="1C2A44"/>
                </a:solidFill>
                <a:latin typeface="IBM Plex Mono"/>
                <a:ea typeface="IBM Plex Mono"/>
                <a:cs typeface="IBM Plex Mono"/>
                <a:sym typeface="IBM Plex Mono"/>
              </a:rPr>
              <a:t>+1.53</a:t>
            </a:r>
            <a:endParaRPr b="0" i="0" sz="3300" u="none" cap="none" strike="noStrike">
              <a:solidFill>
                <a:schemeClr val="dk1"/>
              </a:solidFill>
              <a:latin typeface="Calibri"/>
              <a:ea typeface="Calibri"/>
              <a:cs typeface="Calibri"/>
              <a:sym typeface="Calibri"/>
            </a:endParaRPr>
          </a:p>
        </p:txBody>
      </p:sp>
      <p:sp>
        <p:nvSpPr>
          <p:cNvPr id="1203" name="Google Shape;1203;p27"/>
          <p:cNvSpPr/>
          <p:nvPr/>
        </p:nvSpPr>
        <p:spPr>
          <a:xfrm>
            <a:off x="12322493" y="3445193"/>
            <a:ext cx="306705" cy="5791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3300"/>
              <a:buFont typeface="IBM Plex Mono"/>
              <a:buNone/>
            </a:pPr>
            <a:r>
              <a:rPr b="1" i="0" lang="en-US" sz="3300" u="none" cap="none" strike="noStrike">
                <a:solidFill>
                  <a:srgbClr val="E8A317"/>
                </a:solidFill>
                <a:latin typeface="IBM Plex Mono"/>
                <a:ea typeface="IBM Plex Mono"/>
                <a:cs typeface="IBM Plex Mono"/>
                <a:sym typeface="IBM Plex Mono"/>
              </a:rPr>
              <a:t>→</a:t>
            </a:r>
            <a:endParaRPr b="0" i="0" sz="3300" u="none" cap="none" strike="noStrike">
              <a:solidFill>
                <a:schemeClr val="dk1"/>
              </a:solidFill>
              <a:latin typeface="Calibri"/>
              <a:ea typeface="Calibri"/>
              <a:cs typeface="Calibri"/>
              <a:sym typeface="Calibri"/>
            </a:endParaRPr>
          </a:p>
        </p:txBody>
      </p:sp>
      <p:sp>
        <p:nvSpPr>
          <p:cNvPr id="1204" name="Google Shape;1204;p27"/>
          <p:cNvSpPr/>
          <p:nvPr/>
        </p:nvSpPr>
        <p:spPr>
          <a:xfrm>
            <a:off x="12762548" y="3445193"/>
            <a:ext cx="1082040" cy="5791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3300"/>
              <a:buFont typeface="IBM Plex Mono"/>
              <a:buNone/>
            </a:pPr>
            <a:r>
              <a:rPr b="1" i="0" lang="en-US" sz="3300" u="none" cap="none" strike="noStrike">
                <a:solidFill>
                  <a:srgbClr val="E8A317"/>
                </a:solidFill>
                <a:latin typeface="IBM Plex Mono"/>
                <a:ea typeface="IBM Plex Mono"/>
                <a:cs typeface="IBM Plex Mono"/>
                <a:sym typeface="IBM Plex Mono"/>
              </a:rPr>
              <a:t>0.82</a:t>
            </a:r>
            <a:endParaRPr b="0" i="0" sz="3300" u="none" cap="none" strike="noStrike">
              <a:solidFill>
                <a:schemeClr val="dk1"/>
              </a:solidFill>
              <a:latin typeface="Calibri"/>
              <a:ea typeface="Calibri"/>
              <a:cs typeface="Calibri"/>
              <a:sym typeface="Calibri"/>
            </a:endParaRPr>
          </a:p>
        </p:txBody>
      </p:sp>
      <p:sp>
        <p:nvSpPr>
          <p:cNvPr id="1205" name="Google Shape;1205;p27"/>
          <p:cNvSpPr/>
          <p:nvPr/>
        </p:nvSpPr>
        <p:spPr>
          <a:xfrm>
            <a:off x="10855643" y="4100513"/>
            <a:ext cx="6536903" cy="107823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A large positive total becomes a probability near 1, a large negative total near 0, and a total of zero becomes exactly 0.5.</a:t>
            </a:r>
            <a:endParaRPr b="0" i="0" sz="1950" u="none" cap="none" strike="noStrike">
              <a:solidFill>
                <a:schemeClr val="dk1"/>
              </a:solidFill>
              <a:latin typeface="Calibri"/>
              <a:ea typeface="Calibri"/>
              <a:cs typeface="Calibri"/>
              <a:sym typeface="Calibri"/>
            </a:endParaRPr>
          </a:p>
        </p:txBody>
      </p:sp>
      <p:sp>
        <p:nvSpPr>
          <p:cNvPr id="1206" name="Google Shape;1206;p27"/>
          <p:cNvSpPr/>
          <p:nvPr/>
        </p:nvSpPr>
        <p:spPr>
          <a:xfrm>
            <a:off x="10607993" y="5502593"/>
            <a:ext cx="6841807" cy="179451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7"/>
          <p:cNvSpPr/>
          <p:nvPr/>
        </p:nvSpPr>
        <p:spPr>
          <a:xfrm>
            <a:off x="10855643" y="5693093"/>
            <a:ext cx="698115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STEP 3 — DECIDE</a:t>
            </a:r>
            <a:endParaRPr b="0" i="0" sz="1800" u="none" cap="none" strike="noStrike">
              <a:solidFill>
                <a:schemeClr val="dk1"/>
              </a:solidFill>
              <a:latin typeface="Calibri"/>
              <a:ea typeface="Calibri"/>
              <a:cs typeface="Calibri"/>
              <a:sym typeface="Calibri"/>
            </a:endParaRPr>
          </a:p>
        </p:txBody>
      </p:sp>
      <p:sp>
        <p:nvSpPr>
          <p:cNvPr id="1208" name="Google Shape;1208;p27"/>
          <p:cNvSpPr/>
          <p:nvPr/>
        </p:nvSpPr>
        <p:spPr>
          <a:xfrm>
            <a:off x="10855643" y="6066473"/>
            <a:ext cx="6536903" cy="107823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0.82 is above our 0.5 threshold, so we call this window a promoter — and we remember that the model was only 82% confident.</a:t>
            </a:r>
            <a:endParaRPr b="0" i="0" sz="1950" u="none" cap="none" strike="noStrike">
              <a:solidFill>
                <a:schemeClr val="dk1"/>
              </a:solidFill>
              <a:latin typeface="Calibri"/>
              <a:ea typeface="Calibri"/>
              <a:cs typeface="Calibri"/>
              <a:sym typeface="Calibri"/>
            </a:endParaRPr>
          </a:p>
        </p:txBody>
      </p:sp>
      <p:sp>
        <p:nvSpPr>
          <p:cNvPr id="1209" name="Google Shape;1209;p27"/>
          <p:cNvSpPr/>
          <p:nvPr/>
        </p:nvSpPr>
        <p:spPr>
          <a:xfrm>
            <a:off x="10607993" y="7468553"/>
            <a:ext cx="6841807" cy="198120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7"/>
          <p:cNvSpPr/>
          <p:nvPr/>
        </p:nvSpPr>
        <p:spPr>
          <a:xfrm>
            <a:off x="10836593" y="7659053"/>
            <a:ext cx="6589862" cy="1638300"/>
          </a:xfrm>
          <a:prstGeom prst="rect">
            <a:avLst/>
          </a:prstGeom>
          <a:noFill/>
          <a:ln>
            <a:noFill/>
          </a:ln>
        </p:spPr>
        <p:txBody>
          <a:bodyPr anchorCtr="0" anchor="t" bIns="25400" lIns="25400" spcFirstLastPara="1" rIns="25400" wrap="square" tIns="25400">
            <a:normAutofit/>
          </a:bodyPr>
          <a:lstStyle/>
          <a:p>
            <a:pPr indent="0" lvl="0" marL="0" marR="0" rtl="0" algn="l">
              <a:lnSpc>
                <a:spcPct val="107692"/>
              </a:lnSpc>
              <a:spcBef>
                <a:spcPts val="0"/>
              </a:spcBef>
              <a:spcAft>
                <a:spcPts val="0"/>
              </a:spcAft>
              <a:buClr>
                <a:srgbClr val="FFFFFF"/>
              </a:buClr>
              <a:buSzPts val="1800"/>
              <a:buFont typeface="IBM Plex Mono"/>
              <a:buNone/>
            </a:pPr>
            <a:r>
              <a:rPr b="0" i="0" lang="en-US" sz="1800" u="none" cap="none" strike="noStrike">
                <a:solidFill>
                  <a:srgbClr val="FFFFFF"/>
                </a:solidFill>
                <a:highlight>
                  <a:srgbClr val="1C2A44"/>
                </a:highlight>
                <a:latin typeface="IBM Plex Mono"/>
                <a:ea typeface="IBM Plex Mono"/>
                <a:cs typeface="IBM Plex Mono"/>
                <a:sym typeface="IBM Plex Mono"/>
              </a:rPr>
              <a:t>from sklearn.linear_model import LogisticRegression clf = LogisticRegression(max_iter=1000) clf.fit(X_train, y_train) p = clf.predict_proba(X_test)[:, 1]</a:t>
            </a:r>
            <a:endParaRPr b="0" i="0" sz="1800" u="none" cap="none" strike="noStrike">
              <a:solidFill>
                <a:schemeClr val="dk1"/>
              </a:solidFill>
              <a:latin typeface="Calibri"/>
              <a:ea typeface="Calibri"/>
              <a:cs typeface="Calibri"/>
              <a:sym typeface="Calibri"/>
            </a:endParaRPr>
          </a:p>
        </p:txBody>
      </p:sp>
      <p:sp>
        <p:nvSpPr>
          <p:cNvPr id="1211" name="Google Shape;1211;p27"/>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7"/>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213" name="Google Shape;1213;p27"/>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214" name="Google Shape;1214;p27"/>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27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9" name="Shape 1219"/>
        <p:cNvGrpSpPr/>
        <p:nvPr/>
      </p:nvGrpSpPr>
      <p:grpSpPr>
        <a:xfrm>
          <a:off x="0" y="0"/>
          <a:ext cx="0" cy="0"/>
          <a:chOff x="0" y="0"/>
          <a:chExt cx="0" cy="0"/>
        </a:xfrm>
      </p:grpSpPr>
      <p:sp>
        <p:nvSpPr>
          <p:cNvPr id="1220" name="Google Shape;1220;p28"/>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8"/>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222" name="Google Shape;1222;p28"/>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223" name="Google Shape;1223;p28"/>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05 · BUILDING THE CLASSIFIER</a:t>
            </a:r>
            <a:endParaRPr b="0" i="0" sz="1800" u="none" cap="none" strike="noStrike">
              <a:solidFill>
                <a:schemeClr val="dk1"/>
              </a:solidFill>
              <a:latin typeface="Calibri"/>
              <a:ea typeface="Calibri"/>
              <a:cs typeface="Calibri"/>
              <a:sym typeface="Calibri"/>
            </a:endParaRPr>
          </a:p>
        </p:txBody>
      </p:sp>
      <p:sp>
        <p:nvSpPr>
          <p:cNvPr id="1224" name="Google Shape;1224;p28"/>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Three ways to use a big model</a:t>
            </a:r>
            <a:endParaRPr b="0" i="0" sz="4500" u="none" cap="none" strike="noStrike">
              <a:solidFill>
                <a:schemeClr val="dk1"/>
              </a:solidFill>
              <a:latin typeface="Calibri"/>
              <a:ea typeface="Calibri"/>
              <a:cs typeface="Calibri"/>
              <a:sym typeface="Calibri"/>
            </a:endParaRPr>
          </a:p>
        </p:txBody>
      </p:sp>
      <p:sp>
        <p:nvSpPr>
          <p:cNvPr id="1225" name="Google Shape;1225;p28"/>
          <p:cNvSpPr/>
          <p:nvPr/>
        </p:nvSpPr>
        <p:spPr>
          <a:xfrm>
            <a:off x="838200" y="2314575"/>
            <a:ext cx="15925800" cy="452438"/>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Ordered by cost. Today's hands-on session uses the middle row, and most projects should start there too.</a:t>
            </a:r>
            <a:endParaRPr b="0" i="0" sz="2250" u="none" cap="none" strike="noStrike">
              <a:solidFill>
                <a:schemeClr val="dk1"/>
              </a:solidFill>
              <a:latin typeface="Calibri"/>
              <a:ea typeface="Calibri"/>
              <a:cs typeface="Calibri"/>
              <a:sym typeface="Calibri"/>
            </a:endParaRPr>
          </a:p>
        </p:txBody>
      </p:sp>
      <p:sp>
        <p:nvSpPr>
          <p:cNvPr id="1226" name="Google Shape;1226;p28"/>
          <p:cNvSpPr/>
          <p:nvPr/>
        </p:nvSpPr>
        <p:spPr>
          <a:xfrm>
            <a:off x="838200" y="3426142"/>
            <a:ext cx="2930723"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8"/>
          <p:cNvSpPr/>
          <p:nvPr/>
        </p:nvSpPr>
        <p:spPr>
          <a:xfrm>
            <a:off x="838200" y="3033713"/>
            <a:ext cx="3018645"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APPROACH</a:t>
            </a:r>
            <a:endParaRPr b="0" i="0" sz="1800" u="none" cap="none" strike="noStrike">
              <a:solidFill>
                <a:schemeClr val="dk1"/>
              </a:solidFill>
              <a:latin typeface="Calibri"/>
              <a:ea typeface="Calibri"/>
              <a:cs typeface="Calibri"/>
              <a:sym typeface="Calibri"/>
            </a:endParaRPr>
          </a:p>
        </p:txBody>
      </p:sp>
      <p:sp>
        <p:nvSpPr>
          <p:cNvPr id="1228" name="Google Shape;1228;p28"/>
          <p:cNvSpPr/>
          <p:nvPr/>
        </p:nvSpPr>
        <p:spPr>
          <a:xfrm>
            <a:off x="4111823" y="3426142"/>
            <a:ext cx="3516868"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8"/>
          <p:cNvSpPr/>
          <p:nvPr/>
        </p:nvSpPr>
        <p:spPr>
          <a:xfrm>
            <a:off x="4111823" y="3033713"/>
            <a:ext cx="3622374"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WHAT YOU TRAIN</a:t>
            </a:r>
            <a:endParaRPr b="0" i="0" sz="1800" u="none" cap="none" strike="noStrike">
              <a:solidFill>
                <a:schemeClr val="dk1"/>
              </a:solidFill>
              <a:latin typeface="Calibri"/>
              <a:ea typeface="Calibri"/>
              <a:cs typeface="Calibri"/>
              <a:sym typeface="Calibri"/>
            </a:endParaRPr>
          </a:p>
        </p:txBody>
      </p:sp>
      <p:sp>
        <p:nvSpPr>
          <p:cNvPr id="1230" name="Google Shape;1230;p28"/>
          <p:cNvSpPr/>
          <p:nvPr/>
        </p:nvSpPr>
        <p:spPr>
          <a:xfrm>
            <a:off x="7971592" y="3426142"/>
            <a:ext cx="2344698"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8"/>
          <p:cNvSpPr/>
          <p:nvPr/>
        </p:nvSpPr>
        <p:spPr>
          <a:xfrm>
            <a:off x="7971592" y="3033713"/>
            <a:ext cx="242089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LABELS NEEDED</a:t>
            </a:r>
            <a:endParaRPr b="0" i="0" sz="1800" u="none" cap="none" strike="noStrike">
              <a:solidFill>
                <a:schemeClr val="dk1"/>
              </a:solidFill>
              <a:latin typeface="Calibri"/>
              <a:ea typeface="Calibri"/>
              <a:cs typeface="Calibri"/>
              <a:sym typeface="Calibri"/>
            </a:endParaRPr>
          </a:p>
        </p:txBody>
      </p:sp>
      <p:sp>
        <p:nvSpPr>
          <p:cNvPr id="1232" name="Google Shape;1232;p28"/>
          <p:cNvSpPr/>
          <p:nvPr/>
        </p:nvSpPr>
        <p:spPr>
          <a:xfrm>
            <a:off x="10659190" y="3426142"/>
            <a:ext cx="2051447"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8"/>
          <p:cNvSpPr/>
          <p:nvPr/>
        </p:nvSpPr>
        <p:spPr>
          <a:xfrm>
            <a:off x="10659190" y="3033713"/>
            <a:ext cx="212764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HARDWARE</a:t>
            </a:r>
            <a:endParaRPr b="0" i="0" sz="1800" u="none" cap="none" strike="noStrike">
              <a:solidFill>
                <a:schemeClr val="dk1"/>
              </a:solidFill>
              <a:latin typeface="Calibri"/>
              <a:ea typeface="Calibri"/>
              <a:cs typeface="Calibri"/>
              <a:sym typeface="Calibri"/>
            </a:endParaRPr>
          </a:p>
        </p:txBody>
      </p:sp>
      <p:sp>
        <p:nvSpPr>
          <p:cNvPr id="1234" name="Google Shape;1234;p28"/>
          <p:cNvSpPr/>
          <p:nvPr/>
        </p:nvSpPr>
        <p:spPr>
          <a:xfrm>
            <a:off x="13053537" y="3426142"/>
            <a:ext cx="4396264"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8"/>
          <p:cNvSpPr/>
          <p:nvPr/>
        </p:nvSpPr>
        <p:spPr>
          <a:xfrm>
            <a:off x="13053537" y="3033713"/>
            <a:ext cx="4528152"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WHEN TO REACH FOR IT</a:t>
            </a:r>
            <a:endParaRPr b="0" i="0" sz="1800" u="none" cap="none" strike="noStrike">
              <a:solidFill>
                <a:schemeClr val="dk1"/>
              </a:solidFill>
              <a:latin typeface="Calibri"/>
              <a:ea typeface="Calibri"/>
              <a:cs typeface="Calibri"/>
              <a:sym typeface="Calibri"/>
            </a:endParaRPr>
          </a:p>
        </p:txBody>
      </p:sp>
      <p:sp>
        <p:nvSpPr>
          <p:cNvPr id="1236" name="Google Shape;1236;p28"/>
          <p:cNvSpPr/>
          <p:nvPr/>
        </p:nvSpPr>
        <p:spPr>
          <a:xfrm>
            <a:off x="838200" y="4466273"/>
            <a:ext cx="2930723"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8"/>
          <p:cNvSpPr/>
          <p:nvPr/>
        </p:nvSpPr>
        <p:spPr>
          <a:xfrm>
            <a:off x="838200" y="3593783"/>
            <a:ext cx="3018645"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Zero-shot</a:t>
            </a:r>
            <a:endParaRPr b="0" i="0" sz="2550" u="none" cap="none" strike="noStrike">
              <a:solidFill>
                <a:schemeClr val="dk1"/>
              </a:solidFill>
              <a:latin typeface="Calibri"/>
              <a:ea typeface="Calibri"/>
              <a:cs typeface="Calibri"/>
              <a:sym typeface="Calibri"/>
            </a:endParaRPr>
          </a:p>
        </p:txBody>
      </p:sp>
      <p:sp>
        <p:nvSpPr>
          <p:cNvPr id="1238" name="Google Shape;1238;p28"/>
          <p:cNvSpPr/>
          <p:nvPr/>
        </p:nvSpPr>
        <p:spPr>
          <a:xfrm>
            <a:off x="4111823" y="4466273"/>
            <a:ext cx="3516868"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8"/>
          <p:cNvSpPr/>
          <p:nvPr/>
        </p:nvSpPr>
        <p:spPr>
          <a:xfrm>
            <a:off x="4111823" y="3593783"/>
            <a:ext cx="3622374"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nothing at all</a:t>
            </a:r>
            <a:endParaRPr b="0" i="0" sz="2025" u="none" cap="none" strike="noStrike">
              <a:solidFill>
                <a:schemeClr val="dk1"/>
              </a:solidFill>
              <a:latin typeface="Calibri"/>
              <a:ea typeface="Calibri"/>
              <a:cs typeface="Calibri"/>
              <a:sym typeface="Calibri"/>
            </a:endParaRPr>
          </a:p>
        </p:txBody>
      </p:sp>
      <p:sp>
        <p:nvSpPr>
          <p:cNvPr id="1240" name="Google Shape;1240;p28"/>
          <p:cNvSpPr/>
          <p:nvPr/>
        </p:nvSpPr>
        <p:spPr>
          <a:xfrm>
            <a:off x="7971592" y="4466273"/>
            <a:ext cx="2344698"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8"/>
          <p:cNvSpPr/>
          <p:nvPr/>
        </p:nvSpPr>
        <p:spPr>
          <a:xfrm>
            <a:off x="7971592" y="3593783"/>
            <a:ext cx="2420898"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none</a:t>
            </a:r>
            <a:endParaRPr b="0" i="0" sz="2025" u="none" cap="none" strike="noStrike">
              <a:solidFill>
                <a:schemeClr val="dk1"/>
              </a:solidFill>
              <a:latin typeface="Calibri"/>
              <a:ea typeface="Calibri"/>
              <a:cs typeface="Calibri"/>
              <a:sym typeface="Calibri"/>
            </a:endParaRPr>
          </a:p>
        </p:txBody>
      </p:sp>
      <p:sp>
        <p:nvSpPr>
          <p:cNvPr id="1242" name="Google Shape;1242;p28"/>
          <p:cNvSpPr/>
          <p:nvPr/>
        </p:nvSpPr>
        <p:spPr>
          <a:xfrm>
            <a:off x="10659190" y="4466273"/>
            <a:ext cx="2051447"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8"/>
          <p:cNvSpPr/>
          <p:nvPr/>
        </p:nvSpPr>
        <p:spPr>
          <a:xfrm>
            <a:off x="10659190" y="3593783"/>
            <a:ext cx="2127647"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a laptop</a:t>
            </a:r>
            <a:endParaRPr b="0" i="0" sz="2025" u="none" cap="none" strike="noStrike">
              <a:solidFill>
                <a:schemeClr val="dk1"/>
              </a:solidFill>
              <a:latin typeface="Calibri"/>
              <a:ea typeface="Calibri"/>
              <a:cs typeface="Calibri"/>
              <a:sym typeface="Calibri"/>
            </a:endParaRPr>
          </a:p>
        </p:txBody>
      </p:sp>
      <p:sp>
        <p:nvSpPr>
          <p:cNvPr id="1244" name="Google Shape;1244;p28"/>
          <p:cNvSpPr/>
          <p:nvPr/>
        </p:nvSpPr>
        <p:spPr>
          <a:xfrm>
            <a:off x="13053537" y="4466273"/>
            <a:ext cx="4396264"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8"/>
          <p:cNvSpPr/>
          <p:nvPr/>
        </p:nvSpPr>
        <p:spPr>
          <a:xfrm>
            <a:off x="13053537" y="3593783"/>
            <a:ext cx="4528152" cy="758190"/>
          </a:xfrm>
          <a:prstGeom prst="rect">
            <a:avLst/>
          </a:prstGeom>
          <a:noFill/>
          <a:ln>
            <a:noFill/>
          </a:ln>
        </p:spPr>
        <p:txBody>
          <a:bodyPr anchorCtr="0" anchor="t" bIns="25400" lIns="25400" spcFirstLastPara="1" rIns="25400" wrap="square" tIns="25400">
            <a:normAutofit/>
          </a:bodyPr>
          <a:lstStyle/>
          <a:p>
            <a:pPr indent="0" lvl="0" marL="0" marR="0" rtl="0" algn="l">
              <a:lnSpc>
                <a:spcPct val="121154"/>
              </a:lnSpc>
              <a:spcBef>
                <a:spcPts val="0"/>
              </a:spcBef>
              <a:spcAft>
                <a:spcPts val="0"/>
              </a:spcAft>
              <a:buClr>
                <a:srgbClr val="53627A"/>
              </a:buClr>
              <a:buSzPts val="2025"/>
              <a:buFont typeface="Helvetica Neue"/>
              <a:buNone/>
            </a:pPr>
            <a:r>
              <a:rPr b="0" i="0" lang="en-US" sz="2025" u="none" cap="none" strike="noStrike">
                <a:solidFill>
                  <a:srgbClr val="53627A"/>
                </a:solidFill>
                <a:latin typeface="Helvetica Neue"/>
                <a:ea typeface="Helvetica Neue"/>
                <a:cs typeface="Helvetica Neue"/>
                <a:sym typeface="Helvetica Neue"/>
              </a:rPr>
              <a:t>Ranking or scoring when you have no labelled data at all</a:t>
            </a:r>
            <a:endParaRPr b="0" i="0" sz="2025" u="none" cap="none" strike="noStrike">
              <a:solidFill>
                <a:schemeClr val="dk1"/>
              </a:solidFill>
              <a:latin typeface="Calibri"/>
              <a:ea typeface="Calibri"/>
              <a:cs typeface="Calibri"/>
              <a:sym typeface="Calibri"/>
            </a:endParaRPr>
          </a:p>
        </p:txBody>
      </p:sp>
      <p:sp>
        <p:nvSpPr>
          <p:cNvPr id="1246" name="Google Shape;1246;p28"/>
          <p:cNvSpPr/>
          <p:nvPr/>
        </p:nvSpPr>
        <p:spPr>
          <a:xfrm>
            <a:off x="838200" y="5858828"/>
            <a:ext cx="2930723"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8"/>
          <p:cNvSpPr/>
          <p:nvPr/>
        </p:nvSpPr>
        <p:spPr>
          <a:xfrm>
            <a:off x="838200" y="4626293"/>
            <a:ext cx="3223796" cy="4038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Linear probing</a:t>
            </a:r>
            <a:endParaRPr b="0" i="0" sz="2550" u="none" cap="none" strike="noStrike">
              <a:solidFill>
                <a:schemeClr val="dk1"/>
              </a:solidFill>
              <a:latin typeface="Calibri"/>
              <a:ea typeface="Calibri"/>
              <a:cs typeface="Calibri"/>
              <a:sym typeface="Calibri"/>
            </a:endParaRPr>
          </a:p>
        </p:txBody>
      </p:sp>
      <p:sp>
        <p:nvSpPr>
          <p:cNvPr id="1248" name="Google Shape;1248;p28"/>
          <p:cNvSpPr/>
          <p:nvPr/>
        </p:nvSpPr>
        <p:spPr>
          <a:xfrm>
            <a:off x="838200" y="5022532"/>
            <a:ext cx="2840188" cy="2895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TODAY'S HANDS-ON</a:t>
            </a:r>
            <a:endParaRPr b="0" i="0" sz="1800" u="none" cap="none" strike="noStrike">
              <a:solidFill>
                <a:schemeClr val="dk1"/>
              </a:solidFill>
              <a:latin typeface="Calibri"/>
              <a:ea typeface="Calibri"/>
              <a:cs typeface="Calibri"/>
              <a:sym typeface="Calibri"/>
            </a:endParaRPr>
          </a:p>
        </p:txBody>
      </p:sp>
      <p:sp>
        <p:nvSpPr>
          <p:cNvPr id="1249" name="Google Shape;1249;p28"/>
          <p:cNvSpPr/>
          <p:nvPr/>
        </p:nvSpPr>
        <p:spPr>
          <a:xfrm>
            <a:off x="4111823" y="5858828"/>
            <a:ext cx="3516868"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8"/>
          <p:cNvSpPr/>
          <p:nvPr/>
        </p:nvSpPr>
        <p:spPr>
          <a:xfrm>
            <a:off x="4111823" y="4626293"/>
            <a:ext cx="3622374" cy="111823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one small classifier on frozen embeddings</a:t>
            </a:r>
            <a:endParaRPr b="0" i="0" sz="2025" u="none" cap="none" strike="noStrike">
              <a:solidFill>
                <a:schemeClr val="dk1"/>
              </a:solidFill>
              <a:latin typeface="Calibri"/>
              <a:ea typeface="Calibri"/>
              <a:cs typeface="Calibri"/>
              <a:sym typeface="Calibri"/>
            </a:endParaRPr>
          </a:p>
        </p:txBody>
      </p:sp>
      <p:sp>
        <p:nvSpPr>
          <p:cNvPr id="1251" name="Google Shape;1251;p28"/>
          <p:cNvSpPr/>
          <p:nvPr/>
        </p:nvSpPr>
        <p:spPr>
          <a:xfrm>
            <a:off x="7971592" y="5858828"/>
            <a:ext cx="2344698"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8"/>
          <p:cNvSpPr/>
          <p:nvPr/>
        </p:nvSpPr>
        <p:spPr>
          <a:xfrm>
            <a:off x="7971592" y="4626293"/>
            <a:ext cx="2420898" cy="111823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a few hundred</a:t>
            </a:r>
            <a:endParaRPr b="0" i="0" sz="2025" u="none" cap="none" strike="noStrike">
              <a:solidFill>
                <a:schemeClr val="dk1"/>
              </a:solidFill>
              <a:latin typeface="Calibri"/>
              <a:ea typeface="Calibri"/>
              <a:cs typeface="Calibri"/>
              <a:sym typeface="Calibri"/>
            </a:endParaRPr>
          </a:p>
        </p:txBody>
      </p:sp>
      <p:sp>
        <p:nvSpPr>
          <p:cNvPr id="1253" name="Google Shape;1253;p28"/>
          <p:cNvSpPr/>
          <p:nvPr/>
        </p:nvSpPr>
        <p:spPr>
          <a:xfrm>
            <a:off x="10659190" y="5858828"/>
            <a:ext cx="2051447"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8"/>
          <p:cNvSpPr/>
          <p:nvPr/>
        </p:nvSpPr>
        <p:spPr>
          <a:xfrm>
            <a:off x="10659190" y="4626293"/>
            <a:ext cx="2127647" cy="111823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a laptop</a:t>
            </a:r>
            <a:endParaRPr b="0" i="0" sz="2025" u="none" cap="none" strike="noStrike">
              <a:solidFill>
                <a:schemeClr val="dk1"/>
              </a:solidFill>
              <a:latin typeface="Calibri"/>
              <a:ea typeface="Calibri"/>
              <a:cs typeface="Calibri"/>
              <a:sym typeface="Calibri"/>
            </a:endParaRPr>
          </a:p>
        </p:txBody>
      </p:sp>
      <p:sp>
        <p:nvSpPr>
          <p:cNvPr id="1255" name="Google Shape;1255;p28"/>
          <p:cNvSpPr/>
          <p:nvPr/>
        </p:nvSpPr>
        <p:spPr>
          <a:xfrm>
            <a:off x="13053537" y="5858828"/>
            <a:ext cx="4396264"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8"/>
          <p:cNvSpPr/>
          <p:nvPr/>
        </p:nvSpPr>
        <p:spPr>
          <a:xfrm>
            <a:off x="13053537" y="4626293"/>
            <a:ext cx="4528152" cy="1118235"/>
          </a:xfrm>
          <a:prstGeom prst="rect">
            <a:avLst/>
          </a:prstGeom>
          <a:noFill/>
          <a:ln>
            <a:noFill/>
          </a:ln>
        </p:spPr>
        <p:txBody>
          <a:bodyPr anchorCtr="0" anchor="t" bIns="25400" lIns="25400" spcFirstLastPara="1" rIns="25400" wrap="square" tIns="25400">
            <a:normAutofit/>
          </a:bodyPr>
          <a:lstStyle/>
          <a:p>
            <a:pPr indent="0" lvl="0" marL="0" marR="0" rtl="0" algn="l">
              <a:lnSpc>
                <a:spcPct val="121154"/>
              </a:lnSpc>
              <a:spcBef>
                <a:spcPts val="0"/>
              </a:spcBef>
              <a:spcAft>
                <a:spcPts val="0"/>
              </a:spcAft>
              <a:buClr>
                <a:srgbClr val="53627A"/>
              </a:buClr>
              <a:buSzPts val="2025"/>
              <a:buFont typeface="Helvetica Neue"/>
              <a:buNone/>
            </a:pPr>
            <a:r>
              <a:rPr b="0" i="0" lang="en-US" sz="2025" u="none" cap="none" strike="noStrike">
                <a:solidFill>
                  <a:srgbClr val="53627A"/>
                </a:solidFill>
                <a:latin typeface="Helvetica Neue"/>
                <a:ea typeface="Helvetica Neue"/>
                <a:cs typeface="Helvetica Neue"/>
                <a:sym typeface="Helvetica Neue"/>
              </a:rPr>
              <a:t>Testing what the representation already contains — fast, and hard to get wrong</a:t>
            </a:r>
            <a:endParaRPr b="0" i="0" sz="2025" u="none" cap="none" strike="noStrike">
              <a:solidFill>
                <a:schemeClr val="dk1"/>
              </a:solidFill>
              <a:latin typeface="Calibri"/>
              <a:ea typeface="Calibri"/>
              <a:cs typeface="Calibri"/>
              <a:sym typeface="Calibri"/>
            </a:endParaRPr>
          </a:p>
        </p:txBody>
      </p:sp>
      <p:sp>
        <p:nvSpPr>
          <p:cNvPr id="1257" name="Google Shape;1257;p28"/>
          <p:cNvSpPr/>
          <p:nvPr/>
        </p:nvSpPr>
        <p:spPr>
          <a:xfrm>
            <a:off x="838200" y="6018848"/>
            <a:ext cx="3018645"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550"/>
              <a:buFont typeface="Helvetica Neue"/>
              <a:buNone/>
            </a:pPr>
            <a:r>
              <a:rPr b="1" i="0" lang="en-US" sz="2550" u="none" cap="none" strike="noStrike">
                <a:solidFill>
                  <a:srgbClr val="1C2A44"/>
                </a:solidFill>
                <a:latin typeface="Helvetica Neue"/>
                <a:ea typeface="Helvetica Neue"/>
                <a:cs typeface="Helvetica Neue"/>
                <a:sym typeface="Helvetica Neue"/>
              </a:rPr>
              <a:t>Fine-tuning</a:t>
            </a:r>
            <a:endParaRPr b="0" i="0" sz="2550" u="none" cap="none" strike="noStrike">
              <a:solidFill>
                <a:schemeClr val="dk1"/>
              </a:solidFill>
              <a:latin typeface="Calibri"/>
              <a:ea typeface="Calibri"/>
              <a:cs typeface="Calibri"/>
              <a:sym typeface="Calibri"/>
            </a:endParaRPr>
          </a:p>
        </p:txBody>
      </p:sp>
      <p:sp>
        <p:nvSpPr>
          <p:cNvPr id="1258" name="Google Shape;1258;p28"/>
          <p:cNvSpPr/>
          <p:nvPr/>
        </p:nvSpPr>
        <p:spPr>
          <a:xfrm>
            <a:off x="4111823" y="6018848"/>
            <a:ext cx="3622374"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the encoder as well</a:t>
            </a:r>
            <a:endParaRPr b="0" i="0" sz="2025" u="none" cap="none" strike="noStrike">
              <a:solidFill>
                <a:schemeClr val="dk1"/>
              </a:solidFill>
              <a:latin typeface="Calibri"/>
              <a:ea typeface="Calibri"/>
              <a:cs typeface="Calibri"/>
              <a:sym typeface="Calibri"/>
            </a:endParaRPr>
          </a:p>
        </p:txBody>
      </p:sp>
      <p:sp>
        <p:nvSpPr>
          <p:cNvPr id="1259" name="Google Shape;1259;p28"/>
          <p:cNvSpPr/>
          <p:nvPr/>
        </p:nvSpPr>
        <p:spPr>
          <a:xfrm>
            <a:off x="7971592" y="6018848"/>
            <a:ext cx="2420898"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thousands</a:t>
            </a:r>
            <a:endParaRPr b="0" i="0" sz="2025" u="none" cap="none" strike="noStrike">
              <a:solidFill>
                <a:schemeClr val="dk1"/>
              </a:solidFill>
              <a:latin typeface="Calibri"/>
              <a:ea typeface="Calibri"/>
              <a:cs typeface="Calibri"/>
              <a:sym typeface="Calibri"/>
            </a:endParaRPr>
          </a:p>
        </p:txBody>
      </p:sp>
      <p:sp>
        <p:nvSpPr>
          <p:cNvPr id="1260" name="Google Shape;1260;p28"/>
          <p:cNvSpPr/>
          <p:nvPr/>
        </p:nvSpPr>
        <p:spPr>
          <a:xfrm>
            <a:off x="10659190" y="6018848"/>
            <a:ext cx="2127647" cy="75819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a GPU</a:t>
            </a:r>
            <a:endParaRPr b="0" i="0" sz="2025" u="none" cap="none" strike="noStrike">
              <a:solidFill>
                <a:schemeClr val="dk1"/>
              </a:solidFill>
              <a:latin typeface="Calibri"/>
              <a:ea typeface="Calibri"/>
              <a:cs typeface="Calibri"/>
              <a:sym typeface="Calibri"/>
            </a:endParaRPr>
          </a:p>
        </p:txBody>
      </p:sp>
      <p:sp>
        <p:nvSpPr>
          <p:cNvPr id="1261" name="Google Shape;1261;p28"/>
          <p:cNvSpPr/>
          <p:nvPr/>
        </p:nvSpPr>
        <p:spPr>
          <a:xfrm>
            <a:off x="13053537" y="6018848"/>
            <a:ext cx="4528152" cy="758190"/>
          </a:xfrm>
          <a:prstGeom prst="rect">
            <a:avLst/>
          </a:prstGeom>
          <a:noFill/>
          <a:ln>
            <a:noFill/>
          </a:ln>
        </p:spPr>
        <p:txBody>
          <a:bodyPr anchorCtr="0" anchor="t" bIns="25400" lIns="25400" spcFirstLastPara="1" rIns="25400" wrap="square" tIns="25400">
            <a:normAutofit/>
          </a:bodyPr>
          <a:lstStyle/>
          <a:p>
            <a:pPr indent="0" lvl="0" marL="0" marR="0" rtl="0" algn="l">
              <a:lnSpc>
                <a:spcPct val="121154"/>
              </a:lnSpc>
              <a:spcBef>
                <a:spcPts val="0"/>
              </a:spcBef>
              <a:spcAft>
                <a:spcPts val="0"/>
              </a:spcAft>
              <a:buClr>
                <a:srgbClr val="53627A"/>
              </a:buClr>
              <a:buSzPts val="2025"/>
              <a:buFont typeface="Helvetica Neue"/>
              <a:buNone/>
            </a:pPr>
            <a:r>
              <a:rPr b="0" i="0" lang="en-US" sz="2025" u="none" cap="none" strike="noStrike">
                <a:solidFill>
                  <a:srgbClr val="53627A"/>
                </a:solidFill>
                <a:latin typeface="Helvetica Neue"/>
                <a:ea typeface="Helvetica Neue"/>
                <a:cs typeface="Helvetica Neue"/>
                <a:sym typeface="Helvetica Neue"/>
              </a:rPr>
              <a:t>When probing has clearly hit a ceiling and you have data to spare</a:t>
            </a:r>
            <a:endParaRPr b="0" i="0" sz="2025" u="none" cap="none" strike="noStrike">
              <a:solidFill>
                <a:schemeClr val="dk1"/>
              </a:solidFill>
              <a:latin typeface="Calibri"/>
              <a:ea typeface="Calibri"/>
              <a:cs typeface="Calibri"/>
              <a:sym typeface="Calibri"/>
            </a:endParaRPr>
          </a:p>
        </p:txBody>
      </p:sp>
      <p:sp>
        <p:nvSpPr>
          <p:cNvPr id="1262" name="Google Shape;1262;p28"/>
          <p:cNvSpPr/>
          <p:nvPr/>
        </p:nvSpPr>
        <p:spPr>
          <a:xfrm>
            <a:off x="838200" y="7189470"/>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8"/>
          <p:cNvSpPr/>
          <p:nvPr/>
        </p:nvSpPr>
        <p:spPr>
          <a:xfrm>
            <a:off x="838200" y="7452360"/>
            <a:ext cx="10365653"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WHY WE PROBE RATHER THAN FINE-TUNE</a:t>
            </a:r>
            <a:endParaRPr b="0" i="0" sz="1800" u="none" cap="none" strike="noStrike">
              <a:solidFill>
                <a:schemeClr val="dk1"/>
              </a:solidFill>
              <a:latin typeface="Calibri"/>
              <a:ea typeface="Calibri"/>
              <a:cs typeface="Calibri"/>
              <a:sym typeface="Calibri"/>
            </a:endParaRPr>
          </a:p>
        </p:txBody>
      </p:sp>
      <p:sp>
        <p:nvSpPr>
          <p:cNvPr id="1264" name="Google Shape;1264;p28"/>
          <p:cNvSpPr/>
          <p:nvPr/>
        </p:nvSpPr>
        <p:spPr>
          <a:xfrm>
            <a:off x="838200" y="7806690"/>
            <a:ext cx="9706020" cy="158496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"Frozen" means we do not change the encoder's weights, so only a handful of numbers are learned. There is very little to overfit, and the result is easy to interpret: whatever the classifier achieves was already present in the embedding.</a:t>
            </a:r>
            <a:endParaRPr b="0" i="0" sz="2100" u="none" cap="none" strike="noStrike">
              <a:solidFill>
                <a:schemeClr val="dk1"/>
              </a:solidFill>
              <a:latin typeface="Calibri"/>
              <a:ea typeface="Calibri"/>
              <a:cs typeface="Calibri"/>
              <a:sym typeface="Calibri"/>
            </a:endParaRPr>
          </a:p>
        </p:txBody>
      </p:sp>
      <p:sp>
        <p:nvSpPr>
          <p:cNvPr id="1265" name="Google Shape;1265;p28"/>
          <p:cNvSpPr/>
          <p:nvPr/>
        </p:nvSpPr>
        <p:spPr>
          <a:xfrm>
            <a:off x="10718721" y="7452360"/>
            <a:ext cx="740405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A USEFUL HABIT</a:t>
            </a:r>
            <a:endParaRPr b="0" i="0" sz="1800" u="none" cap="none" strike="noStrike">
              <a:solidFill>
                <a:schemeClr val="dk1"/>
              </a:solidFill>
              <a:latin typeface="Calibri"/>
              <a:ea typeface="Calibri"/>
              <a:cs typeface="Calibri"/>
              <a:sym typeface="Calibri"/>
            </a:endParaRPr>
          </a:p>
        </p:txBody>
      </p:sp>
      <p:sp>
        <p:nvSpPr>
          <p:cNvPr id="1266" name="Google Shape;1266;p28"/>
          <p:cNvSpPr/>
          <p:nvPr/>
        </p:nvSpPr>
        <p:spPr>
          <a:xfrm>
            <a:off x="10718721" y="7806690"/>
            <a:ext cx="6932889"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Always run the cheap baseline first — k-mer counts plus logistic regression. If the pretrained embedding cannot beat it, the extra machinery is not earning its keep.</a:t>
            </a:r>
            <a:endParaRPr b="0" i="0" sz="2100" u="none" cap="none" strike="noStrike">
              <a:solidFill>
                <a:schemeClr val="dk1"/>
              </a:solidFill>
              <a:latin typeface="Calibri"/>
              <a:ea typeface="Calibri"/>
              <a:cs typeface="Calibri"/>
              <a:sym typeface="Calibri"/>
            </a:endParaRPr>
          </a:p>
        </p:txBody>
      </p:sp>
      <p:sp>
        <p:nvSpPr>
          <p:cNvPr id="1267" name="Google Shape;1267;p28"/>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8"/>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269" name="Google Shape;1269;p28"/>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270" name="Google Shape;1270;p28"/>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28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5" name="Shape 1275"/>
        <p:cNvGrpSpPr/>
        <p:nvPr/>
      </p:nvGrpSpPr>
      <p:grpSpPr>
        <a:xfrm>
          <a:off x="0" y="0"/>
          <a:ext cx="0" cy="0"/>
          <a:chOff x="0" y="0"/>
          <a:chExt cx="0" cy="0"/>
        </a:xfrm>
      </p:grpSpPr>
      <p:sp>
        <p:nvSpPr>
          <p:cNvPr id="1276" name="Google Shape;1276;p29"/>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9"/>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278" name="Google Shape;1278;p29"/>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279" name="Google Shape;1279;p29"/>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05 · BUILDING THE CLASSIFIER · HANDS-ON</a:t>
            </a:r>
            <a:endParaRPr b="0" i="0" sz="1800" u="none" cap="none" strike="noStrike">
              <a:solidFill>
                <a:schemeClr val="dk1"/>
              </a:solidFill>
              <a:latin typeface="Calibri"/>
              <a:ea typeface="Calibri"/>
              <a:cs typeface="Calibri"/>
              <a:sym typeface="Calibri"/>
            </a:endParaRPr>
          </a:p>
        </p:txBody>
      </p:sp>
      <p:sp>
        <p:nvSpPr>
          <p:cNvPr id="1280" name="Google Shape;1280;p29"/>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The notebook, step by step</a:t>
            </a:r>
            <a:endParaRPr b="0" i="0" sz="4500" u="none" cap="none" strike="noStrike">
              <a:solidFill>
                <a:schemeClr val="dk1"/>
              </a:solidFill>
              <a:latin typeface="Calibri"/>
              <a:ea typeface="Calibri"/>
              <a:cs typeface="Calibri"/>
              <a:sym typeface="Calibri"/>
            </a:endParaRPr>
          </a:p>
        </p:txBody>
      </p:sp>
      <p:sp>
        <p:nvSpPr>
          <p:cNvPr id="1281" name="Google Shape;1281;p29"/>
          <p:cNvSpPr/>
          <p:nvPr/>
        </p:nvSpPr>
        <p:spPr>
          <a:xfrm>
            <a:off x="838200" y="2447925"/>
            <a:ext cx="3967163" cy="441960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9"/>
          <p:cNvSpPr/>
          <p:nvPr/>
        </p:nvSpPr>
        <p:spPr>
          <a:xfrm>
            <a:off x="1123950" y="2714625"/>
            <a:ext cx="3735229"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01</a:t>
            </a:r>
            <a:endParaRPr b="0" i="0" sz="2100" u="none" cap="none" strike="noStrike">
              <a:solidFill>
                <a:schemeClr val="dk1"/>
              </a:solidFill>
              <a:latin typeface="Calibri"/>
              <a:ea typeface="Calibri"/>
              <a:cs typeface="Calibri"/>
              <a:sym typeface="Calibri"/>
            </a:endParaRPr>
          </a:p>
        </p:txBody>
      </p:sp>
      <p:sp>
        <p:nvSpPr>
          <p:cNvPr id="1283" name="Google Shape;1283;p29"/>
          <p:cNvSpPr/>
          <p:nvPr/>
        </p:nvSpPr>
        <p:spPr>
          <a:xfrm>
            <a:off x="1123950" y="3160395"/>
            <a:ext cx="3735229" cy="403860"/>
          </a:xfrm>
          <a:prstGeom prst="rect">
            <a:avLst/>
          </a:prstGeom>
          <a:noFill/>
          <a:ln>
            <a:noFill/>
          </a:ln>
        </p:spPr>
        <p:txBody>
          <a:bodyPr anchorCtr="0" anchor="t" bIns="25400" lIns="25400" spcFirstLastPara="1" rIns="25400" wrap="square" tIns="25400">
            <a:normAutofit/>
          </a:bodyPr>
          <a:lstStyle/>
          <a:p>
            <a:pPr indent="0" lvl="0" marL="0" marR="0" rtl="0" algn="l">
              <a:lnSpc>
                <a:spcPct val="106667"/>
              </a:lnSpc>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Load the windows</a:t>
            </a:r>
            <a:endParaRPr b="0" i="0" sz="2400" u="none" cap="none" strike="noStrike">
              <a:solidFill>
                <a:schemeClr val="dk1"/>
              </a:solidFill>
              <a:latin typeface="Calibri"/>
              <a:ea typeface="Calibri"/>
              <a:cs typeface="Calibri"/>
              <a:sym typeface="Calibri"/>
            </a:endParaRPr>
          </a:p>
        </p:txBody>
      </p:sp>
      <p:sp>
        <p:nvSpPr>
          <p:cNvPr id="1284" name="Google Shape;1284;p29"/>
          <p:cNvSpPr/>
          <p:nvPr/>
        </p:nvSpPr>
        <p:spPr>
          <a:xfrm>
            <a:off x="1123950" y="3640455"/>
            <a:ext cx="3497532" cy="1474470"/>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A few thousand labelled 300-base windows, already split by chromosome. Check the class balance before anything else.</a:t>
            </a:r>
            <a:endParaRPr b="0" i="0" sz="1950" u="none" cap="none" strike="noStrike">
              <a:solidFill>
                <a:schemeClr val="dk1"/>
              </a:solidFill>
              <a:latin typeface="Calibri"/>
              <a:ea typeface="Calibri"/>
              <a:cs typeface="Calibri"/>
              <a:sym typeface="Calibri"/>
            </a:endParaRPr>
          </a:p>
        </p:txBody>
      </p:sp>
      <p:sp>
        <p:nvSpPr>
          <p:cNvPr id="1285" name="Google Shape;1285;p29"/>
          <p:cNvSpPr/>
          <p:nvPr/>
        </p:nvSpPr>
        <p:spPr>
          <a:xfrm>
            <a:off x="1123950" y="5739765"/>
            <a:ext cx="3395663" cy="86106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9"/>
          <p:cNvSpPr/>
          <p:nvPr/>
        </p:nvSpPr>
        <p:spPr>
          <a:xfrm>
            <a:off x="1276350" y="5873115"/>
            <a:ext cx="3192732" cy="6324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df.label.value_counts()</a:t>
            </a:r>
            <a:endParaRPr b="0" i="0" sz="1800" u="none" cap="none" strike="noStrike">
              <a:solidFill>
                <a:schemeClr val="dk1"/>
              </a:solidFill>
              <a:latin typeface="Calibri"/>
              <a:ea typeface="Calibri"/>
              <a:cs typeface="Calibri"/>
              <a:sym typeface="Calibri"/>
            </a:endParaRPr>
          </a:p>
        </p:txBody>
      </p:sp>
      <p:sp>
        <p:nvSpPr>
          <p:cNvPr id="1287" name="Google Shape;1287;p29"/>
          <p:cNvSpPr/>
          <p:nvPr/>
        </p:nvSpPr>
        <p:spPr>
          <a:xfrm>
            <a:off x="5053013" y="2447925"/>
            <a:ext cx="3967163" cy="441960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9"/>
          <p:cNvSpPr/>
          <p:nvPr/>
        </p:nvSpPr>
        <p:spPr>
          <a:xfrm>
            <a:off x="5338763" y="2714625"/>
            <a:ext cx="3735229"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02</a:t>
            </a:r>
            <a:endParaRPr b="0" i="0" sz="2100" u="none" cap="none" strike="noStrike">
              <a:solidFill>
                <a:schemeClr val="dk1"/>
              </a:solidFill>
              <a:latin typeface="Calibri"/>
              <a:ea typeface="Calibri"/>
              <a:cs typeface="Calibri"/>
              <a:sym typeface="Calibri"/>
            </a:endParaRPr>
          </a:p>
        </p:txBody>
      </p:sp>
      <p:sp>
        <p:nvSpPr>
          <p:cNvPr id="1289" name="Google Shape;1289;p29"/>
          <p:cNvSpPr/>
          <p:nvPr/>
        </p:nvSpPr>
        <p:spPr>
          <a:xfrm>
            <a:off x="5338763" y="3160395"/>
            <a:ext cx="3497532" cy="769620"/>
          </a:xfrm>
          <a:prstGeom prst="rect">
            <a:avLst/>
          </a:prstGeom>
          <a:noFill/>
          <a:ln>
            <a:noFill/>
          </a:ln>
        </p:spPr>
        <p:txBody>
          <a:bodyPr anchorCtr="0" anchor="t" bIns="25400" lIns="25400" spcFirstLastPara="1" rIns="25400" wrap="square" tIns="25400">
            <a:normAutofit/>
          </a:bodyPr>
          <a:lstStyle/>
          <a:p>
            <a:pPr indent="0" lvl="0" marL="0" marR="0" rtl="0" algn="l">
              <a:lnSpc>
                <a:spcPct val="106667"/>
              </a:lnSpc>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Build the k-mer baseline</a:t>
            </a:r>
            <a:endParaRPr b="0" i="0" sz="2400" u="none" cap="none" strike="noStrike">
              <a:solidFill>
                <a:schemeClr val="dk1"/>
              </a:solidFill>
              <a:latin typeface="Calibri"/>
              <a:ea typeface="Calibri"/>
              <a:cs typeface="Calibri"/>
              <a:sym typeface="Calibri"/>
            </a:endParaRPr>
          </a:p>
        </p:txBody>
      </p:sp>
      <p:sp>
        <p:nvSpPr>
          <p:cNvPr id="1290" name="Google Shape;1290;p29"/>
          <p:cNvSpPr/>
          <p:nvPr/>
        </p:nvSpPr>
        <p:spPr>
          <a:xfrm>
            <a:off x="5338763" y="4006215"/>
            <a:ext cx="3497532" cy="1474470"/>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Count 4-mers, fit logistic regression, write the score on the board. Everything later has to beat this.</a:t>
            </a:r>
            <a:endParaRPr b="0" i="0" sz="1950" u="none" cap="none" strike="noStrike">
              <a:solidFill>
                <a:schemeClr val="dk1"/>
              </a:solidFill>
              <a:latin typeface="Calibri"/>
              <a:ea typeface="Calibri"/>
              <a:cs typeface="Calibri"/>
              <a:sym typeface="Calibri"/>
            </a:endParaRPr>
          </a:p>
        </p:txBody>
      </p:sp>
      <p:sp>
        <p:nvSpPr>
          <p:cNvPr id="1291" name="Google Shape;1291;p29"/>
          <p:cNvSpPr/>
          <p:nvPr/>
        </p:nvSpPr>
        <p:spPr>
          <a:xfrm>
            <a:off x="5338763" y="5442585"/>
            <a:ext cx="3395663" cy="1158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9"/>
          <p:cNvSpPr/>
          <p:nvPr/>
        </p:nvSpPr>
        <p:spPr>
          <a:xfrm>
            <a:off x="5491163" y="5575935"/>
            <a:ext cx="3192732" cy="9296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CountVectorizer(analyzer='char', ngram_range=(4,4))</a:t>
            </a:r>
            <a:endParaRPr b="0" i="0" sz="1800" u="none" cap="none" strike="noStrike">
              <a:solidFill>
                <a:schemeClr val="dk1"/>
              </a:solidFill>
              <a:latin typeface="Calibri"/>
              <a:ea typeface="Calibri"/>
              <a:cs typeface="Calibri"/>
              <a:sym typeface="Calibri"/>
            </a:endParaRPr>
          </a:p>
        </p:txBody>
      </p:sp>
      <p:sp>
        <p:nvSpPr>
          <p:cNvPr id="1293" name="Google Shape;1293;p29"/>
          <p:cNvSpPr/>
          <p:nvPr/>
        </p:nvSpPr>
        <p:spPr>
          <a:xfrm>
            <a:off x="9267825" y="2447925"/>
            <a:ext cx="3967163" cy="441960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9"/>
          <p:cNvSpPr/>
          <p:nvPr/>
        </p:nvSpPr>
        <p:spPr>
          <a:xfrm>
            <a:off x="9553575" y="2714625"/>
            <a:ext cx="3735229"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03</a:t>
            </a:r>
            <a:endParaRPr b="0" i="0" sz="2100" u="none" cap="none" strike="noStrike">
              <a:solidFill>
                <a:schemeClr val="dk1"/>
              </a:solidFill>
              <a:latin typeface="Calibri"/>
              <a:ea typeface="Calibri"/>
              <a:cs typeface="Calibri"/>
              <a:sym typeface="Calibri"/>
            </a:endParaRPr>
          </a:p>
        </p:txBody>
      </p:sp>
      <p:sp>
        <p:nvSpPr>
          <p:cNvPr id="1295" name="Google Shape;1295;p29"/>
          <p:cNvSpPr/>
          <p:nvPr/>
        </p:nvSpPr>
        <p:spPr>
          <a:xfrm>
            <a:off x="9553575" y="3160395"/>
            <a:ext cx="3735229" cy="403860"/>
          </a:xfrm>
          <a:prstGeom prst="rect">
            <a:avLst/>
          </a:prstGeom>
          <a:noFill/>
          <a:ln>
            <a:noFill/>
          </a:ln>
        </p:spPr>
        <p:txBody>
          <a:bodyPr anchorCtr="0" anchor="t" bIns="25400" lIns="25400" spcFirstLastPara="1" rIns="25400" wrap="square" tIns="25400">
            <a:normAutofit/>
          </a:bodyPr>
          <a:lstStyle/>
          <a:p>
            <a:pPr indent="0" lvl="0" marL="0" marR="0" rtl="0" algn="l">
              <a:lnSpc>
                <a:spcPct val="106667"/>
              </a:lnSpc>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Swap in embeddings</a:t>
            </a:r>
            <a:endParaRPr b="0" i="0" sz="2400" u="none" cap="none" strike="noStrike">
              <a:solidFill>
                <a:schemeClr val="dk1"/>
              </a:solidFill>
              <a:latin typeface="Calibri"/>
              <a:ea typeface="Calibri"/>
              <a:cs typeface="Calibri"/>
              <a:sym typeface="Calibri"/>
            </a:endParaRPr>
          </a:p>
        </p:txBody>
      </p:sp>
      <p:sp>
        <p:nvSpPr>
          <p:cNvPr id="1296" name="Google Shape;1296;p29"/>
          <p:cNvSpPr/>
          <p:nvPr/>
        </p:nvSpPr>
        <p:spPr>
          <a:xfrm>
            <a:off x="9553575" y="3640455"/>
            <a:ext cx="3497532" cy="1474470"/>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Same classifier, same split, same metrics — only the features change. That is what makes the comparison fair.</a:t>
            </a:r>
            <a:endParaRPr b="0" i="0" sz="1950" u="none" cap="none" strike="noStrike">
              <a:solidFill>
                <a:schemeClr val="dk1"/>
              </a:solidFill>
              <a:latin typeface="Calibri"/>
              <a:ea typeface="Calibri"/>
              <a:cs typeface="Calibri"/>
              <a:sym typeface="Calibri"/>
            </a:endParaRPr>
          </a:p>
        </p:txBody>
      </p:sp>
      <p:sp>
        <p:nvSpPr>
          <p:cNvPr id="1297" name="Google Shape;1297;p29"/>
          <p:cNvSpPr/>
          <p:nvPr/>
        </p:nvSpPr>
        <p:spPr>
          <a:xfrm>
            <a:off x="9553575" y="5442585"/>
            <a:ext cx="3395663" cy="11582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9"/>
          <p:cNvSpPr/>
          <p:nvPr/>
        </p:nvSpPr>
        <p:spPr>
          <a:xfrm>
            <a:off x="9705975" y="5575935"/>
            <a:ext cx="3192732" cy="9296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emb = model(**tok(seqs)).last_hidden_state.mean(1)</a:t>
            </a:r>
            <a:endParaRPr b="0" i="0" sz="1800" u="none" cap="none" strike="noStrike">
              <a:solidFill>
                <a:schemeClr val="dk1"/>
              </a:solidFill>
              <a:latin typeface="Calibri"/>
              <a:ea typeface="Calibri"/>
              <a:cs typeface="Calibri"/>
              <a:sym typeface="Calibri"/>
            </a:endParaRPr>
          </a:p>
        </p:txBody>
      </p:sp>
      <p:sp>
        <p:nvSpPr>
          <p:cNvPr id="1299" name="Google Shape;1299;p29"/>
          <p:cNvSpPr/>
          <p:nvPr/>
        </p:nvSpPr>
        <p:spPr>
          <a:xfrm>
            <a:off x="13482638" y="2447925"/>
            <a:ext cx="3967163" cy="441960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9"/>
          <p:cNvSpPr/>
          <p:nvPr/>
        </p:nvSpPr>
        <p:spPr>
          <a:xfrm>
            <a:off x="13768388" y="2714625"/>
            <a:ext cx="3735229"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04</a:t>
            </a:r>
            <a:endParaRPr b="0" i="0" sz="2100" u="none" cap="none" strike="noStrike">
              <a:solidFill>
                <a:schemeClr val="dk1"/>
              </a:solidFill>
              <a:latin typeface="Calibri"/>
              <a:ea typeface="Calibri"/>
              <a:cs typeface="Calibri"/>
              <a:sym typeface="Calibri"/>
            </a:endParaRPr>
          </a:p>
        </p:txBody>
      </p:sp>
      <p:sp>
        <p:nvSpPr>
          <p:cNvPr id="1301" name="Google Shape;1301;p29"/>
          <p:cNvSpPr/>
          <p:nvPr/>
        </p:nvSpPr>
        <p:spPr>
          <a:xfrm>
            <a:off x="13768388" y="3160395"/>
            <a:ext cx="3735229" cy="403860"/>
          </a:xfrm>
          <a:prstGeom prst="rect">
            <a:avLst/>
          </a:prstGeom>
          <a:noFill/>
          <a:ln>
            <a:noFill/>
          </a:ln>
        </p:spPr>
        <p:txBody>
          <a:bodyPr anchorCtr="0" anchor="t" bIns="25400" lIns="25400" spcFirstLastPara="1" rIns="25400" wrap="square" tIns="25400">
            <a:normAutofit/>
          </a:bodyPr>
          <a:lstStyle/>
          <a:p>
            <a:pPr indent="0" lvl="0" marL="0" marR="0" rtl="0" algn="l">
              <a:lnSpc>
                <a:spcPct val="106667"/>
              </a:lnSpc>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Judge it honestly</a:t>
            </a:r>
            <a:endParaRPr b="0" i="0" sz="2400" u="none" cap="none" strike="noStrike">
              <a:solidFill>
                <a:schemeClr val="dk1"/>
              </a:solidFill>
              <a:latin typeface="Calibri"/>
              <a:ea typeface="Calibri"/>
              <a:cs typeface="Calibri"/>
              <a:sym typeface="Calibri"/>
            </a:endParaRPr>
          </a:p>
        </p:txBody>
      </p:sp>
      <p:sp>
        <p:nvSpPr>
          <p:cNvPr id="1302" name="Google Shape;1302;p29"/>
          <p:cNvSpPr/>
          <p:nvPr/>
        </p:nvSpPr>
        <p:spPr>
          <a:xfrm>
            <a:off x="13768388" y="3640455"/>
            <a:ext cx="3497532" cy="1474470"/>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Confusion matrix, precision, recall, F1 and the precision–recall curve — then repeat on the held-out chromosome.</a:t>
            </a:r>
            <a:endParaRPr b="0" i="0" sz="1950" u="none" cap="none" strike="noStrike">
              <a:solidFill>
                <a:schemeClr val="dk1"/>
              </a:solidFill>
              <a:latin typeface="Calibri"/>
              <a:ea typeface="Calibri"/>
              <a:cs typeface="Calibri"/>
              <a:sym typeface="Calibri"/>
            </a:endParaRPr>
          </a:p>
        </p:txBody>
      </p:sp>
      <p:sp>
        <p:nvSpPr>
          <p:cNvPr id="1303" name="Google Shape;1303;p29"/>
          <p:cNvSpPr/>
          <p:nvPr/>
        </p:nvSpPr>
        <p:spPr>
          <a:xfrm>
            <a:off x="13768388" y="5739765"/>
            <a:ext cx="3395663" cy="86106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9"/>
          <p:cNvSpPr/>
          <p:nvPr/>
        </p:nvSpPr>
        <p:spPr>
          <a:xfrm>
            <a:off x="13920787" y="5873115"/>
            <a:ext cx="3192732" cy="63246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800"/>
              <a:buFont typeface="IBM Plex Mono"/>
              <a:buNone/>
            </a:pPr>
            <a:r>
              <a:rPr b="0" i="0" lang="en-US" sz="1800" u="none" cap="none" strike="noStrike">
                <a:solidFill>
                  <a:srgbClr val="1C2A44"/>
                </a:solidFill>
                <a:latin typeface="IBM Plex Mono"/>
                <a:ea typeface="IBM Plex Mono"/>
                <a:cs typeface="IBM Plex Mono"/>
                <a:sym typeface="IBM Plex Mono"/>
              </a:rPr>
              <a:t>classification_report(y_test, y_pred)</a:t>
            </a:r>
            <a:endParaRPr b="0" i="0" sz="1800" u="none" cap="none" strike="noStrike">
              <a:solidFill>
                <a:schemeClr val="dk1"/>
              </a:solidFill>
              <a:latin typeface="Calibri"/>
              <a:ea typeface="Calibri"/>
              <a:cs typeface="Calibri"/>
              <a:sym typeface="Calibri"/>
            </a:endParaRPr>
          </a:p>
        </p:txBody>
      </p:sp>
      <p:sp>
        <p:nvSpPr>
          <p:cNvPr id="1305" name="Google Shape;1305;p29"/>
          <p:cNvSpPr/>
          <p:nvPr/>
        </p:nvSpPr>
        <p:spPr>
          <a:xfrm>
            <a:off x="838200" y="7962900"/>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9"/>
          <p:cNvSpPr/>
          <p:nvPr/>
        </p:nvSpPr>
        <p:spPr>
          <a:xfrm>
            <a:off x="838200" y="8225790"/>
            <a:ext cx="578358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EXPECT ROUGHLY</a:t>
            </a:r>
            <a:endParaRPr b="0" i="0" sz="1800" u="none" cap="none" strike="noStrike">
              <a:solidFill>
                <a:schemeClr val="dk1"/>
              </a:solidFill>
              <a:latin typeface="Calibri"/>
              <a:ea typeface="Calibri"/>
              <a:cs typeface="Calibri"/>
              <a:sym typeface="Calibri"/>
            </a:endParaRPr>
          </a:p>
        </p:txBody>
      </p:sp>
      <p:sp>
        <p:nvSpPr>
          <p:cNvPr id="1307" name="Google Shape;1307;p29"/>
          <p:cNvSpPr/>
          <p:nvPr/>
        </p:nvSpPr>
        <p:spPr>
          <a:xfrm>
            <a:off x="838200" y="8580120"/>
            <a:ext cx="5415534"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k-mer baseline: F1 around 0.75–0.85 on an easy split.</a:t>
            </a:r>
            <a:endParaRPr b="0" i="0" sz="2100" u="none" cap="none" strike="noStrike">
              <a:solidFill>
                <a:schemeClr val="dk1"/>
              </a:solidFill>
              <a:latin typeface="Calibri"/>
              <a:ea typeface="Calibri"/>
              <a:cs typeface="Calibri"/>
              <a:sym typeface="Calibri"/>
            </a:endParaRPr>
          </a:p>
        </p:txBody>
      </p:sp>
      <p:sp>
        <p:nvSpPr>
          <p:cNvPr id="1308" name="Google Shape;1308;p29"/>
          <p:cNvSpPr/>
          <p:nvPr/>
        </p:nvSpPr>
        <p:spPr>
          <a:xfrm>
            <a:off x="6515100" y="8225790"/>
            <a:ext cx="578358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AND</a:t>
            </a:r>
            <a:endParaRPr b="0" i="0" sz="1800" u="none" cap="none" strike="noStrike">
              <a:solidFill>
                <a:schemeClr val="dk1"/>
              </a:solidFill>
              <a:latin typeface="Calibri"/>
              <a:ea typeface="Calibri"/>
              <a:cs typeface="Calibri"/>
              <a:sym typeface="Calibri"/>
            </a:endParaRPr>
          </a:p>
        </p:txBody>
      </p:sp>
      <p:sp>
        <p:nvSpPr>
          <p:cNvPr id="1309" name="Google Shape;1309;p29"/>
          <p:cNvSpPr/>
          <p:nvPr/>
        </p:nvSpPr>
        <p:spPr>
          <a:xfrm>
            <a:off x="6515100" y="8580120"/>
            <a:ext cx="5415534"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Embeddings: a few points better, and a bigger gain on the hard split.</a:t>
            </a:r>
            <a:endParaRPr b="0" i="0" sz="2100" u="none" cap="none" strike="noStrike">
              <a:solidFill>
                <a:schemeClr val="dk1"/>
              </a:solidFill>
              <a:latin typeface="Calibri"/>
              <a:ea typeface="Calibri"/>
              <a:cs typeface="Calibri"/>
              <a:sym typeface="Calibri"/>
            </a:endParaRPr>
          </a:p>
        </p:txBody>
      </p:sp>
      <p:sp>
        <p:nvSpPr>
          <p:cNvPr id="1310" name="Google Shape;1310;p29"/>
          <p:cNvSpPr/>
          <p:nvPr/>
        </p:nvSpPr>
        <p:spPr>
          <a:xfrm>
            <a:off x="12192000" y="8225790"/>
            <a:ext cx="578358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WHAT SUCCESS MEANS TODAY</a:t>
            </a:r>
            <a:endParaRPr b="0" i="0" sz="1800" u="none" cap="none" strike="noStrike">
              <a:solidFill>
                <a:schemeClr val="dk1"/>
              </a:solidFill>
              <a:latin typeface="Calibri"/>
              <a:ea typeface="Calibri"/>
              <a:cs typeface="Calibri"/>
              <a:sym typeface="Calibri"/>
            </a:endParaRPr>
          </a:p>
        </p:txBody>
      </p:sp>
      <p:sp>
        <p:nvSpPr>
          <p:cNvPr id="1311" name="Google Shape;1311;p29"/>
          <p:cNvSpPr/>
          <p:nvPr/>
        </p:nvSpPr>
        <p:spPr>
          <a:xfrm>
            <a:off x="12192000" y="8580120"/>
            <a:ext cx="5415534"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A pipeline you can rerun on your own data next week — not a record score.</a:t>
            </a:r>
            <a:endParaRPr b="0" i="0" sz="2100" u="none" cap="none" strike="noStrike">
              <a:solidFill>
                <a:schemeClr val="dk1"/>
              </a:solidFill>
              <a:latin typeface="Calibri"/>
              <a:ea typeface="Calibri"/>
              <a:cs typeface="Calibri"/>
              <a:sym typeface="Calibri"/>
            </a:endParaRPr>
          </a:p>
        </p:txBody>
      </p:sp>
      <p:sp>
        <p:nvSpPr>
          <p:cNvPr id="1312" name="Google Shape;1312;p29"/>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9"/>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314" name="Google Shape;1314;p29"/>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315" name="Google Shape;1315;p29"/>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29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23A"/>
        </a:solidFill>
      </p:bgPr>
    </p:bg>
    <p:spTree>
      <p:nvGrpSpPr>
        <p:cNvPr id="1320" name="Shape 1320"/>
        <p:cNvGrpSpPr/>
        <p:nvPr/>
      </p:nvGrpSpPr>
      <p:grpSpPr>
        <a:xfrm>
          <a:off x="0" y="0"/>
          <a:ext cx="0" cy="0"/>
          <a:chOff x="0" y="0"/>
          <a:chExt cx="0" cy="0"/>
        </a:xfrm>
      </p:grpSpPr>
      <p:pic>
        <p:nvPicPr>
          <p:cNvPr descr="preencoded.png" id="1321" name="Google Shape;1321;p30"/>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1322" name="Google Shape;1322;p30"/>
          <p:cNvSpPr/>
          <p:nvPr/>
        </p:nvSpPr>
        <p:spPr>
          <a:xfrm>
            <a:off x="914400" y="765810"/>
            <a:ext cx="685136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9BBD6"/>
              </a:buClr>
              <a:buSzPts val="1800"/>
              <a:buFont typeface="Helvetica Neue"/>
              <a:buNone/>
            </a:pPr>
            <a:r>
              <a:rPr b="0" i="0" lang="en-US" sz="1800" u="none" cap="none" strike="noStrike">
                <a:solidFill>
                  <a:srgbClr val="A9BBD6"/>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sp>
        <p:nvSpPr>
          <p:cNvPr id="1323" name="Google Shape;1323;p30"/>
          <p:cNvSpPr/>
          <p:nvPr/>
        </p:nvSpPr>
        <p:spPr>
          <a:xfrm>
            <a:off x="914400" y="2779395"/>
            <a:ext cx="9499557" cy="1371600"/>
          </a:xfrm>
          <a:prstGeom prst="rect">
            <a:avLst/>
          </a:prstGeom>
          <a:noFill/>
          <a:ln>
            <a:noFill/>
          </a:ln>
        </p:spPr>
        <p:txBody>
          <a:bodyPr anchorCtr="0" anchor="t" bIns="25400" lIns="25400" spcFirstLastPara="1" rIns="25400" wrap="square" tIns="25400">
            <a:normAutofit/>
          </a:bodyPr>
          <a:lstStyle/>
          <a:p>
            <a:pPr indent="0" lvl="0" marL="0" marR="0" rtl="0" algn="l">
              <a:lnSpc>
                <a:spcPct val="77093"/>
              </a:lnSpc>
              <a:spcBef>
                <a:spcPts val="0"/>
              </a:spcBef>
              <a:spcAft>
                <a:spcPts val="0"/>
              </a:spcAft>
              <a:buClr>
                <a:srgbClr val="E8A317"/>
              </a:buClr>
              <a:buSzPts val="10500"/>
              <a:buFont typeface="IBM Plex Mono"/>
              <a:buNone/>
            </a:pPr>
            <a:r>
              <a:rPr b="1" i="0" lang="en-US" sz="10500" u="none" cap="none" strike="noStrike">
                <a:solidFill>
                  <a:srgbClr val="E8A317"/>
                </a:solidFill>
                <a:latin typeface="IBM Plex Mono"/>
                <a:ea typeface="IBM Plex Mono"/>
                <a:cs typeface="IBM Plex Mono"/>
                <a:sym typeface="IBM Plex Mono"/>
              </a:rPr>
              <a:t>06</a:t>
            </a:r>
            <a:endParaRPr b="0" i="0" sz="10500" u="none" cap="none" strike="noStrike">
              <a:solidFill>
                <a:schemeClr val="dk1"/>
              </a:solidFill>
              <a:latin typeface="Calibri"/>
              <a:ea typeface="Calibri"/>
              <a:cs typeface="Calibri"/>
              <a:sym typeface="Calibri"/>
            </a:endParaRPr>
          </a:p>
        </p:txBody>
      </p:sp>
      <p:sp>
        <p:nvSpPr>
          <p:cNvPr id="1324" name="Google Shape;1324;p30"/>
          <p:cNvSpPr/>
          <p:nvPr/>
        </p:nvSpPr>
        <p:spPr>
          <a:xfrm>
            <a:off x="914400" y="4341495"/>
            <a:ext cx="9499557" cy="798195"/>
          </a:xfrm>
          <a:prstGeom prst="rect">
            <a:avLst/>
          </a:prstGeom>
          <a:noFill/>
          <a:ln>
            <a:noFill/>
          </a:ln>
        </p:spPr>
        <p:txBody>
          <a:bodyPr anchorCtr="0" anchor="t" bIns="25400" lIns="25400" spcFirstLastPara="1" rIns="25400" wrap="square" tIns="25400">
            <a:normAutofit/>
          </a:bodyPr>
          <a:lstStyle/>
          <a:p>
            <a:pPr indent="0" lvl="0" marL="0" marR="0" rtl="0" algn="l">
              <a:lnSpc>
                <a:spcPct val="91514"/>
              </a:lnSpc>
              <a:spcBef>
                <a:spcPts val="0"/>
              </a:spcBef>
              <a:spcAft>
                <a:spcPts val="0"/>
              </a:spcAft>
              <a:buClr>
                <a:srgbClr val="FFFFFF"/>
              </a:buClr>
              <a:buSzPts val="5700"/>
              <a:buFont typeface="Helvetica Neue"/>
              <a:buNone/>
            </a:pPr>
            <a:r>
              <a:rPr b="1" i="0" lang="en-US" sz="5700" u="none" cap="none" strike="noStrike">
                <a:solidFill>
                  <a:srgbClr val="FFFFFF"/>
                </a:solidFill>
                <a:latin typeface="Helvetica Neue"/>
                <a:ea typeface="Helvetica Neue"/>
                <a:cs typeface="Helvetica Neue"/>
                <a:sym typeface="Helvetica Neue"/>
              </a:rPr>
              <a:t>Judging the result</a:t>
            </a:r>
            <a:endParaRPr b="0" i="0" sz="5700" u="none" cap="none" strike="noStrike">
              <a:solidFill>
                <a:schemeClr val="dk1"/>
              </a:solidFill>
              <a:latin typeface="Calibri"/>
              <a:ea typeface="Calibri"/>
              <a:cs typeface="Calibri"/>
              <a:sym typeface="Calibri"/>
            </a:endParaRPr>
          </a:p>
        </p:txBody>
      </p:sp>
      <p:sp>
        <p:nvSpPr>
          <p:cNvPr id="1325" name="Google Shape;1325;p30"/>
          <p:cNvSpPr/>
          <p:nvPr/>
        </p:nvSpPr>
        <p:spPr>
          <a:xfrm>
            <a:off x="914400" y="5368290"/>
            <a:ext cx="8437245" cy="1363980"/>
          </a:xfrm>
          <a:prstGeom prst="rect">
            <a:avLst/>
          </a:prstGeom>
          <a:noFill/>
          <a:ln>
            <a:noFill/>
          </a:ln>
        </p:spPr>
        <p:txBody>
          <a:bodyPr anchorCtr="0" anchor="t" bIns="25400" lIns="25400" spcFirstLastPara="1" rIns="25400" wrap="square" tIns="25400">
            <a:normAutofit/>
          </a:bodyPr>
          <a:lstStyle/>
          <a:p>
            <a:pPr indent="0" lvl="0" marL="0" marR="0" rtl="0" algn="l">
              <a:lnSpc>
                <a:spcPct val="128889"/>
              </a:lnSpc>
              <a:spcBef>
                <a:spcPts val="0"/>
              </a:spcBef>
              <a:spcAft>
                <a:spcPts val="0"/>
              </a:spcAft>
              <a:buClr>
                <a:srgbClr val="C8D6EA"/>
              </a:buClr>
              <a:buSzPts val="2400"/>
              <a:buFont typeface="Helvetica Neue"/>
              <a:buNone/>
            </a:pPr>
            <a:r>
              <a:rPr b="0" i="0" lang="en-US" sz="2400" u="none" cap="none" strike="noStrike">
                <a:solidFill>
                  <a:srgbClr val="C8D6EA"/>
                </a:solidFill>
                <a:latin typeface="Helvetica Neue"/>
                <a:ea typeface="Helvetica Neue"/>
                <a:cs typeface="Helvetica Neue"/>
                <a:sym typeface="Helvetica Neue"/>
              </a:rPr>
              <a:t>A classifier can score well for entirely the wrong reasons. Two things decide whether its number means anything: the metric you chose, and what you held out.</a:t>
            </a:r>
            <a:endParaRPr b="0" i="0" sz="2400" u="none" cap="none" strike="noStrike">
              <a:solidFill>
                <a:schemeClr val="dk1"/>
              </a:solidFill>
              <a:latin typeface="Calibri"/>
              <a:ea typeface="Calibri"/>
              <a:cs typeface="Calibri"/>
              <a:sym typeface="Calibri"/>
            </a:endParaRPr>
          </a:p>
        </p:txBody>
      </p:sp>
      <p:sp>
        <p:nvSpPr>
          <p:cNvPr id="1326" name="Google Shape;1326;p30"/>
          <p:cNvSpPr/>
          <p:nvPr/>
        </p:nvSpPr>
        <p:spPr>
          <a:xfrm>
            <a:off x="10464760" y="3457575"/>
            <a:ext cx="6908840" cy="9525"/>
          </a:xfrm>
          <a:prstGeom prst="rect">
            <a:avLst/>
          </a:prstGeom>
          <a:solidFill>
            <a:srgbClr val="5362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30"/>
          <p:cNvSpPr/>
          <p:nvPr/>
        </p:nvSpPr>
        <p:spPr>
          <a:xfrm>
            <a:off x="10464760" y="3046095"/>
            <a:ext cx="7116105"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IN THIS PART</a:t>
            </a:r>
            <a:endParaRPr b="0" i="0" sz="1800" u="none" cap="none" strike="noStrike">
              <a:solidFill>
                <a:schemeClr val="dk1"/>
              </a:solidFill>
              <a:latin typeface="Calibri"/>
              <a:ea typeface="Calibri"/>
              <a:cs typeface="Calibri"/>
              <a:sym typeface="Calibri"/>
            </a:endParaRPr>
          </a:p>
        </p:txBody>
      </p:sp>
      <p:sp>
        <p:nvSpPr>
          <p:cNvPr id="1328" name="Google Shape;1328;p30"/>
          <p:cNvSpPr/>
          <p:nvPr/>
        </p:nvSpPr>
        <p:spPr>
          <a:xfrm>
            <a:off x="10464760" y="4063365"/>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0"/>
          <p:cNvSpPr/>
          <p:nvPr/>
        </p:nvSpPr>
        <p:spPr>
          <a:xfrm>
            <a:off x="10464760" y="3589020"/>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100"/>
              <a:buFont typeface="IBM Plex Mono"/>
              <a:buNone/>
            </a:pPr>
            <a:r>
              <a:rPr b="0" i="0" lang="en-US" sz="2100" u="none" cap="none" strike="noStrike">
                <a:solidFill>
                  <a:srgbClr val="8FA6C8"/>
                </a:solidFill>
                <a:latin typeface="IBM Plex Mono"/>
                <a:ea typeface="IBM Plex Mono"/>
                <a:cs typeface="IBM Plex Mono"/>
                <a:sym typeface="IBM Plex Mono"/>
              </a:rPr>
              <a:t>31</a:t>
            </a:r>
            <a:endParaRPr b="0" i="0" sz="2100" u="none" cap="none" strike="noStrike">
              <a:solidFill>
                <a:schemeClr val="dk1"/>
              </a:solidFill>
              <a:latin typeface="Calibri"/>
              <a:ea typeface="Calibri"/>
              <a:cs typeface="Calibri"/>
              <a:sym typeface="Calibri"/>
            </a:endParaRPr>
          </a:p>
        </p:txBody>
      </p:sp>
      <p:sp>
        <p:nvSpPr>
          <p:cNvPr id="1330" name="Google Shape;1330;p30"/>
          <p:cNvSpPr/>
          <p:nvPr/>
        </p:nvSpPr>
        <p:spPr>
          <a:xfrm>
            <a:off x="11051501" y="3589020"/>
            <a:ext cx="3555016"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100"/>
              <a:buFont typeface="Helvetica Neue"/>
              <a:buNone/>
            </a:pPr>
            <a:r>
              <a:rPr b="0" i="0" lang="en-US" sz="2100" u="none" cap="none" strike="noStrike">
                <a:solidFill>
                  <a:srgbClr val="FFFFFF"/>
                </a:solidFill>
                <a:latin typeface="Helvetica Neue"/>
                <a:ea typeface="Helvetica Neue"/>
                <a:cs typeface="Helvetica Neue"/>
                <a:sym typeface="Helvetica Neue"/>
              </a:rPr>
              <a:t>Reading a confusion matrix</a:t>
            </a:r>
            <a:endParaRPr b="0" i="0" sz="2100" u="none" cap="none" strike="noStrike">
              <a:solidFill>
                <a:schemeClr val="dk1"/>
              </a:solidFill>
              <a:latin typeface="Calibri"/>
              <a:ea typeface="Calibri"/>
              <a:cs typeface="Calibri"/>
              <a:sym typeface="Calibri"/>
            </a:endParaRPr>
          </a:p>
        </p:txBody>
      </p:sp>
      <p:sp>
        <p:nvSpPr>
          <p:cNvPr id="1331" name="Google Shape;1331;p30"/>
          <p:cNvSpPr/>
          <p:nvPr/>
        </p:nvSpPr>
        <p:spPr>
          <a:xfrm>
            <a:off x="10464760" y="4669155"/>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0"/>
          <p:cNvSpPr/>
          <p:nvPr/>
        </p:nvSpPr>
        <p:spPr>
          <a:xfrm>
            <a:off x="10464760" y="4194810"/>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100"/>
              <a:buFont typeface="IBM Plex Mono"/>
              <a:buNone/>
            </a:pPr>
            <a:r>
              <a:rPr b="0" i="0" lang="en-US" sz="2100" u="none" cap="none" strike="noStrike">
                <a:solidFill>
                  <a:srgbClr val="8FA6C8"/>
                </a:solidFill>
                <a:latin typeface="IBM Plex Mono"/>
                <a:ea typeface="IBM Plex Mono"/>
                <a:cs typeface="IBM Plex Mono"/>
                <a:sym typeface="IBM Plex Mono"/>
              </a:rPr>
              <a:t>32</a:t>
            </a:r>
            <a:endParaRPr b="0" i="0" sz="2100" u="none" cap="none" strike="noStrike">
              <a:solidFill>
                <a:schemeClr val="dk1"/>
              </a:solidFill>
              <a:latin typeface="Calibri"/>
              <a:ea typeface="Calibri"/>
              <a:cs typeface="Calibri"/>
              <a:sym typeface="Calibri"/>
            </a:endParaRPr>
          </a:p>
        </p:txBody>
      </p:sp>
      <p:sp>
        <p:nvSpPr>
          <p:cNvPr id="1333" name="Google Shape;1333;p30"/>
          <p:cNvSpPr/>
          <p:nvPr/>
        </p:nvSpPr>
        <p:spPr>
          <a:xfrm>
            <a:off x="11051501" y="4194810"/>
            <a:ext cx="3288756"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100"/>
              <a:buFont typeface="Helvetica Neue"/>
              <a:buNone/>
            </a:pPr>
            <a:r>
              <a:rPr b="0" i="0" lang="en-US" sz="2100" u="none" cap="none" strike="noStrike">
                <a:solidFill>
                  <a:srgbClr val="FFFFFF"/>
                </a:solidFill>
                <a:latin typeface="Helvetica Neue"/>
                <a:ea typeface="Helvetica Neue"/>
                <a:cs typeface="Helvetica Neue"/>
                <a:sym typeface="Helvetica Neue"/>
              </a:rPr>
              <a:t>Where you put the cut-off</a:t>
            </a:r>
            <a:endParaRPr b="0" i="0" sz="2100" u="none" cap="none" strike="noStrike">
              <a:solidFill>
                <a:schemeClr val="dk1"/>
              </a:solidFill>
              <a:latin typeface="Calibri"/>
              <a:ea typeface="Calibri"/>
              <a:cs typeface="Calibri"/>
              <a:sym typeface="Calibri"/>
            </a:endParaRPr>
          </a:p>
        </p:txBody>
      </p:sp>
      <p:sp>
        <p:nvSpPr>
          <p:cNvPr id="1334" name="Google Shape;1334;p30"/>
          <p:cNvSpPr/>
          <p:nvPr/>
        </p:nvSpPr>
        <p:spPr>
          <a:xfrm>
            <a:off x="10464760" y="5274945"/>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30"/>
          <p:cNvSpPr/>
          <p:nvPr/>
        </p:nvSpPr>
        <p:spPr>
          <a:xfrm>
            <a:off x="10464760" y="4800600"/>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100"/>
              <a:buFont typeface="IBM Plex Mono"/>
              <a:buNone/>
            </a:pPr>
            <a:r>
              <a:rPr b="0" i="0" lang="en-US" sz="2100" u="none" cap="none" strike="noStrike">
                <a:solidFill>
                  <a:srgbClr val="8FA6C8"/>
                </a:solidFill>
                <a:latin typeface="IBM Plex Mono"/>
                <a:ea typeface="IBM Plex Mono"/>
                <a:cs typeface="IBM Plex Mono"/>
                <a:sym typeface="IBM Plex Mono"/>
              </a:rPr>
              <a:t>33</a:t>
            </a:r>
            <a:endParaRPr b="0" i="0" sz="2100" u="none" cap="none" strike="noStrike">
              <a:solidFill>
                <a:schemeClr val="dk1"/>
              </a:solidFill>
              <a:latin typeface="Calibri"/>
              <a:ea typeface="Calibri"/>
              <a:cs typeface="Calibri"/>
              <a:sym typeface="Calibri"/>
            </a:endParaRPr>
          </a:p>
        </p:txBody>
      </p:sp>
      <p:sp>
        <p:nvSpPr>
          <p:cNvPr id="1336" name="Google Shape;1336;p30"/>
          <p:cNvSpPr/>
          <p:nvPr/>
        </p:nvSpPr>
        <p:spPr>
          <a:xfrm>
            <a:off x="11051501" y="4800600"/>
            <a:ext cx="2037874"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100"/>
              <a:buFont typeface="Helvetica Neue"/>
              <a:buNone/>
            </a:pPr>
            <a:r>
              <a:rPr b="0" i="0" lang="en-US" sz="2100" u="none" cap="none" strike="noStrike">
                <a:solidFill>
                  <a:srgbClr val="FFFFFF"/>
                </a:solidFill>
                <a:latin typeface="Helvetica Neue"/>
                <a:ea typeface="Helvetica Neue"/>
                <a:cs typeface="Helvetica Neue"/>
                <a:sym typeface="Helvetica Neue"/>
              </a:rPr>
              <a:t>The ROC curve</a:t>
            </a:r>
            <a:endParaRPr b="0" i="0" sz="2100" u="none" cap="none" strike="noStrike">
              <a:solidFill>
                <a:schemeClr val="dk1"/>
              </a:solidFill>
              <a:latin typeface="Calibri"/>
              <a:ea typeface="Calibri"/>
              <a:cs typeface="Calibri"/>
              <a:sym typeface="Calibri"/>
            </a:endParaRPr>
          </a:p>
        </p:txBody>
      </p:sp>
      <p:sp>
        <p:nvSpPr>
          <p:cNvPr id="1337" name="Google Shape;1337;p30"/>
          <p:cNvSpPr/>
          <p:nvPr/>
        </p:nvSpPr>
        <p:spPr>
          <a:xfrm>
            <a:off x="10464760" y="5880735"/>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0"/>
          <p:cNvSpPr/>
          <p:nvPr/>
        </p:nvSpPr>
        <p:spPr>
          <a:xfrm>
            <a:off x="10464760" y="5406390"/>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100"/>
              <a:buFont typeface="IBM Plex Mono"/>
              <a:buNone/>
            </a:pPr>
            <a:r>
              <a:rPr b="0" i="0" lang="en-US" sz="2100" u="none" cap="none" strike="noStrike">
                <a:solidFill>
                  <a:srgbClr val="8FA6C8"/>
                </a:solidFill>
                <a:latin typeface="IBM Plex Mono"/>
                <a:ea typeface="IBM Plex Mono"/>
                <a:cs typeface="IBM Plex Mono"/>
                <a:sym typeface="IBM Plex Mono"/>
              </a:rPr>
              <a:t>34</a:t>
            </a:r>
            <a:endParaRPr b="0" i="0" sz="2100" u="none" cap="none" strike="noStrike">
              <a:solidFill>
                <a:schemeClr val="dk1"/>
              </a:solidFill>
              <a:latin typeface="Calibri"/>
              <a:ea typeface="Calibri"/>
              <a:cs typeface="Calibri"/>
              <a:sym typeface="Calibri"/>
            </a:endParaRPr>
          </a:p>
        </p:txBody>
      </p:sp>
      <p:sp>
        <p:nvSpPr>
          <p:cNvPr id="1339" name="Google Shape;1339;p30"/>
          <p:cNvSpPr/>
          <p:nvPr/>
        </p:nvSpPr>
        <p:spPr>
          <a:xfrm>
            <a:off x="11051501" y="5406390"/>
            <a:ext cx="2658011"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100"/>
              <a:buFont typeface="Helvetica Neue"/>
              <a:buNone/>
            </a:pPr>
            <a:r>
              <a:rPr b="0" i="0" lang="en-US" sz="2100" u="none" cap="none" strike="noStrike">
                <a:solidFill>
                  <a:srgbClr val="FFFFFF"/>
                </a:solidFill>
                <a:latin typeface="Helvetica Neue"/>
                <a:ea typeface="Helvetica Neue"/>
                <a:cs typeface="Helvetica Neue"/>
                <a:sym typeface="Helvetica Neue"/>
              </a:rPr>
              <a:t>AUC, in one number</a:t>
            </a:r>
            <a:endParaRPr b="0" i="0" sz="2100" u="none" cap="none" strike="noStrike">
              <a:solidFill>
                <a:schemeClr val="dk1"/>
              </a:solidFill>
              <a:latin typeface="Calibri"/>
              <a:ea typeface="Calibri"/>
              <a:cs typeface="Calibri"/>
              <a:sym typeface="Calibri"/>
            </a:endParaRPr>
          </a:p>
        </p:txBody>
      </p:sp>
      <p:sp>
        <p:nvSpPr>
          <p:cNvPr id="1340" name="Google Shape;1340;p30"/>
          <p:cNvSpPr/>
          <p:nvPr/>
        </p:nvSpPr>
        <p:spPr>
          <a:xfrm>
            <a:off x="10464760" y="6486525"/>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30"/>
          <p:cNvSpPr/>
          <p:nvPr/>
        </p:nvSpPr>
        <p:spPr>
          <a:xfrm>
            <a:off x="10464760" y="6012180"/>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100"/>
              <a:buFont typeface="IBM Plex Mono"/>
              <a:buNone/>
            </a:pPr>
            <a:r>
              <a:rPr b="0" i="0" lang="en-US" sz="2100" u="none" cap="none" strike="noStrike">
                <a:solidFill>
                  <a:srgbClr val="8FA6C8"/>
                </a:solidFill>
                <a:latin typeface="IBM Plex Mono"/>
                <a:ea typeface="IBM Plex Mono"/>
                <a:cs typeface="IBM Plex Mono"/>
                <a:sym typeface="IBM Plex Mono"/>
              </a:rPr>
              <a:t>35</a:t>
            </a:r>
            <a:endParaRPr b="0" i="0" sz="2100" u="none" cap="none" strike="noStrike">
              <a:solidFill>
                <a:schemeClr val="dk1"/>
              </a:solidFill>
              <a:latin typeface="Calibri"/>
              <a:ea typeface="Calibri"/>
              <a:cs typeface="Calibri"/>
              <a:sym typeface="Calibri"/>
            </a:endParaRPr>
          </a:p>
        </p:txBody>
      </p:sp>
      <p:sp>
        <p:nvSpPr>
          <p:cNvPr id="1342" name="Google Shape;1342;p30"/>
          <p:cNvSpPr/>
          <p:nvPr/>
        </p:nvSpPr>
        <p:spPr>
          <a:xfrm>
            <a:off x="11051501" y="6012180"/>
            <a:ext cx="319603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100"/>
              <a:buFont typeface="Helvetica Neue"/>
              <a:buNone/>
            </a:pPr>
            <a:r>
              <a:rPr b="0" i="0" lang="en-US" sz="2100" u="none" cap="none" strike="noStrike">
                <a:solidFill>
                  <a:srgbClr val="FFFFFF"/>
                </a:solidFill>
                <a:latin typeface="Helvetica Neue"/>
                <a:ea typeface="Helvetica Neue"/>
                <a:cs typeface="Helvetica Neue"/>
                <a:sym typeface="Helvetica Neue"/>
              </a:rPr>
              <a:t>What was really held out</a:t>
            </a:r>
            <a:endParaRPr b="0" i="0" sz="2100" u="none" cap="none" strike="noStrike">
              <a:solidFill>
                <a:schemeClr val="dk1"/>
              </a:solidFill>
              <a:latin typeface="Calibri"/>
              <a:ea typeface="Calibri"/>
              <a:cs typeface="Calibri"/>
              <a:sym typeface="Calibri"/>
            </a:endParaRPr>
          </a:p>
        </p:txBody>
      </p:sp>
      <p:sp>
        <p:nvSpPr>
          <p:cNvPr id="1343" name="Google Shape;1343;p30"/>
          <p:cNvSpPr/>
          <p:nvPr/>
        </p:nvSpPr>
        <p:spPr>
          <a:xfrm>
            <a:off x="10464760" y="7092315"/>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0"/>
          <p:cNvSpPr/>
          <p:nvPr/>
        </p:nvSpPr>
        <p:spPr>
          <a:xfrm>
            <a:off x="10464760" y="6617970"/>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100"/>
              <a:buFont typeface="IBM Plex Mono"/>
              <a:buNone/>
            </a:pPr>
            <a:r>
              <a:rPr b="0" i="0" lang="en-US" sz="2100" u="none" cap="none" strike="noStrike">
                <a:solidFill>
                  <a:srgbClr val="8FA6C8"/>
                </a:solidFill>
                <a:latin typeface="IBM Plex Mono"/>
                <a:ea typeface="IBM Plex Mono"/>
                <a:cs typeface="IBM Plex Mono"/>
                <a:sym typeface="IBM Plex Mono"/>
              </a:rPr>
              <a:t>36</a:t>
            </a:r>
            <a:endParaRPr b="0" i="0" sz="2100" u="none" cap="none" strike="noStrike">
              <a:solidFill>
                <a:schemeClr val="dk1"/>
              </a:solidFill>
              <a:latin typeface="Calibri"/>
              <a:ea typeface="Calibri"/>
              <a:cs typeface="Calibri"/>
              <a:sym typeface="Calibri"/>
            </a:endParaRPr>
          </a:p>
        </p:txBody>
      </p:sp>
      <p:sp>
        <p:nvSpPr>
          <p:cNvPr id="1345" name="Google Shape;1345;p30"/>
          <p:cNvSpPr/>
          <p:nvPr/>
        </p:nvSpPr>
        <p:spPr>
          <a:xfrm>
            <a:off x="11051501" y="6617970"/>
            <a:ext cx="3914001"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100"/>
              <a:buFont typeface="Helvetica Neue"/>
              <a:buNone/>
            </a:pPr>
            <a:r>
              <a:rPr b="0" i="0" lang="en-US" sz="2100" u="none" cap="none" strike="noStrike">
                <a:solidFill>
                  <a:srgbClr val="FFFFFF"/>
                </a:solidFill>
                <a:latin typeface="Helvetica Neue"/>
                <a:ea typeface="Helvetica Neue"/>
                <a:cs typeface="Helvetica Neue"/>
                <a:sym typeface="Helvetica Neue"/>
              </a:rPr>
              <a:t>Four questions to keep asking</a:t>
            </a:r>
            <a:endParaRPr b="0" i="0" sz="2100" u="none" cap="none" strike="noStrike">
              <a:solidFill>
                <a:schemeClr val="dk1"/>
              </a:solidFill>
              <a:latin typeface="Calibri"/>
              <a:ea typeface="Calibri"/>
              <a:cs typeface="Calibri"/>
              <a:sym typeface="Calibri"/>
            </a:endParaRPr>
          </a:p>
        </p:txBody>
      </p:sp>
      <p:sp>
        <p:nvSpPr>
          <p:cNvPr id="1346" name="Google Shape;1346;p30"/>
          <p:cNvSpPr/>
          <p:nvPr/>
        </p:nvSpPr>
        <p:spPr>
          <a:xfrm>
            <a:off x="10464760" y="7698105"/>
            <a:ext cx="6908840" cy="9525"/>
          </a:xfrm>
          <a:prstGeom prst="rect">
            <a:avLst/>
          </a:prstGeom>
          <a:solidFill>
            <a:srgbClr val="3A4A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0"/>
          <p:cNvSpPr/>
          <p:nvPr/>
        </p:nvSpPr>
        <p:spPr>
          <a:xfrm>
            <a:off x="10464760" y="7223760"/>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2100"/>
              <a:buFont typeface="IBM Plex Mono"/>
              <a:buNone/>
            </a:pPr>
            <a:r>
              <a:rPr b="0" i="0" lang="en-US" sz="2100" u="none" cap="none" strike="noStrike">
                <a:solidFill>
                  <a:srgbClr val="8FA6C8"/>
                </a:solidFill>
                <a:latin typeface="IBM Plex Mono"/>
                <a:ea typeface="IBM Plex Mono"/>
                <a:cs typeface="IBM Plex Mono"/>
                <a:sym typeface="IBM Plex Mono"/>
              </a:rPr>
              <a:t>37</a:t>
            </a:r>
            <a:endParaRPr b="0" i="0" sz="2100" u="none" cap="none" strike="noStrike">
              <a:solidFill>
                <a:schemeClr val="dk1"/>
              </a:solidFill>
              <a:latin typeface="Calibri"/>
              <a:ea typeface="Calibri"/>
              <a:cs typeface="Calibri"/>
              <a:sym typeface="Calibri"/>
            </a:endParaRPr>
          </a:p>
        </p:txBody>
      </p:sp>
      <p:sp>
        <p:nvSpPr>
          <p:cNvPr id="1348" name="Google Shape;1348;p30"/>
          <p:cNvSpPr/>
          <p:nvPr/>
        </p:nvSpPr>
        <p:spPr>
          <a:xfrm>
            <a:off x="11051501" y="7223760"/>
            <a:ext cx="1451265"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100"/>
              <a:buFont typeface="Helvetica Neue"/>
              <a:buNone/>
            </a:pPr>
            <a:r>
              <a:rPr b="0" i="0" lang="en-US" sz="2100" u="none" cap="none" strike="noStrike">
                <a:solidFill>
                  <a:srgbClr val="FFFFFF"/>
                </a:solidFill>
                <a:latin typeface="Helvetica Neue"/>
                <a:ea typeface="Helvetica Neue"/>
                <a:cs typeface="Helvetica Neue"/>
                <a:sym typeface="Helvetica Neue"/>
              </a:rPr>
              <a:t>Takeaways</a:t>
            </a:r>
            <a:endParaRPr b="0" i="0" sz="2100" u="none" cap="none" strike="noStrike">
              <a:solidFill>
                <a:schemeClr val="dk1"/>
              </a:solidFill>
              <a:latin typeface="Calibri"/>
              <a:ea typeface="Calibri"/>
              <a:cs typeface="Calibri"/>
              <a:sym typeface="Calibri"/>
            </a:endParaRPr>
          </a:p>
        </p:txBody>
      </p:sp>
      <p:sp>
        <p:nvSpPr>
          <p:cNvPr id="1349" name="Google Shape;1349;p30"/>
          <p:cNvSpPr/>
          <p:nvPr/>
        </p:nvSpPr>
        <p:spPr>
          <a:xfrm>
            <a:off x="914400" y="9418320"/>
            <a:ext cx="181051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PART 06 OF 06</a:t>
            </a:r>
            <a:endParaRPr b="0" i="0" sz="1800" u="none" cap="none" strike="noStrike">
              <a:solidFill>
                <a:schemeClr val="dk1"/>
              </a:solidFill>
              <a:latin typeface="Calibri"/>
              <a:ea typeface="Calibri"/>
              <a:cs typeface="Calibri"/>
              <a:sym typeface="Calibri"/>
            </a:endParaRPr>
          </a:p>
        </p:txBody>
      </p:sp>
      <p:pic>
        <p:nvPicPr>
          <p:cNvPr descr="preencoded.png" id="1350" name="Google Shape;1350;p30"/>
          <p:cNvPicPr preferRelativeResize="0"/>
          <p:nvPr/>
        </p:nvPicPr>
        <p:blipFill rotWithShape="1">
          <a:blip r:embed="rId4">
            <a:alphaModFix/>
          </a:blip>
          <a:srcRect b="0" l="0" r="0" t="0"/>
          <a:stretch/>
        </p:blipFill>
        <p:spPr>
          <a:xfrm>
            <a:off x="16850202" y="487725"/>
            <a:ext cx="1008525" cy="11158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5" name="Shape 1355"/>
        <p:cNvGrpSpPr/>
        <p:nvPr/>
      </p:nvGrpSpPr>
      <p:grpSpPr>
        <a:xfrm>
          <a:off x="0" y="0"/>
          <a:ext cx="0" cy="0"/>
          <a:chOff x="0" y="0"/>
          <a:chExt cx="0" cy="0"/>
        </a:xfrm>
      </p:grpSpPr>
      <p:sp>
        <p:nvSpPr>
          <p:cNvPr id="1356" name="Google Shape;1356;p31"/>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1"/>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358" name="Google Shape;1358;p31"/>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359" name="Google Shape;1359;p31"/>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06 · JUDGING THE RESULT</a:t>
            </a:r>
            <a:endParaRPr b="0" i="0" sz="1800" u="none" cap="none" strike="noStrike">
              <a:solidFill>
                <a:schemeClr val="dk1"/>
              </a:solidFill>
              <a:latin typeface="Calibri"/>
              <a:ea typeface="Calibri"/>
              <a:cs typeface="Calibri"/>
              <a:sym typeface="Calibri"/>
            </a:endParaRPr>
          </a:p>
        </p:txBody>
      </p:sp>
      <p:sp>
        <p:nvSpPr>
          <p:cNvPr id="1360" name="Google Shape;1360;p31"/>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Reading a confusion matrix</a:t>
            </a:r>
            <a:endParaRPr b="0" i="0" sz="4500" u="none" cap="none" strike="noStrike">
              <a:solidFill>
                <a:schemeClr val="dk1"/>
              </a:solidFill>
              <a:latin typeface="Calibri"/>
              <a:ea typeface="Calibri"/>
              <a:cs typeface="Calibri"/>
              <a:sym typeface="Calibri"/>
            </a:endParaRPr>
          </a:p>
        </p:txBody>
      </p:sp>
      <p:sp>
        <p:nvSpPr>
          <p:cNvPr id="1361" name="Google Shape;1361;p31"/>
          <p:cNvSpPr/>
          <p:nvPr/>
        </p:nvSpPr>
        <p:spPr>
          <a:xfrm>
            <a:off x="838200" y="2314575"/>
            <a:ext cx="18272760" cy="452438"/>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A table of the four things that can happen. Here: 1,000 test windows, 100 of them real promoters.</a:t>
            </a:r>
            <a:endParaRPr b="0" i="0" sz="2250" u="none" cap="none" strike="noStrike">
              <a:solidFill>
                <a:schemeClr val="dk1"/>
              </a:solidFill>
              <a:latin typeface="Calibri"/>
              <a:ea typeface="Calibri"/>
              <a:cs typeface="Calibri"/>
              <a:sym typeface="Calibri"/>
            </a:endParaRPr>
          </a:p>
        </p:txBody>
      </p:sp>
      <p:sp>
        <p:nvSpPr>
          <p:cNvPr id="1362" name="Google Shape;1362;p31"/>
          <p:cNvSpPr/>
          <p:nvPr/>
        </p:nvSpPr>
        <p:spPr>
          <a:xfrm>
            <a:off x="3810178" y="3033713"/>
            <a:ext cx="2988232" cy="55626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MODEL SAYS PROMOTER</a:t>
            </a:r>
            <a:endParaRPr b="0" i="0" sz="1800" u="none" cap="none" strike="noStrike">
              <a:solidFill>
                <a:schemeClr val="dk1"/>
              </a:solidFill>
              <a:latin typeface="Calibri"/>
              <a:ea typeface="Calibri"/>
              <a:cs typeface="Calibri"/>
              <a:sym typeface="Calibri"/>
            </a:endParaRPr>
          </a:p>
        </p:txBody>
      </p:sp>
      <p:sp>
        <p:nvSpPr>
          <p:cNvPr id="1363" name="Google Shape;1363;p31"/>
          <p:cNvSpPr/>
          <p:nvPr/>
        </p:nvSpPr>
        <p:spPr>
          <a:xfrm>
            <a:off x="6825672" y="3033713"/>
            <a:ext cx="2988355" cy="55626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MODEL SAYS NOT</a:t>
            </a:r>
            <a:endParaRPr b="0" i="0" sz="1800" u="none" cap="none" strike="noStrike">
              <a:solidFill>
                <a:schemeClr val="dk1"/>
              </a:solidFill>
              <a:latin typeface="Calibri"/>
              <a:ea typeface="Calibri"/>
              <a:cs typeface="Calibri"/>
              <a:sym typeface="Calibri"/>
            </a:endParaRPr>
          </a:p>
        </p:txBody>
      </p:sp>
      <p:sp>
        <p:nvSpPr>
          <p:cNvPr id="1364" name="Google Shape;1364;p31"/>
          <p:cNvSpPr/>
          <p:nvPr/>
        </p:nvSpPr>
        <p:spPr>
          <a:xfrm>
            <a:off x="838200" y="3742372"/>
            <a:ext cx="2988232" cy="145923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REALLY A PROMOTER</a:t>
            </a:r>
            <a:endParaRPr b="0" i="0" sz="1800" u="none" cap="none" strike="noStrike">
              <a:solidFill>
                <a:schemeClr val="dk1"/>
              </a:solidFill>
              <a:latin typeface="Calibri"/>
              <a:ea typeface="Calibri"/>
              <a:cs typeface="Calibri"/>
              <a:sym typeface="Calibri"/>
            </a:endParaRPr>
          </a:p>
        </p:txBody>
      </p:sp>
      <p:sp>
        <p:nvSpPr>
          <p:cNvPr id="1365" name="Google Shape;1365;p31"/>
          <p:cNvSpPr/>
          <p:nvPr/>
        </p:nvSpPr>
        <p:spPr>
          <a:xfrm>
            <a:off x="3853696" y="3742372"/>
            <a:ext cx="2901196" cy="142113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1"/>
          <p:cNvSpPr/>
          <p:nvPr/>
        </p:nvSpPr>
        <p:spPr>
          <a:xfrm>
            <a:off x="3981051" y="3990022"/>
            <a:ext cx="2646486" cy="609600"/>
          </a:xfrm>
          <a:prstGeom prst="rect">
            <a:avLst/>
          </a:prstGeom>
          <a:noFill/>
          <a:ln>
            <a:noFill/>
          </a:ln>
        </p:spPr>
        <p:txBody>
          <a:bodyPr anchorCtr="0" anchor="t" bIns="25400" lIns="25400" spcFirstLastPara="1" rIns="25400" wrap="square" tIns="25400">
            <a:normAutofit/>
          </a:bodyPr>
          <a:lstStyle/>
          <a:p>
            <a:pPr indent="0" lvl="0" marL="0" marR="0" rtl="0" algn="ctr">
              <a:lnSpc>
                <a:spcPct val="87209"/>
              </a:lnSpc>
              <a:spcBef>
                <a:spcPts val="0"/>
              </a:spcBef>
              <a:spcAft>
                <a:spcPts val="0"/>
              </a:spcAft>
              <a:buClr>
                <a:srgbClr val="FFFFFF"/>
              </a:buClr>
              <a:buSzPts val="4500"/>
              <a:buFont typeface="Helvetica Neue"/>
              <a:buNone/>
            </a:pPr>
            <a:r>
              <a:rPr b="1" i="0" lang="en-US" sz="4500" u="none" cap="none" strike="noStrike">
                <a:solidFill>
                  <a:srgbClr val="FFFFFF"/>
                </a:solidFill>
                <a:latin typeface="Helvetica Neue"/>
                <a:ea typeface="Helvetica Neue"/>
                <a:cs typeface="Helvetica Neue"/>
                <a:sym typeface="Helvetica Neue"/>
              </a:rPr>
              <a:t>72</a:t>
            </a:r>
            <a:endParaRPr b="0" i="0" sz="4500" u="none" cap="none" strike="noStrike">
              <a:solidFill>
                <a:schemeClr val="dk1"/>
              </a:solidFill>
              <a:latin typeface="Calibri"/>
              <a:ea typeface="Calibri"/>
              <a:cs typeface="Calibri"/>
              <a:sym typeface="Calibri"/>
            </a:endParaRPr>
          </a:p>
        </p:txBody>
      </p:sp>
      <p:sp>
        <p:nvSpPr>
          <p:cNvPr id="1367" name="Google Shape;1367;p31"/>
          <p:cNvSpPr/>
          <p:nvPr/>
        </p:nvSpPr>
        <p:spPr>
          <a:xfrm>
            <a:off x="3981051" y="4656772"/>
            <a:ext cx="2646486" cy="2971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A9BBD6"/>
              </a:buClr>
              <a:buSzPts val="1800"/>
              <a:buFont typeface="Helvetica Neue"/>
              <a:buNone/>
            </a:pPr>
            <a:r>
              <a:rPr b="0" i="0" lang="en-US" sz="1800" u="none" cap="none" strike="noStrike">
                <a:solidFill>
                  <a:srgbClr val="A9BBD6"/>
                </a:solidFill>
                <a:latin typeface="Helvetica Neue"/>
                <a:ea typeface="Helvetica Neue"/>
                <a:cs typeface="Helvetica Neue"/>
                <a:sym typeface="Helvetica Neue"/>
              </a:rPr>
              <a:t>true positives</a:t>
            </a:r>
            <a:endParaRPr b="0" i="0" sz="1800" u="none" cap="none" strike="noStrike">
              <a:solidFill>
                <a:schemeClr val="dk1"/>
              </a:solidFill>
              <a:latin typeface="Calibri"/>
              <a:ea typeface="Calibri"/>
              <a:cs typeface="Calibri"/>
              <a:sym typeface="Calibri"/>
            </a:endParaRPr>
          </a:p>
        </p:txBody>
      </p:sp>
      <p:sp>
        <p:nvSpPr>
          <p:cNvPr id="1368" name="Google Shape;1368;p31"/>
          <p:cNvSpPr/>
          <p:nvPr/>
        </p:nvSpPr>
        <p:spPr>
          <a:xfrm>
            <a:off x="6869192" y="3742372"/>
            <a:ext cx="2901315" cy="142113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1"/>
          <p:cNvSpPr/>
          <p:nvPr/>
        </p:nvSpPr>
        <p:spPr>
          <a:xfrm>
            <a:off x="6996541" y="3990022"/>
            <a:ext cx="2646617" cy="609600"/>
          </a:xfrm>
          <a:prstGeom prst="rect">
            <a:avLst/>
          </a:prstGeom>
          <a:noFill/>
          <a:ln>
            <a:noFill/>
          </a:ln>
        </p:spPr>
        <p:txBody>
          <a:bodyPr anchorCtr="0" anchor="t" bIns="25400" lIns="25400" spcFirstLastPara="1" rIns="25400" wrap="square" tIns="25400">
            <a:normAutofit/>
          </a:bodyPr>
          <a:lstStyle/>
          <a:p>
            <a:pPr indent="0" lvl="0" marL="0" marR="0" rtl="0" algn="ctr">
              <a:lnSpc>
                <a:spcPct val="87209"/>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28</a:t>
            </a:r>
            <a:endParaRPr b="0" i="0" sz="4500" u="none" cap="none" strike="noStrike">
              <a:solidFill>
                <a:schemeClr val="dk1"/>
              </a:solidFill>
              <a:latin typeface="Calibri"/>
              <a:ea typeface="Calibri"/>
              <a:cs typeface="Calibri"/>
              <a:sym typeface="Calibri"/>
            </a:endParaRPr>
          </a:p>
        </p:txBody>
      </p:sp>
      <p:sp>
        <p:nvSpPr>
          <p:cNvPr id="1370" name="Google Shape;1370;p31"/>
          <p:cNvSpPr/>
          <p:nvPr/>
        </p:nvSpPr>
        <p:spPr>
          <a:xfrm>
            <a:off x="6996541" y="4656772"/>
            <a:ext cx="2646617" cy="2971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missed promoters</a:t>
            </a:r>
            <a:endParaRPr b="0" i="0" sz="1800" u="none" cap="none" strike="noStrike">
              <a:solidFill>
                <a:schemeClr val="dk1"/>
              </a:solidFill>
              <a:latin typeface="Calibri"/>
              <a:ea typeface="Calibri"/>
              <a:cs typeface="Calibri"/>
              <a:sym typeface="Calibri"/>
            </a:endParaRPr>
          </a:p>
        </p:txBody>
      </p:sp>
      <p:sp>
        <p:nvSpPr>
          <p:cNvPr id="1371" name="Google Shape;1371;p31"/>
          <p:cNvSpPr/>
          <p:nvPr/>
        </p:nvSpPr>
        <p:spPr>
          <a:xfrm>
            <a:off x="838200" y="5277803"/>
            <a:ext cx="2988232" cy="145923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NOT A PROMOTER</a:t>
            </a:r>
            <a:endParaRPr b="0" i="0" sz="1800" u="none" cap="none" strike="noStrike">
              <a:solidFill>
                <a:schemeClr val="dk1"/>
              </a:solidFill>
              <a:latin typeface="Calibri"/>
              <a:ea typeface="Calibri"/>
              <a:cs typeface="Calibri"/>
              <a:sym typeface="Calibri"/>
            </a:endParaRPr>
          </a:p>
        </p:txBody>
      </p:sp>
      <p:sp>
        <p:nvSpPr>
          <p:cNvPr id="1372" name="Google Shape;1372;p31"/>
          <p:cNvSpPr/>
          <p:nvPr/>
        </p:nvSpPr>
        <p:spPr>
          <a:xfrm>
            <a:off x="3853696" y="5277803"/>
            <a:ext cx="2901196" cy="1421130"/>
          </a:xfrm>
          <a:prstGeom prst="rect">
            <a:avLst/>
          </a:prstGeom>
          <a:solidFill>
            <a:srgbClr val="F2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1"/>
          <p:cNvSpPr/>
          <p:nvPr/>
        </p:nvSpPr>
        <p:spPr>
          <a:xfrm>
            <a:off x="3981051" y="5525453"/>
            <a:ext cx="2646486" cy="609600"/>
          </a:xfrm>
          <a:prstGeom prst="rect">
            <a:avLst/>
          </a:prstGeom>
          <a:noFill/>
          <a:ln>
            <a:noFill/>
          </a:ln>
        </p:spPr>
        <p:txBody>
          <a:bodyPr anchorCtr="0" anchor="t" bIns="25400" lIns="25400" spcFirstLastPara="1" rIns="25400" wrap="square" tIns="25400">
            <a:normAutofit/>
          </a:bodyPr>
          <a:lstStyle/>
          <a:p>
            <a:pPr indent="0" lvl="0" marL="0" marR="0" rtl="0" algn="ctr">
              <a:lnSpc>
                <a:spcPct val="87209"/>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40</a:t>
            </a:r>
            <a:endParaRPr b="0" i="0" sz="4500" u="none" cap="none" strike="noStrike">
              <a:solidFill>
                <a:schemeClr val="dk1"/>
              </a:solidFill>
              <a:latin typeface="Calibri"/>
              <a:ea typeface="Calibri"/>
              <a:cs typeface="Calibri"/>
              <a:sym typeface="Calibri"/>
            </a:endParaRPr>
          </a:p>
        </p:txBody>
      </p:sp>
      <p:sp>
        <p:nvSpPr>
          <p:cNvPr id="1374" name="Google Shape;1374;p31"/>
          <p:cNvSpPr/>
          <p:nvPr/>
        </p:nvSpPr>
        <p:spPr>
          <a:xfrm>
            <a:off x="3981051" y="6192203"/>
            <a:ext cx="2646486" cy="2971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false alarms</a:t>
            </a:r>
            <a:endParaRPr b="0" i="0" sz="1800" u="none" cap="none" strike="noStrike">
              <a:solidFill>
                <a:schemeClr val="dk1"/>
              </a:solidFill>
              <a:latin typeface="Calibri"/>
              <a:ea typeface="Calibri"/>
              <a:cs typeface="Calibri"/>
              <a:sym typeface="Calibri"/>
            </a:endParaRPr>
          </a:p>
        </p:txBody>
      </p:sp>
      <p:sp>
        <p:nvSpPr>
          <p:cNvPr id="1375" name="Google Shape;1375;p31"/>
          <p:cNvSpPr/>
          <p:nvPr/>
        </p:nvSpPr>
        <p:spPr>
          <a:xfrm>
            <a:off x="6869192" y="5277803"/>
            <a:ext cx="2901315" cy="142113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1"/>
          <p:cNvSpPr/>
          <p:nvPr/>
        </p:nvSpPr>
        <p:spPr>
          <a:xfrm>
            <a:off x="6996541" y="5525453"/>
            <a:ext cx="2646617" cy="609600"/>
          </a:xfrm>
          <a:prstGeom prst="rect">
            <a:avLst/>
          </a:prstGeom>
          <a:noFill/>
          <a:ln>
            <a:noFill/>
          </a:ln>
        </p:spPr>
        <p:txBody>
          <a:bodyPr anchorCtr="0" anchor="t" bIns="25400" lIns="25400" spcFirstLastPara="1" rIns="25400" wrap="square" tIns="25400">
            <a:normAutofit/>
          </a:bodyPr>
          <a:lstStyle/>
          <a:p>
            <a:pPr indent="0" lvl="0" marL="0" marR="0" rtl="0" algn="ctr">
              <a:lnSpc>
                <a:spcPct val="87209"/>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860</a:t>
            </a:r>
            <a:endParaRPr b="0" i="0" sz="4500" u="none" cap="none" strike="noStrike">
              <a:solidFill>
                <a:schemeClr val="dk1"/>
              </a:solidFill>
              <a:latin typeface="Calibri"/>
              <a:ea typeface="Calibri"/>
              <a:cs typeface="Calibri"/>
              <a:sym typeface="Calibri"/>
            </a:endParaRPr>
          </a:p>
        </p:txBody>
      </p:sp>
      <p:sp>
        <p:nvSpPr>
          <p:cNvPr id="1377" name="Google Shape;1377;p31"/>
          <p:cNvSpPr/>
          <p:nvPr/>
        </p:nvSpPr>
        <p:spPr>
          <a:xfrm>
            <a:off x="6996541" y="6192203"/>
            <a:ext cx="2646617" cy="29718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correctly rejected</a:t>
            </a:r>
            <a:endParaRPr b="0" i="0" sz="1800" u="none" cap="none" strike="noStrike">
              <a:solidFill>
                <a:schemeClr val="dk1"/>
              </a:solidFill>
              <a:latin typeface="Calibri"/>
              <a:ea typeface="Calibri"/>
              <a:cs typeface="Calibri"/>
              <a:sym typeface="Calibri"/>
            </a:endParaRPr>
          </a:p>
        </p:txBody>
      </p:sp>
      <p:sp>
        <p:nvSpPr>
          <p:cNvPr id="1378" name="Google Shape;1378;p31"/>
          <p:cNvSpPr/>
          <p:nvPr/>
        </p:nvSpPr>
        <p:spPr>
          <a:xfrm>
            <a:off x="838200" y="6946582"/>
            <a:ext cx="8932307"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1"/>
          <p:cNvSpPr/>
          <p:nvPr/>
        </p:nvSpPr>
        <p:spPr>
          <a:xfrm>
            <a:off x="838200" y="7171373"/>
            <a:ext cx="2479762" cy="495300"/>
          </a:xfrm>
          <a:prstGeom prst="rect">
            <a:avLst/>
          </a:prstGeom>
          <a:noFill/>
          <a:ln>
            <a:noFill/>
          </a:ln>
        </p:spPr>
        <p:txBody>
          <a:bodyPr anchorCtr="0" anchor="t" bIns="25400" lIns="25400" spcFirstLastPara="1" rIns="25400" wrap="square" tIns="25400">
            <a:normAutofit/>
          </a:bodyPr>
          <a:lstStyle/>
          <a:p>
            <a:pPr indent="0" lvl="0" marL="0" marR="0" rtl="0" algn="l">
              <a:lnSpc>
                <a:spcPct val="86957"/>
              </a:lnSpc>
              <a:spcBef>
                <a:spcPts val="0"/>
              </a:spcBef>
              <a:spcAft>
                <a:spcPts val="0"/>
              </a:spcAft>
              <a:buClr>
                <a:srgbClr val="1C2A44"/>
              </a:buClr>
              <a:buSzPts val="3600"/>
              <a:buFont typeface="Helvetica Neue"/>
              <a:buNone/>
            </a:pPr>
            <a:r>
              <a:rPr b="1" i="0" lang="en-US" sz="3600" u="none" cap="none" strike="noStrike">
                <a:solidFill>
                  <a:srgbClr val="1C2A44"/>
                </a:solidFill>
                <a:latin typeface="Helvetica Neue"/>
                <a:ea typeface="Helvetica Neue"/>
                <a:cs typeface="Helvetica Neue"/>
                <a:sym typeface="Helvetica Neue"/>
              </a:rPr>
              <a:t>0.64</a:t>
            </a:r>
            <a:endParaRPr b="0" i="0" sz="3600" u="none" cap="none" strike="noStrike">
              <a:solidFill>
                <a:schemeClr val="dk1"/>
              </a:solidFill>
              <a:latin typeface="Calibri"/>
              <a:ea typeface="Calibri"/>
              <a:cs typeface="Calibri"/>
              <a:sym typeface="Calibri"/>
            </a:endParaRPr>
          </a:p>
        </p:txBody>
      </p:sp>
      <p:sp>
        <p:nvSpPr>
          <p:cNvPr id="1380" name="Google Shape;1380;p31"/>
          <p:cNvSpPr/>
          <p:nvPr/>
        </p:nvSpPr>
        <p:spPr>
          <a:xfrm>
            <a:off x="838200" y="7704773"/>
            <a:ext cx="2330529" cy="8839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precision </a:t>
            </a:r>
            <a:r>
              <a:rPr b="0" i="0" lang="en-US" sz="1950" u="none" cap="none" strike="noStrike">
                <a:solidFill>
                  <a:srgbClr val="53627A"/>
                </a:solidFill>
                <a:latin typeface="Helvetica Neue"/>
                <a:ea typeface="Helvetica Neue"/>
                <a:cs typeface="Helvetica Neue"/>
                <a:sym typeface="Helvetica Neue"/>
              </a:rPr>
              <a:t>— 72 of the 112 alarms were right</a:t>
            </a:r>
            <a:endParaRPr b="0" i="0" sz="1950" u="none" cap="none" strike="noStrike">
              <a:solidFill>
                <a:schemeClr val="dk1"/>
              </a:solidFill>
              <a:latin typeface="Calibri"/>
              <a:ea typeface="Calibri"/>
              <a:cs typeface="Calibri"/>
              <a:sym typeface="Calibri"/>
            </a:endParaRPr>
          </a:p>
        </p:txBody>
      </p:sp>
      <p:sp>
        <p:nvSpPr>
          <p:cNvPr id="1381" name="Google Shape;1381;p31"/>
          <p:cNvSpPr/>
          <p:nvPr/>
        </p:nvSpPr>
        <p:spPr>
          <a:xfrm>
            <a:off x="3625930" y="7171373"/>
            <a:ext cx="4598837" cy="495300"/>
          </a:xfrm>
          <a:prstGeom prst="rect">
            <a:avLst/>
          </a:prstGeom>
          <a:noFill/>
          <a:ln>
            <a:noFill/>
          </a:ln>
        </p:spPr>
        <p:txBody>
          <a:bodyPr anchorCtr="0" anchor="t" bIns="25400" lIns="25400" spcFirstLastPara="1" rIns="25400" wrap="square" tIns="25400">
            <a:normAutofit/>
          </a:bodyPr>
          <a:lstStyle/>
          <a:p>
            <a:pPr indent="0" lvl="0" marL="0" marR="0" rtl="0" algn="l">
              <a:lnSpc>
                <a:spcPct val="86957"/>
              </a:lnSpc>
              <a:spcBef>
                <a:spcPts val="0"/>
              </a:spcBef>
              <a:spcAft>
                <a:spcPts val="0"/>
              </a:spcAft>
              <a:buClr>
                <a:srgbClr val="1C2A44"/>
              </a:buClr>
              <a:buSzPts val="3600"/>
              <a:buFont typeface="Helvetica Neue"/>
              <a:buNone/>
            </a:pPr>
            <a:r>
              <a:rPr b="1" i="0" lang="en-US" sz="3600" u="none" cap="none" strike="noStrike">
                <a:solidFill>
                  <a:srgbClr val="1C2A44"/>
                </a:solidFill>
                <a:latin typeface="Helvetica Neue"/>
                <a:ea typeface="Helvetica Neue"/>
                <a:cs typeface="Helvetica Neue"/>
                <a:sym typeface="Helvetica Neue"/>
              </a:rPr>
              <a:t>0.72</a:t>
            </a:r>
            <a:endParaRPr b="0" i="0" sz="3600" u="none" cap="none" strike="noStrike">
              <a:solidFill>
                <a:schemeClr val="dk1"/>
              </a:solidFill>
              <a:latin typeface="Calibri"/>
              <a:ea typeface="Calibri"/>
              <a:cs typeface="Calibri"/>
              <a:sym typeface="Calibri"/>
            </a:endParaRPr>
          </a:p>
        </p:txBody>
      </p:sp>
      <p:sp>
        <p:nvSpPr>
          <p:cNvPr id="1382" name="Google Shape;1382;p31"/>
          <p:cNvSpPr/>
          <p:nvPr/>
        </p:nvSpPr>
        <p:spPr>
          <a:xfrm>
            <a:off x="3625930" y="7704773"/>
            <a:ext cx="4306184" cy="8839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recall </a:t>
            </a:r>
            <a:r>
              <a:rPr b="0" i="0" lang="en-US" sz="1950" u="none" cap="none" strike="noStrike">
                <a:solidFill>
                  <a:srgbClr val="53627A"/>
                </a:solidFill>
                <a:latin typeface="Helvetica Neue"/>
                <a:ea typeface="Helvetica Neue"/>
                <a:cs typeface="Helvetica Neue"/>
                <a:sym typeface="Helvetica Neue"/>
              </a:rPr>
              <a:t>— 72 of the 100 promoters found. The same thing a clinician calls sensitivity</a:t>
            </a:r>
            <a:endParaRPr b="0" i="0" sz="1950" u="none" cap="none" strike="noStrike">
              <a:solidFill>
                <a:schemeClr val="dk1"/>
              </a:solidFill>
              <a:latin typeface="Calibri"/>
              <a:ea typeface="Calibri"/>
              <a:cs typeface="Calibri"/>
              <a:sym typeface="Calibri"/>
            </a:endParaRPr>
          </a:p>
        </p:txBody>
      </p:sp>
      <p:sp>
        <p:nvSpPr>
          <p:cNvPr id="1383" name="Google Shape;1383;p31"/>
          <p:cNvSpPr/>
          <p:nvPr/>
        </p:nvSpPr>
        <p:spPr>
          <a:xfrm>
            <a:off x="8340090" y="7171373"/>
            <a:ext cx="1573459" cy="495300"/>
          </a:xfrm>
          <a:prstGeom prst="rect">
            <a:avLst/>
          </a:prstGeom>
          <a:noFill/>
          <a:ln>
            <a:noFill/>
          </a:ln>
        </p:spPr>
        <p:txBody>
          <a:bodyPr anchorCtr="0" anchor="t" bIns="25400" lIns="25400" spcFirstLastPara="1" rIns="25400" wrap="square" tIns="25400">
            <a:normAutofit/>
          </a:bodyPr>
          <a:lstStyle/>
          <a:p>
            <a:pPr indent="0" lvl="0" marL="0" marR="0" rtl="0" algn="l">
              <a:lnSpc>
                <a:spcPct val="86957"/>
              </a:lnSpc>
              <a:spcBef>
                <a:spcPts val="0"/>
              </a:spcBef>
              <a:spcAft>
                <a:spcPts val="0"/>
              </a:spcAft>
              <a:buClr>
                <a:srgbClr val="1C2A44"/>
              </a:buClr>
              <a:buSzPts val="3600"/>
              <a:buFont typeface="Helvetica Neue"/>
              <a:buNone/>
            </a:pPr>
            <a:r>
              <a:rPr b="1" i="0" lang="en-US" sz="3600" u="none" cap="none" strike="noStrike">
                <a:solidFill>
                  <a:srgbClr val="1C2A44"/>
                </a:solidFill>
                <a:latin typeface="Helvetica Neue"/>
                <a:ea typeface="Helvetica Neue"/>
                <a:cs typeface="Helvetica Neue"/>
                <a:sym typeface="Helvetica Neue"/>
              </a:rPr>
              <a:t>0.68</a:t>
            </a:r>
            <a:endParaRPr b="0" i="0" sz="3600" u="none" cap="none" strike="noStrike">
              <a:solidFill>
                <a:schemeClr val="dk1"/>
              </a:solidFill>
              <a:latin typeface="Calibri"/>
              <a:ea typeface="Calibri"/>
              <a:cs typeface="Calibri"/>
              <a:sym typeface="Calibri"/>
            </a:endParaRPr>
          </a:p>
        </p:txBody>
      </p:sp>
      <p:sp>
        <p:nvSpPr>
          <p:cNvPr id="1384" name="Google Shape;1384;p31"/>
          <p:cNvSpPr/>
          <p:nvPr/>
        </p:nvSpPr>
        <p:spPr>
          <a:xfrm>
            <a:off x="8340090" y="7704773"/>
            <a:ext cx="1506617" cy="8839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F1 </a:t>
            </a:r>
            <a:r>
              <a:rPr b="0" i="0" lang="en-US" sz="1950" u="none" cap="none" strike="noStrike">
                <a:solidFill>
                  <a:srgbClr val="53627A"/>
                </a:solidFill>
                <a:latin typeface="Helvetica Neue"/>
                <a:ea typeface="Helvetica Neue"/>
                <a:cs typeface="Helvetica Neue"/>
                <a:sym typeface="Helvetica Neue"/>
              </a:rPr>
              <a:t>— the balance of the two</a:t>
            </a:r>
            <a:endParaRPr b="0" i="0" sz="1950" u="none" cap="none" strike="noStrike">
              <a:solidFill>
                <a:schemeClr val="dk1"/>
              </a:solidFill>
              <a:latin typeface="Calibri"/>
              <a:ea typeface="Calibri"/>
              <a:cs typeface="Calibri"/>
              <a:sym typeface="Calibri"/>
            </a:endParaRPr>
          </a:p>
        </p:txBody>
      </p:sp>
      <p:sp>
        <p:nvSpPr>
          <p:cNvPr id="1385" name="Google Shape;1385;p31"/>
          <p:cNvSpPr/>
          <p:nvPr/>
        </p:nvSpPr>
        <p:spPr>
          <a:xfrm>
            <a:off x="10303907" y="3033713"/>
            <a:ext cx="7145774" cy="291465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1"/>
          <p:cNvSpPr/>
          <p:nvPr/>
        </p:nvSpPr>
        <p:spPr>
          <a:xfrm>
            <a:off x="10589657" y="3281363"/>
            <a:ext cx="7231702"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WHY ACCURACY ALONE IS USELESS HERE</a:t>
            </a:r>
            <a:endParaRPr b="0" i="0" sz="1800" u="none" cap="none" strike="noStrike">
              <a:solidFill>
                <a:schemeClr val="dk1"/>
              </a:solidFill>
              <a:latin typeface="Calibri"/>
              <a:ea typeface="Calibri"/>
              <a:cs typeface="Calibri"/>
              <a:sym typeface="Calibri"/>
            </a:endParaRPr>
          </a:p>
        </p:txBody>
      </p:sp>
      <p:sp>
        <p:nvSpPr>
          <p:cNvPr id="1387" name="Google Shape;1387;p31"/>
          <p:cNvSpPr/>
          <p:nvPr/>
        </p:nvSpPr>
        <p:spPr>
          <a:xfrm>
            <a:off x="10589657" y="3654743"/>
            <a:ext cx="1143833" cy="571500"/>
          </a:xfrm>
          <a:prstGeom prst="rect">
            <a:avLst/>
          </a:prstGeom>
          <a:noFill/>
          <a:ln>
            <a:noFill/>
          </a:ln>
        </p:spPr>
        <p:txBody>
          <a:bodyPr anchorCtr="0" anchor="t" bIns="25400" lIns="25400" spcFirstLastPara="1" rIns="25400" wrap="square" tIns="25400">
            <a:normAutofit/>
          </a:bodyPr>
          <a:lstStyle/>
          <a:p>
            <a:pPr indent="0" lvl="0" marL="0" marR="0" rtl="0" algn="l">
              <a:lnSpc>
                <a:spcPct val="87500"/>
              </a:lnSpc>
              <a:spcBef>
                <a:spcPts val="0"/>
              </a:spcBef>
              <a:spcAft>
                <a:spcPts val="0"/>
              </a:spcAft>
              <a:buClr>
                <a:srgbClr val="1C2A44"/>
              </a:buClr>
              <a:buSzPts val="4200"/>
              <a:buFont typeface="Helvetica Neue"/>
              <a:buNone/>
            </a:pPr>
            <a:r>
              <a:rPr b="1" i="0" lang="en-US" sz="4200" u="none" cap="none" strike="noStrike">
                <a:solidFill>
                  <a:srgbClr val="1C2A44"/>
                </a:solidFill>
                <a:latin typeface="Helvetica Neue"/>
                <a:ea typeface="Helvetica Neue"/>
                <a:cs typeface="Helvetica Neue"/>
                <a:sym typeface="Helvetica Neue"/>
              </a:rPr>
              <a:t>90%</a:t>
            </a:r>
            <a:endParaRPr b="0" i="0" sz="4200" u="none" cap="none" strike="noStrike">
              <a:solidFill>
                <a:schemeClr val="dk1"/>
              </a:solidFill>
              <a:latin typeface="Calibri"/>
              <a:ea typeface="Calibri"/>
              <a:cs typeface="Calibri"/>
              <a:sym typeface="Calibri"/>
            </a:endParaRPr>
          </a:p>
        </p:txBody>
      </p:sp>
      <p:sp>
        <p:nvSpPr>
          <p:cNvPr id="1388" name="Google Shape;1388;p31"/>
          <p:cNvSpPr/>
          <p:nvPr/>
        </p:nvSpPr>
        <p:spPr>
          <a:xfrm>
            <a:off x="11828741" y="3852863"/>
            <a:ext cx="5495246" cy="107823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accuracy from a model that answers "not a promoter" every single time — because 900 of the 1,000 windows really are not promoters.</a:t>
            </a:r>
            <a:endParaRPr b="0" i="0" sz="1950" u="none" cap="none" strike="noStrike">
              <a:solidFill>
                <a:schemeClr val="dk1"/>
              </a:solidFill>
              <a:latin typeface="Calibri"/>
              <a:ea typeface="Calibri"/>
              <a:cs typeface="Calibri"/>
              <a:sym typeface="Calibri"/>
            </a:endParaRPr>
          </a:p>
        </p:txBody>
      </p:sp>
      <p:sp>
        <p:nvSpPr>
          <p:cNvPr id="1389" name="Google Shape;1389;p31"/>
          <p:cNvSpPr/>
          <p:nvPr/>
        </p:nvSpPr>
        <p:spPr>
          <a:xfrm>
            <a:off x="10589657" y="5007293"/>
            <a:ext cx="6771503" cy="73152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Its recall is 0. It found none of the promoters, which were the only thing we cared about.</a:t>
            </a:r>
            <a:endParaRPr b="0" i="0" sz="1950" u="none" cap="none" strike="noStrike">
              <a:solidFill>
                <a:schemeClr val="dk1"/>
              </a:solidFill>
              <a:latin typeface="Calibri"/>
              <a:ea typeface="Calibri"/>
              <a:cs typeface="Calibri"/>
              <a:sym typeface="Calibri"/>
            </a:endParaRPr>
          </a:p>
        </p:txBody>
      </p:sp>
      <p:sp>
        <p:nvSpPr>
          <p:cNvPr id="1390" name="Google Shape;1390;p31"/>
          <p:cNvSpPr/>
          <p:nvPr/>
        </p:nvSpPr>
        <p:spPr>
          <a:xfrm>
            <a:off x="10303907" y="6176963"/>
            <a:ext cx="7860352"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WHICH ERROR HURTS MORE?</a:t>
            </a:r>
            <a:endParaRPr b="0" i="0" sz="1800" u="none" cap="none" strike="noStrike">
              <a:solidFill>
                <a:schemeClr val="dk1"/>
              </a:solidFill>
              <a:latin typeface="Calibri"/>
              <a:ea typeface="Calibri"/>
              <a:cs typeface="Calibri"/>
              <a:sym typeface="Calibri"/>
            </a:endParaRPr>
          </a:p>
        </p:txBody>
      </p:sp>
      <p:sp>
        <p:nvSpPr>
          <p:cNvPr id="1391" name="Google Shape;1391;p31"/>
          <p:cNvSpPr/>
          <p:nvPr/>
        </p:nvSpPr>
        <p:spPr>
          <a:xfrm>
            <a:off x="10303907" y="6531293"/>
            <a:ext cx="7360148" cy="1529715"/>
          </a:xfrm>
          <a:prstGeom prst="rect">
            <a:avLst/>
          </a:prstGeom>
          <a:noFill/>
          <a:ln>
            <a:noFill/>
          </a:ln>
        </p:spPr>
        <p:txBody>
          <a:bodyPr anchorCtr="0" anchor="t" bIns="25400" lIns="25400" spcFirstLastPara="1" rIns="25400" wrap="square" tIns="25400">
            <a:normAutofit/>
          </a:bodyPr>
          <a:lstStyle/>
          <a:p>
            <a:pPr indent="0" lvl="0" marL="0" marR="0" rtl="0" algn="l">
              <a:lnSpc>
                <a:spcPct val="125481"/>
              </a:lnSpc>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Screening candidates for the lab? Missed promoters are expensive, so favour recall. Sending a shortlist to a collaborator? False alarms waste their time, so favour precision. The threshold is where you make that choice.</a:t>
            </a:r>
            <a:endParaRPr b="0" i="0" sz="2025" u="none" cap="none" strike="noStrike">
              <a:solidFill>
                <a:schemeClr val="dk1"/>
              </a:solidFill>
              <a:latin typeface="Calibri"/>
              <a:ea typeface="Calibri"/>
              <a:cs typeface="Calibri"/>
              <a:sym typeface="Calibri"/>
            </a:endParaRPr>
          </a:p>
        </p:txBody>
      </p:sp>
      <p:sp>
        <p:nvSpPr>
          <p:cNvPr id="1392" name="Google Shape;1392;p31"/>
          <p:cNvSpPr/>
          <p:nvPr/>
        </p:nvSpPr>
        <p:spPr>
          <a:xfrm>
            <a:off x="10303907" y="8251507"/>
            <a:ext cx="7860352"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REPORT THIS, NOT ONE NUMBER</a:t>
            </a:r>
            <a:endParaRPr b="0" i="0" sz="1800" u="none" cap="none" strike="noStrike">
              <a:solidFill>
                <a:schemeClr val="dk1"/>
              </a:solidFill>
              <a:latin typeface="Calibri"/>
              <a:ea typeface="Calibri"/>
              <a:cs typeface="Calibri"/>
              <a:sym typeface="Calibri"/>
            </a:endParaRPr>
          </a:p>
        </p:txBody>
      </p:sp>
      <p:sp>
        <p:nvSpPr>
          <p:cNvPr id="1393" name="Google Shape;1393;p31"/>
          <p:cNvSpPr/>
          <p:nvPr/>
        </p:nvSpPr>
        <p:spPr>
          <a:xfrm>
            <a:off x="10303907" y="8605838"/>
            <a:ext cx="7360148" cy="783908"/>
          </a:xfrm>
          <a:prstGeom prst="rect">
            <a:avLst/>
          </a:prstGeom>
          <a:noFill/>
          <a:ln>
            <a:noFill/>
          </a:ln>
        </p:spPr>
        <p:txBody>
          <a:bodyPr anchorCtr="0" anchor="t" bIns="25400" lIns="25400" spcFirstLastPara="1" rIns="25400" wrap="square" tIns="25400">
            <a:normAutofit/>
          </a:bodyPr>
          <a:lstStyle/>
          <a:p>
            <a:pPr indent="0" lvl="0" marL="0" marR="0" rtl="0" algn="l">
              <a:lnSpc>
                <a:spcPct val="125481"/>
              </a:lnSpc>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Class balance · precision · recall · F1 · AUC · the precision–recall curve · and what the baseline scored on the same split.</a:t>
            </a:r>
            <a:endParaRPr b="0" i="0" sz="2025" u="none" cap="none" strike="noStrike">
              <a:solidFill>
                <a:schemeClr val="dk1"/>
              </a:solidFill>
              <a:latin typeface="Calibri"/>
              <a:ea typeface="Calibri"/>
              <a:cs typeface="Calibri"/>
              <a:sym typeface="Calibri"/>
            </a:endParaRPr>
          </a:p>
        </p:txBody>
      </p:sp>
      <p:sp>
        <p:nvSpPr>
          <p:cNvPr id="1394" name="Google Shape;1394;p31"/>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31"/>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396" name="Google Shape;1396;p31"/>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397" name="Google Shape;1397;p31"/>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31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2" name="Shape 1402"/>
        <p:cNvGrpSpPr/>
        <p:nvPr/>
      </p:nvGrpSpPr>
      <p:grpSpPr>
        <a:xfrm>
          <a:off x="0" y="0"/>
          <a:ext cx="0" cy="0"/>
          <a:chOff x="0" y="0"/>
          <a:chExt cx="0" cy="0"/>
        </a:xfrm>
      </p:grpSpPr>
      <p:sp>
        <p:nvSpPr>
          <p:cNvPr id="1403" name="Google Shape;1403;p32"/>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2"/>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405" name="Google Shape;1405;p32"/>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406" name="Google Shape;1406;p32"/>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06 · JUDGING THE RESULT</a:t>
            </a:r>
            <a:endParaRPr b="0" i="0" sz="1800" u="none" cap="none" strike="noStrike">
              <a:solidFill>
                <a:schemeClr val="dk1"/>
              </a:solidFill>
              <a:latin typeface="Calibri"/>
              <a:ea typeface="Calibri"/>
              <a:cs typeface="Calibri"/>
              <a:sym typeface="Calibri"/>
            </a:endParaRPr>
          </a:p>
        </p:txBody>
      </p:sp>
      <p:sp>
        <p:nvSpPr>
          <p:cNvPr id="1407" name="Google Shape;1407;p32"/>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Where you put the cut-off</a:t>
            </a:r>
            <a:endParaRPr b="0" i="0" sz="4500" u="none" cap="none" strike="noStrike">
              <a:solidFill>
                <a:schemeClr val="dk1"/>
              </a:solidFill>
              <a:latin typeface="Calibri"/>
              <a:ea typeface="Calibri"/>
              <a:cs typeface="Calibri"/>
              <a:sym typeface="Calibri"/>
            </a:endParaRPr>
          </a:p>
        </p:txBody>
      </p:sp>
      <p:sp>
        <p:nvSpPr>
          <p:cNvPr id="1408" name="Google Shape;1408;p32"/>
          <p:cNvSpPr/>
          <p:nvPr/>
        </p:nvSpPr>
        <p:spPr>
          <a:xfrm>
            <a:off x="838200" y="2295525"/>
            <a:ext cx="1530477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2209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The model never says yes or no. It gives every window a score between 0 and 1. </a:t>
            </a:r>
            <a:r>
              <a:rPr b="1" i="0" lang="en-US" sz="2250" u="none" cap="none" strike="noStrike">
                <a:solidFill>
                  <a:srgbClr val="1C2A44"/>
                </a:solidFill>
                <a:latin typeface="Helvetica Neue"/>
                <a:ea typeface="Helvetica Neue"/>
                <a:cs typeface="Helvetica Neue"/>
                <a:sym typeface="Helvetica Neue"/>
              </a:rPr>
              <a:t>You </a:t>
            </a:r>
            <a:r>
              <a:rPr b="0" i="0" lang="en-US" sz="2250" u="none" cap="none" strike="noStrike">
                <a:solidFill>
                  <a:srgbClr val="53627A"/>
                </a:solidFill>
                <a:latin typeface="Helvetica Neue"/>
                <a:ea typeface="Helvetica Neue"/>
                <a:cs typeface="Helvetica Neue"/>
                <a:sym typeface="Helvetica Neue"/>
              </a:rPr>
              <a:t>decide where to cut — and that one decision, not the model, sets how many promoters you catch.</a:t>
            </a:r>
            <a:endParaRPr b="0" i="0" sz="2250" u="none" cap="none" strike="noStrike">
              <a:solidFill>
                <a:schemeClr val="dk1"/>
              </a:solidFill>
              <a:latin typeface="Calibri"/>
              <a:ea typeface="Calibri"/>
              <a:cs typeface="Calibri"/>
              <a:sym typeface="Calibri"/>
            </a:endParaRPr>
          </a:p>
        </p:txBody>
      </p:sp>
      <p:pic>
        <p:nvPicPr>
          <p:cNvPr descr="preencoded.png" id="1409" name="Google Shape;1409;p32"/>
          <p:cNvPicPr preferRelativeResize="0"/>
          <p:nvPr/>
        </p:nvPicPr>
        <p:blipFill rotWithShape="1">
          <a:blip r:embed="rId4">
            <a:alphaModFix/>
          </a:blip>
          <a:srcRect b="0" l="0" r="0" t="0"/>
          <a:stretch/>
        </p:blipFill>
        <p:spPr>
          <a:xfrm>
            <a:off x="838200" y="3267075"/>
            <a:ext cx="16611600" cy="2699385"/>
          </a:xfrm>
          <a:prstGeom prst="rect">
            <a:avLst/>
          </a:prstGeom>
          <a:noFill/>
          <a:ln>
            <a:noFill/>
          </a:ln>
        </p:spPr>
      </p:pic>
      <p:sp>
        <p:nvSpPr>
          <p:cNvPr id="1410" name="Google Shape;1410;p32"/>
          <p:cNvSpPr/>
          <p:nvPr/>
        </p:nvSpPr>
        <p:spPr>
          <a:xfrm>
            <a:off x="838200" y="7063740"/>
            <a:ext cx="5334000" cy="228981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2"/>
          <p:cNvSpPr/>
          <p:nvPr/>
        </p:nvSpPr>
        <p:spPr>
          <a:xfrm>
            <a:off x="1104900" y="7273290"/>
            <a:ext cx="52806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STRICT · CUT AT 0.80</a:t>
            </a:r>
            <a:endParaRPr b="0" i="0" sz="1800" u="none" cap="none" strike="noStrike">
              <a:solidFill>
                <a:schemeClr val="dk1"/>
              </a:solidFill>
              <a:latin typeface="Calibri"/>
              <a:ea typeface="Calibri"/>
              <a:cs typeface="Calibri"/>
              <a:sym typeface="Calibri"/>
            </a:endParaRPr>
          </a:p>
        </p:txBody>
      </p:sp>
      <p:sp>
        <p:nvSpPr>
          <p:cNvPr id="1412" name="Google Shape;1412;p32"/>
          <p:cNvSpPr/>
          <p:nvPr/>
        </p:nvSpPr>
        <p:spPr>
          <a:xfrm>
            <a:off x="1104900" y="7627620"/>
            <a:ext cx="4944618" cy="809625"/>
          </a:xfrm>
          <a:prstGeom prst="rect">
            <a:avLst/>
          </a:prstGeom>
          <a:noFill/>
          <a:ln>
            <a:noFill/>
          </a:ln>
        </p:spPr>
        <p:txBody>
          <a:bodyPr anchorCtr="0" anchor="t" bIns="25400" lIns="25400" spcFirstLastPara="1" rIns="25400" wrap="square" tIns="25400">
            <a:normAutofit/>
          </a:bodyPr>
          <a:lstStyle/>
          <a:p>
            <a:pPr indent="0" lvl="0" marL="0" marR="0" rtl="0" algn="l">
              <a:lnSpc>
                <a:spcPct val="117733"/>
              </a:lnSpc>
              <a:spcBef>
                <a:spcPts val="0"/>
              </a:spcBef>
              <a:spcAft>
                <a:spcPts val="0"/>
              </a:spcAft>
              <a:buClr>
                <a:srgbClr val="1C2A44"/>
              </a:buClr>
              <a:buSzPts val="2250"/>
              <a:buFont typeface="Helvetica Neue"/>
              <a:buNone/>
            </a:pPr>
            <a:r>
              <a:rPr b="1" i="0" lang="en-US" sz="2250" u="none" cap="none" strike="noStrike">
                <a:solidFill>
                  <a:srgbClr val="1C2A44"/>
                </a:solidFill>
                <a:latin typeface="Helvetica Neue"/>
                <a:ea typeface="Helvetica Neue"/>
                <a:cs typeface="Helvetica Neue"/>
                <a:sym typeface="Helvetica Neue"/>
              </a:rPr>
              <a:t>45 </a:t>
            </a:r>
            <a:r>
              <a:rPr b="0" i="0" lang="en-US" sz="2250" u="none" cap="none" strike="noStrike">
                <a:solidFill>
                  <a:srgbClr val="1C2A44"/>
                </a:solidFill>
                <a:latin typeface="Helvetica Neue"/>
                <a:ea typeface="Helvetica Neue"/>
                <a:cs typeface="Helvetica Neue"/>
                <a:sym typeface="Helvetica Neue"/>
              </a:rPr>
              <a:t>of 100 promoters caught · </a:t>
            </a:r>
            <a:r>
              <a:rPr b="1" i="0" lang="en-US" sz="2250" u="none" cap="none" strike="noStrike">
                <a:solidFill>
                  <a:srgbClr val="1C2A44"/>
                </a:solidFill>
                <a:latin typeface="Helvetica Neue"/>
                <a:ea typeface="Helvetica Neue"/>
                <a:cs typeface="Helvetica Neue"/>
                <a:sym typeface="Helvetica Neue"/>
              </a:rPr>
              <a:t>9 </a:t>
            </a:r>
            <a:r>
              <a:rPr b="0" i="0" lang="en-US" sz="2250" u="none" cap="none" strike="noStrike">
                <a:solidFill>
                  <a:srgbClr val="1C2A44"/>
                </a:solidFill>
                <a:latin typeface="Helvetica Neue"/>
                <a:ea typeface="Helvetica Neue"/>
                <a:cs typeface="Helvetica Neue"/>
                <a:sym typeface="Helvetica Neue"/>
              </a:rPr>
              <a:t>false alarms</a:t>
            </a:r>
            <a:endParaRPr b="0" i="0" sz="2250" u="none" cap="none" strike="noStrike">
              <a:solidFill>
                <a:schemeClr val="dk1"/>
              </a:solidFill>
              <a:latin typeface="Calibri"/>
              <a:ea typeface="Calibri"/>
              <a:cs typeface="Calibri"/>
              <a:sym typeface="Calibri"/>
            </a:endParaRPr>
          </a:p>
        </p:txBody>
      </p:sp>
      <p:sp>
        <p:nvSpPr>
          <p:cNvPr id="1413" name="Google Shape;1413;p32"/>
          <p:cNvSpPr/>
          <p:nvPr/>
        </p:nvSpPr>
        <p:spPr>
          <a:xfrm>
            <a:off x="1104900" y="8475345"/>
            <a:ext cx="4944618" cy="706755"/>
          </a:xfrm>
          <a:prstGeom prst="rect">
            <a:avLst/>
          </a:prstGeom>
          <a:noFill/>
          <a:ln>
            <a:noFill/>
          </a:ln>
        </p:spPr>
        <p:txBody>
          <a:bodyPr anchorCtr="0" anchor="t" bIns="25400" lIns="25400" spcFirstLastPara="1" rIns="25400" wrap="square" tIns="25400">
            <a:normAutofit/>
          </a:bodyPr>
          <a:lstStyle/>
          <a:p>
            <a:pPr indent="0" lvl="0" marL="0" marR="0" rtl="0" algn="l">
              <a:lnSpc>
                <a:spcPct val="118581"/>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Almost every hit is real, but you have thrown away more than half the biology.</a:t>
            </a:r>
            <a:endParaRPr b="0" i="0" sz="1950" u="none" cap="none" strike="noStrike">
              <a:solidFill>
                <a:schemeClr val="dk1"/>
              </a:solidFill>
              <a:latin typeface="Calibri"/>
              <a:ea typeface="Calibri"/>
              <a:cs typeface="Calibri"/>
              <a:sym typeface="Calibri"/>
            </a:endParaRPr>
          </a:p>
        </p:txBody>
      </p:sp>
      <p:sp>
        <p:nvSpPr>
          <p:cNvPr id="1414" name="Google Shape;1414;p32"/>
          <p:cNvSpPr/>
          <p:nvPr/>
        </p:nvSpPr>
        <p:spPr>
          <a:xfrm>
            <a:off x="6477000" y="7063740"/>
            <a:ext cx="5334000" cy="228981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2"/>
          <p:cNvSpPr/>
          <p:nvPr/>
        </p:nvSpPr>
        <p:spPr>
          <a:xfrm>
            <a:off x="6743700" y="7273290"/>
            <a:ext cx="52806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0" i="0" lang="en-US" sz="1800" u="none" cap="none" strike="noStrike">
                <a:solidFill>
                  <a:srgbClr val="E8A317"/>
                </a:solidFill>
                <a:latin typeface="Helvetica Neue"/>
                <a:ea typeface="Helvetica Neue"/>
                <a:cs typeface="Helvetica Neue"/>
                <a:sym typeface="Helvetica Neue"/>
              </a:rPr>
              <a:t>MIDDLE · CUT AT 0.50</a:t>
            </a:r>
            <a:endParaRPr b="0" i="0" sz="1800" u="none" cap="none" strike="noStrike">
              <a:solidFill>
                <a:schemeClr val="dk1"/>
              </a:solidFill>
              <a:latin typeface="Calibri"/>
              <a:ea typeface="Calibri"/>
              <a:cs typeface="Calibri"/>
              <a:sym typeface="Calibri"/>
            </a:endParaRPr>
          </a:p>
        </p:txBody>
      </p:sp>
      <p:sp>
        <p:nvSpPr>
          <p:cNvPr id="1416" name="Google Shape;1416;p32"/>
          <p:cNvSpPr/>
          <p:nvPr/>
        </p:nvSpPr>
        <p:spPr>
          <a:xfrm>
            <a:off x="6743700" y="7627620"/>
            <a:ext cx="4944618" cy="809625"/>
          </a:xfrm>
          <a:prstGeom prst="rect">
            <a:avLst/>
          </a:prstGeom>
          <a:noFill/>
          <a:ln>
            <a:noFill/>
          </a:ln>
        </p:spPr>
        <p:txBody>
          <a:bodyPr anchorCtr="0" anchor="t" bIns="25400" lIns="25400" spcFirstLastPara="1" rIns="25400" wrap="square" tIns="25400">
            <a:normAutofit/>
          </a:bodyPr>
          <a:lstStyle/>
          <a:p>
            <a:pPr indent="0" lvl="0" marL="0" marR="0" rtl="0" algn="l">
              <a:lnSpc>
                <a:spcPct val="117733"/>
              </a:lnSpc>
              <a:spcBef>
                <a:spcPts val="0"/>
              </a:spcBef>
              <a:spcAft>
                <a:spcPts val="0"/>
              </a:spcAft>
              <a:buClr>
                <a:srgbClr val="FFFFFF"/>
              </a:buClr>
              <a:buSzPts val="2250"/>
              <a:buFont typeface="Helvetica Neue"/>
              <a:buNone/>
            </a:pPr>
            <a:r>
              <a:rPr b="1" i="0" lang="en-US" sz="2250" u="none" cap="none" strike="noStrike">
                <a:solidFill>
                  <a:srgbClr val="FFFFFF"/>
                </a:solidFill>
                <a:latin typeface="Helvetica Neue"/>
                <a:ea typeface="Helvetica Neue"/>
                <a:cs typeface="Helvetica Neue"/>
                <a:sym typeface="Helvetica Neue"/>
              </a:rPr>
              <a:t>72 </a:t>
            </a:r>
            <a:r>
              <a:rPr b="0" i="0" lang="en-US" sz="2250" u="none" cap="none" strike="noStrike">
                <a:solidFill>
                  <a:srgbClr val="FFFFFF"/>
                </a:solidFill>
                <a:latin typeface="Helvetica Neue"/>
                <a:ea typeface="Helvetica Neue"/>
                <a:cs typeface="Helvetica Neue"/>
                <a:sym typeface="Helvetica Neue"/>
              </a:rPr>
              <a:t>of 100 promoters caught · </a:t>
            </a:r>
            <a:r>
              <a:rPr b="1" i="0" lang="en-US" sz="2250" u="none" cap="none" strike="noStrike">
                <a:solidFill>
                  <a:srgbClr val="FFFFFF"/>
                </a:solidFill>
                <a:latin typeface="Helvetica Neue"/>
                <a:ea typeface="Helvetica Neue"/>
                <a:cs typeface="Helvetica Neue"/>
                <a:sym typeface="Helvetica Neue"/>
              </a:rPr>
              <a:t>40 </a:t>
            </a:r>
            <a:r>
              <a:rPr b="0" i="0" lang="en-US" sz="2250" u="none" cap="none" strike="noStrike">
                <a:solidFill>
                  <a:srgbClr val="FFFFFF"/>
                </a:solidFill>
                <a:latin typeface="Helvetica Neue"/>
                <a:ea typeface="Helvetica Neue"/>
                <a:cs typeface="Helvetica Neue"/>
                <a:sym typeface="Helvetica Neue"/>
              </a:rPr>
              <a:t>false alarms</a:t>
            </a:r>
            <a:endParaRPr b="0" i="0" sz="2250" u="none" cap="none" strike="noStrike">
              <a:solidFill>
                <a:schemeClr val="dk1"/>
              </a:solidFill>
              <a:latin typeface="Calibri"/>
              <a:ea typeface="Calibri"/>
              <a:cs typeface="Calibri"/>
              <a:sym typeface="Calibri"/>
            </a:endParaRPr>
          </a:p>
        </p:txBody>
      </p:sp>
      <p:sp>
        <p:nvSpPr>
          <p:cNvPr id="1417" name="Google Shape;1417;p32"/>
          <p:cNvSpPr/>
          <p:nvPr/>
        </p:nvSpPr>
        <p:spPr>
          <a:xfrm>
            <a:off x="6743700" y="8475345"/>
            <a:ext cx="4944618" cy="706755"/>
          </a:xfrm>
          <a:prstGeom prst="rect">
            <a:avLst/>
          </a:prstGeom>
          <a:noFill/>
          <a:ln>
            <a:noFill/>
          </a:ln>
        </p:spPr>
        <p:txBody>
          <a:bodyPr anchorCtr="0" anchor="t" bIns="25400" lIns="25400" spcFirstLastPara="1" rIns="25400" wrap="square" tIns="25400">
            <a:normAutofit/>
          </a:bodyPr>
          <a:lstStyle/>
          <a:p>
            <a:pPr indent="0" lvl="0" marL="0" marR="0" rtl="0" algn="l">
              <a:lnSpc>
                <a:spcPct val="118581"/>
              </a:lnSpc>
              <a:spcBef>
                <a:spcPts val="0"/>
              </a:spcBef>
              <a:spcAft>
                <a:spcPts val="0"/>
              </a:spcAft>
              <a:buClr>
                <a:srgbClr val="C8D6EA"/>
              </a:buClr>
              <a:buSzPts val="1950"/>
              <a:buFont typeface="Helvetica Neue"/>
              <a:buNone/>
            </a:pPr>
            <a:r>
              <a:rPr b="0" i="0" lang="en-US" sz="1950" u="none" cap="none" strike="noStrike">
                <a:solidFill>
                  <a:srgbClr val="C8D6EA"/>
                </a:solidFill>
                <a:latin typeface="Helvetica Neue"/>
                <a:ea typeface="Helvetica Neue"/>
                <a:cs typeface="Helvetica Neue"/>
                <a:sym typeface="Helvetica Neue"/>
              </a:rPr>
              <a:t>The default, and the table on the previous slide. Nothing about it is special.</a:t>
            </a:r>
            <a:endParaRPr b="0" i="0" sz="1950" u="none" cap="none" strike="noStrike">
              <a:solidFill>
                <a:schemeClr val="dk1"/>
              </a:solidFill>
              <a:latin typeface="Calibri"/>
              <a:ea typeface="Calibri"/>
              <a:cs typeface="Calibri"/>
              <a:sym typeface="Calibri"/>
            </a:endParaRPr>
          </a:p>
        </p:txBody>
      </p:sp>
      <p:sp>
        <p:nvSpPr>
          <p:cNvPr id="1418" name="Google Shape;1418;p32"/>
          <p:cNvSpPr/>
          <p:nvPr/>
        </p:nvSpPr>
        <p:spPr>
          <a:xfrm>
            <a:off x="12115800" y="7063740"/>
            <a:ext cx="5334000" cy="228981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32"/>
          <p:cNvSpPr/>
          <p:nvPr/>
        </p:nvSpPr>
        <p:spPr>
          <a:xfrm>
            <a:off x="12382500" y="7273290"/>
            <a:ext cx="52806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LENIENT · CUT AT 0.30</a:t>
            </a:r>
            <a:endParaRPr b="0" i="0" sz="1800" u="none" cap="none" strike="noStrike">
              <a:solidFill>
                <a:schemeClr val="dk1"/>
              </a:solidFill>
              <a:latin typeface="Calibri"/>
              <a:ea typeface="Calibri"/>
              <a:cs typeface="Calibri"/>
              <a:sym typeface="Calibri"/>
            </a:endParaRPr>
          </a:p>
        </p:txBody>
      </p:sp>
      <p:sp>
        <p:nvSpPr>
          <p:cNvPr id="1420" name="Google Shape;1420;p32"/>
          <p:cNvSpPr/>
          <p:nvPr/>
        </p:nvSpPr>
        <p:spPr>
          <a:xfrm>
            <a:off x="12382500" y="7627620"/>
            <a:ext cx="4944618" cy="809625"/>
          </a:xfrm>
          <a:prstGeom prst="rect">
            <a:avLst/>
          </a:prstGeom>
          <a:noFill/>
          <a:ln>
            <a:noFill/>
          </a:ln>
        </p:spPr>
        <p:txBody>
          <a:bodyPr anchorCtr="0" anchor="t" bIns="25400" lIns="25400" spcFirstLastPara="1" rIns="25400" wrap="square" tIns="25400">
            <a:normAutofit/>
          </a:bodyPr>
          <a:lstStyle/>
          <a:p>
            <a:pPr indent="0" lvl="0" marL="0" marR="0" rtl="0" algn="l">
              <a:lnSpc>
                <a:spcPct val="117733"/>
              </a:lnSpc>
              <a:spcBef>
                <a:spcPts val="0"/>
              </a:spcBef>
              <a:spcAft>
                <a:spcPts val="0"/>
              </a:spcAft>
              <a:buClr>
                <a:srgbClr val="1C2A44"/>
              </a:buClr>
              <a:buSzPts val="2250"/>
              <a:buFont typeface="Helvetica Neue"/>
              <a:buNone/>
            </a:pPr>
            <a:r>
              <a:rPr b="1" i="0" lang="en-US" sz="2250" u="none" cap="none" strike="noStrike">
                <a:solidFill>
                  <a:srgbClr val="1C2A44"/>
                </a:solidFill>
                <a:latin typeface="Helvetica Neue"/>
                <a:ea typeface="Helvetica Neue"/>
                <a:cs typeface="Helvetica Neue"/>
                <a:sym typeface="Helvetica Neue"/>
              </a:rPr>
              <a:t>90 </a:t>
            </a:r>
            <a:r>
              <a:rPr b="0" i="0" lang="en-US" sz="2250" u="none" cap="none" strike="noStrike">
                <a:solidFill>
                  <a:srgbClr val="1C2A44"/>
                </a:solidFill>
                <a:latin typeface="Helvetica Neue"/>
                <a:ea typeface="Helvetica Neue"/>
                <a:cs typeface="Helvetica Neue"/>
                <a:sym typeface="Helvetica Neue"/>
              </a:rPr>
              <a:t>of 100 promoters caught · </a:t>
            </a:r>
            <a:r>
              <a:rPr b="1" i="0" lang="en-US" sz="2250" u="none" cap="none" strike="noStrike">
                <a:solidFill>
                  <a:srgbClr val="1C2A44"/>
                </a:solidFill>
                <a:latin typeface="Helvetica Neue"/>
                <a:ea typeface="Helvetica Neue"/>
                <a:cs typeface="Helvetica Neue"/>
                <a:sym typeface="Helvetica Neue"/>
              </a:rPr>
              <a:t>135 </a:t>
            </a:r>
            <a:r>
              <a:rPr b="0" i="0" lang="en-US" sz="2250" u="none" cap="none" strike="noStrike">
                <a:solidFill>
                  <a:srgbClr val="1C2A44"/>
                </a:solidFill>
                <a:latin typeface="Helvetica Neue"/>
                <a:ea typeface="Helvetica Neue"/>
                <a:cs typeface="Helvetica Neue"/>
                <a:sym typeface="Helvetica Neue"/>
              </a:rPr>
              <a:t>false alarms</a:t>
            </a:r>
            <a:endParaRPr b="0" i="0" sz="2250" u="none" cap="none" strike="noStrike">
              <a:solidFill>
                <a:schemeClr val="dk1"/>
              </a:solidFill>
              <a:latin typeface="Calibri"/>
              <a:ea typeface="Calibri"/>
              <a:cs typeface="Calibri"/>
              <a:sym typeface="Calibri"/>
            </a:endParaRPr>
          </a:p>
        </p:txBody>
      </p:sp>
      <p:sp>
        <p:nvSpPr>
          <p:cNvPr id="1421" name="Google Shape;1421;p32"/>
          <p:cNvSpPr/>
          <p:nvPr/>
        </p:nvSpPr>
        <p:spPr>
          <a:xfrm>
            <a:off x="12382500" y="8475345"/>
            <a:ext cx="4944618" cy="706755"/>
          </a:xfrm>
          <a:prstGeom prst="rect">
            <a:avLst/>
          </a:prstGeom>
          <a:noFill/>
          <a:ln>
            <a:noFill/>
          </a:ln>
        </p:spPr>
        <p:txBody>
          <a:bodyPr anchorCtr="0" anchor="t" bIns="25400" lIns="25400" spcFirstLastPara="1" rIns="25400" wrap="square" tIns="25400">
            <a:normAutofit/>
          </a:bodyPr>
          <a:lstStyle/>
          <a:p>
            <a:pPr indent="0" lvl="0" marL="0" marR="0" rtl="0" algn="l">
              <a:lnSpc>
                <a:spcPct val="118581"/>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You miss almost nothing, and pay for it with a much longer shortlist.</a:t>
            </a:r>
            <a:endParaRPr b="0" i="0" sz="1950" u="none" cap="none" strike="noStrike">
              <a:solidFill>
                <a:schemeClr val="dk1"/>
              </a:solidFill>
              <a:latin typeface="Calibri"/>
              <a:ea typeface="Calibri"/>
              <a:cs typeface="Calibri"/>
              <a:sym typeface="Calibri"/>
            </a:endParaRPr>
          </a:p>
        </p:txBody>
      </p:sp>
      <p:sp>
        <p:nvSpPr>
          <p:cNvPr id="1422" name="Google Shape;1422;p32"/>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2"/>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424" name="Google Shape;1424;p32"/>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425" name="Google Shape;1425;p32"/>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32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0" name="Shape 1430"/>
        <p:cNvGrpSpPr/>
        <p:nvPr/>
      </p:nvGrpSpPr>
      <p:grpSpPr>
        <a:xfrm>
          <a:off x="0" y="0"/>
          <a:ext cx="0" cy="0"/>
          <a:chOff x="0" y="0"/>
          <a:chExt cx="0" cy="0"/>
        </a:xfrm>
      </p:grpSpPr>
      <p:sp>
        <p:nvSpPr>
          <p:cNvPr id="1431" name="Google Shape;1431;p33"/>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3"/>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433" name="Google Shape;1433;p33"/>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434" name="Google Shape;1434;p33"/>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06 · JUDGING THE RESULT</a:t>
            </a:r>
            <a:endParaRPr b="0" i="0" sz="1800" u="none" cap="none" strike="noStrike">
              <a:solidFill>
                <a:schemeClr val="dk1"/>
              </a:solidFill>
              <a:latin typeface="Calibri"/>
              <a:ea typeface="Calibri"/>
              <a:cs typeface="Calibri"/>
              <a:sym typeface="Calibri"/>
            </a:endParaRPr>
          </a:p>
        </p:txBody>
      </p:sp>
      <p:sp>
        <p:nvSpPr>
          <p:cNvPr id="1435" name="Google Shape;1435;p33"/>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The ROC curve</a:t>
            </a:r>
            <a:endParaRPr b="0" i="0" sz="4500" u="none" cap="none" strike="noStrike">
              <a:solidFill>
                <a:schemeClr val="dk1"/>
              </a:solidFill>
              <a:latin typeface="Calibri"/>
              <a:ea typeface="Calibri"/>
              <a:cs typeface="Calibri"/>
              <a:sym typeface="Calibri"/>
            </a:endParaRPr>
          </a:p>
        </p:txBody>
      </p:sp>
      <p:sp>
        <p:nvSpPr>
          <p:cNvPr id="1436" name="Google Shape;1436;p33"/>
          <p:cNvSpPr/>
          <p:nvPr/>
        </p:nvSpPr>
        <p:spPr>
          <a:xfrm>
            <a:off x="838200" y="2295525"/>
            <a:ext cx="1530477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2209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Rather than argue about one cut-off, try every cut-off and plot what happens. Each point on this curve is one possible cut. That is the whole idea.</a:t>
            </a:r>
            <a:endParaRPr b="0" i="0" sz="2250" u="none" cap="none" strike="noStrike">
              <a:solidFill>
                <a:schemeClr val="dk1"/>
              </a:solidFill>
              <a:latin typeface="Calibri"/>
              <a:ea typeface="Calibri"/>
              <a:cs typeface="Calibri"/>
              <a:sym typeface="Calibri"/>
            </a:endParaRPr>
          </a:p>
        </p:txBody>
      </p:sp>
      <p:sp>
        <p:nvSpPr>
          <p:cNvPr id="1437" name="Google Shape;1437;p33"/>
          <p:cNvSpPr/>
          <p:nvPr/>
        </p:nvSpPr>
        <p:spPr>
          <a:xfrm>
            <a:off x="838200" y="3267075"/>
            <a:ext cx="7997190" cy="6086475"/>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38" name="Google Shape;1438;p33"/>
          <p:cNvPicPr preferRelativeResize="0"/>
          <p:nvPr/>
        </p:nvPicPr>
        <p:blipFill rotWithShape="1">
          <a:blip r:embed="rId4">
            <a:alphaModFix/>
          </a:blip>
          <a:srcRect b="0" l="0" r="0" t="0"/>
          <a:stretch/>
        </p:blipFill>
        <p:spPr>
          <a:xfrm>
            <a:off x="1344930" y="3400425"/>
            <a:ext cx="6983730" cy="5819775"/>
          </a:xfrm>
          <a:prstGeom prst="rect">
            <a:avLst/>
          </a:prstGeom>
          <a:noFill/>
          <a:ln>
            <a:noFill/>
          </a:ln>
        </p:spPr>
      </p:pic>
      <p:sp>
        <p:nvSpPr>
          <p:cNvPr id="1439" name="Google Shape;1439;p33"/>
          <p:cNvSpPr/>
          <p:nvPr/>
        </p:nvSpPr>
        <p:spPr>
          <a:xfrm>
            <a:off x="9292590" y="3267075"/>
            <a:ext cx="8972931"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THE TWO AXES, IN WORDS YOU ALREADY USE</a:t>
            </a:r>
            <a:endParaRPr b="0" i="0" sz="1800" u="none" cap="none" strike="noStrike">
              <a:solidFill>
                <a:schemeClr val="dk1"/>
              </a:solidFill>
              <a:latin typeface="Calibri"/>
              <a:ea typeface="Calibri"/>
              <a:cs typeface="Calibri"/>
              <a:sym typeface="Calibri"/>
            </a:endParaRPr>
          </a:p>
        </p:txBody>
      </p:sp>
      <p:sp>
        <p:nvSpPr>
          <p:cNvPr id="1440" name="Google Shape;1440;p33"/>
          <p:cNvSpPr/>
          <p:nvPr/>
        </p:nvSpPr>
        <p:spPr>
          <a:xfrm>
            <a:off x="9292590" y="3602355"/>
            <a:ext cx="8401927" cy="1375410"/>
          </a:xfrm>
          <a:prstGeom prst="rect">
            <a:avLst/>
          </a:prstGeom>
          <a:noFill/>
          <a:ln>
            <a:noFill/>
          </a:ln>
        </p:spPr>
        <p:txBody>
          <a:bodyPr anchorCtr="0" anchor="t" bIns="25400" lIns="25400" spcFirstLastPara="1" rIns="25400" wrap="square" tIns="25400">
            <a:normAutofit/>
          </a:bodyPr>
          <a:lstStyle/>
          <a:p>
            <a:pPr indent="0" lvl="0" marL="0" marR="0" rtl="0" algn="l">
              <a:lnSpc>
                <a:spcPct val="118581"/>
              </a:lnSpc>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Up </a:t>
            </a:r>
            <a:r>
              <a:rPr b="0" i="0" lang="en-US" sz="1950" u="none" cap="none" strike="noStrike">
                <a:solidFill>
                  <a:srgbClr val="3A4A63"/>
                </a:solidFill>
                <a:latin typeface="Helvetica Neue"/>
                <a:ea typeface="Helvetica Neue"/>
                <a:cs typeface="Helvetica Neue"/>
                <a:sym typeface="Helvetica Neue"/>
              </a:rPr>
              <a:t>is the catch rate: of the 100 real promoters, the fraction found. Clinicians call it sensitivity; we called it recall. </a:t>
            </a:r>
            <a:r>
              <a:rPr b="1" i="0" lang="en-US" sz="1950" u="none" cap="none" strike="noStrike">
                <a:solidFill>
                  <a:srgbClr val="1C2A44"/>
                </a:solidFill>
                <a:latin typeface="Helvetica Neue"/>
                <a:ea typeface="Helvetica Neue"/>
                <a:cs typeface="Helvetica Neue"/>
                <a:sym typeface="Helvetica Neue"/>
              </a:rPr>
              <a:t>Right </a:t>
            </a:r>
            <a:r>
              <a:rPr b="0" i="0" lang="en-US" sz="1950" u="none" cap="none" strike="noStrike">
                <a:solidFill>
                  <a:srgbClr val="3A4A63"/>
                </a:solidFill>
                <a:latin typeface="Helvetica Neue"/>
                <a:ea typeface="Helvetica Neue"/>
                <a:cs typeface="Helvetica Neue"/>
                <a:sym typeface="Helvetica Neue"/>
              </a:rPr>
              <a:t>is the false-alarm rate: of the 900 non-promoters, the fraction wrongly flagged. It is 1 − specificity.</a:t>
            </a:r>
            <a:endParaRPr b="0" i="0" sz="1950" u="none" cap="none" strike="noStrike">
              <a:solidFill>
                <a:schemeClr val="dk1"/>
              </a:solidFill>
              <a:latin typeface="Calibri"/>
              <a:ea typeface="Calibri"/>
              <a:cs typeface="Calibri"/>
              <a:sym typeface="Calibri"/>
            </a:endParaRPr>
          </a:p>
        </p:txBody>
      </p:sp>
      <p:sp>
        <p:nvSpPr>
          <p:cNvPr id="1441" name="Google Shape;1441;p33"/>
          <p:cNvSpPr/>
          <p:nvPr/>
        </p:nvSpPr>
        <p:spPr>
          <a:xfrm>
            <a:off x="9292590" y="5073015"/>
            <a:ext cx="8972931"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HOW THE CURVE IS DRAWN</a:t>
            </a:r>
            <a:endParaRPr b="0" i="0" sz="1800" u="none" cap="none" strike="noStrike">
              <a:solidFill>
                <a:schemeClr val="dk1"/>
              </a:solidFill>
              <a:latin typeface="Calibri"/>
              <a:ea typeface="Calibri"/>
              <a:cs typeface="Calibri"/>
              <a:sym typeface="Calibri"/>
            </a:endParaRPr>
          </a:p>
        </p:txBody>
      </p:sp>
      <p:sp>
        <p:nvSpPr>
          <p:cNvPr id="1442" name="Google Shape;1442;p33"/>
          <p:cNvSpPr/>
          <p:nvPr/>
        </p:nvSpPr>
        <p:spPr>
          <a:xfrm>
            <a:off x="9292590" y="5389245"/>
            <a:ext cx="8401927" cy="1375410"/>
          </a:xfrm>
          <a:prstGeom prst="rect">
            <a:avLst/>
          </a:prstGeom>
          <a:noFill/>
          <a:ln>
            <a:noFill/>
          </a:ln>
        </p:spPr>
        <p:txBody>
          <a:bodyPr anchorCtr="0" anchor="t" bIns="25400" lIns="25400" spcFirstLastPara="1" rIns="25400" wrap="square" tIns="25400">
            <a:normAutofit/>
          </a:bodyPr>
          <a:lstStyle/>
          <a:p>
            <a:pPr indent="0" lvl="0" marL="0" marR="0" rtl="0" algn="l">
              <a:lnSpc>
                <a:spcPct val="118581"/>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Slide the cut-off from 1.0 down to 0.0. At the strict end you catch nothing and flag nothing — bottom left. At the lenient end you catch everything and flag everything — top right. Every cut-off in between is a dot; join them up.</a:t>
            </a:r>
            <a:endParaRPr b="0" i="0" sz="1950" u="none" cap="none" strike="noStrike">
              <a:solidFill>
                <a:schemeClr val="dk1"/>
              </a:solidFill>
              <a:latin typeface="Calibri"/>
              <a:ea typeface="Calibri"/>
              <a:cs typeface="Calibri"/>
              <a:sym typeface="Calibri"/>
            </a:endParaRPr>
          </a:p>
        </p:txBody>
      </p:sp>
      <p:sp>
        <p:nvSpPr>
          <p:cNvPr id="1443" name="Google Shape;1443;p33"/>
          <p:cNvSpPr/>
          <p:nvPr/>
        </p:nvSpPr>
        <p:spPr>
          <a:xfrm>
            <a:off x="9292590" y="6859905"/>
            <a:ext cx="8157210" cy="1624013"/>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3"/>
          <p:cNvSpPr/>
          <p:nvPr/>
        </p:nvSpPr>
        <p:spPr>
          <a:xfrm>
            <a:off x="9521190" y="7012305"/>
            <a:ext cx="8470011"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READING IT IN ONE LOOK</a:t>
            </a:r>
            <a:endParaRPr b="0" i="0" sz="1800" u="none" cap="none" strike="noStrike">
              <a:solidFill>
                <a:schemeClr val="dk1"/>
              </a:solidFill>
              <a:latin typeface="Calibri"/>
              <a:ea typeface="Calibri"/>
              <a:cs typeface="Calibri"/>
              <a:sym typeface="Calibri"/>
            </a:endParaRPr>
          </a:p>
        </p:txBody>
      </p:sp>
      <p:sp>
        <p:nvSpPr>
          <p:cNvPr id="1445" name="Google Shape;1445;p33"/>
          <p:cNvSpPr/>
          <p:nvPr/>
        </p:nvSpPr>
        <p:spPr>
          <a:xfrm>
            <a:off x="9521190" y="7328535"/>
            <a:ext cx="7931011" cy="1041083"/>
          </a:xfrm>
          <a:prstGeom prst="rect">
            <a:avLst/>
          </a:prstGeom>
          <a:noFill/>
          <a:ln>
            <a:noFill/>
          </a:ln>
        </p:spPr>
        <p:txBody>
          <a:bodyPr anchorCtr="0" anchor="t" bIns="25400" lIns="25400" spcFirstLastPara="1" rIns="25400" wrap="square" tIns="25400">
            <a:normAutofit/>
          </a:bodyPr>
          <a:lstStyle/>
          <a:p>
            <a:pPr indent="0" lvl="0" marL="0" marR="0" rtl="0" algn="l">
              <a:lnSpc>
                <a:spcPct val="118581"/>
              </a:lnSpc>
              <a:spcBef>
                <a:spcPts val="0"/>
              </a:spcBef>
              <a:spcAft>
                <a:spcPts val="0"/>
              </a:spcAft>
              <a:buClr>
                <a:srgbClr val="C8D6EA"/>
              </a:buClr>
              <a:buSzPts val="1950"/>
              <a:buFont typeface="Helvetica Neue"/>
              <a:buNone/>
            </a:pPr>
            <a:r>
              <a:rPr b="0" i="0" lang="en-US" sz="1950" u="none" cap="none" strike="noStrike">
                <a:solidFill>
                  <a:srgbClr val="C8D6EA"/>
                </a:solidFill>
                <a:latin typeface="Helvetica Neue"/>
                <a:ea typeface="Helvetica Neue"/>
                <a:cs typeface="Helvetica Neue"/>
                <a:sym typeface="Helvetica Neue"/>
              </a:rPr>
              <a:t>A curve that hugs the </a:t>
            </a:r>
            <a:r>
              <a:rPr b="1" i="0" lang="en-US" sz="1950" u="none" cap="none" strike="noStrike">
                <a:solidFill>
                  <a:srgbClr val="FFFFFF"/>
                </a:solidFill>
                <a:latin typeface="Helvetica Neue"/>
                <a:ea typeface="Helvetica Neue"/>
                <a:cs typeface="Helvetica Neue"/>
                <a:sym typeface="Helvetica Neue"/>
              </a:rPr>
              <a:t>top-left </a:t>
            </a:r>
            <a:r>
              <a:rPr b="0" i="0" lang="en-US" sz="1950" u="none" cap="none" strike="noStrike">
                <a:solidFill>
                  <a:srgbClr val="C8D6EA"/>
                </a:solidFill>
                <a:latin typeface="Helvetica Neue"/>
                <a:ea typeface="Helvetica Neue"/>
                <a:cs typeface="Helvetica Neue"/>
                <a:sym typeface="Helvetica Neue"/>
              </a:rPr>
              <a:t>corner catches most promoters while raising few false alarms. The dashed diagonal is a model that guesses at random. Below the diagonal means worse than guessing.</a:t>
            </a:r>
            <a:endParaRPr b="0" i="0" sz="1950" u="none" cap="none" strike="noStrike">
              <a:solidFill>
                <a:schemeClr val="dk1"/>
              </a:solidFill>
              <a:latin typeface="Calibri"/>
              <a:ea typeface="Calibri"/>
              <a:cs typeface="Calibri"/>
              <a:sym typeface="Calibri"/>
            </a:endParaRPr>
          </a:p>
        </p:txBody>
      </p:sp>
      <p:sp>
        <p:nvSpPr>
          <p:cNvPr id="1446" name="Google Shape;1446;p33"/>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3"/>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448" name="Google Shape;1448;p33"/>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449" name="Google Shape;1449;p33"/>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33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4" name="Shape 1454"/>
        <p:cNvGrpSpPr/>
        <p:nvPr/>
      </p:nvGrpSpPr>
      <p:grpSpPr>
        <a:xfrm>
          <a:off x="0" y="0"/>
          <a:ext cx="0" cy="0"/>
          <a:chOff x="0" y="0"/>
          <a:chExt cx="0" cy="0"/>
        </a:xfrm>
      </p:grpSpPr>
      <p:sp>
        <p:nvSpPr>
          <p:cNvPr id="1455" name="Google Shape;1455;p34"/>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4"/>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457" name="Google Shape;1457;p34"/>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458" name="Google Shape;1458;p34"/>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06 · JUDGING THE RESULT</a:t>
            </a:r>
            <a:endParaRPr b="0" i="0" sz="1800" u="none" cap="none" strike="noStrike">
              <a:solidFill>
                <a:schemeClr val="dk1"/>
              </a:solidFill>
              <a:latin typeface="Calibri"/>
              <a:ea typeface="Calibri"/>
              <a:cs typeface="Calibri"/>
              <a:sym typeface="Calibri"/>
            </a:endParaRPr>
          </a:p>
        </p:txBody>
      </p:sp>
      <p:sp>
        <p:nvSpPr>
          <p:cNvPr id="1459" name="Google Shape;1459;p34"/>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AUC, in one number</a:t>
            </a:r>
            <a:endParaRPr b="0" i="0" sz="4500" u="none" cap="none" strike="noStrike">
              <a:solidFill>
                <a:schemeClr val="dk1"/>
              </a:solidFill>
              <a:latin typeface="Calibri"/>
              <a:ea typeface="Calibri"/>
              <a:cs typeface="Calibri"/>
              <a:sym typeface="Calibri"/>
            </a:endParaRPr>
          </a:p>
        </p:txBody>
      </p:sp>
      <p:sp>
        <p:nvSpPr>
          <p:cNvPr id="1460" name="Google Shape;1460;p34"/>
          <p:cNvSpPr/>
          <p:nvPr/>
        </p:nvSpPr>
        <p:spPr>
          <a:xfrm>
            <a:off x="838200" y="2295525"/>
            <a:ext cx="15304770"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2209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AUC is the area under that curve. It summarises every cut-off at once, so you can compare two models without first agreeing on a threshold.</a:t>
            </a:r>
            <a:endParaRPr b="0" i="0" sz="2250" u="none" cap="none" strike="noStrike">
              <a:solidFill>
                <a:schemeClr val="dk1"/>
              </a:solidFill>
              <a:latin typeface="Calibri"/>
              <a:ea typeface="Calibri"/>
              <a:cs typeface="Calibri"/>
              <a:sym typeface="Calibri"/>
            </a:endParaRPr>
          </a:p>
        </p:txBody>
      </p:sp>
      <p:sp>
        <p:nvSpPr>
          <p:cNvPr id="1461" name="Google Shape;1461;p34"/>
          <p:cNvSpPr/>
          <p:nvPr/>
        </p:nvSpPr>
        <p:spPr>
          <a:xfrm>
            <a:off x="838200" y="3324225"/>
            <a:ext cx="16611600" cy="131826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4"/>
          <p:cNvSpPr/>
          <p:nvPr/>
        </p:nvSpPr>
        <p:spPr>
          <a:xfrm>
            <a:off x="1162050" y="3602355"/>
            <a:ext cx="1631478" cy="800100"/>
          </a:xfrm>
          <a:prstGeom prst="rect">
            <a:avLst/>
          </a:prstGeom>
          <a:noFill/>
          <a:ln>
            <a:noFill/>
          </a:ln>
        </p:spPr>
        <p:txBody>
          <a:bodyPr anchorCtr="0" anchor="t" bIns="25400" lIns="25400" spcFirstLastPara="1" rIns="25400" wrap="square" tIns="25400">
            <a:normAutofit/>
          </a:bodyPr>
          <a:lstStyle/>
          <a:p>
            <a:pPr indent="0" lvl="0" marL="0" marR="0" rtl="0" algn="l">
              <a:lnSpc>
                <a:spcPct val="86957"/>
              </a:lnSpc>
              <a:spcBef>
                <a:spcPts val="0"/>
              </a:spcBef>
              <a:spcAft>
                <a:spcPts val="0"/>
              </a:spcAft>
              <a:buClr>
                <a:srgbClr val="E8A317"/>
              </a:buClr>
              <a:buSzPts val="6000"/>
              <a:buFont typeface="Helvetica Neue"/>
              <a:buNone/>
            </a:pPr>
            <a:r>
              <a:rPr b="1" i="0" lang="en-US" sz="6000" u="none" cap="none" strike="noStrike">
                <a:solidFill>
                  <a:srgbClr val="E8A317"/>
                </a:solidFill>
                <a:latin typeface="Helvetica Neue"/>
                <a:ea typeface="Helvetica Neue"/>
                <a:cs typeface="Helvetica Neue"/>
                <a:sym typeface="Helvetica Neue"/>
              </a:rPr>
              <a:t>0.93</a:t>
            </a:r>
            <a:endParaRPr b="0" i="0" sz="6000" u="none" cap="none" strike="noStrike">
              <a:solidFill>
                <a:schemeClr val="dk1"/>
              </a:solidFill>
              <a:latin typeface="Calibri"/>
              <a:ea typeface="Calibri"/>
              <a:cs typeface="Calibri"/>
              <a:sym typeface="Calibri"/>
            </a:endParaRPr>
          </a:p>
        </p:txBody>
      </p:sp>
      <p:sp>
        <p:nvSpPr>
          <p:cNvPr id="1463" name="Google Shape;1463;p34"/>
          <p:cNvSpPr/>
          <p:nvPr/>
        </p:nvSpPr>
        <p:spPr>
          <a:xfrm>
            <a:off x="3064312" y="3571875"/>
            <a:ext cx="14483487" cy="861060"/>
          </a:xfrm>
          <a:prstGeom prst="rect">
            <a:avLst/>
          </a:prstGeom>
          <a:noFill/>
          <a:ln>
            <a:noFill/>
          </a:ln>
        </p:spPr>
        <p:txBody>
          <a:bodyPr anchorCtr="0" anchor="t" bIns="25400" lIns="25400" spcFirstLastPara="1" rIns="25400" wrap="square" tIns="25400">
            <a:normAutofit/>
          </a:bodyPr>
          <a:lstStyle/>
          <a:p>
            <a:pPr indent="0" lvl="0" marL="0" marR="0" rtl="0" algn="l">
              <a:lnSpc>
                <a:spcPct val="120000"/>
              </a:lnSpc>
              <a:spcBef>
                <a:spcPts val="0"/>
              </a:spcBef>
              <a:spcAft>
                <a:spcPts val="0"/>
              </a:spcAft>
              <a:buClr>
                <a:srgbClr val="FFFFFF"/>
              </a:buClr>
              <a:buSzPts val="2400"/>
              <a:buFont typeface="Helvetica Neue"/>
              <a:buNone/>
            </a:pPr>
            <a:r>
              <a:rPr b="0" i="0" lang="en-US" sz="2400" u="none" cap="none" strike="noStrike">
                <a:solidFill>
                  <a:srgbClr val="FFFFFF"/>
                </a:solidFill>
                <a:latin typeface="Helvetica Neue"/>
                <a:ea typeface="Helvetica Neue"/>
                <a:cs typeface="Helvetica Neue"/>
                <a:sym typeface="Helvetica Neue"/>
              </a:rPr>
              <a:t>The definition worth memorising: </a:t>
            </a:r>
            <a:r>
              <a:rPr b="1" i="0" lang="en-US" sz="2400" u="none" cap="none" strike="noStrike">
                <a:solidFill>
                  <a:srgbClr val="FFFFFF"/>
                </a:solidFill>
                <a:latin typeface="Helvetica Neue"/>
                <a:ea typeface="Helvetica Neue"/>
                <a:cs typeface="Helvetica Neue"/>
                <a:sym typeface="Helvetica Neue"/>
              </a:rPr>
              <a:t>pick one real promoter and one non-promoter at random. AUC is the chance the model gave the promoter the higher score. </a:t>
            </a:r>
            <a:r>
              <a:rPr b="0" i="0" lang="en-US" sz="2400" u="none" cap="none" strike="noStrike">
                <a:solidFill>
                  <a:srgbClr val="FFFFFF"/>
                </a:solidFill>
                <a:latin typeface="Helvetica Neue"/>
                <a:ea typeface="Helvetica Neue"/>
                <a:cs typeface="Helvetica Neue"/>
                <a:sym typeface="Helvetica Neue"/>
              </a:rPr>
              <a:t>Here, 93 times out of 100.</a:t>
            </a:r>
            <a:endParaRPr b="0" i="0" sz="2400" u="none" cap="none" strike="noStrike">
              <a:solidFill>
                <a:schemeClr val="dk1"/>
              </a:solidFill>
              <a:latin typeface="Calibri"/>
              <a:ea typeface="Calibri"/>
              <a:cs typeface="Calibri"/>
              <a:sym typeface="Calibri"/>
            </a:endParaRPr>
          </a:p>
        </p:txBody>
      </p:sp>
      <p:sp>
        <p:nvSpPr>
          <p:cNvPr id="1464" name="Google Shape;1464;p34"/>
          <p:cNvSpPr/>
          <p:nvPr/>
        </p:nvSpPr>
        <p:spPr>
          <a:xfrm>
            <a:off x="838200" y="4871085"/>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WHAT THE NUMBER IS WORTH</a:t>
            </a:r>
            <a:endParaRPr b="0" i="0" sz="1800" u="none" cap="none" strike="noStrike">
              <a:solidFill>
                <a:schemeClr val="dk1"/>
              </a:solidFill>
              <a:latin typeface="Calibri"/>
              <a:ea typeface="Calibri"/>
              <a:cs typeface="Calibri"/>
              <a:sym typeface="Calibri"/>
            </a:endParaRPr>
          </a:p>
        </p:txBody>
      </p:sp>
      <p:sp>
        <p:nvSpPr>
          <p:cNvPr id="1465" name="Google Shape;1465;p34"/>
          <p:cNvSpPr/>
          <p:nvPr/>
        </p:nvSpPr>
        <p:spPr>
          <a:xfrm>
            <a:off x="838200" y="5244465"/>
            <a:ext cx="8096250" cy="40005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4"/>
          <p:cNvSpPr/>
          <p:nvPr/>
        </p:nvSpPr>
        <p:spPr>
          <a:xfrm>
            <a:off x="990600" y="5244465"/>
            <a:ext cx="8186738" cy="43815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0.50 · a coin toss</a:t>
            </a:r>
            <a:endParaRPr b="0" i="0" sz="1800" u="none" cap="none" strike="noStrike">
              <a:solidFill>
                <a:schemeClr val="dk1"/>
              </a:solidFill>
              <a:latin typeface="Calibri"/>
              <a:ea typeface="Calibri"/>
              <a:cs typeface="Calibri"/>
              <a:sym typeface="Calibri"/>
            </a:endParaRPr>
          </a:p>
        </p:txBody>
      </p:sp>
      <p:sp>
        <p:nvSpPr>
          <p:cNvPr id="1467" name="Google Shape;1467;p34"/>
          <p:cNvSpPr/>
          <p:nvPr/>
        </p:nvSpPr>
        <p:spPr>
          <a:xfrm>
            <a:off x="8972550" y="5244465"/>
            <a:ext cx="3329940" cy="400050"/>
          </a:xfrm>
          <a:prstGeom prst="rect">
            <a:avLst/>
          </a:prstGeom>
          <a:solidFill>
            <a:srgbClr val="E2E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4"/>
          <p:cNvSpPr/>
          <p:nvPr/>
        </p:nvSpPr>
        <p:spPr>
          <a:xfrm>
            <a:off x="9124950" y="5244465"/>
            <a:ext cx="3277438" cy="43815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0.70 · weak</a:t>
            </a:r>
            <a:endParaRPr b="0" i="0" sz="1800" u="none" cap="none" strike="noStrike">
              <a:solidFill>
                <a:schemeClr val="dk1"/>
              </a:solidFill>
              <a:latin typeface="Calibri"/>
              <a:ea typeface="Calibri"/>
              <a:cs typeface="Calibri"/>
              <a:sym typeface="Calibri"/>
            </a:endParaRPr>
          </a:p>
        </p:txBody>
      </p:sp>
      <p:sp>
        <p:nvSpPr>
          <p:cNvPr id="1469" name="Google Shape;1469;p34"/>
          <p:cNvSpPr/>
          <p:nvPr/>
        </p:nvSpPr>
        <p:spPr>
          <a:xfrm>
            <a:off x="12340590" y="5244465"/>
            <a:ext cx="2535555" cy="400050"/>
          </a:xfrm>
          <a:prstGeom prst="rect">
            <a:avLst/>
          </a:prstGeom>
          <a:solidFill>
            <a:srgbClr val="F2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34"/>
          <p:cNvSpPr/>
          <p:nvPr/>
        </p:nvSpPr>
        <p:spPr>
          <a:xfrm>
            <a:off x="12492990" y="5244465"/>
            <a:ext cx="2459355" cy="43815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3A4A63"/>
              </a:buClr>
              <a:buSzPts val="1800"/>
              <a:buFont typeface="Helvetica Neue"/>
              <a:buNone/>
            </a:pPr>
            <a:r>
              <a:rPr b="0" i="0" lang="en-US" sz="1800" u="none" cap="none" strike="noStrike">
                <a:solidFill>
                  <a:srgbClr val="3A4A63"/>
                </a:solidFill>
                <a:latin typeface="Helvetica Neue"/>
                <a:ea typeface="Helvetica Neue"/>
                <a:cs typeface="Helvetica Neue"/>
                <a:sym typeface="Helvetica Neue"/>
              </a:rPr>
              <a:t>0.85 · useful</a:t>
            </a:r>
            <a:endParaRPr b="0" i="0" sz="1800" u="none" cap="none" strike="noStrike">
              <a:solidFill>
                <a:schemeClr val="dk1"/>
              </a:solidFill>
              <a:latin typeface="Calibri"/>
              <a:ea typeface="Calibri"/>
              <a:cs typeface="Calibri"/>
              <a:sym typeface="Calibri"/>
            </a:endParaRPr>
          </a:p>
        </p:txBody>
      </p:sp>
      <p:sp>
        <p:nvSpPr>
          <p:cNvPr id="1471" name="Google Shape;1471;p34"/>
          <p:cNvSpPr/>
          <p:nvPr/>
        </p:nvSpPr>
        <p:spPr>
          <a:xfrm>
            <a:off x="14914245" y="5244465"/>
            <a:ext cx="2535555" cy="40005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4"/>
          <p:cNvSpPr/>
          <p:nvPr/>
        </p:nvSpPr>
        <p:spPr>
          <a:xfrm>
            <a:off x="15066645" y="5244465"/>
            <a:ext cx="2459355" cy="43815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6223A"/>
              </a:buClr>
              <a:buSzPts val="1800"/>
              <a:buFont typeface="Helvetica Neue"/>
              <a:buNone/>
            </a:pPr>
            <a:r>
              <a:rPr b="1" i="0" lang="en-US" sz="1800" u="none" cap="none" strike="noStrike">
                <a:solidFill>
                  <a:srgbClr val="16223A"/>
                </a:solidFill>
                <a:latin typeface="Helvetica Neue"/>
                <a:ea typeface="Helvetica Neue"/>
                <a:cs typeface="Helvetica Neue"/>
                <a:sym typeface="Helvetica Neue"/>
              </a:rPr>
              <a:t>0.95+ · suspicious</a:t>
            </a:r>
            <a:endParaRPr b="0" i="0" sz="1800" u="none" cap="none" strike="noStrike">
              <a:solidFill>
                <a:schemeClr val="dk1"/>
              </a:solidFill>
              <a:latin typeface="Calibri"/>
              <a:ea typeface="Calibri"/>
              <a:cs typeface="Calibri"/>
              <a:sym typeface="Calibri"/>
            </a:endParaRPr>
          </a:p>
        </p:txBody>
      </p:sp>
      <p:sp>
        <p:nvSpPr>
          <p:cNvPr id="1473" name="Google Shape;1473;p34"/>
          <p:cNvSpPr/>
          <p:nvPr/>
        </p:nvSpPr>
        <p:spPr>
          <a:xfrm>
            <a:off x="838200" y="5739765"/>
            <a:ext cx="18272760" cy="384810"/>
          </a:xfrm>
          <a:prstGeom prst="rect">
            <a:avLst/>
          </a:prstGeom>
          <a:noFill/>
          <a:ln>
            <a:noFill/>
          </a:ln>
        </p:spPr>
        <p:txBody>
          <a:bodyPr anchorCtr="0" anchor="t" bIns="25400" lIns="25400" spcFirstLastPara="1" rIns="25400" wrap="square" tIns="25400">
            <a:normAutofit/>
          </a:bodyPr>
          <a:lstStyle/>
          <a:p>
            <a:pPr indent="0" lvl="0" marL="0" marR="0" rtl="0" algn="l">
              <a:lnSpc>
                <a:spcPct val="122973"/>
              </a:lnSpc>
              <a:spcBef>
                <a:spcPts val="0"/>
              </a:spcBef>
              <a:spcAft>
                <a:spcPts val="0"/>
              </a:spcAft>
              <a:buClr>
                <a:srgbClr val="53627A"/>
              </a:buClr>
              <a:buSzPts val="1950"/>
              <a:buFont typeface="Helvetica Neue"/>
              <a:buNone/>
            </a:pPr>
            <a:r>
              <a:rPr b="0" i="0" lang="en-US" sz="1950" u="none" cap="none" strike="noStrike">
                <a:solidFill>
                  <a:srgbClr val="53627A"/>
                </a:solidFill>
                <a:latin typeface="Helvetica Neue"/>
                <a:ea typeface="Helvetica Neue"/>
                <a:cs typeface="Helvetica Neue"/>
                <a:sym typeface="Helvetica Neue"/>
              </a:rPr>
              <a:t>An AUC near 1.0 on a genomics task is far more often a leaky split than a great model. Check what was held out before you celebrate.</a:t>
            </a:r>
            <a:endParaRPr b="0" i="0" sz="1950" u="none" cap="none" strike="noStrike">
              <a:solidFill>
                <a:schemeClr val="dk1"/>
              </a:solidFill>
              <a:latin typeface="Calibri"/>
              <a:ea typeface="Calibri"/>
              <a:cs typeface="Calibri"/>
              <a:sym typeface="Calibri"/>
            </a:endParaRPr>
          </a:p>
        </p:txBody>
      </p:sp>
      <p:sp>
        <p:nvSpPr>
          <p:cNvPr id="1474" name="Google Shape;1474;p34"/>
          <p:cNvSpPr/>
          <p:nvPr/>
        </p:nvSpPr>
        <p:spPr>
          <a:xfrm>
            <a:off x="838200" y="7299960"/>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34"/>
          <p:cNvSpPr/>
          <p:nvPr/>
        </p:nvSpPr>
        <p:spPr>
          <a:xfrm>
            <a:off x="838200" y="7524750"/>
            <a:ext cx="88849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WHY PEOPLE LIKE IT</a:t>
            </a:r>
            <a:endParaRPr b="0" i="0" sz="1800" u="none" cap="none" strike="noStrike">
              <a:solidFill>
                <a:schemeClr val="dk1"/>
              </a:solidFill>
              <a:latin typeface="Calibri"/>
              <a:ea typeface="Calibri"/>
              <a:cs typeface="Calibri"/>
              <a:sym typeface="Calibri"/>
            </a:endParaRPr>
          </a:p>
        </p:txBody>
      </p:sp>
      <p:sp>
        <p:nvSpPr>
          <p:cNvPr id="1476" name="Google Shape;1476;p34"/>
          <p:cNvSpPr/>
          <p:nvPr/>
        </p:nvSpPr>
        <p:spPr>
          <a:xfrm>
            <a:off x="838200" y="7860030"/>
            <a:ext cx="8319516" cy="115824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It needs no threshold, so nobody can tune one to flatter the result, and it only depends on how the windows are </a:t>
            </a:r>
            <a:r>
              <a:rPr b="0" i="1" lang="en-US" sz="2100" u="none" cap="none" strike="noStrike">
                <a:solidFill>
                  <a:srgbClr val="3A4A63"/>
                </a:solidFill>
                <a:latin typeface="Helvetica Neue"/>
                <a:ea typeface="Helvetica Neue"/>
                <a:cs typeface="Helvetica Neue"/>
                <a:sym typeface="Helvetica Neue"/>
              </a:rPr>
              <a:t>ranked </a:t>
            </a:r>
            <a:r>
              <a:rPr b="0" i="0" lang="en-US" sz="2100" u="none" cap="none" strike="noStrike">
                <a:solidFill>
                  <a:srgbClr val="3A4A63"/>
                </a:solidFill>
                <a:latin typeface="Helvetica Neue"/>
                <a:ea typeface="Helvetica Neue"/>
                <a:cs typeface="Helvetica Neue"/>
                <a:sym typeface="Helvetica Neue"/>
              </a:rPr>
              <a:t>— not on the scores themselves.</a:t>
            </a:r>
            <a:endParaRPr b="0" i="0" sz="2100" u="none" cap="none" strike="noStrike">
              <a:solidFill>
                <a:schemeClr val="dk1"/>
              </a:solidFill>
              <a:latin typeface="Calibri"/>
              <a:ea typeface="Calibri"/>
              <a:cs typeface="Calibri"/>
              <a:sym typeface="Calibri"/>
            </a:endParaRPr>
          </a:p>
        </p:txBody>
      </p:sp>
      <p:sp>
        <p:nvSpPr>
          <p:cNvPr id="1477" name="Google Shape;1477;p34"/>
          <p:cNvSpPr/>
          <p:nvPr/>
        </p:nvSpPr>
        <p:spPr>
          <a:xfrm>
            <a:off x="9372600" y="7524750"/>
            <a:ext cx="888492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WHERE IT MISLEADS YOU</a:t>
            </a:r>
            <a:endParaRPr b="0" i="0" sz="1800" u="none" cap="none" strike="noStrike">
              <a:solidFill>
                <a:schemeClr val="dk1"/>
              </a:solidFill>
              <a:latin typeface="Calibri"/>
              <a:ea typeface="Calibri"/>
              <a:cs typeface="Calibri"/>
              <a:sym typeface="Calibri"/>
            </a:endParaRPr>
          </a:p>
        </p:txBody>
      </p:sp>
      <p:sp>
        <p:nvSpPr>
          <p:cNvPr id="1478" name="Google Shape;1478;p34"/>
          <p:cNvSpPr/>
          <p:nvPr/>
        </p:nvSpPr>
        <p:spPr>
          <a:xfrm>
            <a:off x="9372600" y="7860030"/>
            <a:ext cx="8319516" cy="1531620"/>
          </a:xfrm>
          <a:prstGeom prst="rect">
            <a:avLst/>
          </a:prstGeom>
          <a:noFill/>
          <a:ln>
            <a:noFill/>
          </a:ln>
        </p:spPr>
        <p:txBody>
          <a:bodyPr anchorCtr="0" anchor="t" bIns="25400" lIns="25400" spcFirstLastPara="1" rIns="25400" wrap="square" tIns="25400">
            <a:normAutofit/>
          </a:bodyPr>
          <a:lstStyle/>
          <a:p>
            <a:pPr indent="0" lvl="0" marL="0" marR="0" rtl="0" algn="l">
              <a:lnSpc>
                <a:spcPct val="122500"/>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With 100 promoters against 900 non-promoters, 40 false alarms barely dent the false-alarm</a:t>
            </a:r>
            <a:r>
              <a:rPr lang="en-US" sz="2100">
                <a:solidFill>
                  <a:srgbClr val="3A4A63"/>
                </a:solidFill>
                <a:latin typeface="Helvetica Neue"/>
                <a:ea typeface="Helvetica Neue"/>
                <a:cs typeface="Helvetica Neue"/>
                <a:sym typeface="Helvetica Neue"/>
              </a:rPr>
              <a:t>/positive </a:t>
            </a:r>
            <a:r>
              <a:rPr b="0" i="0" lang="en-US" sz="2100" u="none" cap="none" strike="noStrike">
                <a:solidFill>
                  <a:srgbClr val="3A4A63"/>
                </a:solidFill>
                <a:latin typeface="Helvetica Neue"/>
                <a:ea typeface="Helvetica Neue"/>
                <a:cs typeface="Helvetica Neue"/>
                <a:sym typeface="Helvetica Neue"/>
              </a:rPr>
              <a:t>rate but wreck your precision. AUC 0.93 here, yet only 64 in 100 flagged windows are real. Report the precision–recall curve alongside it.</a:t>
            </a:r>
            <a:endParaRPr b="0" i="0" sz="2100" u="none" cap="none" strike="noStrike">
              <a:solidFill>
                <a:schemeClr val="dk1"/>
              </a:solidFill>
              <a:latin typeface="Calibri"/>
              <a:ea typeface="Calibri"/>
              <a:cs typeface="Calibri"/>
              <a:sym typeface="Calibri"/>
            </a:endParaRPr>
          </a:p>
        </p:txBody>
      </p:sp>
      <p:sp>
        <p:nvSpPr>
          <p:cNvPr id="1479" name="Google Shape;1479;p34"/>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4"/>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481" name="Google Shape;1481;p34"/>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482" name="Google Shape;1482;p34"/>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34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7" name="Shape 1487"/>
        <p:cNvGrpSpPr/>
        <p:nvPr/>
      </p:nvGrpSpPr>
      <p:grpSpPr>
        <a:xfrm>
          <a:off x="0" y="0"/>
          <a:ext cx="0" cy="0"/>
          <a:chOff x="0" y="0"/>
          <a:chExt cx="0" cy="0"/>
        </a:xfrm>
      </p:grpSpPr>
      <p:sp>
        <p:nvSpPr>
          <p:cNvPr id="1488" name="Google Shape;1488;p35"/>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5"/>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490" name="Google Shape;1490;p35"/>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491" name="Google Shape;1491;p35"/>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06 · JUDGING THE RESULT</a:t>
            </a:r>
            <a:endParaRPr b="0" i="0" sz="1800" u="none" cap="none" strike="noStrike">
              <a:solidFill>
                <a:schemeClr val="dk1"/>
              </a:solidFill>
              <a:latin typeface="Calibri"/>
              <a:ea typeface="Calibri"/>
              <a:cs typeface="Calibri"/>
              <a:sym typeface="Calibri"/>
            </a:endParaRPr>
          </a:p>
        </p:txBody>
      </p:sp>
      <p:sp>
        <p:nvSpPr>
          <p:cNvPr id="1492" name="Google Shape;1492;p35"/>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What was really held out</a:t>
            </a:r>
            <a:endParaRPr b="0" i="0" sz="4500" u="none" cap="none" strike="noStrike">
              <a:solidFill>
                <a:schemeClr val="dk1"/>
              </a:solidFill>
              <a:latin typeface="Calibri"/>
              <a:ea typeface="Calibri"/>
              <a:cs typeface="Calibri"/>
              <a:sym typeface="Calibri"/>
            </a:endParaRPr>
          </a:p>
        </p:txBody>
      </p:sp>
      <p:sp>
        <p:nvSpPr>
          <p:cNvPr id="1493" name="Google Shape;1493;p35"/>
          <p:cNvSpPr/>
          <p:nvPr/>
        </p:nvSpPr>
        <p:spPr>
          <a:xfrm>
            <a:off x="838200" y="2314575"/>
            <a:ext cx="14912340" cy="866775"/>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The same model and the same data can produce two very different scores, depending only on how the test set was chosen.</a:t>
            </a:r>
            <a:endParaRPr b="0" i="0" sz="2250" u="none" cap="none" strike="noStrike">
              <a:solidFill>
                <a:schemeClr val="dk1"/>
              </a:solidFill>
              <a:latin typeface="Calibri"/>
              <a:ea typeface="Calibri"/>
              <a:cs typeface="Calibri"/>
              <a:sym typeface="Calibri"/>
            </a:endParaRPr>
          </a:p>
        </p:txBody>
      </p:sp>
      <p:sp>
        <p:nvSpPr>
          <p:cNvPr id="1494" name="Google Shape;1494;p35"/>
          <p:cNvSpPr/>
          <p:nvPr/>
        </p:nvSpPr>
        <p:spPr>
          <a:xfrm>
            <a:off x="838200" y="3486150"/>
            <a:ext cx="8077200" cy="4585335"/>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5"/>
          <p:cNvSpPr/>
          <p:nvPr/>
        </p:nvSpPr>
        <p:spPr>
          <a:xfrm>
            <a:off x="1123950" y="3714750"/>
            <a:ext cx="825627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THE EASY SPLIT</a:t>
            </a:r>
            <a:endParaRPr b="0" i="0" sz="1800" u="none" cap="none" strike="noStrike">
              <a:solidFill>
                <a:schemeClr val="dk1"/>
              </a:solidFill>
              <a:latin typeface="Calibri"/>
              <a:ea typeface="Calibri"/>
              <a:cs typeface="Calibri"/>
              <a:sym typeface="Calibri"/>
            </a:endParaRPr>
          </a:p>
        </p:txBody>
      </p:sp>
      <p:sp>
        <p:nvSpPr>
          <p:cNvPr id="1496" name="Google Shape;1496;p35"/>
          <p:cNvSpPr/>
          <p:nvPr/>
        </p:nvSpPr>
        <p:spPr>
          <a:xfrm>
            <a:off x="1123950" y="4050030"/>
            <a:ext cx="8256270" cy="457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850"/>
              <a:buFont typeface="Helvetica Neue"/>
              <a:buNone/>
            </a:pPr>
            <a:r>
              <a:rPr b="1" i="0" lang="en-US" sz="2850" u="none" cap="none" strike="noStrike">
                <a:solidFill>
                  <a:srgbClr val="1C2A44"/>
                </a:solidFill>
                <a:latin typeface="Helvetica Neue"/>
                <a:ea typeface="Helvetica Neue"/>
                <a:cs typeface="Helvetica Neue"/>
                <a:sym typeface="Helvetica Neue"/>
              </a:rPr>
              <a:t>Shuffle and cut 80 / 20</a:t>
            </a:r>
            <a:endParaRPr b="0" i="0" sz="2850" u="none" cap="none" strike="noStrike">
              <a:solidFill>
                <a:schemeClr val="dk1"/>
              </a:solidFill>
              <a:latin typeface="Calibri"/>
              <a:ea typeface="Calibri"/>
              <a:cs typeface="Calibri"/>
              <a:sym typeface="Calibri"/>
            </a:endParaRPr>
          </a:p>
        </p:txBody>
      </p:sp>
      <p:sp>
        <p:nvSpPr>
          <p:cNvPr id="1497" name="Google Shape;1497;p35"/>
          <p:cNvSpPr/>
          <p:nvPr/>
        </p:nvSpPr>
        <p:spPr>
          <a:xfrm>
            <a:off x="1123950" y="4659630"/>
            <a:ext cx="716280" cy="41910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5"/>
          <p:cNvSpPr/>
          <p:nvPr/>
        </p:nvSpPr>
        <p:spPr>
          <a:xfrm>
            <a:off x="1878330" y="4659630"/>
            <a:ext cx="716280" cy="419100"/>
          </a:xfrm>
          <a:prstGeom prst="rect">
            <a:avLst/>
          </a:prstGeom>
          <a:solidFill>
            <a:srgbClr val="8FA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5"/>
          <p:cNvSpPr/>
          <p:nvPr/>
        </p:nvSpPr>
        <p:spPr>
          <a:xfrm>
            <a:off x="2632710" y="4659630"/>
            <a:ext cx="716280" cy="41910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5"/>
          <p:cNvSpPr/>
          <p:nvPr/>
        </p:nvSpPr>
        <p:spPr>
          <a:xfrm>
            <a:off x="3387090" y="4659630"/>
            <a:ext cx="716280" cy="41910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5"/>
          <p:cNvSpPr/>
          <p:nvPr/>
        </p:nvSpPr>
        <p:spPr>
          <a:xfrm>
            <a:off x="4141470" y="4659630"/>
            <a:ext cx="716280" cy="419100"/>
          </a:xfrm>
          <a:prstGeom prst="rect">
            <a:avLst/>
          </a:prstGeom>
          <a:solidFill>
            <a:srgbClr val="8FA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5"/>
          <p:cNvSpPr/>
          <p:nvPr/>
        </p:nvSpPr>
        <p:spPr>
          <a:xfrm>
            <a:off x="4895850" y="4659630"/>
            <a:ext cx="716280" cy="41910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5"/>
          <p:cNvSpPr/>
          <p:nvPr/>
        </p:nvSpPr>
        <p:spPr>
          <a:xfrm>
            <a:off x="5650230" y="4659630"/>
            <a:ext cx="716280" cy="41910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5"/>
          <p:cNvSpPr/>
          <p:nvPr/>
        </p:nvSpPr>
        <p:spPr>
          <a:xfrm>
            <a:off x="6404610" y="4659630"/>
            <a:ext cx="716280" cy="419100"/>
          </a:xfrm>
          <a:prstGeom prst="rect">
            <a:avLst/>
          </a:prstGeom>
          <a:solidFill>
            <a:srgbClr val="8FA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5"/>
          <p:cNvSpPr/>
          <p:nvPr/>
        </p:nvSpPr>
        <p:spPr>
          <a:xfrm>
            <a:off x="7158990" y="4659630"/>
            <a:ext cx="716280" cy="41910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5"/>
          <p:cNvSpPr/>
          <p:nvPr/>
        </p:nvSpPr>
        <p:spPr>
          <a:xfrm>
            <a:off x="7913370" y="4659630"/>
            <a:ext cx="716280" cy="41910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5"/>
          <p:cNvSpPr/>
          <p:nvPr/>
        </p:nvSpPr>
        <p:spPr>
          <a:xfrm>
            <a:off x="1123950" y="5173980"/>
            <a:ext cx="8256270"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 train ▮ test — drawn from the same neighbourhoods</a:t>
            </a:r>
            <a:endParaRPr b="0" i="0" sz="1800" u="none" cap="none" strike="noStrike">
              <a:solidFill>
                <a:schemeClr val="dk1"/>
              </a:solidFill>
              <a:latin typeface="Calibri"/>
              <a:ea typeface="Calibri"/>
              <a:cs typeface="Calibri"/>
              <a:sym typeface="Calibri"/>
            </a:endParaRPr>
          </a:p>
        </p:txBody>
      </p:sp>
      <p:sp>
        <p:nvSpPr>
          <p:cNvPr id="1508" name="Google Shape;1508;p35"/>
          <p:cNvSpPr/>
          <p:nvPr/>
        </p:nvSpPr>
        <p:spPr>
          <a:xfrm>
            <a:off x="1123950" y="5627370"/>
            <a:ext cx="7730871" cy="1529715"/>
          </a:xfrm>
          <a:prstGeom prst="rect">
            <a:avLst/>
          </a:prstGeom>
          <a:noFill/>
          <a:ln>
            <a:noFill/>
          </a:ln>
        </p:spPr>
        <p:txBody>
          <a:bodyPr anchorCtr="0" anchor="t" bIns="25400" lIns="25400" spcFirstLastPara="1" rIns="25400" wrap="square" tIns="25400">
            <a:normAutofit/>
          </a:bodyPr>
          <a:lstStyle/>
          <a:p>
            <a:pPr indent="0" lvl="0" marL="0" marR="0" rtl="0" algn="l">
              <a:lnSpc>
                <a:spcPct val="125481"/>
              </a:lnSpc>
              <a:spcBef>
                <a:spcPts val="0"/>
              </a:spcBef>
              <a:spcAft>
                <a:spcPts val="0"/>
              </a:spcAft>
              <a:buClr>
                <a:srgbClr val="3A4A63"/>
              </a:buClr>
              <a:buSzPts val="2025"/>
              <a:buFont typeface="Helvetica Neue"/>
              <a:buNone/>
            </a:pPr>
            <a:r>
              <a:rPr b="0" i="0" lang="en-US" sz="2025" u="none" cap="none" strike="noStrike">
                <a:solidFill>
                  <a:srgbClr val="3A4A63"/>
                </a:solidFill>
                <a:latin typeface="Helvetica Neue"/>
                <a:ea typeface="Helvetica Neue"/>
                <a:cs typeface="Helvetica Neue"/>
                <a:sym typeface="Helvetica Neue"/>
              </a:rPr>
              <a:t>Windows overlap, and neighbouring regions look alike, so a near-copy of almost every test window sits in the training set. The model can recognise rather than generalise, and the score comes out flattering.</a:t>
            </a:r>
            <a:endParaRPr b="0" i="0" sz="2025" u="none" cap="none" strike="noStrike">
              <a:solidFill>
                <a:schemeClr val="dk1"/>
              </a:solidFill>
              <a:latin typeface="Calibri"/>
              <a:ea typeface="Calibri"/>
              <a:cs typeface="Calibri"/>
              <a:sym typeface="Calibri"/>
            </a:endParaRPr>
          </a:p>
        </p:txBody>
      </p:sp>
      <p:sp>
        <p:nvSpPr>
          <p:cNvPr id="1509" name="Google Shape;1509;p35"/>
          <p:cNvSpPr/>
          <p:nvPr/>
        </p:nvSpPr>
        <p:spPr>
          <a:xfrm>
            <a:off x="1123950" y="7233285"/>
            <a:ext cx="7730871" cy="647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100"/>
              <a:buFont typeface="Helvetica Neue"/>
              <a:buNone/>
            </a:pPr>
            <a:r>
              <a:rPr b="1" i="0" lang="en-US" sz="2100" u="none" cap="none" strike="noStrike">
                <a:solidFill>
                  <a:srgbClr val="1C2A44"/>
                </a:solidFill>
                <a:latin typeface="Helvetica Neue"/>
                <a:ea typeface="Helvetica Neue"/>
                <a:cs typeface="Helvetica Neue"/>
                <a:sym typeface="Helvetica Neue"/>
              </a:rPr>
              <a:t>Typical outcome: F1 0.90 — and no idea whether it would survive a new genome.</a:t>
            </a:r>
            <a:endParaRPr b="0" i="0" sz="2100" u="none" cap="none" strike="noStrike">
              <a:solidFill>
                <a:schemeClr val="dk1"/>
              </a:solidFill>
              <a:latin typeface="Calibri"/>
              <a:ea typeface="Calibri"/>
              <a:cs typeface="Calibri"/>
              <a:sym typeface="Calibri"/>
            </a:endParaRPr>
          </a:p>
        </p:txBody>
      </p:sp>
      <p:sp>
        <p:nvSpPr>
          <p:cNvPr id="1510" name="Google Shape;1510;p35"/>
          <p:cNvSpPr/>
          <p:nvPr/>
        </p:nvSpPr>
        <p:spPr>
          <a:xfrm>
            <a:off x="9372600" y="3486150"/>
            <a:ext cx="8077200" cy="4585335"/>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5"/>
          <p:cNvSpPr/>
          <p:nvPr/>
        </p:nvSpPr>
        <p:spPr>
          <a:xfrm>
            <a:off x="9658350" y="3714750"/>
            <a:ext cx="825627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0" i="0" lang="en-US" sz="1800" u="none" cap="none" strike="noStrike">
                <a:solidFill>
                  <a:srgbClr val="E8A317"/>
                </a:solidFill>
                <a:latin typeface="Helvetica Neue"/>
                <a:ea typeface="Helvetica Neue"/>
                <a:cs typeface="Helvetica Neue"/>
                <a:sym typeface="Helvetica Neue"/>
              </a:rPr>
              <a:t>THE HONEST SPLIT</a:t>
            </a:r>
            <a:endParaRPr b="0" i="0" sz="1800" u="none" cap="none" strike="noStrike">
              <a:solidFill>
                <a:schemeClr val="dk1"/>
              </a:solidFill>
              <a:latin typeface="Calibri"/>
              <a:ea typeface="Calibri"/>
              <a:cs typeface="Calibri"/>
              <a:sym typeface="Calibri"/>
            </a:endParaRPr>
          </a:p>
        </p:txBody>
      </p:sp>
      <p:sp>
        <p:nvSpPr>
          <p:cNvPr id="1512" name="Google Shape;1512;p35"/>
          <p:cNvSpPr/>
          <p:nvPr/>
        </p:nvSpPr>
        <p:spPr>
          <a:xfrm>
            <a:off x="9658350" y="4050030"/>
            <a:ext cx="8256270" cy="457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850"/>
              <a:buFont typeface="Helvetica Neue"/>
              <a:buNone/>
            </a:pPr>
            <a:r>
              <a:rPr b="1" i="0" lang="en-US" sz="2850" u="none" cap="none" strike="noStrike">
                <a:solidFill>
                  <a:srgbClr val="FFFFFF"/>
                </a:solidFill>
                <a:latin typeface="Helvetica Neue"/>
                <a:ea typeface="Helvetica Neue"/>
                <a:cs typeface="Helvetica Neue"/>
                <a:sym typeface="Helvetica Neue"/>
              </a:rPr>
              <a:t>Hold out whole groups</a:t>
            </a:r>
            <a:endParaRPr b="0" i="0" sz="2850" u="none" cap="none" strike="noStrike">
              <a:solidFill>
                <a:schemeClr val="dk1"/>
              </a:solidFill>
              <a:latin typeface="Calibri"/>
              <a:ea typeface="Calibri"/>
              <a:cs typeface="Calibri"/>
              <a:sym typeface="Calibri"/>
            </a:endParaRPr>
          </a:p>
        </p:txBody>
      </p:sp>
      <p:sp>
        <p:nvSpPr>
          <p:cNvPr id="1513" name="Google Shape;1513;p35"/>
          <p:cNvSpPr/>
          <p:nvPr/>
        </p:nvSpPr>
        <p:spPr>
          <a:xfrm>
            <a:off x="9658350" y="4659630"/>
            <a:ext cx="4727853" cy="419100"/>
          </a:xfrm>
          <a:prstGeom prst="rect">
            <a:avLst/>
          </a:prstGeom>
          <a:solidFill>
            <a:srgbClr val="8FA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5"/>
          <p:cNvSpPr/>
          <p:nvPr/>
        </p:nvSpPr>
        <p:spPr>
          <a:xfrm>
            <a:off x="9587432" y="4659630"/>
            <a:ext cx="4869689" cy="4572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16223A"/>
              </a:buClr>
              <a:buSzPts val="1800"/>
              <a:buFont typeface="Helvetica Neue"/>
              <a:buNone/>
            </a:pPr>
            <a:r>
              <a:rPr b="0" i="0" lang="en-US" sz="1800" u="none" cap="none" strike="noStrike">
                <a:solidFill>
                  <a:srgbClr val="16223A"/>
                </a:solidFill>
                <a:latin typeface="Helvetica Neue"/>
                <a:ea typeface="Helvetica Neue"/>
                <a:cs typeface="Helvetica Neue"/>
                <a:sym typeface="Helvetica Neue"/>
              </a:rPr>
              <a:t>chr 1–17</a:t>
            </a:r>
            <a:endParaRPr b="0" i="0" sz="1800" u="none" cap="none" strike="noStrike">
              <a:solidFill>
                <a:schemeClr val="dk1"/>
              </a:solidFill>
              <a:latin typeface="Calibri"/>
              <a:ea typeface="Calibri"/>
              <a:cs typeface="Calibri"/>
              <a:sym typeface="Calibri"/>
            </a:endParaRPr>
          </a:p>
        </p:txBody>
      </p:sp>
      <p:sp>
        <p:nvSpPr>
          <p:cNvPr id="1515" name="Google Shape;1515;p35"/>
          <p:cNvSpPr/>
          <p:nvPr/>
        </p:nvSpPr>
        <p:spPr>
          <a:xfrm>
            <a:off x="14424303" y="4659630"/>
            <a:ext cx="1688544" cy="419100"/>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5"/>
          <p:cNvSpPr/>
          <p:nvPr/>
        </p:nvSpPr>
        <p:spPr>
          <a:xfrm>
            <a:off x="14386203" y="4659630"/>
            <a:ext cx="1764744" cy="4572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16223A"/>
              </a:buClr>
              <a:buSzPts val="1800"/>
              <a:buFont typeface="Helvetica Neue"/>
              <a:buNone/>
            </a:pPr>
            <a:r>
              <a:rPr b="0" i="0" lang="en-US" sz="1800" u="none" cap="none" strike="noStrike">
                <a:solidFill>
                  <a:srgbClr val="16223A"/>
                </a:solidFill>
                <a:latin typeface="Helvetica Neue"/>
                <a:ea typeface="Helvetica Neue"/>
                <a:cs typeface="Helvetica Neue"/>
                <a:sym typeface="Helvetica Neue"/>
              </a:rPr>
              <a:t>chr 18–22</a:t>
            </a:r>
            <a:endParaRPr b="0" i="0" sz="1800" u="none" cap="none" strike="noStrike">
              <a:solidFill>
                <a:schemeClr val="dk1"/>
              </a:solidFill>
              <a:latin typeface="Calibri"/>
              <a:ea typeface="Calibri"/>
              <a:cs typeface="Calibri"/>
              <a:sym typeface="Calibri"/>
            </a:endParaRPr>
          </a:p>
        </p:txBody>
      </p:sp>
      <p:sp>
        <p:nvSpPr>
          <p:cNvPr id="1517" name="Google Shape;1517;p35"/>
          <p:cNvSpPr/>
          <p:nvPr/>
        </p:nvSpPr>
        <p:spPr>
          <a:xfrm>
            <a:off x="16150948" y="4659630"/>
            <a:ext cx="1013103" cy="419100"/>
          </a:xfrm>
          <a:prstGeom prst="rect">
            <a:avLst/>
          </a:prstGeom>
          <a:solidFill>
            <a:srgbClr val="F2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5"/>
          <p:cNvSpPr/>
          <p:nvPr/>
        </p:nvSpPr>
        <p:spPr>
          <a:xfrm>
            <a:off x="16112848" y="4659630"/>
            <a:ext cx="1089303" cy="4572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16223A"/>
              </a:buClr>
              <a:buSzPts val="1800"/>
              <a:buFont typeface="Helvetica Neue"/>
              <a:buNone/>
            </a:pPr>
            <a:r>
              <a:rPr b="0" i="0" lang="en-US" sz="1800" u="none" cap="none" strike="noStrike">
                <a:solidFill>
                  <a:srgbClr val="16223A"/>
                </a:solidFill>
                <a:latin typeface="Helvetica Neue"/>
                <a:ea typeface="Helvetica Neue"/>
                <a:cs typeface="Helvetica Neue"/>
                <a:sym typeface="Helvetica Neue"/>
              </a:rPr>
              <a:t>mouse</a:t>
            </a:r>
            <a:endParaRPr b="0" i="0" sz="1800" u="none" cap="none" strike="noStrike">
              <a:solidFill>
                <a:schemeClr val="dk1"/>
              </a:solidFill>
              <a:latin typeface="Calibri"/>
              <a:ea typeface="Calibri"/>
              <a:cs typeface="Calibri"/>
              <a:sym typeface="Calibri"/>
            </a:endParaRPr>
          </a:p>
        </p:txBody>
      </p:sp>
      <p:sp>
        <p:nvSpPr>
          <p:cNvPr id="1519" name="Google Shape;1519;p35"/>
          <p:cNvSpPr/>
          <p:nvPr/>
        </p:nvSpPr>
        <p:spPr>
          <a:xfrm>
            <a:off x="9658350" y="5173980"/>
            <a:ext cx="8256270"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9BBD6"/>
              </a:buClr>
              <a:buSzPts val="1800"/>
              <a:buFont typeface="Helvetica Neue"/>
              <a:buNone/>
            </a:pPr>
            <a:r>
              <a:rPr b="0" i="0" lang="en-US" sz="1800" u="none" cap="none" strike="noStrike">
                <a:solidFill>
                  <a:srgbClr val="A9BBD6"/>
                </a:solidFill>
                <a:latin typeface="Helvetica Neue"/>
                <a:ea typeface="Helvetica Neue"/>
                <a:cs typeface="Helvetica Neue"/>
                <a:sym typeface="Helvetica Neue"/>
              </a:rPr>
              <a:t>▮ train ▮ held out ▮ unseen species</a:t>
            </a:r>
            <a:endParaRPr b="0" i="0" sz="1800" u="none" cap="none" strike="noStrike">
              <a:solidFill>
                <a:schemeClr val="dk1"/>
              </a:solidFill>
              <a:latin typeface="Calibri"/>
              <a:ea typeface="Calibri"/>
              <a:cs typeface="Calibri"/>
              <a:sym typeface="Calibri"/>
            </a:endParaRPr>
          </a:p>
        </p:txBody>
      </p:sp>
      <p:sp>
        <p:nvSpPr>
          <p:cNvPr id="1520" name="Google Shape;1520;p35"/>
          <p:cNvSpPr/>
          <p:nvPr/>
        </p:nvSpPr>
        <p:spPr>
          <a:xfrm>
            <a:off x="9658350" y="5627370"/>
            <a:ext cx="7730871" cy="1156811"/>
          </a:xfrm>
          <a:prstGeom prst="rect">
            <a:avLst/>
          </a:prstGeom>
          <a:noFill/>
          <a:ln>
            <a:noFill/>
          </a:ln>
        </p:spPr>
        <p:txBody>
          <a:bodyPr anchorCtr="0" anchor="t" bIns="25400" lIns="25400" spcFirstLastPara="1" rIns="25400" wrap="square" tIns="25400">
            <a:normAutofit/>
          </a:bodyPr>
          <a:lstStyle/>
          <a:p>
            <a:pPr indent="0" lvl="0" marL="0" marR="0" rtl="0" algn="l">
              <a:lnSpc>
                <a:spcPct val="125481"/>
              </a:lnSpc>
              <a:spcBef>
                <a:spcPts val="0"/>
              </a:spcBef>
              <a:spcAft>
                <a:spcPts val="0"/>
              </a:spcAft>
              <a:buClr>
                <a:srgbClr val="C8D6EA"/>
              </a:buClr>
              <a:buSzPts val="2025"/>
              <a:buFont typeface="Helvetica Neue"/>
              <a:buNone/>
            </a:pPr>
            <a:r>
              <a:rPr b="0" i="0" lang="en-US" sz="2025" u="none" cap="none" strike="noStrike">
                <a:solidFill>
                  <a:srgbClr val="C8D6EA"/>
                </a:solidFill>
                <a:latin typeface="Helvetica Neue"/>
                <a:ea typeface="Helvetica Neue"/>
                <a:cs typeface="Helvetica Neue"/>
                <a:sym typeface="Helvetica Neue"/>
              </a:rPr>
              <a:t>Every test window comes from a chromosome — or a species — the model has never met. Nothing in the training set is a near-copy, so the score reflects transfer rather than recall.</a:t>
            </a:r>
            <a:endParaRPr b="0" i="0" sz="2025" u="none" cap="none" strike="noStrike">
              <a:solidFill>
                <a:schemeClr val="dk1"/>
              </a:solidFill>
              <a:latin typeface="Calibri"/>
              <a:ea typeface="Calibri"/>
              <a:cs typeface="Calibri"/>
              <a:sym typeface="Calibri"/>
            </a:endParaRPr>
          </a:p>
        </p:txBody>
      </p:sp>
      <p:sp>
        <p:nvSpPr>
          <p:cNvPr id="1521" name="Google Shape;1521;p35"/>
          <p:cNvSpPr/>
          <p:nvPr/>
        </p:nvSpPr>
        <p:spPr>
          <a:xfrm>
            <a:off x="9658350" y="7233285"/>
            <a:ext cx="7730871" cy="647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2100"/>
              <a:buFont typeface="Helvetica Neue"/>
              <a:buNone/>
            </a:pPr>
            <a:r>
              <a:rPr b="1" i="0" lang="en-US" sz="2100" u="none" cap="none" strike="noStrike">
                <a:solidFill>
                  <a:srgbClr val="FFFFFF"/>
                </a:solidFill>
                <a:latin typeface="Helvetica Neue"/>
                <a:ea typeface="Helvetica Neue"/>
                <a:cs typeface="Helvetica Neue"/>
                <a:sym typeface="Helvetica Neue"/>
              </a:rPr>
              <a:t>Typical outcome: F1 0.78 — lower, and far more informative.</a:t>
            </a:r>
            <a:endParaRPr b="0" i="0" sz="2100" u="none" cap="none" strike="noStrike">
              <a:solidFill>
                <a:schemeClr val="dk1"/>
              </a:solidFill>
              <a:latin typeface="Calibri"/>
              <a:ea typeface="Calibri"/>
              <a:cs typeface="Calibri"/>
              <a:sym typeface="Calibri"/>
            </a:endParaRPr>
          </a:p>
        </p:txBody>
      </p:sp>
      <p:sp>
        <p:nvSpPr>
          <p:cNvPr id="1522" name="Google Shape;1522;p35"/>
          <p:cNvSpPr/>
          <p:nvPr/>
        </p:nvSpPr>
        <p:spPr>
          <a:xfrm>
            <a:off x="838200" y="8084820"/>
            <a:ext cx="16611600" cy="126873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5"/>
          <p:cNvSpPr/>
          <p:nvPr/>
        </p:nvSpPr>
        <p:spPr>
          <a:xfrm>
            <a:off x="1162050" y="8589645"/>
            <a:ext cx="319053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ASK THIS EVERY TIME</a:t>
            </a:r>
            <a:endParaRPr b="0" i="0" sz="1800" u="none" cap="none" strike="noStrike">
              <a:solidFill>
                <a:schemeClr val="dk1"/>
              </a:solidFill>
              <a:latin typeface="Calibri"/>
              <a:ea typeface="Calibri"/>
              <a:cs typeface="Calibri"/>
              <a:sym typeface="Calibri"/>
            </a:endParaRPr>
          </a:p>
        </p:txBody>
      </p:sp>
      <p:sp>
        <p:nvSpPr>
          <p:cNvPr id="1524" name="Google Shape;1524;p35"/>
          <p:cNvSpPr/>
          <p:nvPr/>
        </p:nvSpPr>
        <p:spPr>
          <a:xfrm>
            <a:off x="4443532" y="8332470"/>
            <a:ext cx="13062891"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What exactly was held out, and how similar was it to the training data? A model that only works on the genome it trained on has memorised one genome, not learned biology.</a:t>
            </a:r>
            <a:endParaRPr b="0" i="0" sz="2100" u="none" cap="none" strike="noStrike">
              <a:solidFill>
                <a:schemeClr val="dk1"/>
              </a:solidFill>
              <a:latin typeface="Calibri"/>
              <a:ea typeface="Calibri"/>
              <a:cs typeface="Calibri"/>
              <a:sym typeface="Calibri"/>
            </a:endParaRPr>
          </a:p>
        </p:txBody>
      </p:sp>
      <p:sp>
        <p:nvSpPr>
          <p:cNvPr id="1525" name="Google Shape;1525;p35"/>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5"/>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527" name="Google Shape;1527;p35"/>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528" name="Google Shape;1528;p35"/>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35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3" name="Shape 1533"/>
        <p:cNvGrpSpPr/>
        <p:nvPr/>
      </p:nvGrpSpPr>
      <p:grpSpPr>
        <a:xfrm>
          <a:off x="0" y="0"/>
          <a:ext cx="0" cy="0"/>
          <a:chOff x="0" y="0"/>
          <a:chExt cx="0" cy="0"/>
        </a:xfrm>
      </p:grpSpPr>
      <p:sp>
        <p:nvSpPr>
          <p:cNvPr id="1534" name="Google Shape;1534;p36"/>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36"/>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536" name="Google Shape;1536;p36"/>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537" name="Google Shape;1537;p36"/>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PART 06 · JUDGING THE RESULT</a:t>
            </a:r>
            <a:endParaRPr b="0" i="0" sz="1800" u="none" cap="none" strike="noStrike">
              <a:solidFill>
                <a:schemeClr val="dk1"/>
              </a:solidFill>
              <a:latin typeface="Calibri"/>
              <a:ea typeface="Calibri"/>
              <a:cs typeface="Calibri"/>
              <a:sym typeface="Calibri"/>
            </a:endParaRPr>
          </a:p>
        </p:txBody>
      </p:sp>
      <p:sp>
        <p:nvSpPr>
          <p:cNvPr id="1538" name="Google Shape;1538;p36"/>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Four questions to keep asking</a:t>
            </a:r>
            <a:endParaRPr b="0" i="0" sz="4500" u="none" cap="none" strike="noStrike">
              <a:solidFill>
                <a:schemeClr val="dk1"/>
              </a:solidFill>
              <a:latin typeface="Calibri"/>
              <a:ea typeface="Calibri"/>
              <a:cs typeface="Calibri"/>
              <a:sym typeface="Calibri"/>
            </a:endParaRPr>
          </a:p>
        </p:txBody>
      </p:sp>
      <p:sp>
        <p:nvSpPr>
          <p:cNvPr id="1539" name="Google Shape;1539;p36"/>
          <p:cNvSpPr/>
          <p:nvPr/>
        </p:nvSpPr>
        <p:spPr>
          <a:xfrm>
            <a:off x="838200" y="2314575"/>
            <a:ext cx="15925800" cy="452438"/>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Not everything a model learns is biology. Put every result — yours and everyone else's — through these four.</a:t>
            </a:r>
            <a:endParaRPr b="0" i="0" sz="2250" u="none" cap="none" strike="noStrike">
              <a:solidFill>
                <a:schemeClr val="dk1"/>
              </a:solidFill>
              <a:latin typeface="Calibri"/>
              <a:ea typeface="Calibri"/>
              <a:cs typeface="Calibri"/>
              <a:sym typeface="Calibri"/>
            </a:endParaRPr>
          </a:p>
        </p:txBody>
      </p:sp>
      <p:sp>
        <p:nvSpPr>
          <p:cNvPr id="1540" name="Google Shape;1540;p36"/>
          <p:cNvSpPr/>
          <p:nvPr/>
        </p:nvSpPr>
        <p:spPr>
          <a:xfrm>
            <a:off x="838200" y="3109913"/>
            <a:ext cx="80772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6"/>
          <p:cNvSpPr/>
          <p:nvPr/>
        </p:nvSpPr>
        <p:spPr>
          <a:xfrm>
            <a:off x="838200" y="3395663"/>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01</a:t>
            </a:r>
            <a:endParaRPr b="0" i="0" sz="2100" u="none" cap="none" strike="noStrike">
              <a:solidFill>
                <a:schemeClr val="dk1"/>
              </a:solidFill>
              <a:latin typeface="Calibri"/>
              <a:ea typeface="Calibri"/>
              <a:cs typeface="Calibri"/>
              <a:sym typeface="Calibri"/>
            </a:endParaRPr>
          </a:p>
        </p:txBody>
      </p:sp>
      <p:sp>
        <p:nvSpPr>
          <p:cNvPr id="1542" name="Google Shape;1542;p36"/>
          <p:cNvSpPr/>
          <p:nvPr/>
        </p:nvSpPr>
        <p:spPr>
          <a:xfrm>
            <a:off x="1348740" y="3334703"/>
            <a:ext cx="2765536" cy="457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850"/>
              <a:buFont typeface="Helvetica Neue"/>
              <a:buNone/>
            </a:pPr>
            <a:r>
              <a:rPr b="1" i="0" lang="en-US" sz="2850" u="none" cap="none" strike="noStrike">
                <a:solidFill>
                  <a:srgbClr val="1C2A44"/>
                </a:solidFill>
                <a:latin typeface="Helvetica Neue"/>
                <a:ea typeface="Helvetica Neue"/>
                <a:cs typeface="Helvetica Neue"/>
                <a:sym typeface="Helvetica Neue"/>
              </a:rPr>
              <a:t>Interpretability</a:t>
            </a:r>
            <a:endParaRPr b="0" i="0" sz="2850" u="none" cap="none" strike="noStrike">
              <a:solidFill>
                <a:schemeClr val="dk1"/>
              </a:solidFill>
              <a:latin typeface="Calibri"/>
              <a:ea typeface="Calibri"/>
              <a:cs typeface="Calibri"/>
              <a:sym typeface="Calibri"/>
            </a:endParaRPr>
          </a:p>
        </p:txBody>
      </p:sp>
      <p:sp>
        <p:nvSpPr>
          <p:cNvPr id="1543" name="Google Shape;1543;p36"/>
          <p:cNvSpPr/>
          <p:nvPr/>
        </p:nvSpPr>
        <p:spPr>
          <a:xfrm>
            <a:off x="838200" y="3868103"/>
            <a:ext cx="8319516"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Which parts of the sequence actually drove the prediction? For k-mer counts you can read the weights straight off. For embeddings you need attribution methods — or a careful experiment.</a:t>
            </a:r>
            <a:endParaRPr b="0" i="0" sz="2100" u="none" cap="none" strike="noStrike">
              <a:solidFill>
                <a:schemeClr val="dk1"/>
              </a:solidFill>
              <a:latin typeface="Calibri"/>
              <a:ea typeface="Calibri"/>
              <a:cs typeface="Calibri"/>
              <a:sym typeface="Calibri"/>
            </a:endParaRPr>
          </a:p>
        </p:txBody>
      </p:sp>
      <p:sp>
        <p:nvSpPr>
          <p:cNvPr id="1544" name="Google Shape;1544;p36"/>
          <p:cNvSpPr/>
          <p:nvPr/>
        </p:nvSpPr>
        <p:spPr>
          <a:xfrm>
            <a:off x="9372600" y="3109913"/>
            <a:ext cx="80772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6"/>
          <p:cNvSpPr/>
          <p:nvPr/>
        </p:nvSpPr>
        <p:spPr>
          <a:xfrm>
            <a:off x="9372600" y="3395663"/>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02</a:t>
            </a:r>
            <a:endParaRPr b="0" i="0" sz="2100" u="none" cap="none" strike="noStrike">
              <a:solidFill>
                <a:schemeClr val="dk1"/>
              </a:solidFill>
              <a:latin typeface="Calibri"/>
              <a:ea typeface="Calibri"/>
              <a:cs typeface="Calibri"/>
              <a:sym typeface="Calibri"/>
            </a:endParaRPr>
          </a:p>
        </p:txBody>
      </p:sp>
      <p:sp>
        <p:nvSpPr>
          <p:cNvPr id="1546" name="Google Shape;1546;p36"/>
          <p:cNvSpPr/>
          <p:nvPr/>
        </p:nvSpPr>
        <p:spPr>
          <a:xfrm>
            <a:off x="9883140" y="3334703"/>
            <a:ext cx="1770305" cy="457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850"/>
              <a:buFont typeface="Helvetica Neue"/>
              <a:buNone/>
            </a:pPr>
            <a:r>
              <a:rPr b="1" i="0" lang="en-US" sz="2850" u="none" cap="none" strike="noStrike">
                <a:solidFill>
                  <a:srgbClr val="1C2A44"/>
                </a:solidFill>
                <a:latin typeface="Helvetica Neue"/>
                <a:ea typeface="Helvetica Neue"/>
                <a:cs typeface="Helvetica Neue"/>
                <a:sym typeface="Helvetica Neue"/>
              </a:rPr>
              <a:t>Data bias</a:t>
            </a:r>
            <a:endParaRPr b="0" i="0" sz="2850" u="none" cap="none" strike="noStrike">
              <a:solidFill>
                <a:schemeClr val="dk1"/>
              </a:solidFill>
              <a:latin typeface="Calibri"/>
              <a:ea typeface="Calibri"/>
              <a:cs typeface="Calibri"/>
              <a:sym typeface="Calibri"/>
            </a:endParaRPr>
          </a:p>
        </p:txBody>
      </p:sp>
      <p:sp>
        <p:nvSpPr>
          <p:cNvPr id="1547" name="Google Shape;1547;p36"/>
          <p:cNvSpPr/>
          <p:nvPr/>
        </p:nvSpPr>
        <p:spPr>
          <a:xfrm>
            <a:off x="9372600" y="3868103"/>
            <a:ext cx="8319516"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Whose genomes went into pretraining? Human and a handful of model organisms dominate. Performance on a plant or a non-model pathogen is a genuinely open question.</a:t>
            </a:r>
            <a:endParaRPr b="0" i="0" sz="2100" u="none" cap="none" strike="noStrike">
              <a:solidFill>
                <a:schemeClr val="dk1"/>
              </a:solidFill>
              <a:latin typeface="Calibri"/>
              <a:ea typeface="Calibri"/>
              <a:cs typeface="Calibri"/>
              <a:sym typeface="Calibri"/>
            </a:endParaRPr>
          </a:p>
        </p:txBody>
      </p:sp>
      <p:sp>
        <p:nvSpPr>
          <p:cNvPr id="1548" name="Google Shape;1548;p36"/>
          <p:cNvSpPr/>
          <p:nvPr/>
        </p:nvSpPr>
        <p:spPr>
          <a:xfrm>
            <a:off x="838200" y="5371148"/>
            <a:ext cx="80772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6"/>
          <p:cNvSpPr/>
          <p:nvPr/>
        </p:nvSpPr>
        <p:spPr>
          <a:xfrm>
            <a:off x="838200" y="5656898"/>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03</a:t>
            </a:r>
            <a:endParaRPr b="0" i="0" sz="2100" u="none" cap="none" strike="noStrike">
              <a:solidFill>
                <a:schemeClr val="dk1"/>
              </a:solidFill>
              <a:latin typeface="Calibri"/>
              <a:ea typeface="Calibri"/>
              <a:cs typeface="Calibri"/>
              <a:sym typeface="Calibri"/>
            </a:endParaRPr>
          </a:p>
        </p:txBody>
      </p:sp>
      <p:sp>
        <p:nvSpPr>
          <p:cNvPr id="1550" name="Google Shape;1550;p36"/>
          <p:cNvSpPr/>
          <p:nvPr/>
        </p:nvSpPr>
        <p:spPr>
          <a:xfrm>
            <a:off x="1348740" y="5595938"/>
            <a:ext cx="1858185" cy="457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850"/>
              <a:buFont typeface="Helvetica Neue"/>
              <a:buNone/>
            </a:pPr>
            <a:r>
              <a:rPr b="1" i="0" lang="en-US" sz="2850" u="none" cap="none" strike="noStrike">
                <a:solidFill>
                  <a:srgbClr val="1C2A44"/>
                </a:solidFill>
                <a:latin typeface="Helvetica Neue"/>
                <a:ea typeface="Helvetica Neue"/>
                <a:cs typeface="Helvetica Neue"/>
                <a:sym typeface="Helvetica Neue"/>
              </a:rPr>
              <a:t>Shortcuts</a:t>
            </a:r>
            <a:endParaRPr b="0" i="0" sz="2850" u="none" cap="none" strike="noStrike">
              <a:solidFill>
                <a:schemeClr val="dk1"/>
              </a:solidFill>
              <a:latin typeface="Calibri"/>
              <a:ea typeface="Calibri"/>
              <a:cs typeface="Calibri"/>
              <a:sym typeface="Calibri"/>
            </a:endParaRPr>
          </a:p>
        </p:txBody>
      </p:sp>
      <p:sp>
        <p:nvSpPr>
          <p:cNvPr id="1551" name="Google Shape;1551;p36"/>
          <p:cNvSpPr/>
          <p:nvPr/>
        </p:nvSpPr>
        <p:spPr>
          <a:xfrm>
            <a:off x="838200" y="6129338"/>
            <a:ext cx="8319516"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If all your negatives came from repeat-rich regions, the model can win by detecting repeats. Build negatives that differ from positives only in the thing you are actually asking about.</a:t>
            </a:r>
            <a:endParaRPr b="0" i="0" sz="2100" u="none" cap="none" strike="noStrike">
              <a:solidFill>
                <a:schemeClr val="dk1"/>
              </a:solidFill>
              <a:latin typeface="Calibri"/>
              <a:ea typeface="Calibri"/>
              <a:cs typeface="Calibri"/>
              <a:sym typeface="Calibri"/>
            </a:endParaRPr>
          </a:p>
        </p:txBody>
      </p:sp>
      <p:sp>
        <p:nvSpPr>
          <p:cNvPr id="1552" name="Google Shape;1552;p36"/>
          <p:cNvSpPr/>
          <p:nvPr/>
        </p:nvSpPr>
        <p:spPr>
          <a:xfrm>
            <a:off x="9372600" y="5371148"/>
            <a:ext cx="80772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6"/>
          <p:cNvSpPr/>
          <p:nvPr/>
        </p:nvSpPr>
        <p:spPr>
          <a:xfrm>
            <a:off x="9372600" y="5656898"/>
            <a:ext cx="396240"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04</a:t>
            </a:r>
            <a:endParaRPr b="0" i="0" sz="2100" u="none" cap="none" strike="noStrike">
              <a:solidFill>
                <a:schemeClr val="dk1"/>
              </a:solidFill>
              <a:latin typeface="Calibri"/>
              <a:ea typeface="Calibri"/>
              <a:cs typeface="Calibri"/>
              <a:sym typeface="Calibri"/>
            </a:endParaRPr>
          </a:p>
        </p:txBody>
      </p:sp>
      <p:sp>
        <p:nvSpPr>
          <p:cNvPr id="1554" name="Google Shape;1554;p36"/>
          <p:cNvSpPr/>
          <p:nvPr/>
        </p:nvSpPr>
        <p:spPr>
          <a:xfrm>
            <a:off x="9883140" y="5595938"/>
            <a:ext cx="3340358" cy="457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2850"/>
              <a:buFont typeface="Helvetica Neue"/>
              <a:buNone/>
            </a:pPr>
            <a:r>
              <a:rPr b="1" i="0" lang="en-US" sz="2850" u="none" cap="none" strike="noStrike">
                <a:solidFill>
                  <a:srgbClr val="1C2A44"/>
                </a:solidFill>
                <a:latin typeface="Helvetica Neue"/>
                <a:ea typeface="Helvetica Neue"/>
                <a:cs typeface="Helvetica Neue"/>
                <a:sym typeface="Helvetica Neue"/>
              </a:rPr>
              <a:t>More is not better</a:t>
            </a:r>
            <a:endParaRPr b="0" i="0" sz="2850" u="none" cap="none" strike="noStrike">
              <a:solidFill>
                <a:schemeClr val="dk1"/>
              </a:solidFill>
              <a:latin typeface="Calibri"/>
              <a:ea typeface="Calibri"/>
              <a:cs typeface="Calibri"/>
              <a:sym typeface="Calibri"/>
            </a:endParaRPr>
          </a:p>
        </p:txBody>
      </p:sp>
      <p:sp>
        <p:nvSpPr>
          <p:cNvPr id="1555" name="Google Shape;1555;p36"/>
          <p:cNvSpPr/>
          <p:nvPr/>
        </p:nvSpPr>
        <p:spPr>
          <a:xfrm>
            <a:off x="9372600" y="6129338"/>
            <a:ext cx="8319516"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53627A"/>
              </a:buClr>
              <a:buSzPts val="2100"/>
              <a:buFont typeface="Helvetica Neue"/>
              <a:buNone/>
            </a:pPr>
            <a:r>
              <a:rPr b="0" i="0" lang="en-US" sz="2100" u="none" cap="none" strike="noStrike">
                <a:solidFill>
                  <a:srgbClr val="53627A"/>
                </a:solidFill>
                <a:latin typeface="Helvetica Neue"/>
                <a:ea typeface="Helvetica Neue"/>
                <a:cs typeface="Helvetica Neue"/>
                <a:sym typeface="Helvetica Neue"/>
              </a:rPr>
              <a:t>A longer window, a bigger model, more parameters — each sounds like progress, and each has to earn its place against the cheap baseline on the honest split.</a:t>
            </a:r>
            <a:endParaRPr b="0" i="0" sz="2100" u="none" cap="none" strike="noStrike">
              <a:solidFill>
                <a:schemeClr val="dk1"/>
              </a:solidFill>
              <a:latin typeface="Calibri"/>
              <a:ea typeface="Calibri"/>
              <a:cs typeface="Calibri"/>
              <a:sym typeface="Calibri"/>
            </a:endParaRPr>
          </a:p>
        </p:txBody>
      </p:sp>
      <p:sp>
        <p:nvSpPr>
          <p:cNvPr id="1556" name="Google Shape;1556;p36"/>
          <p:cNvSpPr/>
          <p:nvPr/>
        </p:nvSpPr>
        <p:spPr>
          <a:xfrm>
            <a:off x="838200" y="8431530"/>
            <a:ext cx="16611600" cy="92202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6"/>
          <p:cNvSpPr/>
          <p:nvPr/>
        </p:nvSpPr>
        <p:spPr>
          <a:xfrm>
            <a:off x="1162050" y="8679180"/>
            <a:ext cx="17560290" cy="464820"/>
          </a:xfrm>
          <a:prstGeom prst="rect">
            <a:avLst/>
          </a:prstGeom>
          <a:noFill/>
          <a:ln>
            <a:noFill/>
          </a:ln>
        </p:spPr>
        <p:txBody>
          <a:bodyPr anchorCtr="0" anchor="t" bIns="25400" lIns="25400" spcFirstLastPara="1" rIns="25400" wrap="square" tIns="25400">
            <a:normAutofit/>
          </a:bodyPr>
          <a:lstStyle/>
          <a:p>
            <a:pPr indent="0" lvl="0" marL="0" marR="0" rtl="0" algn="l">
              <a:lnSpc>
                <a:spcPct val="124444"/>
              </a:lnSpc>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A good result you cannot explain is a hypothesis, not a finding.</a:t>
            </a:r>
            <a:endParaRPr b="0" i="0" sz="2400" u="none" cap="none" strike="noStrike">
              <a:solidFill>
                <a:schemeClr val="dk1"/>
              </a:solidFill>
              <a:latin typeface="Calibri"/>
              <a:ea typeface="Calibri"/>
              <a:cs typeface="Calibri"/>
              <a:sym typeface="Calibri"/>
            </a:endParaRPr>
          </a:p>
        </p:txBody>
      </p:sp>
      <p:sp>
        <p:nvSpPr>
          <p:cNvPr id="1558" name="Google Shape;1558;p36"/>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6"/>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560" name="Google Shape;1560;p36"/>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561" name="Google Shape;1561;p36"/>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36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6" name="Shape 1566"/>
        <p:cNvGrpSpPr/>
        <p:nvPr/>
      </p:nvGrpSpPr>
      <p:grpSpPr>
        <a:xfrm>
          <a:off x="0" y="0"/>
          <a:ext cx="0" cy="0"/>
          <a:chOff x="0" y="0"/>
          <a:chExt cx="0" cy="0"/>
        </a:xfrm>
      </p:grpSpPr>
      <p:sp>
        <p:nvSpPr>
          <p:cNvPr id="1567" name="Google Shape;1567;p37"/>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7"/>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569" name="Google Shape;1569;p37"/>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570" name="Google Shape;1570;p37"/>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CLOSING</a:t>
            </a:r>
            <a:endParaRPr b="0" i="0" sz="1800" u="none" cap="none" strike="noStrike">
              <a:solidFill>
                <a:schemeClr val="dk1"/>
              </a:solidFill>
              <a:latin typeface="Calibri"/>
              <a:ea typeface="Calibri"/>
              <a:cs typeface="Calibri"/>
              <a:sym typeface="Calibri"/>
            </a:endParaRPr>
          </a:p>
        </p:txBody>
      </p:sp>
      <p:sp>
        <p:nvSpPr>
          <p:cNvPr id="1571" name="Google Shape;1571;p37"/>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Takeaways</a:t>
            </a:r>
            <a:endParaRPr b="0" i="0" sz="4500" u="none" cap="none" strike="noStrike">
              <a:solidFill>
                <a:schemeClr val="dk1"/>
              </a:solidFill>
              <a:latin typeface="Calibri"/>
              <a:ea typeface="Calibri"/>
              <a:cs typeface="Calibri"/>
              <a:sym typeface="Calibri"/>
            </a:endParaRPr>
          </a:p>
        </p:txBody>
      </p:sp>
      <p:sp>
        <p:nvSpPr>
          <p:cNvPr id="1572" name="Google Shape;1572;p37"/>
          <p:cNvSpPr/>
          <p:nvPr/>
        </p:nvSpPr>
        <p:spPr>
          <a:xfrm>
            <a:off x="838200" y="2447925"/>
            <a:ext cx="2037636" cy="58674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7"/>
          <p:cNvSpPr/>
          <p:nvPr/>
        </p:nvSpPr>
        <p:spPr>
          <a:xfrm>
            <a:off x="1085850" y="2600325"/>
            <a:ext cx="1618536"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0" i="0" lang="en-US" sz="1950" u="none" cap="none" strike="noStrike">
                <a:solidFill>
                  <a:srgbClr val="1C2A44"/>
                </a:solidFill>
                <a:latin typeface="Helvetica Neue"/>
                <a:ea typeface="Helvetica Neue"/>
                <a:cs typeface="Helvetica Neue"/>
                <a:sym typeface="Helvetica Neue"/>
              </a:rPr>
              <a:t>SEQUENCE</a:t>
            </a:r>
            <a:endParaRPr b="0" i="0" sz="1950" u="none" cap="none" strike="noStrike">
              <a:solidFill>
                <a:schemeClr val="dk1"/>
              </a:solidFill>
              <a:latin typeface="Calibri"/>
              <a:ea typeface="Calibri"/>
              <a:cs typeface="Calibri"/>
              <a:sym typeface="Calibri"/>
            </a:endParaRPr>
          </a:p>
        </p:txBody>
      </p:sp>
      <p:sp>
        <p:nvSpPr>
          <p:cNvPr id="1574" name="Google Shape;1574;p37"/>
          <p:cNvSpPr/>
          <p:nvPr/>
        </p:nvSpPr>
        <p:spPr>
          <a:xfrm>
            <a:off x="3085386" y="2600325"/>
            <a:ext cx="342900"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950"/>
              <a:buFont typeface="Helvetica Neue"/>
              <a:buNone/>
            </a:pPr>
            <a:r>
              <a:rPr b="0" i="0" lang="en-US" sz="1950" u="none" cap="none" strike="noStrike">
                <a:solidFill>
                  <a:srgbClr val="E8A317"/>
                </a:solidFill>
                <a:latin typeface="Helvetica Neue"/>
                <a:ea typeface="Helvetica Neue"/>
                <a:cs typeface="Helvetica Neue"/>
                <a:sym typeface="Helvetica Neue"/>
              </a:rPr>
              <a:t>→</a:t>
            </a:r>
            <a:endParaRPr b="0" i="0" sz="1950" u="none" cap="none" strike="noStrike">
              <a:solidFill>
                <a:schemeClr val="dk1"/>
              </a:solidFill>
              <a:latin typeface="Calibri"/>
              <a:ea typeface="Calibri"/>
              <a:cs typeface="Calibri"/>
              <a:sym typeface="Calibri"/>
            </a:endParaRPr>
          </a:p>
        </p:txBody>
      </p:sp>
      <p:sp>
        <p:nvSpPr>
          <p:cNvPr id="1575" name="Google Shape;1575;p37"/>
          <p:cNvSpPr/>
          <p:nvPr/>
        </p:nvSpPr>
        <p:spPr>
          <a:xfrm>
            <a:off x="3561636" y="2447925"/>
            <a:ext cx="1867138" cy="58674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7"/>
          <p:cNvSpPr/>
          <p:nvPr/>
        </p:nvSpPr>
        <p:spPr>
          <a:xfrm>
            <a:off x="3809286" y="2600325"/>
            <a:ext cx="1448038"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0" i="0" lang="en-US" sz="1950" u="none" cap="none" strike="noStrike">
                <a:solidFill>
                  <a:srgbClr val="1C2A44"/>
                </a:solidFill>
                <a:latin typeface="Helvetica Neue"/>
                <a:ea typeface="Helvetica Neue"/>
                <a:cs typeface="Helvetica Neue"/>
                <a:sym typeface="Helvetica Neue"/>
              </a:rPr>
              <a:t>NUMBERS</a:t>
            </a:r>
            <a:endParaRPr b="0" i="0" sz="1950" u="none" cap="none" strike="noStrike">
              <a:solidFill>
                <a:schemeClr val="dk1"/>
              </a:solidFill>
              <a:latin typeface="Calibri"/>
              <a:ea typeface="Calibri"/>
              <a:cs typeface="Calibri"/>
              <a:sym typeface="Calibri"/>
            </a:endParaRPr>
          </a:p>
        </p:txBody>
      </p:sp>
      <p:sp>
        <p:nvSpPr>
          <p:cNvPr id="1577" name="Google Shape;1577;p37"/>
          <p:cNvSpPr/>
          <p:nvPr/>
        </p:nvSpPr>
        <p:spPr>
          <a:xfrm>
            <a:off x="5638324" y="2600325"/>
            <a:ext cx="342900"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950"/>
              <a:buFont typeface="Helvetica Neue"/>
              <a:buNone/>
            </a:pPr>
            <a:r>
              <a:rPr b="0" i="0" lang="en-US" sz="1950" u="none" cap="none" strike="noStrike">
                <a:solidFill>
                  <a:srgbClr val="E8A317"/>
                </a:solidFill>
                <a:latin typeface="Helvetica Neue"/>
                <a:ea typeface="Helvetica Neue"/>
                <a:cs typeface="Helvetica Neue"/>
                <a:sym typeface="Helvetica Neue"/>
              </a:rPr>
              <a:t>→</a:t>
            </a:r>
            <a:endParaRPr b="0" i="0" sz="1950" u="none" cap="none" strike="noStrike">
              <a:solidFill>
                <a:schemeClr val="dk1"/>
              </a:solidFill>
              <a:latin typeface="Calibri"/>
              <a:ea typeface="Calibri"/>
              <a:cs typeface="Calibri"/>
              <a:sym typeface="Calibri"/>
            </a:endParaRPr>
          </a:p>
        </p:txBody>
      </p:sp>
      <p:sp>
        <p:nvSpPr>
          <p:cNvPr id="1578" name="Google Shape;1578;p37"/>
          <p:cNvSpPr/>
          <p:nvPr/>
        </p:nvSpPr>
        <p:spPr>
          <a:xfrm>
            <a:off x="6114574" y="2447925"/>
            <a:ext cx="2130862" cy="58674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7"/>
          <p:cNvSpPr/>
          <p:nvPr/>
        </p:nvSpPr>
        <p:spPr>
          <a:xfrm>
            <a:off x="6362224" y="2600325"/>
            <a:ext cx="1711762"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0" i="0" lang="en-US" sz="1950" u="none" cap="none" strike="noStrike">
                <a:solidFill>
                  <a:srgbClr val="1C2A44"/>
                </a:solidFill>
                <a:latin typeface="Helvetica Neue"/>
                <a:ea typeface="Helvetica Neue"/>
                <a:cs typeface="Helvetica Neue"/>
                <a:sym typeface="Helvetica Neue"/>
              </a:rPr>
              <a:t>CLASSIFIER</a:t>
            </a:r>
            <a:endParaRPr b="0" i="0" sz="1950" u="none" cap="none" strike="noStrike">
              <a:solidFill>
                <a:schemeClr val="dk1"/>
              </a:solidFill>
              <a:latin typeface="Calibri"/>
              <a:ea typeface="Calibri"/>
              <a:cs typeface="Calibri"/>
              <a:sym typeface="Calibri"/>
            </a:endParaRPr>
          </a:p>
        </p:txBody>
      </p:sp>
      <p:sp>
        <p:nvSpPr>
          <p:cNvPr id="1580" name="Google Shape;1580;p37"/>
          <p:cNvSpPr/>
          <p:nvPr/>
        </p:nvSpPr>
        <p:spPr>
          <a:xfrm>
            <a:off x="8454986" y="2600325"/>
            <a:ext cx="342900"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950"/>
              <a:buFont typeface="Helvetica Neue"/>
              <a:buNone/>
            </a:pPr>
            <a:r>
              <a:rPr b="0" i="0" lang="en-US" sz="1950" u="none" cap="none" strike="noStrike">
                <a:solidFill>
                  <a:srgbClr val="E8A317"/>
                </a:solidFill>
                <a:latin typeface="Helvetica Neue"/>
                <a:ea typeface="Helvetica Neue"/>
                <a:cs typeface="Helvetica Neue"/>
                <a:sym typeface="Helvetica Neue"/>
              </a:rPr>
              <a:t>→</a:t>
            </a:r>
            <a:endParaRPr b="0" i="0" sz="1950" u="none" cap="none" strike="noStrike">
              <a:solidFill>
                <a:schemeClr val="dk1"/>
              </a:solidFill>
              <a:latin typeface="Calibri"/>
              <a:ea typeface="Calibri"/>
              <a:cs typeface="Calibri"/>
              <a:sym typeface="Calibri"/>
            </a:endParaRPr>
          </a:p>
        </p:txBody>
      </p:sp>
      <p:sp>
        <p:nvSpPr>
          <p:cNvPr id="1581" name="Google Shape;1581;p37"/>
          <p:cNvSpPr/>
          <p:nvPr/>
        </p:nvSpPr>
        <p:spPr>
          <a:xfrm>
            <a:off x="8931236" y="2447925"/>
            <a:ext cx="2213134" cy="586740"/>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7"/>
          <p:cNvSpPr/>
          <p:nvPr/>
        </p:nvSpPr>
        <p:spPr>
          <a:xfrm>
            <a:off x="9178886" y="2600325"/>
            <a:ext cx="1794034"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0" i="0" lang="en-US" sz="1950" u="none" cap="none" strike="noStrike">
                <a:solidFill>
                  <a:srgbClr val="1C2A44"/>
                </a:solidFill>
                <a:latin typeface="Helvetica Neue"/>
                <a:ea typeface="Helvetica Neue"/>
                <a:cs typeface="Helvetica Neue"/>
                <a:sym typeface="Helvetica Neue"/>
              </a:rPr>
              <a:t>PREDICTION</a:t>
            </a:r>
            <a:endParaRPr b="0" i="0" sz="1950" u="none" cap="none" strike="noStrike">
              <a:solidFill>
                <a:schemeClr val="dk1"/>
              </a:solidFill>
              <a:latin typeface="Calibri"/>
              <a:ea typeface="Calibri"/>
              <a:cs typeface="Calibri"/>
              <a:sym typeface="Calibri"/>
            </a:endParaRPr>
          </a:p>
        </p:txBody>
      </p:sp>
      <p:sp>
        <p:nvSpPr>
          <p:cNvPr id="1583" name="Google Shape;1583;p37"/>
          <p:cNvSpPr/>
          <p:nvPr/>
        </p:nvSpPr>
        <p:spPr>
          <a:xfrm>
            <a:off x="11353920" y="2600325"/>
            <a:ext cx="342900"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950"/>
              <a:buFont typeface="Helvetica Neue"/>
              <a:buNone/>
            </a:pPr>
            <a:r>
              <a:rPr b="0" i="0" lang="en-US" sz="1950" u="none" cap="none" strike="noStrike">
                <a:solidFill>
                  <a:srgbClr val="E8A317"/>
                </a:solidFill>
                <a:latin typeface="Helvetica Neue"/>
                <a:ea typeface="Helvetica Neue"/>
                <a:cs typeface="Helvetica Neue"/>
                <a:sym typeface="Helvetica Neue"/>
              </a:rPr>
              <a:t>→</a:t>
            </a:r>
            <a:endParaRPr b="0" i="0" sz="1950" u="none" cap="none" strike="noStrike">
              <a:solidFill>
                <a:schemeClr val="dk1"/>
              </a:solidFill>
              <a:latin typeface="Calibri"/>
              <a:ea typeface="Calibri"/>
              <a:cs typeface="Calibri"/>
              <a:sym typeface="Calibri"/>
            </a:endParaRPr>
          </a:p>
        </p:txBody>
      </p:sp>
      <p:sp>
        <p:nvSpPr>
          <p:cNvPr id="1584" name="Google Shape;1584;p37"/>
          <p:cNvSpPr/>
          <p:nvPr/>
        </p:nvSpPr>
        <p:spPr>
          <a:xfrm>
            <a:off x="11830170" y="2447925"/>
            <a:ext cx="2687122" cy="5867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7"/>
          <p:cNvSpPr/>
          <p:nvPr/>
        </p:nvSpPr>
        <p:spPr>
          <a:xfrm>
            <a:off x="12077820" y="2600325"/>
            <a:ext cx="2272435" cy="32004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Helvetica Neue"/>
              <a:buNone/>
            </a:pPr>
            <a:r>
              <a:rPr b="0" i="0" lang="en-US" sz="1950" u="none" cap="none" strike="noStrike">
                <a:solidFill>
                  <a:srgbClr val="FFFFFF"/>
                </a:solidFill>
                <a:latin typeface="Helvetica Neue"/>
                <a:ea typeface="Helvetica Neue"/>
                <a:cs typeface="Helvetica Neue"/>
                <a:sym typeface="Helvetica Neue"/>
              </a:rPr>
              <a:t>HONEST CHECK</a:t>
            </a:r>
            <a:endParaRPr b="0" i="0" sz="1950" u="none" cap="none" strike="noStrike">
              <a:solidFill>
                <a:schemeClr val="dk1"/>
              </a:solidFill>
              <a:latin typeface="Calibri"/>
              <a:ea typeface="Calibri"/>
              <a:cs typeface="Calibri"/>
              <a:sym typeface="Calibri"/>
            </a:endParaRPr>
          </a:p>
        </p:txBody>
      </p:sp>
      <p:sp>
        <p:nvSpPr>
          <p:cNvPr id="1586" name="Google Shape;1586;p37"/>
          <p:cNvSpPr/>
          <p:nvPr/>
        </p:nvSpPr>
        <p:spPr>
          <a:xfrm>
            <a:off x="838200" y="3453765"/>
            <a:ext cx="5232321"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7"/>
          <p:cNvSpPr/>
          <p:nvPr/>
        </p:nvSpPr>
        <p:spPr>
          <a:xfrm>
            <a:off x="838200" y="3678555"/>
            <a:ext cx="5755553"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01</a:t>
            </a:r>
            <a:endParaRPr b="0" i="0" sz="2100" u="none" cap="none" strike="noStrike">
              <a:solidFill>
                <a:schemeClr val="dk1"/>
              </a:solidFill>
              <a:latin typeface="Calibri"/>
              <a:ea typeface="Calibri"/>
              <a:cs typeface="Calibri"/>
              <a:sym typeface="Calibri"/>
            </a:endParaRPr>
          </a:p>
        </p:txBody>
      </p:sp>
      <p:sp>
        <p:nvSpPr>
          <p:cNvPr id="1588" name="Google Shape;1588;p37"/>
          <p:cNvSpPr/>
          <p:nvPr/>
        </p:nvSpPr>
        <p:spPr>
          <a:xfrm>
            <a:off x="838200" y="4162425"/>
            <a:ext cx="5389290" cy="1695450"/>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1C2A44"/>
              </a:buClr>
              <a:buSzPts val="2250"/>
              <a:buFont typeface="Helvetica Neue"/>
              <a:buNone/>
            </a:pPr>
            <a:r>
              <a:rPr b="0" i="0" lang="en-US" sz="2250" u="none" cap="none" strike="noStrike">
                <a:solidFill>
                  <a:srgbClr val="1C2A44"/>
                </a:solidFill>
                <a:latin typeface="Helvetica Neue"/>
                <a:ea typeface="Helvetica Neue"/>
                <a:cs typeface="Helvetica Neue"/>
                <a:sym typeface="Helvetica Neue"/>
              </a:rPr>
              <a:t>A pretrained model is useful because it hands you a ready-made numerical description of sequence. You never have to design features by hand.</a:t>
            </a:r>
            <a:endParaRPr b="0" i="0" sz="2250" u="none" cap="none" strike="noStrike">
              <a:solidFill>
                <a:schemeClr val="dk1"/>
              </a:solidFill>
              <a:latin typeface="Calibri"/>
              <a:ea typeface="Calibri"/>
              <a:cs typeface="Calibri"/>
              <a:sym typeface="Calibri"/>
            </a:endParaRPr>
          </a:p>
        </p:txBody>
      </p:sp>
      <p:sp>
        <p:nvSpPr>
          <p:cNvPr id="1589" name="Google Shape;1589;p37"/>
          <p:cNvSpPr/>
          <p:nvPr/>
        </p:nvSpPr>
        <p:spPr>
          <a:xfrm>
            <a:off x="6527721" y="3453765"/>
            <a:ext cx="523244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7"/>
          <p:cNvSpPr/>
          <p:nvPr/>
        </p:nvSpPr>
        <p:spPr>
          <a:xfrm>
            <a:off x="6527721" y="3678555"/>
            <a:ext cx="5755684"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02</a:t>
            </a:r>
            <a:endParaRPr b="0" i="0" sz="2100" u="none" cap="none" strike="noStrike">
              <a:solidFill>
                <a:schemeClr val="dk1"/>
              </a:solidFill>
              <a:latin typeface="Calibri"/>
              <a:ea typeface="Calibri"/>
              <a:cs typeface="Calibri"/>
              <a:sym typeface="Calibri"/>
            </a:endParaRPr>
          </a:p>
        </p:txBody>
      </p:sp>
      <p:sp>
        <p:nvSpPr>
          <p:cNvPr id="1591" name="Google Shape;1591;p37"/>
          <p:cNvSpPr/>
          <p:nvPr/>
        </p:nvSpPr>
        <p:spPr>
          <a:xfrm>
            <a:off x="6527721" y="4162425"/>
            <a:ext cx="5389413" cy="1695450"/>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1C2A44"/>
              </a:buClr>
              <a:buSzPts val="2250"/>
              <a:buFont typeface="Helvetica Neue"/>
              <a:buNone/>
            </a:pPr>
            <a:r>
              <a:rPr b="0" i="0" lang="en-US" sz="2250" u="none" cap="none" strike="noStrike">
                <a:solidFill>
                  <a:srgbClr val="1C2A44"/>
                </a:solidFill>
                <a:latin typeface="Helvetica Neue"/>
                <a:ea typeface="Helvetica Neue"/>
                <a:cs typeface="Helvetica Neue"/>
                <a:sym typeface="Helvetica Neue"/>
              </a:rPr>
              <a:t>A small classifier on top is enough to find out what that description contains — and it always has to beat the k-mer baseline to be worth keeping.</a:t>
            </a:r>
            <a:endParaRPr b="0" i="0" sz="2250" u="none" cap="none" strike="noStrike">
              <a:solidFill>
                <a:schemeClr val="dk1"/>
              </a:solidFill>
              <a:latin typeface="Calibri"/>
              <a:ea typeface="Calibri"/>
              <a:cs typeface="Calibri"/>
              <a:sym typeface="Calibri"/>
            </a:endParaRPr>
          </a:p>
        </p:txBody>
      </p:sp>
      <p:sp>
        <p:nvSpPr>
          <p:cNvPr id="1592" name="Google Shape;1592;p37"/>
          <p:cNvSpPr/>
          <p:nvPr/>
        </p:nvSpPr>
        <p:spPr>
          <a:xfrm>
            <a:off x="12217360" y="3453765"/>
            <a:ext cx="523244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7"/>
          <p:cNvSpPr/>
          <p:nvPr/>
        </p:nvSpPr>
        <p:spPr>
          <a:xfrm>
            <a:off x="12217360" y="3678555"/>
            <a:ext cx="5755684"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03</a:t>
            </a:r>
            <a:endParaRPr b="0" i="0" sz="2100" u="none" cap="none" strike="noStrike">
              <a:solidFill>
                <a:schemeClr val="dk1"/>
              </a:solidFill>
              <a:latin typeface="Calibri"/>
              <a:ea typeface="Calibri"/>
              <a:cs typeface="Calibri"/>
              <a:sym typeface="Calibri"/>
            </a:endParaRPr>
          </a:p>
        </p:txBody>
      </p:sp>
      <p:sp>
        <p:nvSpPr>
          <p:cNvPr id="1594" name="Google Shape;1594;p37"/>
          <p:cNvSpPr/>
          <p:nvPr/>
        </p:nvSpPr>
        <p:spPr>
          <a:xfrm>
            <a:off x="12217360" y="4162425"/>
            <a:ext cx="5389413" cy="1281113"/>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1C2A44"/>
              </a:buClr>
              <a:buSzPts val="2250"/>
              <a:buFont typeface="Helvetica Neue"/>
              <a:buNone/>
            </a:pPr>
            <a:r>
              <a:rPr b="0" i="0" lang="en-US" sz="2250" u="none" cap="none" strike="noStrike">
                <a:solidFill>
                  <a:srgbClr val="1C2A44"/>
                </a:solidFill>
                <a:latin typeface="Helvetica Neue"/>
                <a:ea typeface="Helvetica Neue"/>
                <a:cs typeface="Helvetica Neue"/>
                <a:sym typeface="Helvetica Neue"/>
              </a:rPr>
              <a:t>A believable score needs a metric that matches the question and a test set the model has genuinely never seen.</a:t>
            </a:r>
            <a:endParaRPr b="0" i="0" sz="2250" u="none" cap="none" strike="noStrike">
              <a:solidFill>
                <a:schemeClr val="dk1"/>
              </a:solidFill>
              <a:latin typeface="Calibri"/>
              <a:ea typeface="Calibri"/>
              <a:cs typeface="Calibri"/>
              <a:sym typeface="Calibri"/>
            </a:endParaRPr>
          </a:p>
        </p:txBody>
      </p:sp>
      <p:sp>
        <p:nvSpPr>
          <p:cNvPr id="1595" name="Google Shape;1595;p37"/>
          <p:cNvSpPr/>
          <p:nvPr/>
        </p:nvSpPr>
        <p:spPr>
          <a:xfrm>
            <a:off x="838200" y="7284720"/>
            <a:ext cx="16611600" cy="206883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7"/>
          <p:cNvSpPr/>
          <p:nvPr/>
        </p:nvSpPr>
        <p:spPr>
          <a:xfrm>
            <a:off x="1219200" y="7608570"/>
            <a:ext cx="174345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IF YOU REMEMBER ONE SENTENCE</a:t>
            </a:r>
            <a:endParaRPr b="0" i="0" sz="1800" u="none" cap="none" strike="noStrike">
              <a:solidFill>
                <a:schemeClr val="dk1"/>
              </a:solidFill>
              <a:latin typeface="Calibri"/>
              <a:ea typeface="Calibri"/>
              <a:cs typeface="Calibri"/>
              <a:sym typeface="Calibri"/>
            </a:endParaRPr>
          </a:p>
        </p:txBody>
      </p:sp>
      <p:sp>
        <p:nvSpPr>
          <p:cNvPr id="1597" name="Google Shape;1597;p37"/>
          <p:cNvSpPr/>
          <p:nvPr/>
        </p:nvSpPr>
        <p:spPr>
          <a:xfrm>
            <a:off x="1219200" y="8001000"/>
            <a:ext cx="16325088" cy="1066800"/>
          </a:xfrm>
          <a:prstGeom prst="rect">
            <a:avLst/>
          </a:prstGeom>
          <a:noFill/>
          <a:ln>
            <a:noFill/>
          </a:ln>
        </p:spPr>
        <p:txBody>
          <a:bodyPr anchorCtr="0" anchor="t" bIns="25400" lIns="25400" spcFirstLastPara="1" rIns="25400" wrap="square" tIns="25400">
            <a:normAutofit/>
          </a:bodyPr>
          <a:lstStyle/>
          <a:p>
            <a:pPr indent="0" lvl="0" marL="0" marR="0" rtl="0" algn="l">
              <a:lnSpc>
                <a:spcPct val="116379"/>
              </a:lnSpc>
              <a:spcBef>
                <a:spcPts val="0"/>
              </a:spcBef>
              <a:spcAft>
                <a:spcPts val="0"/>
              </a:spcAft>
              <a:buClr>
                <a:srgbClr val="FFFFFF"/>
              </a:buClr>
              <a:buSzPts val="3000"/>
              <a:buFont typeface="Helvetica Neue"/>
              <a:buNone/>
            </a:pPr>
            <a:r>
              <a:rPr b="0" i="0" lang="en-US" sz="3000" u="none" cap="none" strike="noStrike">
                <a:solidFill>
                  <a:srgbClr val="FFFFFF"/>
                </a:solidFill>
                <a:latin typeface="Helvetica Neue"/>
                <a:ea typeface="Helvetica Neue"/>
                <a:cs typeface="Helvetica Neue"/>
                <a:sym typeface="Helvetica Neue"/>
              </a:rPr>
              <a:t>The model turns sequence into numbers; the science is in choosing the labels, the split and the metric.</a:t>
            </a:r>
            <a:endParaRPr b="0" i="0" sz="3000" u="none" cap="none" strike="noStrike">
              <a:solidFill>
                <a:schemeClr val="dk1"/>
              </a:solidFill>
              <a:latin typeface="Calibri"/>
              <a:ea typeface="Calibri"/>
              <a:cs typeface="Calibri"/>
              <a:sym typeface="Calibri"/>
            </a:endParaRPr>
          </a:p>
        </p:txBody>
      </p:sp>
      <p:sp>
        <p:nvSpPr>
          <p:cNvPr id="1598" name="Google Shape;1598;p37"/>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7"/>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600" name="Google Shape;1600;p37"/>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601" name="Google Shape;1601;p37"/>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37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6" name="Shape 1606"/>
        <p:cNvGrpSpPr/>
        <p:nvPr/>
      </p:nvGrpSpPr>
      <p:grpSpPr>
        <a:xfrm>
          <a:off x="0" y="0"/>
          <a:ext cx="0" cy="0"/>
          <a:chOff x="0" y="0"/>
          <a:chExt cx="0" cy="0"/>
        </a:xfrm>
      </p:grpSpPr>
      <p:sp>
        <p:nvSpPr>
          <p:cNvPr id="1607" name="Google Shape;1607;p38"/>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8"/>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609" name="Google Shape;1609;p38"/>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610" name="Google Shape;1610;p38"/>
          <p:cNvSpPr/>
          <p:nvPr/>
        </p:nvSpPr>
        <p:spPr>
          <a:xfrm>
            <a:off x="838200" y="10553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APPENDIX · REFERENCE</a:t>
            </a:r>
            <a:endParaRPr b="0" i="0" sz="1800" u="none" cap="none" strike="noStrike">
              <a:solidFill>
                <a:schemeClr val="dk1"/>
              </a:solidFill>
              <a:latin typeface="Calibri"/>
              <a:ea typeface="Calibri"/>
              <a:cs typeface="Calibri"/>
              <a:sym typeface="Calibri"/>
            </a:endParaRPr>
          </a:p>
        </p:txBody>
      </p:sp>
      <p:sp>
        <p:nvSpPr>
          <p:cNvPr id="1611" name="Google Shape;1611;p38"/>
          <p:cNvSpPr/>
          <p:nvPr/>
        </p:nvSpPr>
        <p:spPr>
          <a:xfrm>
            <a:off x="838200" y="140970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Glossary</a:t>
            </a:r>
            <a:endParaRPr b="0" i="0" sz="4500" u="none" cap="none" strike="noStrike">
              <a:solidFill>
                <a:schemeClr val="dk1"/>
              </a:solidFill>
              <a:latin typeface="Calibri"/>
              <a:ea typeface="Calibri"/>
              <a:cs typeface="Calibri"/>
              <a:sym typeface="Calibri"/>
            </a:endParaRPr>
          </a:p>
        </p:txBody>
      </p:sp>
      <p:sp>
        <p:nvSpPr>
          <p:cNvPr id="1612" name="Google Shape;1612;p38"/>
          <p:cNvSpPr/>
          <p:nvPr/>
        </p:nvSpPr>
        <p:spPr>
          <a:xfrm>
            <a:off x="838200" y="2181225"/>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8"/>
          <p:cNvSpPr/>
          <p:nvPr/>
        </p:nvSpPr>
        <p:spPr>
          <a:xfrm>
            <a:off x="838200" y="2245995"/>
            <a:ext cx="612815"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AUC</a:t>
            </a:r>
            <a:endParaRPr b="0" i="0" sz="1950" u="none" cap="none" strike="noStrike">
              <a:solidFill>
                <a:schemeClr val="dk1"/>
              </a:solidFill>
              <a:latin typeface="Calibri"/>
              <a:ea typeface="Calibri"/>
              <a:cs typeface="Calibri"/>
              <a:sym typeface="Calibri"/>
            </a:endParaRPr>
          </a:p>
        </p:txBody>
      </p:sp>
      <p:sp>
        <p:nvSpPr>
          <p:cNvPr id="1614" name="Google Shape;1614;p38"/>
          <p:cNvSpPr/>
          <p:nvPr/>
        </p:nvSpPr>
        <p:spPr>
          <a:xfrm>
            <a:off x="838200" y="2546985"/>
            <a:ext cx="4042029" cy="833557"/>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The chance the model scores a random promoter above a random non-promoter.</a:t>
            </a:r>
            <a:endParaRPr b="0" i="0" sz="1800" u="none" cap="none" strike="noStrike">
              <a:solidFill>
                <a:schemeClr val="dk1"/>
              </a:solidFill>
              <a:latin typeface="Calibri"/>
              <a:ea typeface="Calibri"/>
              <a:cs typeface="Calibri"/>
              <a:sym typeface="Calibri"/>
            </a:endParaRPr>
          </a:p>
        </p:txBody>
      </p:sp>
      <p:sp>
        <p:nvSpPr>
          <p:cNvPr id="1615" name="Google Shape;1615;p38"/>
          <p:cNvSpPr/>
          <p:nvPr/>
        </p:nvSpPr>
        <p:spPr>
          <a:xfrm>
            <a:off x="5067300" y="2181225"/>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8"/>
          <p:cNvSpPr/>
          <p:nvPr/>
        </p:nvSpPr>
        <p:spPr>
          <a:xfrm>
            <a:off x="5067300" y="2245995"/>
            <a:ext cx="1162883"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Attention</a:t>
            </a:r>
            <a:endParaRPr b="0" i="0" sz="1950" u="none" cap="none" strike="noStrike">
              <a:solidFill>
                <a:schemeClr val="dk1"/>
              </a:solidFill>
              <a:latin typeface="Calibri"/>
              <a:ea typeface="Calibri"/>
              <a:cs typeface="Calibri"/>
              <a:sym typeface="Calibri"/>
            </a:endParaRPr>
          </a:p>
        </p:txBody>
      </p:sp>
      <p:sp>
        <p:nvSpPr>
          <p:cNvPr id="1617" name="Google Shape;1617;p38"/>
          <p:cNvSpPr/>
          <p:nvPr/>
        </p:nvSpPr>
        <p:spPr>
          <a:xfrm>
            <a:off x="5067300" y="2546985"/>
            <a:ext cx="4042029" cy="833557"/>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The step where each position looks at the others and mixes in the ones that matter.</a:t>
            </a:r>
            <a:endParaRPr b="0" i="0" sz="1800" u="none" cap="none" strike="noStrike">
              <a:solidFill>
                <a:schemeClr val="dk1"/>
              </a:solidFill>
              <a:latin typeface="Calibri"/>
              <a:ea typeface="Calibri"/>
              <a:cs typeface="Calibri"/>
              <a:sym typeface="Calibri"/>
            </a:endParaRPr>
          </a:p>
        </p:txBody>
      </p:sp>
      <p:sp>
        <p:nvSpPr>
          <p:cNvPr id="1618" name="Google Shape;1618;p38"/>
          <p:cNvSpPr/>
          <p:nvPr/>
        </p:nvSpPr>
        <p:spPr>
          <a:xfrm>
            <a:off x="9296400" y="2181225"/>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8"/>
          <p:cNvSpPr/>
          <p:nvPr/>
        </p:nvSpPr>
        <p:spPr>
          <a:xfrm>
            <a:off x="9296400" y="2245995"/>
            <a:ext cx="1094899"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Baseline</a:t>
            </a:r>
            <a:endParaRPr b="0" i="0" sz="1950" u="none" cap="none" strike="noStrike">
              <a:solidFill>
                <a:schemeClr val="dk1"/>
              </a:solidFill>
              <a:latin typeface="Calibri"/>
              <a:ea typeface="Calibri"/>
              <a:cs typeface="Calibri"/>
              <a:sym typeface="Calibri"/>
            </a:endParaRPr>
          </a:p>
        </p:txBody>
      </p:sp>
      <p:sp>
        <p:nvSpPr>
          <p:cNvPr id="1620" name="Google Shape;1620;p38"/>
          <p:cNvSpPr/>
          <p:nvPr/>
        </p:nvSpPr>
        <p:spPr>
          <a:xfrm>
            <a:off x="9296400" y="2546985"/>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The cheapest sensible method, run first so anything fancier has to beat it.</a:t>
            </a:r>
            <a:endParaRPr b="0" i="0" sz="1800" u="none" cap="none" strike="noStrike">
              <a:solidFill>
                <a:schemeClr val="dk1"/>
              </a:solidFill>
              <a:latin typeface="Calibri"/>
              <a:ea typeface="Calibri"/>
              <a:cs typeface="Calibri"/>
              <a:sym typeface="Calibri"/>
            </a:endParaRPr>
          </a:p>
        </p:txBody>
      </p:sp>
      <p:sp>
        <p:nvSpPr>
          <p:cNvPr id="1621" name="Google Shape;1621;p38"/>
          <p:cNvSpPr/>
          <p:nvPr/>
        </p:nvSpPr>
        <p:spPr>
          <a:xfrm>
            <a:off x="13525500" y="2181225"/>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8"/>
          <p:cNvSpPr/>
          <p:nvPr/>
        </p:nvSpPr>
        <p:spPr>
          <a:xfrm>
            <a:off x="13525500" y="2245995"/>
            <a:ext cx="1191339"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Classifier</a:t>
            </a:r>
            <a:endParaRPr b="0" i="0" sz="1950" u="none" cap="none" strike="noStrike">
              <a:solidFill>
                <a:schemeClr val="dk1"/>
              </a:solidFill>
              <a:latin typeface="Calibri"/>
              <a:ea typeface="Calibri"/>
              <a:cs typeface="Calibri"/>
              <a:sym typeface="Calibri"/>
            </a:endParaRPr>
          </a:p>
        </p:txBody>
      </p:sp>
      <p:sp>
        <p:nvSpPr>
          <p:cNvPr id="1623" name="Google Shape;1623;p38"/>
          <p:cNvSpPr/>
          <p:nvPr/>
        </p:nvSpPr>
        <p:spPr>
          <a:xfrm>
            <a:off x="13525500" y="2546985"/>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A model whose output is a class — here, promoter or not promoter.</a:t>
            </a:r>
            <a:endParaRPr b="0" i="0" sz="1800" u="none" cap="none" strike="noStrike">
              <a:solidFill>
                <a:schemeClr val="dk1"/>
              </a:solidFill>
              <a:latin typeface="Calibri"/>
              <a:ea typeface="Calibri"/>
              <a:cs typeface="Calibri"/>
              <a:sym typeface="Calibri"/>
            </a:endParaRPr>
          </a:p>
        </p:txBody>
      </p:sp>
      <p:sp>
        <p:nvSpPr>
          <p:cNvPr id="1624" name="Google Shape;1624;p38"/>
          <p:cNvSpPr/>
          <p:nvPr/>
        </p:nvSpPr>
        <p:spPr>
          <a:xfrm>
            <a:off x="838200" y="3361492"/>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8"/>
          <p:cNvSpPr/>
          <p:nvPr/>
        </p:nvSpPr>
        <p:spPr>
          <a:xfrm>
            <a:off x="838200" y="3426262"/>
            <a:ext cx="2088428"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Context window</a:t>
            </a:r>
            <a:endParaRPr b="0" i="0" sz="1950" u="none" cap="none" strike="noStrike">
              <a:solidFill>
                <a:schemeClr val="dk1"/>
              </a:solidFill>
              <a:latin typeface="Calibri"/>
              <a:ea typeface="Calibri"/>
              <a:cs typeface="Calibri"/>
              <a:sym typeface="Calibri"/>
            </a:endParaRPr>
          </a:p>
        </p:txBody>
      </p:sp>
      <p:sp>
        <p:nvSpPr>
          <p:cNvPr id="1626" name="Google Shape;1626;p38"/>
          <p:cNvSpPr/>
          <p:nvPr/>
        </p:nvSpPr>
        <p:spPr>
          <a:xfrm>
            <a:off x="838200" y="3727252"/>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How much sequence a model can take in at once.</a:t>
            </a:r>
            <a:endParaRPr b="0" i="0" sz="1800" u="none" cap="none" strike="noStrike">
              <a:solidFill>
                <a:schemeClr val="dk1"/>
              </a:solidFill>
              <a:latin typeface="Calibri"/>
              <a:ea typeface="Calibri"/>
              <a:cs typeface="Calibri"/>
              <a:sym typeface="Calibri"/>
            </a:endParaRPr>
          </a:p>
        </p:txBody>
      </p:sp>
      <p:sp>
        <p:nvSpPr>
          <p:cNvPr id="1627" name="Google Shape;1627;p38"/>
          <p:cNvSpPr/>
          <p:nvPr/>
        </p:nvSpPr>
        <p:spPr>
          <a:xfrm>
            <a:off x="5067300" y="3361492"/>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8"/>
          <p:cNvSpPr/>
          <p:nvPr/>
        </p:nvSpPr>
        <p:spPr>
          <a:xfrm>
            <a:off x="5067300" y="3426262"/>
            <a:ext cx="1483221"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Embedding</a:t>
            </a:r>
            <a:endParaRPr b="0" i="0" sz="1950" u="none" cap="none" strike="noStrike">
              <a:solidFill>
                <a:schemeClr val="dk1"/>
              </a:solidFill>
              <a:latin typeface="Calibri"/>
              <a:ea typeface="Calibri"/>
              <a:cs typeface="Calibri"/>
              <a:sym typeface="Calibri"/>
            </a:endParaRPr>
          </a:p>
        </p:txBody>
      </p:sp>
      <p:sp>
        <p:nvSpPr>
          <p:cNvPr id="1629" name="Google Shape;1629;p38"/>
          <p:cNvSpPr/>
          <p:nvPr/>
        </p:nvSpPr>
        <p:spPr>
          <a:xfrm>
            <a:off x="5067300" y="3727252"/>
            <a:ext cx="4042029" cy="833557"/>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The list of numbers a pretrained model produces to stand for one input window.</a:t>
            </a:r>
            <a:endParaRPr b="0" i="0" sz="1800" u="none" cap="none" strike="noStrike">
              <a:solidFill>
                <a:schemeClr val="dk1"/>
              </a:solidFill>
              <a:latin typeface="Calibri"/>
              <a:ea typeface="Calibri"/>
              <a:cs typeface="Calibri"/>
              <a:sym typeface="Calibri"/>
            </a:endParaRPr>
          </a:p>
        </p:txBody>
      </p:sp>
      <p:sp>
        <p:nvSpPr>
          <p:cNvPr id="1630" name="Google Shape;1630;p38"/>
          <p:cNvSpPr/>
          <p:nvPr/>
        </p:nvSpPr>
        <p:spPr>
          <a:xfrm>
            <a:off x="9296400" y="3361492"/>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8"/>
          <p:cNvSpPr/>
          <p:nvPr/>
        </p:nvSpPr>
        <p:spPr>
          <a:xfrm>
            <a:off x="9296400" y="3426262"/>
            <a:ext cx="365284"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F1</a:t>
            </a:r>
            <a:endParaRPr b="0" i="0" sz="1950" u="none" cap="none" strike="noStrike">
              <a:solidFill>
                <a:schemeClr val="dk1"/>
              </a:solidFill>
              <a:latin typeface="Calibri"/>
              <a:ea typeface="Calibri"/>
              <a:cs typeface="Calibri"/>
              <a:sym typeface="Calibri"/>
            </a:endParaRPr>
          </a:p>
        </p:txBody>
      </p:sp>
      <p:sp>
        <p:nvSpPr>
          <p:cNvPr id="1632" name="Google Shape;1632;p38"/>
          <p:cNvSpPr/>
          <p:nvPr/>
        </p:nvSpPr>
        <p:spPr>
          <a:xfrm>
            <a:off x="9296400" y="3727252"/>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One number balancing precision and recall; high only when both are high.</a:t>
            </a:r>
            <a:endParaRPr b="0" i="0" sz="1800" u="none" cap="none" strike="noStrike">
              <a:solidFill>
                <a:schemeClr val="dk1"/>
              </a:solidFill>
              <a:latin typeface="Calibri"/>
              <a:ea typeface="Calibri"/>
              <a:cs typeface="Calibri"/>
              <a:sym typeface="Calibri"/>
            </a:endParaRPr>
          </a:p>
        </p:txBody>
      </p:sp>
      <p:sp>
        <p:nvSpPr>
          <p:cNvPr id="1633" name="Google Shape;1633;p38"/>
          <p:cNvSpPr/>
          <p:nvPr/>
        </p:nvSpPr>
        <p:spPr>
          <a:xfrm>
            <a:off x="13525500" y="3361492"/>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8"/>
          <p:cNvSpPr/>
          <p:nvPr/>
        </p:nvSpPr>
        <p:spPr>
          <a:xfrm>
            <a:off x="13525500" y="3426262"/>
            <a:ext cx="970836"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Feature</a:t>
            </a:r>
            <a:endParaRPr b="0" i="0" sz="1950" u="none" cap="none" strike="noStrike">
              <a:solidFill>
                <a:schemeClr val="dk1"/>
              </a:solidFill>
              <a:latin typeface="Calibri"/>
              <a:ea typeface="Calibri"/>
              <a:cs typeface="Calibri"/>
              <a:sym typeface="Calibri"/>
            </a:endParaRPr>
          </a:p>
        </p:txBody>
      </p:sp>
      <p:sp>
        <p:nvSpPr>
          <p:cNvPr id="1635" name="Google Shape;1635;p38"/>
          <p:cNvSpPr/>
          <p:nvPr/>
        </p:nvSpPr>
        <p:spPr>
          <a:xfrm>
            <a:off x="13525500" y="3727252"/>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Any number computed from one example and fed to the model.</a:t>
            </a:r>
            <a:endParaRPr b="0" i="0" sz="1800" u="none" cap="none" strike="noStrike">
              <a:solidFill>
                <a:schemeClr val="dk1"/>
              </a:solidFill>
              <a:latin typeface="Calibri"/>
              <a:ea typeface="Calibri"/>
              <a:cs typeface="Calibri"/>
              <a:sym typeface="Calibri"/>
            </a:endParaRPr>
          </a:p>
        </p:txBody>
      </p:sp>
      <p:sp>
        <p:nvSpPr>
          <p:cNvPr id="1636" name="Google Shape;1636;p38"/>
          <p:cNvSpPr/>
          <p:nvPr/>
        </p:nvSpPr>
        <p:spPr>
          <a:xfrm>
            <a:off x="838200" y="4541758"/>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38"/>
          <p:cNvSpPr/>
          <p:nvPr/>
        </p:nvSpPr>
        <p:spPr>
          <a:xfrm>
            <a:off x="838200" y="4606528"/>
            <a:ext cx="1482828"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Fine-tuning</a:t>
            </a:r>
            <a:endParaRPr b="0" i="0" sz="1950" u="none" cap="none" strike="noStrike">
              <a:solidFill>
                <a:schemeClr val="dk1"/>
              </a:solidFill>
              <a:latin typeface="Calibri"/>
              <a:ea typeface="Calibri"/>
              <a:cs typeface="Calibri"/>
              <a:sym typeface="Calibri"/>
            </a:endParaRPr>
          </a:p>
        </p:txBody>
      </p:sp>
      <p:sp>
        <p:nvSpPr>
          <p:cNvPr id="1638" name="Google Shape;1638;p38"/>
          <p:cNvSpPr/>
          <p:nvPr/>
        </p:nvSpPr>
        <p:spPr>
          <a:xfrm>
            <a:off x="838200" y="4907518"/>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Training the big model itself on your task, not just a classifier on top.</a:t>
            </a:r>
            <a:endParaRPr b="0" i="0" sz="1800" u="none" cap="none" strike="noStrike">
              <a:solidFill>
                <a:schemeClr val="dk1"/>
              </a:solidFill>
              <a:latin typeface="Calibri"/>
              <a:ea typeface="Calibri"/>
              <a:cs typeface="Calibri"/>
              <a:sym typeface="Calibri"/>
            </a:endParaRPr>
          </a:p>
        </p:txBody>
      </p:sp>
      <p:sp>
        <p:nvSpPr>
          <p:cNvPr id="1639" name="Google Shape;1639;p38"/>
          <p:cNvSpPr/>
          <p:nvPr/>
        </p:nvSpPr>
        <p:spPr>
          <a:xfrm>
            <a:off x="5067300" y="4541758"/>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8"/>
          <p:cNvSpPr/>
          <p:nvPr/>
        </p:nvSpPr>
        <p:spPr>
          <a:xfrm>
            <a:off x="5067300" y="4606528"/>
            <a:ext cx="887968"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Frozen</a:t>
            </a:r>
            <a:endParaRPr b="0" i="0" sz="1950" u="none" cap="none" strike="noStrike">
              <a:solidFill>
                <a:schemeClr val="dk1"/>
              </a:solidFill>
              <a:latin typeface="Calibri"/>
              <a:ea typeface="Calibri"/>
              <a:cs typeface="Calibri"/>
              <a:sym typeface="Calibri"/>
            </a:endParaRPr>
          </a:p>
        </p:txBody>
      </p:sp>
      <p:sp>
        <p:nvSpPr>
          <p:cNvPr id="1641" name="Google Shape;1641;p38"/>
          <p:cNvSpPr/>
          <p:nvPr/>
        </p:nvSpPr>
        <p:spPr>
          <a:xfrm>
            <a:off x="5067300" y="4907518"/>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Left unchanged during training — we train only the classifier on top.</a:t>
            </a:r>
            <a:endParaRPr b="0" i="0" sz="1800" u="none" cap="none" strike="noStrike">
              <a:solidFill>
                <a:schemeClr val="dk1"/>
              </a:solidFill>
              <a:latin typeface="Calibri"/>
              <a:ea typeface="Calibri"/>
              <a:cs typeface="Calibri"/>
              <a:sym typeface="Calibri"/>
            </a:endParaRPr>
          </a:p>
        </p:txBody>
      </p:sp>
      <p:sp>
        <p:nvSpPr>
          <p:cNvPr id="1642" name="Google Shape;1642;p38"/>
          <p:cNvSpPr/>
          <p:nvPr/>
        </p:nvSpPr>
        <p:spPr>
          <a:xfrm>
            <a:off x="9296400" y="4541758"/>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38"/>
          <p:cNvSpPr/>
          <p:nvPr/>
        </p:nvSpPr>
        <p:spPr>
          <a:xfrm>
            <a:off x="9296400" y="4606528"/>
            <a:ext cx="750808"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k-mer</a:t>
            </a:r>
            <a:endParaRPr b="0" i="0" sz="1950" u="none" cap="none" strike="noStrike">
              <a:solidFill>
                <a:schemeClr val="dk1"/>
              </a:solidFill>
              <a:latin typeface="Calibri"/>
              <a:ea typeface="Calibri"/>
              <a:cs typeface="Calibri"/>
              <a:sym typeface="Calibri"/>
            </a:endParaRPr>
          </a:p>
        </p:txBody>
      </p:sp>
      <p:sp>
        <p:nvSpPr>
          <p:cNvPr id="1644" name="Google Shape;1644;p38"/>
          <p:cNvSpPr/>
          <p:nvPr/>
        </p:nvSpPr>
        <p:spPr>
          <a:xfrm>
            <a:off x="9296400" y="4907518"/>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Any stretch of k consecutive bases; ACG is a 3-mer.</a:t>
            </a:r>
            <a:endParaRPr b="0" i="0" sz="1800" u="none" cap="none" strike="noStrike">
              <a:solidFill>
                <a:schemeClr val="dk1"/>
              </a:solidFill>
              <a:latin typeface="Calibri"/>
              <a:ea typeface="Calibri"/>
              <a:cs typeface="Calibri"/>
              <a:sym typeface="Calibri"/>
            </a:endParaRPr>
          </a:p>
        </p:txBody>
      </p:sp>
      <p:sp>
        <p:nvSpPr>
          <p:cNvPr id="1645" name="Google Shape;1645;p38"/>
          <p:cNvSpPr/>
          <p:nvPr/>
        </p:nvSpPr>
        <p:spPr>
          <a:xfrm>
            <a:off x="13525500" y="4541758"/>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8"/>
          <p:cNvSpPr/>
          <p:nvPr/>
        </p:nvSpPr>
        <p:spPr>
          <a:xfrm>
            <a:off x="13525500" y="4606528"/>
            <a:ext cx="723067"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Label</a:t>
            </a:r>
            <a:endParaRPr b="0" i="0" sz="1950" u="none" cap="none" strike="noStrike">
              <a:solidFill>
                <a:schemeClr val="dk1"/>
              </a:solidFill>
              <a:latin typeface="Calibri"/>
              <a:ea typeface="Calibri"/>
              <a:cs typeface="Calibri"/>
              <a:sym typeface="Calibri"/>
            </a:endParaRPr>
          </a:p>
        </p:txBody>
      </p:sp>
      <p:sp>
        <p:nvSpPr>
          <p:cNvPr id="1647" name="Google Shape;1647;p38"/>
          <p:cNvSpPr/>
          <p:nvPr/>
        </p:nvSpPr>
        <p:spPr>
          <a:xfrm>
            <a:off x="13525500" y="4907518"/>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The known answer for a training example — here 1 or 0.</a:t>
            </a:r>
            <a:endParaRPr b="0" i="0" sz="1800" u="none" cap="none" strike="noStrike">
              <a:solidFill>
                <a:schemeClr val="dk1"/>
              </a:solidFill>
              <a:latin typeface="Calibri"/>
              <a:ea typeface="Calibri"/>
              <a:cs typeface="Calibri"/>
              <a:sym typeface="Calibri"/>
            </a:endParaRPr>
          </a:p>
        </p:txBody>
      </p:sp>
      <p:sp>
        <p:nvSpPr>
          <p:cNvPr id="1648" name="Google Shape;1648;p38"/>
          <p:cNvSpPr/>
          <p:nvPr/>
        </p:nvSpPr>
        <p:spPr>
          <a:xfrm>
            <a:off x="838200" y="5456873"/>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8"/>
          <p:cNvSpPr/>
          <p:nvPr/>
        </p:nvSpPr>
        <p:spPr>
          <a:xfrm>
            <a:off x="838200" y="5521643"/>
            <a:ext cx="654248"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Loss</a:t>
            </a:r>
            <a:endParaRPr b="0" i="0" sz="1950" u="none" cap="none" strike="noStrike">
              <a:solidFill>
                <a:schemeClr val="dk1"/>
              </a:solidFill>
              <a:latin typeface="Calibri"/>
              <a:ea typeface="Calibri"/>
              <a:cs typeface="Calibri"/>
              <a:sym typeface="Calibri"/>
            </a:endParaRPr>
          </a:p>
        </p:txBody>
      </p:sp>
      <p:sp>
        <p:nvSpPr>
          <p:cNvPr id="1650" name="Google Shape;1650;p38"/>
          <p:cNvSpPr/>
          <p:nvPr/>
        </p:nvSpPr>
        <p:spPr>
          <a:xfrm>
            <a:off x="838200" y="5822632"/>
            <a:ext cx="4042029" cy="833557"/>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A number measuring how wrong the predictions are; training makes it small.</a:t>
            </a:r>
            <a:endParaRPr b="0" i="0" sz="1800" u="none" cap="none" strike="noStrike">
              <a:solidFill>
                <a:schemeClr val="dk1"/>
              </a:solidFill>
              <a:latin typeface="Calibri"/>
              <a:ea typeface="Calibri"/>
              <a:cs typeface="Calibri"/>
              <a:sym typeface="Calibri"/>
            </a:endParaRPr>
          </a:p>
        </p:txBody>
      </p:sp>
      <p:sp>
        <p:nvSpPr>
          <p:cNvPr id="1651" name="Google Shape;1651;p38"/>
          <p:cNvSpPr/>
          <p:nvPr/>
        </p:nvSpPr>
        <p:spPr>
          <a:xfrm>
            <a:off x="5067300" y="5456873"/>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8"/>
          <p:cNvSpPr/>
          <p:nvPr/>
        </p:nvSpPr>
        <p:spPr>
          <a:xfrm>
            <a:off x="5067300" y="5521643"/>
            <a:ext cx="1377267"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Overfitting</a:t>
            </a:r>
            <a:endParaRPr b="0" i="0" sz="1950" u="none" cap="none" strike="noStrike">
              <a:solidFill>
                <a:schemeClr val="dk1"/>
              </a:solidFill>
              <a:latin typeface="Calibri"/>
              <a:ea typeface="Calibri"/>
              <a:cs typeface="Calibri"/>
              <a:sym typeface="Calibri"/>
            </a:endParaRPr>
          </a:p>
        </p:txBody>
      </p:sp>
      <p:sp>
        <p:nvSpPr>
          <p:cNvPr id="1653" name="Google Shape;1653;p38"/>
          <p:cNvSpPr/>
          <p:nvPr/>
        </p:nvSpPr>
        <p:spPr>
          <a:xfrm>
            <a:off x="5067300" y="5822632"/>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Fitting the training examples so closely that new data does worse.</a:t>
            </a:r>
            <a:endParaRPr b="0" i="0" sz="1800" u="none" cap="none" strike="noStrike">
              <a:solidFill>
                <a:schemeClr val="dk1"/>
              </a:solidFill>
              <a:latin typeface="Calibri"/>
              <a:ea typeface="Calibri"/>
              <a:cs typeface="Calibri"/>
              <a:sym typeface="Calibri"/>
            </a:endParaRPr>
          </a:p>
        </p:txBody>
      </p:sp>
      <p:sp>
        <p:nvSpPr>
          <p:cNvPr id="1654" name="Google Shape;1654;p38"/>
          <p:cNvSpPr/>
          <p:nvPr/>
        </p:nvSpPr>
        <p:spPr>
          <a:xfrm>
            <a:off x="9296400" y="5456873"/>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8"/>
          <p:cNvSpPr/>
          <p:nvPr/>
        </p:nvSpPr>
        <p:spPr>
          <a:xfrm>
            <a:off x="9296400" y="5521643"/>
            <a:ext cx="1191220"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Precision</a:t>
            </a:r>
            <a:endParaRPr b="0" i="0" sz="1950" u="none" cap="none" strike="noStrike">
              <a:solidFill>
                <a:schemeClr val="dk1"/>
              </a:solidFill>
              <a:latin typeface="Calibri"/>
              <a:ea typeface="Calibri"/>
              <a:cs typeface="Calibri"/>
              <a:sym typeface="Calibri"/>
            </a:endParaRPr>
          </a:p>
        </p:txBody>
      </p:sp>
      <p:sp>
        <p:nvSpPr>
          <p:cNvPr id="1656" name="Google Shape;1656;p38"/>
          <p:cNvSpPr/>
          <p:nvPr/>
        </p:nvSpPr>
        <p:spPr>
          <a:xfrm>
            <a:off x="9296400" y="5822632"/>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Of everything the model flagged, the fraction that was right.</a:t>
            </a:r>
            <a:endParaRPr b="0" i="0" sz="1800" u="none" cap="none" strike="noStrike">
              <a:solidFill>
                <a:schemeClr val="dk1"/>
              </a:solidFill>
              <a:latin typeface="Calibri"/>
              <a:ea typeface="Calibri"/>
              <a:cs typeface="Calibri"/>
              <a:sym typeface="Calibri"/>
            </a:endParaRPr>
          </a:p>
        </p:txBody>
      </p:sp>
      <p:sp>
        <p:nvSpPr>
          <p:cNvPr id="1657" name="Google Shape;1657;p38"/>
          <p:cNvSpPr/>
          <p:nvPr/>
        </p:nvSpPr>
        <p:spPr>
          <a:xfrm>
            <a:off x="13525500" y="5456873"/>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8"/>
          <p:cNvSpPr/>
          <p:nvPr/>
        </p:nvSpPr>
        <p:spPr>
          <a:xfrm>
            <a:off x="13525500" y="5521643"/>
            <a:ext cx="1438037"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Pretraining</a:t>
            </a:r>
            <a:endParaRPr b="0" i="0" sz="1950" u="none" cap="none" strike="noStrike">
              <a:solidFill>
                <a:schemeClr val="dk1"/>
              </a:solidFill>
              <a:latin typeface="Calibri"/>
              <a:ea typeface="Calibri"/>
              <a:cs typeface="Calibri"/>
              <a:sym typeface="Calibri"/>
            </a:endParaRPr>
          </a:p>
        </p:txBody>
      </p:sp>
      <p:sp>
        <p:nvSpPr>
          <p:cNvPr id="1659" name="Google Shape;1659;p38"/>
          <p:cNvSpPr/>
          <p:nvPr/>
        </p:nvSpPr>
        <p:spPr>
          <a:xfrm>
            <a:off x="13525500" y="5822632"/>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The long, unlabelled training run done once by whoever published the model.</a:t>
            </a:r>
            <a:endParaRPr b="0" i="0" sz="1800" u="none" cap="none" strike="noStrike">
              <a:solidFill>
                <a:schemeClr val="dk1"/>
              </a:solidFill>
              <a:latin typeface="Calibri"/>
              <a:ea typeface="Calibri"/>
              <a:cs typeface="Calibri"/>
              <a:sym typeface="Calibri"/>
            </a:endParaRPr>
          </a:p>
        </p:txBody>
      </p:sp>
      <p:sp>
        <p:nvSpPr>
          <p:cNvPr id="1660" name="Google Shape;1660;p38"/>
          <p:cNvSpPr/>
          <p:nvPr/>
        </p:nvSpPr>
        <p:spPr>
          <a:xfrm>
            <a:off x="838200" y="6637139"/>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8"/>
          <p:cNvSpPr/>
          <p:nvPr/>
        </p:nvSpPr>
        <p:spPr>
          <a:xfrm>
            <a:off x="838200" y="6701909"/>
            <a:ext cx="1177171"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Promoter</a:t>
            </a:r>
            <a:endParaRPr b="0" i="0" sz="1950" u="none" cap="none" strike="noStrike">
              <a:solidFill>
                <a:schemeClr val="dk1"/>
              </a:solidFill>
              <a:latin typeface="Calibri"/>
              <a:ea typeface="Calibri"/>
              <a:cs typeface="Calibri"/>
              <a:sym typeface="Calibri"/>
            </a:endParaRPr>
          </a:p>
        </p:txBody>
      </p:sp>
      <p:sp>
        <p:nvSpPr>
          <p:cNvPr id="1662" name="Google Shape;1662;p38"/>
          <p:cNvSpPr/>
          <p:nvPr/>
        </p:nvSpPr>
        <p:spPr>
          <a:xfrm>
            <a:off x="838200" y="7002899"/>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The stretch of DNA just upstream of a gene where transcription is started.</a:t>
            </a:r>
            <a:endParaRPr b="0" i="0" sz="1800" u="none" cap="none" strike="noStrike">
              <a:solidFill>
                <a:schemeClr val="dk1"/>
              </a:solidFill>
              <a:latin typeface="Calibri"/>
              <a:ea typeface="Calibri"/>
              <a:cs typeface="Calibri"/>
              <a:sym typeface="Calibri"/>
            </a:endParaRPr>
          </a:p>
        </p:txBody>
      </p:sp>
      <p:sp>
        <p:nvSpPr>
          <p:cNvPr id="1663" name="Google Shape;1663;p38"/>
          <p:cNvSpPr/>
          <p:nvPr/>
        </p:nvSpPr>
        <p:spPr>
          <a:xfrm>
            <a:off x="5067300" y="6637139"/>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8"/>
          <p:cNvSpPr/>
          <p:nvPr/>
        </p:nvSpPr>
        <p:spPr>
          <a:xfrm>
            <a:off x="5067300" y="6701909"/>
            <a:ext cx="1408045"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ROC curve</a:t>
            </a:r>
            <a:endParaRPr b="0" i="0" sz="1950" u="none" cap="none" strike="noStrike">
              <a:solidFill>
                <a:schemeClr val="dk1"/>
              </a:solidFill>
              <a:latin typeface="Calibri"/>
              <a:ea typeface="Calibri"/>
              <a:cs typeface="Calibri"/>
              <a:sym typeface="Calibri"/>
            </a:endParaRPr>
          </a:p>
        </p:txBody>
      </p:sp>
      <p:sp>
        <p:nvSpPr>
          <p:cNvPr id="1665" name="Google Shape;1665;p38"/>
          <p:cNvSpPr/>
          <p:nvPr/>
        </p:nvSpPr>
        <p:spPr>
          <a:xfrm>
            <a:off x="5067300" y="7002899"/>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Catch rate against false-alarm rate, as the cut-off sweeps strict to lenient.</a:t>
            </a:r>
            <a:endParaRPr b="0" i="0" sz="1800" u="none" cap="none" strike="noStrike">
              <a:solidFill>
                <a:schemeClr val="dk1"/>
              </a:solidFill>
              <a:latin typeface="Calibri"/>
              <a:ea typeface="Calibri"/>
              <a:cs typeface="Calibri"/>
              <a:sym typeface="Calibri"/>
            </a:endParaRPr>
          </a:p>
        </p:txBody>
      </p:sp>
      <p:sp>
        <p:nvSpPr>
          <p:cNvPr id="1666" name="Google Shape;1666;p38"/>
          <p:cNvSpPr/>
          <p:nvPr/>
        </p:nvSpPr>
        <p:spPr>
          <a:xfrm>
            <a:off x="9296400" y="6637139"/>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8"/>
          <p:cNvSpPr/>
          <p:nvPr/>
        </p:nvSpPr>
        <p:spPr>
          <a:xfrm>
            <a:off x="9296400" y="6701909"/>
            <a:ext cx="805934"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Recall</a:t>
            </a:r>
            <a:endParaRPr b="0" i="0" sz="1950" u="none" cap="none" strike="noStrike">
              <a:solidFill>
                <a:schemeClr val="dk1"/>
              </a:solidFill>
              <a:latin typeface="Calibri"/>
              <a:ea typeface="Calibri"/>
              <a:cs typeface="Calibri"/>
              <a:sym typeface="Calibri"/>
            </a:endParaRPr>
          </a:p>
        </p:txBody>
      </p:sp>
      <p:sp>
        <p:nvSpPr>
          <p:cNvPr id="1668" name="Google Shape;1668;p38"/>
          <p:cNvSpPr/>
          <p:nvPr/>
        </p:nvSpPr>
        <p:spPr>
          <a:xfrm>
            <a:off x="9296400" y="7002899"/>
            <a:ext cx="4042029" cy="833557"/>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Of everything that really was a promoter, the fraction the model found.</a:t>
            </a:r>
            <a:endParaRPr b="0" i="0" sz="1800" u="none" cap="none" strike="noStrike">
              <a:solidFill>
                <a:schemeClr val="dk1"/>
              </a:solidFill>
              <a:latin typeface="Calibri"/>
              <a:ea typeface="Calibri"/>
              <a:cs typeface="Calibri"/>
              <a:sym typeface="Calibri"/>
            </a:endParaRPr>
          </a:p>
        </p:txBody>
      </p:sp>
      <p:sp>
        <p:nvSpPr>
          <p:cNvPr id="1669" name="Google Shape;1669;p38"/>
          <p:cNvSpPr/>
          <p:nvPr/>
        </p:nvSpPr>
        <p:spPr>
          <a:xfrm>
            <a:off x="13525500" y="6637139"/>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8"/>
          <p:cNvSpPr/>
          <p:nvPr/>
        </p:nvSpPr>
        <p:spPr>
          <a:xfrm>
            <a:off x="13525500" y="6701909"/>
            <a:ext cx="2028837"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Self-supervised</a:t>
            </a:r>
            <a:endParaRPr b="0" i="0" sz="1950" u="none" cap="none" strike="noStrike">
              <a:solidFill>
                <a:schemeClr val="dk1"/>
              </a:solidFill>
              <a:latin typeface="Calibri"/>
              <a:ea typeface="Calibri"/>
              <a:cs typeface="Calibri"/>
              <a:sym typeface="Calibri"/>
            </a:endParaRPr>
          </a:p>
        </p:txBody>
      </p:sp>
      <p:sp>
        <p:nvSpPr>
          <p:cNvPr id="1671" name="Google Shape;1671;p38"/>
          <p:cNvSpPr/>
          <p:nvPr/>
        </p:nvSpPr>
        <p:spPr>
          <a:xfrm>
            <a:off x="13525500" y="7002899"/>
            <a:ext cx="4042029" cy="833557"/>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Training where the answer key comes from the data itself — no human labelling.</a:t>
            </a:r>
            <a:endParaRPr b="0" i="0" sz="1800" u="none" cap="none" strike="noStrike">
              <a:solidFill>
                <a:schemeClr val="dk1"/>
              </a:solidFill>
              <a:latin typeface="Calibri"/>
              <a:ea typeface="Calibri"/>
              <a:cs typeface="Calibri"/>
              <a:sym typeface="Calibri"/>
            </a:endParaRPr>
          </a:p>
        </p:txBody>
      </p:sp>
      <p:sp>
        <p:nvSpPr>
          <p:cNvPr id="1672" name="Google Shape;1672;p38"/>
          <p:cNvSpPr/>
          <p:nvPr/>
        </p:nvSpPr>
        <p:spPr>
          <a:xfrm>
            <a:off x="838200" y="7817406"/>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38"/>
          <p:cNvSpPr/>
          <p:nvPr/>
        </p:nvSpPr>
        <p:spPr>
          <a:xfrm>
            <a:off x="838200" y="7882176"/>
            <a:ext cx="2922175"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Sensitivity / specificity</a:t>
            </a:r>
            <a:endParaRPr b="0" i="0" sz="1950" u="none" cap="none" strike="noStrike">
              <a:solidFill>
                <a:schemeClr val="dk1"/>
              </a:solidFill>
              <a:latin typeface="Calibri"/>
              <a:ea typeface="Calibri"/>
              <a:cs typeface="Calibri"/>
              <a:sym typeface="Calibri"/>
            </a:endParaRPr>
          </a:p>
        </p:txBody>
      </p:sp>
      <p:sp>
        <p:nvSpPr>
          <p:cNvPr id="1674" name="Google Shape;1674;p38"/>
          <p:cNvSpPr/>
          <p:nvPr/>
        </p:nvSpPr>
        <p:spPr>
          <a:xfrm>
            <a:off x="838200" y="8183166"/>
            <a:ext cx="4042029" cy="833557"/>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Clinical names for catch rate and correct-rejection rate; sensitivity = recall.</a:t>
            </a:r>
            <a:endParaRPr b="0" i="0" sz="1800" u="none" cap="none" strike="noStrike">
              <a:solidFill>
                <a:schemeClr val="dk1"/>
              </a:solidFill>
              <a:latin typeface="Calibri"/>
              <a:ea typeface="Calibri"/>
              <a:cs typeface="Calibri"/>
              <a:sym typeface="Calibri"/>
            </a:endParaRPr>
          </a:p>
        </p:txBody>
      </p:sp>
      <p:sp>
        <p:nvSpPr>
          <p:cNvPr id="1675" name="Google Shape;1675;p38"/>
          <p:cNvSpPr/>
          <p:nvPr/>
        </p:nvSpPr>
        <p:spPr>
          <a:xfrm>
            <a:off x="5067300" y="7817406"/>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8"/>
          <p:cNvSpPr/>
          <p:nvPr/>
        </p:nvSpPr>
        <p:spPr>
          <a:xfrm>
            <a:off x="5067300" y="7882176"/>
            <a:ext cx="1316760"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Threshold</a:t>
            </a:r>
            <a:endParaRPr b="0" i="0" sz="1950" u="none" cap="none" strike="noStrike">
              <a:solidFill>
                <a:schemeClr val="dk1"/>
              </a:solidFill>
              <a:latin typeface="Calibri"/>
              <a:ea typeface="Calibri"/>
              <a:cs typeface="Calibri"/>
              <a:sym typeface="Calibri"/>
            </a:endParaRPr>
          </a:p>
        </p:txBody>
      </p:sp>
      <p:sp>
        <p:nvSpPr>
          <p:cNvPr id="1677" name="Google Shape;1677;p38"/>
          <p:cNvSpPr/>
          <p:nvPr/>
        </p:nvSpPr>
        <p:spPr>
          <a:xfrm>
            <a:off x="5067300" y="8183166"/>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The cut-off that turns a score between 0 and 1 into a yes-or-no answer.</a:t>
            </a:r>
            <a:endParaRPr b="0" i="0" sz="1800" u="none" cap="none" strike="noStrike">
              <a:solidFill>
                <a:schemeClr val="dk1"/>
              </a:solidFill>
              <a:latin typeface="Calibri"/>
              <a:ea typeface="Calibri"/>
              <a:cs typeface="Calibri"/>
              <a:sym typeface="Calibri"/>
            </a:endParaRPr>
          </a:p>
        </p:txBody>
      </p:sp>
      <p:sp>
        <p:nvSpPr>
          <p:cNvPr id="1678" name="Google Shape;1678;p38"/>
          <p:cNvSpPr/>
          <p:nvPr/>
        </p:nvSpPr>
        <p:spPr>
          <a:xfrm>
            <a:off x="9296400" y="7817406"/>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8"/>
          <p:cNvSpPr/>
          <p:nvPr/>
        </p:nvSpPr>
        <p:spPr>
          <a:xfrm>
            <a:off x="9296400" y="7882176"/>
            <a:ext cx="787122"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Token</a:t>
            </a:r>
            <a:endParaRPr b="0" i="0" sz="1950" u="none" cap="none" strike="noStrike">
              <a:solidFill>
                <a:schemeClr val="dk1"/>
              </a:solidFill>
              <a:latin typeface="Calibri"/>
              <a:ea typeface="Calibri"/>
              <a:cs typeface="Calibri"/>
              <a:sym typeface="Calibri"/>
            </a:endParaRPr>
          </a:p>
        </p:txBody>
      </p:sp>
      <p:sp>
        <p:nvSpPr>
          <p:cNvPr id="1680" name="Google Shape;1680;p38"/>
          <p:cNvSpPr/>
          <p:nvPr/>
        </p:nvSpPr>
        <p:spPr>
          <a:xfrm>
            <a:off x="9296400" y="8183166"/>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One unit of input after cutting up the sequence; the smallest thing seen.</a:t>
            </a:r>
            <a:endParaRPr b="0" i="0" sz="1800" u="none" cap="none" strike="noStrike">
              <a:solidFill>
                <a:schemeClr val="dk1"/>
              </a:solidFill>
              <a:latin typeface="Calibri"/>
              <a:ea typeface="Calibri"/>
              <a:cs typeface="Calibri"/>
              <a:sym typeface="Calibri"/>
            </a:endParaRPr>
          </a:p>
        </p:txBody>
      </p:sp>
      <p:sp>
        <p:nvSpPr>
          <p:cNvPr id="1681" name="Google Shape;1681;p38"/>
          <p:cNvSpPr/>
          <p:nvPr/>
        </p:nvSpPr>
        <p:spPr>
          <a:xfrm>
            <a:off x="13525500" y="7817406"/>
            <a:ext cx="39243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8"/>
          <p:cNvSpPr/>
          <p:nvPr/>
        </p:nvSpPr>
        <p:spPr>
          <a:xfrm>
            <a:off x="13525500" y="7882176"/>
            <a:ext cx="557927" cy="3124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C2A44"/>
              </a:buClr>
              <a:buSzPts val="1950"/>
              <a:buFont typeface="Helvetica Neue"/>
              <a:buNone/>
            </a:pPr>
            <a:r>
              <a:rPr b="1" i="0" lang="en-US" sz="1950" u="none" cap="none" strike="noStrike">
                <a:solidFill>
                  <a:srgbClr val="1C2A44"/>
                </a:solidFill>
                <a:latin typeface="Helvetica Neue"/>
                <a:ea typeface="Helvetica Neue"/>
                <a:cs typeface="Helvetica Neue"/>
                <a:sym typeface="Helvetica Neue"/>
              </a:rPr>
              <a:t>TSS</a:t>
            </a:r>
            <a:endParaRPr b="0" i="0" sz="1950" u="none" cap="none" strike="noStrike">
              <a:solidFill>
                <a:schemeClr val="dk1"/>
              </a:solidFill>
              <a:latin typeface="Calibri"/>
              <a:ea typeface="Calibri"/>
              <a:cs typeface="Calibri"/>
              <a:sym typeface="Calibri"/>
            </a:endParaRPr>
          </a:p>
        </p:txBody>
      </p:sp>
      <p:sp>
        <p:nvSpPr>
          <p:cNvPr id="1683" name="Google Shape;1683;p38"/>
          <p:cNvSpPr/>
          <p:nvPr/>
        </p:nvSpPr>
        <p:spPr>
          <a:xfrm>
            <a:off x="13525500" y="8183166"/>
            <a:ext cx="4042029" cy="568404"/>
          </a:xfrm>
          <a:prstGeom prst="rect">
            <a:avLst/>
          </a:prstGeom>
          <a:noFill/>
          <a:ln>
            <a:noFill/>
          </a:ln>
        </p:spPr>
        <p:txBody>
          <a:bodyPr anchorCtr="0" anchor="t" bIns="25400" lIns="25400" spcFirstLastPara="1" rIns="25400" wrap="square" tIns="25400">
            <a:normAutofit/>
          </a:bodyPr>
          <a:lstStyle/>
          <a:p>
            <a:pPr indent="0" lvl="0" marL="0" marR="0" rtl="0" algn="l">
              <a:lnSpc>
                <a:spcPct val="102353"/>
              </a:lnSpc>
              <a:spcBef>
                <a:spcPts val="0"/>
              </a:spcBef>
              <a:spcAft>
                <a:spcPts val="0"/>
              </a:spcAft>
              <a:buClr>
                <a:srgbClr val="53627A"/>
              </a:buClr>
              <a:buSzPts val="1800"/>
              <a:buFont typeface="Helvetica Neue"/>
              <a:buNone/>
            </a:pPr>
            <a:r>
              <a:rPr b="0" i="0" lang="en-US" sz="1800" u="none" cap="none" strike="noStrike">
                <a:solidFill>
                  <a:srgbClr val="53627A"/>
                </a:solidFill>
                <a:latin typeface="Helvetica Neue"/>
                <a:ea typeface="Helvetica Neue"/>
                <a:cs typeface="Helvetica Neue"/>
                <a:sym typeface="Helvetica Neue"/>
              </a:rPr>
              <a:t>Transcription start site: the first base that gets copied into RNA.</a:t>
            </a:r>
            <a:endParaRPr b="0" i="0" sz="1800" u="none" cap="none" strike="noStrike">
              <a:solidFill>
                <a:schemeClr val="dk1"/>
              </a:solidFill>
              <a:latin typeface="Calibri"/>
              <a:ea typeface="Calibri"/>
              <a:cs typeface="Calibri"/>
              <a:sym typeface="Calibri"/>
            </a:endParaRPr>
          </a:p>
        </p:txBody>
      </p:sp>
      <p:sp>
        <p:nvSpPr>
          <p:cNvPr id="1684" name="Google Shape;1684;p38"/>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38"/>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686" name="Google Shape;1686;p38"/>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687" name="Google Shape;1687;p38"/>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38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2" name="Shape 1692"/>
        <p:cNvGrpSpPr/>
        <p:nvPr/>
      </p:nvGrpSpPr>
      <p:grpSpPr>
        <a:xfrm>
          <a:off x="0" y="0"/>
          <a:ext cx="0" cy="0"/>
          <a:chOff x="0" y="0"/>
          <a:chExt cx="0" cy="0"/>
        </a:xfrm>
      </p:grpSpPr>
      <p:sp>
        <p:nvSpPr>
          <p:cNvPr id="1693" name="Google Shape;1693;p39"/>
          <p:cNvSpPr/>
          <p:nvPr/>
        </p:nvSpPr>
        <p:spPr>
          <a:xfrm>
            <a:off x="838200" y="85725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39"/>
          <p:cNvSpPr/>
          <p:nvPr/>
        </p:nvSpPr>
        <p:spPr>
          <a:xfrm>
            <a:off x="838200" y="422910"/>
            <a:ext cx="65999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GENOME HACKWEEK 2026 · CSIR-IICB KOLKATA</a:t>
            </a:r>
            <a:endParaRPr b="0" i="0" sz="1800" u="none" cap="none" strike="noStrike">
              <a:solidFill>
                <a:schemeClr val="dk1"/>
              </a:solidFill>
              <a:latin typeface="Calibri"/>
              <a:ea typeface="Calibri"/>
              <a:cs typeface="Calibri"/>
              <a:sym typeface="Calibri"/>
            </a:endParaRPr>
          </a:p>
        </p:txBody>
      </p:sp>
      <p:pic>
        <p:nvPicPr>
          <p:cNvPr descr="preencoded.png" id="1695" name="Google Shape;1695;p39"/>
          <p:cNvPicPr preferRelativeResize="0"/>
          <p:nvPr/>
        </p:nvPicPr>
        <p:blipFill rotWithShape="1">
          <a:blip r:embed="rId3">
            <a:alphaModFix/>
          </a:blip>
          <a:srcRect b="0" l="0" r="0" t="0"/>
          <a:stretch/>
        </p:blipFill>
        <p:spPr>
          <a:xfrm>
            <a:off x="17139881" y="381000"/>
            <a:ext cx="309920" cy="342900"/>
          </a:xfrm>
          <a:prstGeom prst="rect">
            <a:avLst/>
          </a:prstGeom>
          <a:noFill/>
          <a:ln>
            <a:noFill/>
          </a:ln>
        </p:spPr>
      </p:pic>
      <p:sp>
        <p:nvSpPr>
          <p:cNvPr id="1696" name="Google Shape;1696;p39"/>
          <p:cNvSpPr/>
          <p:nvPr/>
        </p:nvSpPr>
        <p:spPr>
          <a:xfrm>
            <a:off x="838200" y="1093470"/>
            <a:ext cx="18272760"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APPENDIX · STUDY PATH</a:t>
            </a:r>
            <a:endParaRPr b="0" i="0" sz="1800" u="none" cap="none" strike="noStrike">
              <a:solidFill>
                <a:schemeClr val="dk1"/>
              </a:solidFill>
              <a:latin typeface="Calibri"/>
              <a:ea typeface="Calibri"/>
              <a:cs typeface="Calibri"/>
              <a:sym typeface="Calibri"/>
            </a:endParaRPr>
          </a:p>
        </p:txBody>
      </p:sp>
      <p:sp>
        <p:nvSpPr>
          <p:cNvPr id="1697" name="Google Shape;1697;p39"/>
          <p:cNvSpPr/>
          <p:nvPr/>
        </p:nvSpPr>
        <p:spPr>
          <a:xfrm>
            <a:off x="838200" y="1504950"/>
            <a:ext cx="18272760" cy="638175"/>
          </a:xfrm>
          <a:prstGeom prst="rect">
            <a:avLst/>
          </a:prstGeom>
          <a:noFill/>
          <a:ln>
            <a:noFill/>
          </a:ln>
        </p:spPr>
        <p:txBody>
          <a:bodyPr anchorCtr="0" anchor="t" bIns="25400" lIns="25400" spcFirstLastPara="1" rIns="25400" wrap="square" tIns="25400">
            <a:normAutofit/>
          </a:bodyPr>
          <a:lstStyle/>
          <a:p>
            <a:pPr indent="0" lvl="0" marL="0" marR="0" rtl="0" algn="l">
              <a:lnSpc>
                <a:spcPct val="91570"/>
              </a:lnSpc>
              <a:spcBef>
                <a:spcPts val="0"/>
              </a:spcBef>
              <a:spcAft>
                <a:spcPts val="0"/>
              </a:spcAft>
              <a:buClr>
                <a:srgbClr val="1C2A44"/>
              </a:buClr>
              <a:buSzPts val="4500"/>
              <a:buFont typeface="Helvetica Neue"/>
              <a:buNone/>
            </a:pPr>
            <a:r>
              <a:rPr b="1" i="0" lang="en-US" sz="4500" u="none" cap="none" strike="noStrike">
                <a:solidFill>
                  <a:srgbClr val="1C2A44"/>
                </a:solidFill>
                <a:latin typeface="Helvetica Neue"/>
                <a:ea typeface="Helvetica Neue"/>
                <a:cs typeface="Helvetica Neue"/>
                <a:sym typeface="Helvetica Neue"/>
              </a:rPr>
              <a:t>Where to go next</a:t>
            </a:r>
            <a:endParaRPr b="0" i="0" sz="4500" u="none" cap="none" strike="noStrike">
              <a:solidFill>
                <a:schemeClr val="dk1"/>
              </a:solidFill>
              <a:latin typeface="Calibri"/>
              <a:ea typeface="Calibri"/>
              <a:cs typeface="Calibri"/>
              <a:sym typeface="Calibri"/>
            </a:endParaRPr>
          </a:p>
        </p:txBody>
      </p:sp>
      <p:sp>
        <p:nvSpPr>
          <p:cNvPr id="1698" name="Google Shape;1698;p39"/>
          <p:cNvSpPr/>
          <p:nvPr/>
        </p:nvSpPr>
        <p:spPr>
          <a:xfrm>
            <a:off x="838200" y="2314575"/>
            <a:ext cx="15925800" cy="452438"/>
          </a:xfrm>
          <a:prstGeom prst="rect">
            <a:avLst/>
          </a:prstGeom>
          <a:noFill/>
          <a:ln>
            <a:noFill/>
          </a:ln>
        </p:spPr>
        <p:txBody>
          <a:bodyPr anchorCtr="0" anchor="t" bIns="25400" lIns="25400" spcFirstLastPara="1" rIns="25400" wrap="square" tIns="25400">
            <a:normAutofit/>
          </a:bodyPr>
          <a:lstStyle/>
          <a:p>
            <a:pPr indent="0" lvl="0" marL="0" marR="0" rtl="0" algn="l">
              <a:lnSpc>
                <a:spcPct val="126453"/>
              </a:lnSpc>
              <a:spcBef>
                <a:spcPts val="0"/>
              </a:spcBef>
              <a:spcAft>
                <a:spcPts val="0"/>
              </a:spcAft>
              <a:buClr>
                <a:srgbClr val="53627A"/>
              </a:buClr>
              <a:buSzPts val="2250"/>
              <a:buFont typeface="Helvetica Neue"/>
              <a:buNone/>
            </a:pPr>
            <a:r>
              <a:rPr b="0" i="0" lang="en-US" sz="2250" u="none" cap="none" strike="noStrike">
                <a:solidFill>
                  <a:srgbClr val="53627A"/>
                </a:solidFill>
                <a:latin typeface="Helvetica Neue"/>
                <a:ea typeface="Helvetica Neue"/>
                <a:cs typeface="Helvetica Neue"/>
                <a:sym typeface="Helvetica Neue"/>
              </a:rPr>
              <a:t>In this order. Each step assumes only the one before it, and all four are doable on a laptop.</a:t>
            </a:r>
            <a:endParaRPr b="0" i="0" sz="2250" u="none" cap="none" strike="noStrike">
              <a:solidFill>
                <a:schemeClr val="dk1"/>
              </a:solidFill>
              <a:latin typeface="Calibri"/>
              <a:ea typeface="Calibri"/>
              <a:cs typeface="Calibri"/>
              <a:sym typeface="Calibri"/>
            </a:endParaRPr>
          </a:p>
        </p:txBody>
      </p:sp>
      <p:sp>
        <p:nvSpPr>
          <p:cNvPr id="1699" name="Google Shape;1699;p39"/>
          <p:cNvSpPr/>
          <p:nvPr/>
        </p:nvSpPr>
        <p:spPr>
          <a:xfrm>
            <a:off x="838200" y="3109913"/>
            <a:ext cx="3967163" cy="3677603"/>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39"/>
          <p:cNvSpPr/>
          <p:nvPr/>
        </p:nvSpPr>
        <p:spPr>
          <a:xfrm>
            <a:off x="1143000" y="3395663"/>
            <a:ext cx="3693319"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01</a:t>
            </a:r>
            <a:endParaRPr b="0" i="0" sz="2100" u="none" cap="none" strike="noStrike">
              <a:solidFill>
                <a:schemeClr val="dk1"/>
              </a:solidFill>
              <a:latin typeface="Calibri"/>
              <a:ea typeface="Calibri"/>
              <a:cs typeface="Calibri"/>
              <a:sym typeface="Calibri"/>
            </a:endParaRPr>
          </a:p>
        </p:txBody>
      </p:sp>
      <p:sp>
        <p:nvSpPr>
          <p:cNvPr id="1701" name="Google Shape;1701;p39"/>
          <p:cNvSpPr/>
          <p:nvPr/>
        </p:nvSpPr>
        <p:spPr>
          <a:xfrm>
            <a:off x="1143000" y="3860483"/>
            <a:ext cx="3693319" cy="403860"/>
          </a:xfrm>
          <a:prstGeom prst="rect">
            <a:avLst/>
          </a:prstGeom>
          <a:noFill/>
          <a:ln>
            <a:noFill/>
          </a:ln>
        </p:spPr>
        <p:txBody>
          <a:bodyPr anchorCtr="0" anchor="t" bIns="25400" lIns="25400" spcFirstLastPara="1" rIns="25400" wrap="square" tIns="25400">
            <a:normAutofit/>
          </a:bodyPr>
          <a:lstStyle/>
          <a:p>
            <a:pPr indent="0" lvl="0" marL="0" marR="0" rtl="0" algn="l">
              <a:lnSpc>
                <a:spcPct val="106667"/>
              </a:lnSpc>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Rerun the notebook</a:t>
            </a:r>
            <a:endParaRPr b="0" i="0" sz="2400" u="none" cap="none" strike="noStrike">
              <a:solidFill>
                <a:schemeClr val="dk1"/>
              </a:solidFill>
              <a:latin typeface="Calibri"/>
              <a:ea typeface="Calibri"/>
              <a:cs typeface="Calibri"/>
              <a:sym typeface="Calibri"/>
            </a:endParaRPr>
          </a:p>
        </p:txBody>
      </p:sp>
      <p:sp>
        <p:nvSpPr>
          <p:cNvPr id="1702" name="Google Shape;1702;p39"/>
          <p:cNvSpPr/>
          <p:nvPr/>
        </p:nvSpPr>
        <p:spPr>
          <a:xfrm>
            <a:off x="1143000" y="4340543"/>
            <a:ext cx="3458289" cy="1833563"/>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Change one thing at a time: k from 4 to 6, then the threshold, then the split. Watch which change moves the score and which does not.</a:t>
            </a:r>
            <a:endParaRPr b="0" i="0" sz="1950" u="none" cap="none" strike="noStrike">
              <a:solidFill>
                <a:schemeClr val="dk1"/>
              </a:solidFill>
              <a:latin typeface="Calibri"/>
              <a:ea typeface="Calibri"/>
              <a:cs typeface="Calibri"/>
              <a:sym typeface="Calibri"/>
            </a:endParaRPr>
          </a:p>
        </p:txBody>
      </p:sp>
      <p:sp>
        <p:nvSpPr>
          <p:cNvPr id="1703" name="Google Shape;1703;p39"/>
          <p:cNvSpPr/>
          <p:nvPr/>
        </p:nvSpPr>
        <p:spPr>
          <a:xfrm>
            <a:off x="5053013" y="3109913"/>
            <a:ext cx="3967163" cy="3677603"/>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9"/>
          <p:cNvSpPr/>
          <p:nvPr/>
        </p:nvSpPr>
        <p:spPr>
          <a:xfrm>
            <a:off x="5357813" y="3395663"/>
            <a:ext cx="3693319"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02</a:t>
            </a:r>
            <a:endParaRPr b="0" i="0" sz="2100" u="none" cap="none" strike="noStrike">
              <a:solidFill>
                <a:schemeClr val="dk1"/>
              </a:solidFill>
              <a:latin typeface="Calibri"/>
              <a:ea typeface="Calibri"/>
              <a:cs typeface="Calibri"/>
              <a:sym typeface="Calibri"/>
            </a:endParaRPr>
          </a:p>
        </p:txBody>
      </p:sp>
      <p:sp>
        <p:nvSpPr>
          <p:cNvPr id="1705" name="Google Shape;1705;p39"/>
          <p:cNvSpPr/>
          <p:nvPr/>
        </p:nvSpPr>
        <p:spPr>
          <a:xfrm>
            <a:off x="5357813" y="3860483"/>
            <a:ext cx="3693319" cy="403860"/>
          </a:xfrm>
          <a:prstGeom prst="rect">
            <a:avLst/>
          </a:prstGeom>
          <a:noFill/>
          <a:ln>
            <a:noFill/>
          </a:ln>
        </p:spPr>
        <p:txBody>
          <a:bodyPr anchorCtr="0" anchor="t" bIns="25400" lIns="25400" spcFirstLastPara="1" rIns="25400" wrap="square" tIns="25400">
            <a:normAutofit/>
          </a:bodyPr>
          <a:lstStyle/>
          <a:p>
            <a:pPr indent="0" lvl="0" marL="0" marR="0" rtl="0" algn="l">
              <a:lnSpc>
                <a:spcPct val="106667"/>
              </a:lnSpc>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Swap in your own data</a:t>
            </a:r>
            <a:endParaRPr b="0" i="0" sz="2400" u="none" cap="none" strike="noStrike">
              <a:solidFill>
                <a:schemeClr val="dk1"/>
              </a:solidFill>
              <a:latin typeface="Calibri"/>
              <a:ea typeface="Calibri"/>
              <a:cs typeface="Calibri"/>
              <a:sym typeface="Calibri"/>
            </a:endParaRPr>
          </a:p>
        </p:txBody>
      </p:sp>
      <p:sp>
        <p:nvSpPr>
          <p:cNvPr id="1706" name="Google Shape;1706;p39"/>
          <p:cNvSpPr/>
          <p:nvPr/>
        </p:nvSpPr>
        <p:spPr>
          <a:xfrm>
            <a:off x="5357813" y="4340543"/>
            <a:ext cx="3458289" cy="1833563"/>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Any two-class sequence question works: enhancer or not, coding or non-coding, one species against another. The pipeline does not change.</a:t>
            </a:r>
            <a:endParaRPr b="0" i="0" sz="1950" u="none" cap="none" strike="noStrike">
              <a:solidFill>
                <a:schemeClr val="dk1"/>
              </a:solidFill>
              <a:latin typeface="Calibri"/>
              <a:ea typeface="Calibri"/>
              <a:cs typeface="Calibri"/>
              <a:sym typeface="Calibri"/>
            </a:endParaRPr>
          </a:p>
        </p:txBody>
      </p:sp>
      <p:sp>
        <p:nvSpPr>
          <p:cNvPr id="1707" name="Google Shape;1707;p39"/>
          <p:cNvSpPr/>
          <p:nvPr/>
        </p:nvSpPr>
        <p:spPr>
          <a:xfrm>
            <a:off x="9267825" y="3109913"/>
            <a:ext cx="3967163" cy="3677603"/>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9"/>
          <p:cNvSpPr/>
          <p:nvPr/>
        </p:nvSpPr>
        <p:spPr>
          <a:xfrm>
            <a:off x="9572625" y="3395663"/>
            <a:ext cx="3693319"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03</a:t>
            </a:r>
            <a:endParaRPr b="0" i="0" sz="2100" u="none" cap="none" strike="noStrike">
              <a:solidFill>
                <a:schemeClr val="dk1"/>
              </a:solidFill>
              <a:latin typeface="Calibri"/>
              <a:ea typeface="Calibri"/>
              <a:cs typeface="Calibri"/>
              <a:sym typeface="Calibri"/>
            </a:endParaRPr>
          </a:p>
        </p:txBody>
      </p:sp>
      <p:sp>
        <p:nvSpPr>
          <p:cNvPr id="1709" name="Google Shape;1709;p39"/>
          <p:cNvSpPr/>
          <p:nvPr/>
        </p:nvSpPr>
        <p:spPr>
          <a:xfrm>
            <a:off x="9572625" y="3860483"/>
            <a:ext cx="3693319" cy="403860"/>
          </a:xfrm>
          <a:prstGeom prst="rect">
            <a:avLst/>
          </a:prstGeom>
          <a:noFill/>
          <a:ln>
            <a:noFill/>
          </a:ln>
        </p:spPr>
        <p:txBody>
          <a:bodyPr anchorCtr="0" anchor="t" bIns="25400" lIns="25400" spcFirstLastPara="1" rIns="25400" wrap="square" tIns="25400">
            <a:normAutofit/>
          </a:bodyPr>
          <a:lstStyle/>
          <a:p>
            <a:pPr indent="0" lvl="0" marL="0" marR="0" rtl="0" algn="l">
              <a:lnSpc>
                <a:spcPct val="106667"/>
              </a:lnSpc>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Read the model papers</a:t>
            </a:r>
            <a:endParaRPr b="0" i="0" sz="2400" u="none" cap="none" strike="noStrike">
              <a:solidFill>
                <a:schemeClr val="dk1"/>
              </a:solidFill>
              <a:latin typeface="Calibri"/>
              <a:ea typeface="Calibri"/>
              <a:cs typeface="Calibri"/>
              <a:sym typeface="Calibri"/>
            </a:endParaRPr>
          </a:p>
        </p:txBody>
      </p:sp>
      <p:sp>
        <p:nvSpPr>
          <p:cNvPr id="1710" name="Google Shape;1710;p39"/>
          <p:cNvSpPr/>
          <p:nvPr/>
        </p:nvSpPr>
        <p:spPr>
          <a:xfrm>
            <a:off x="9572625" y="4340543"/>
            <a:ext cx="3458289" cy="2192655"/>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DNABERT-2 (Zhou 2023), Nucleotide Transformer (Dalla-Torre 2025), HyenaDNA (Nguyen 2023). Read each paper's evaluation section first.</a:t>
            </a:r>
            <a:endParaRPr b="0" i="0" sz="1950" u="none" cap="none" strike="noStrike">
              <a:solidFill>
                <a:schemeClr val="dk1"/>
              </a:solidFill>
              <a:latin typeface="Calibri"/>
              <a:ea typeface="Calibri"/>
              <a:cs typeface="Calibri"/>
              <a:sym typeface="Calibri"/>
            </a:endParaRPr>
          </a:p>
        </p:txBody>
      </p:sp>
      <p:sp>
        <p:nvSpPr>
          <p:cNvPr id="1711" name="Google Shape;1711;p39"/>
          <p:cNvSpPr/>
          <p:nvPr/>
        </p:nvSpPr>
        <p:spPr>
          <a:xfrm>
            <a:off x="13482638" y="3109913"/>
            <a:ext cx="3967163" cy="3677603"/>
          </a:xfrm>
          <a:prstGeom prst="rect">
            <a:avLst/>
          </a:prstGeom>
          <a:solidFill>
            <a:srgbClr val="F2F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9"/>
          <p:cNvSpPr/>
          <p:nvPr/>
        </p:nvSpPr>
        <p:spPr>
          <a:xfrm>
            <a:off x="13787438" y="3395663"/>
            <a:ext cx="3693319" cy="38862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2100"/>
              <a:buFont typeface="IBM Plex Mono"/>
              <a:buNone/>
            </a:pPr>
            <a:r>
              <a:rPr b="1" i="0" lang="en-US" sz="2100" u="none" cap="none" strike="noStrike">
                <a:solidFill>
                  <a:srgbClr val="E8A317"/>
                </a:solidFill>
                <a:latin typeface="IBM Plex Mono"/>
                <a:ea typeface="IBM Plex Mono"/>
                <a:cs typeface="IBM Plex Mono"/>
                <a:sym typeface="IBM Plex Mono"/>
              </a:rPr>
              <a:t>04</a:t>
            </a:r>
            <a:endParaRPr b="0" i="0" sz="2100" u="none" cap="none" strike="noStrike">
              <a:solidFill>
                <a:schemeClr val="dk1"/>
              </a:solidFill>
              <a:latin typeface="Calibri"/>
              <a:ea typeface="Calibri"/>
              <a:cs typeface="Calibri"/>
              <a:sym typeface="Calibri"/>
            </a:endParaRPr>
          </a:p>
        </p:txBody>
      </p:sp>
      <p:sp>
        <p:nvSpPr>
          <p:cNvPr id="1713" name="Google Shape;1713;p39"/>
          <p:cNvSpPr/>
          <p:nvPr/>
        </p:nvSpPr>
        <p:spPr>
          <a:xfrm>
            <a:off x="13787438" y="3860483"/>
            <a:ext cx="3458289" cy="769620"/>
          </a:xfrm>
          <a:prstGeom prst="rect">
            <a:avLst/>
          </a:prstGeom>
          <a:noFill/>
          <a:ln>
            <a:noFill/>
          </a:ln>
        </p:spPr>
        <p:txBody>
          <a:bodyPr anchorCtr="0" anchor="t" bIns="25400" lIns="25400" spcFirstLastPara="1" rIns="25400" wrap="square" tIns="25400">
            <a:normAutofit/>
          </a:bodyPr>
          <a:lstStyle/>
          <a:p>
            <a:pPr indent="0" lvl="0" marL="0" marR="0" rtl="0" algn="l">
              <a:lnSpc>
                <a:spcPct val="106667"/>
              </a:lnSpc>
              <a:spcBef>
                <a:spcPts val="0"/>
              </a:spcBef>
              <a:spcAft>
                <a:spcPts val="0"/>
              </a:spcAft>
              <a:buClr>
                <a:srgbClr val="1C2A44"/>
              </a:buClr>
              <a:buSzPts val="2400"/>
              <a:buFont typeface="Helvetica Neue"/>
              <a:buNone/>
            </a:pPr>
            <a:r>
              <a:rPr b="1" i="0" lang="en-US" sz="2400" u="none" cap="none" strike="noStrike">
                <a:solidFill>
                  <a:srgbClr val="1C2A44"/>
                </a:solidFill>
                <a:latin typeface="Helvetica Neue"/>
                <a:ea typeface="Helvetica Neue"/>
                <a:cs typeface="Helvetica Neue"/>
                <a:sym typeface="Helvetica Neue"/>
              </a:rPr>
              <a:t>Learn the tooling properly</a:t>
            </a:r>
            <a:endParaRPr b="0" i="0" sz="2400" u="none" cap="none" strike="noStrike">
              <a:solidFill>
                <a:schemeClr val="dk1"/>
              </a:solidFill>
              <a:latin typeface="Calibri"/>
              <a:ea typeface="Calibri"/>
              <a:cs typeface="Calibri"/>
              <a:sym typeface="Calibri"/>
            </a:endParaRPr>
          </a:p>
        </p:txBody>
      </p:sp>
      <p:sp>
        <p:nvSpPr>
          <p:cNvPr id="1714" name="Google Shape;1714;p39"/>
          <p:cNvSpPr/>
          <p:nvPr/>
        </p:nvSpPr>
        <p:spPr>
          <a:xfrm>
            <a:off x="13787438" y="4706303"/>
            <a:ext cx="3458289" cy="1833563"/>
          </a:xfrm>
          <a:prstGeom prst="rect">
            <a:avLst/>
          </a:prstGeom>
          <a:noFill/>
          <a:ln>
            <a:noFill/>
          </a:ln>
        </p:spPr>
        <p:txBody>
          <a:bodyPr anchorCtr="0" anchor="t" bIns="25400" lIns="25400" spcFirstLastPara="1" rIns="25400" wrap="square" tIns="25400">
            <a:normAutofit/>
          </a:bodyPr>
          <a:lstStyle/>
          <a:p>
            <a:pPr indent="0" lvl="0" marL="0" marR="0" rtl="0" algn="l">
              <a:lnSpc>
                <a:spcPct val="127365"/>
              </a:lnSpc>
              <a:spcBef>
                <a:spcPts val="0"/>
              </a:spcBef>
              <a:spcAft>
                <a:spcPts val="0"/>
              </a:spcAft>
              <a:buClr>
                <a:srgbClr val="3A4A63"/>
              </a:buClr>
              <a:buSzPts val="1950"/>
              <a:buFont typeface="Helvetica Neue"/>
              <a:buNone/>
            </a:pPr>
            <a:r>
              <a:rPr b="0" i="0" lang="en-US" sz="1950" u="none" cap="none" strike="noStrike">
                <a:solidFill>
                  <a:srgbClr val="3A4A63"/>
                </a:solidFill>
                <a:latin typeface="Helvetica Neue"/>
                <a:ea typeface="Helvetica Neue"/>
                <a:cs typeface="Helvetica Neue"/>
                <a:sym typeface="Helvetica Neue"/>
              </a:rPr>
              <a:t>scikit-learn's user guide for the classifier side, Hugging Face's course for the model side. Both are free and worked-example driven.</a:t>
            </a:r>
            <a:endParaRPr b="0" i="0" sz="1950" u="none" cap="none" strike="noStrike">
              <a:solidFill>
                <a:schemeClr val="dk1"/>
              </a:solidFill>
              <a:latin typeface="Calibri"/>
              <a:ea typeface="Calibri"/>
              <a:cs typeface="Calibri"/>
              <a:sym typeface="Calibri"/>
            </a:endParaRPr>
          </a:p>
        </p:txBody>
      </p:sp>
      <p:sp>
        <p:nvSpPr>
          <p:cNvPr id="1715" name="Google Shape;1715;p39"/>
          <p:cNvSpPr/>
          <p:nvPr/>
        </p:nvSpPr>
        <p:spPr>
          <a:xfrm>
            <a:off x="838200" y="7576185"/>
            <a:ext cx="16611600" cy="15240"/>
          </a:xfrm>
          <a:prstGeom prst="rect">
            <a:avLst/>
          </a:prstGeom>
          <a:solidFill>
            <a:srgbClr val="1C2A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9"/>
          <p:cNvSpPr/>
          <p:nvPr/>
        </p:nvSpPr>
        <p:spPr>
          <a:xfrm>
            <a:off x="838200" y="7839075"/>
            <a:ext cx="10043732"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8A317"/>
              </a:buClr>
              <a:buSzPts val="1800"/>
              <a:buFont typeface="Helvetica Neue"/>
              <a:buNone/>
            </a:pPr>
            <a:r>
              <a:rPr b="1" i="0" lang="en-US" sz="1800" u="none" cap="none" strike="noStrike">
                <a:solidFill>
                  <a:srgbClr val="E8A317"/>
                </a:solidFill>
                <a:latin typeface="Helvetica Neue"/>
                <a:ea typeface="Helvetica Neue"/>
                <a:cs typeface="Helvetica Neue"/>
                <a:sym typeface="Helvetica Neue"/>
              </a:rPr>
              <a:t>A HABIT WORTH FORMING</a:t>
            </a:r>
            <a:endParaRPr b="0" i="0" sz="1800" u="none" cap="none" strike="noStrike">
              <a:solidFill>
                <a:schemeClr val="dk1"/>
              </a:solidFill>
              <a:latin typeface="Calibri"/>
              <a:ea typeface="Calibri"/>
              <a:cs typeface="Calibri"/>
              <a:sym typeface="Calibri"/>
            </a:endParaRPr>
          </a:p>
        </p:txBody>
      </p:sp>
      <p:sp>
        <p:nvSpPr>
          <p:cNvPr id="1717" name="Google Shape;1717;p39"/>
          <p:cNvSpPr/>
          <p:nvPr/>
        </p:nvSpPr>
        <p:spPr>
          <a:xfrm>
            <a:off x="838200" y="8193405"/>
            <a:ext cx="9404585" cy="1198245"/>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Write down the baseline score, the split and the metric before you start tuning anything. Almost every irreproducible result in this field comes from skipping that one note.</a:t>
            </a:r>
            <a:endParaRPr b="0" i="0" sz="2100" u="none" cap="none" strike="noStrike">
              <a:solidFill>
                <a:schemeClr val="dk1"/>
              </a:solidFill>
              <a:latin typeface="Calibri"/>
              <a:ea typeface="Calibri"/>
              <a:cs typeface="Calibri"/>
              <a:sym typeface="Calibri"/>
            </a:endParaRPr>
          </a:p>
        </p:txBody>
      </p:sp>
      <p:sp>
        <p:nvSpPr>
          <p:cNvPr id="1718" name="Google Shape;1718;p39"/>
          <p:cNvSpPr/>
          <p:nvPr/>
        </p:nvSpPr>
        <p:spPr>
          <a:xfrm>
            <a:off x="10426065" y="7839075"/>
            <a:ext cx="7726109"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7C8CA8"/>
              </a:buClr>
              <a:buSzPts val="1800"/>
              <a:buFont typeface="Helvetica Neue"/>
              <a:buNone/>
            </a:pPr>
            <a:r>
              <a:rPr b="0" i="0" lang="en-US" sz="1800" u="none" cap="none" strike="noStrike">
                <a:solidFill>
                  <a:srgbClr val="7C8CA8"/>
                </a:solidFill>
                <a:latin typeface="Helvetica Neue"/>
                <a:ea typeface="Helvetica Neue"/>
                <a:cs typeface="Helvetica Neue"/>
                <a:sym typeface="Helvetica Neue"/>
              </a:rPr>
              <a:t>QUESTIONS AFTERWARDS</a:t>
            </a:r>
            <a:endParaRPr b="0" i="0" sz="1800" u="none" cap="none" strike="noStrike">
              <a:solidFill>
                <a:schemeClr val="dk1"/>
              </a:solidFill>
              <a:latin typeface="Calibri"/>
              <a:ea typeface="Calibri"/>
              <a:cs typeface="Calibri"/>
              <a:sym typeface="Calibri"/>
            </a:endParaRPr>
          </a:p>
        </p:txBody>
      </p:sp>
      <p:sp>
        <p:nvSpPr>
          <p:cNvPr id="1719" name="Google Shape;1719;p39"/>
          <p:cNvSpPr/>
          <p:nvPr/>
        </p:nvSpPr>
        <p:spPr>
          <a:xfrm>
            <a:off x="10426065" y="8193405"/>
            <a:ext cx="7234447" cy="811530"/>
          </a:xfrm>
          <a:prstGeom prst="rect">
            <a:avLst/>
          </a:prstGeom>
          <a:noFill/>
          <a:ln>
            <a:noFill/>
          </a:ln>
        </p:spPr>
        <p:txBody>
          <a:bodyPr anchorCtr="0" anchor="t" bIns="25400" lIns="25400" spcFirstLastPara="1" rIns="25400" wrap="square" tIns="25400">
            <a:normAutofit/>
          </a:bodyPr>
          <a:lstStyle/>
          <a:p>
            <a:pPr indent="0" lvl="0" marL="0" marR="0" rtl="0" algn="l">
              <a:lnSpc>
                <a:spcPct val="126875"/>
              </a:lnSpc>
              <a:spcBef>
                <a:spcPts val="0"/>
              </a:spcBef>
              <a:spcAft>
                <a:spcPts val="0"/>
              </a:spcAft>
              <a:buClr>
                <a:srgbClr val="3A4A63"/>
              </a:buClr>
              <a:buSzPts val="2100"/>
              <a:buFont typeface="Helvetica Neue"/>
              <a:buNone/>
            </a:pPr>
            <a:r>
              <a:rPr b="0" i="0" lang="en-US" sz="2100" u="none" cap="none" strike="noStrike">
                <a:solidFill>
                  <a:srgbClr val="3A4A63"/>
                </a:solidFill>
                <a:latin typeface="Helvetica Neue"/>
                <a:ea typeface="Helvetica Neue"/>
                <a:cs typeface="Helvetica Neue"/>
                <a:sym typeface="Helvetica Neue"/>
              </a:rPr>
              <a:t>Bring them to the HackWeek desk, or to any later session this week — the same pipeline underlies all of them.</a:t>
            </a:r>
            <a:endParaRPr b="0" i="0" sz="2100" u="none" cap="none" strike="noStrike">
              <a:solidFill>
                <a:schemeClr val="dk1"/>
              </a:solidFill>
              <a:latin typeface="Calibri"/>
              <a:ea typeface="Calibri"/>
              <a:cs typeface="Calibri"/>
              <a:sym typeface="Calibri"/>
            </a:endParaRPr>
          </a:p>
        </p:txBody>
      </p:sp>
      <p:sp>
        <p:nvSpPr>
          <p:cNvPr id="1720" name="Google Shape;1720;p39"/>
          <p:cNvSpPr/>
          <p:nvPr/>
        </p:nvSpPr>
        <p:spPr>
          <a:xfrm>
            <a:off x="838200" y="9486900"/>
            <a:ext cx="16611600" cy="9525"/>
          </a:xfrm>
          <a:prstGeom prst="rect">
            <a:avLst/>
          </a:prstGeom>
          <a:solidFill>
            <a:srgbClr val="D7E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9"/>
          <p:cNvSpPr/>
          <p:nvPr/>
        </p:nvSpPr>
        <p:spPr>
          <a:xfrm>
            <a:off x="838200" y="9608820"/>
            <a:ext cx="4206716"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Aditya Upadhyay · CSIR-IICB Kolkata</a:t>
            </a:r>
            <a:endParaRPr b="0" i="0" sz="1800" u="none" cap="none" strike="noStrike">
              <a:solidFill>
                <a:schemeClr val="dk1"/>
              </a:solidFill>
              <a:latin typeface="Calibri"/>
              <a:ea typeface="Calibri"/>
              <a:cs typeface="Calibri"/>
              <a:sym typeface="Calibri"/>
            </a:endParaRPr>
          </a:p>
        </p:txBody>
      </p:sp>
      <p:sp>
        <p:nvSpPr>
          <p:cNvPr id="1722" name="Google Shape;1722;p39"/>
          <p:cNvSpPr/>
          <p:nvPr/>
        </p:nvSpPr>
        <p:spPr>
          <a:xfrm>
            <a:off x="9150191" y="9608820"/>
            <a:ext cx="3913477"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DNA language models &amp; classifiers</a:t>
            </a:r>
            <a:endParaRPr b="0" i="0" sz="1800" u="none" cap="none" strike="noStrike">
              <a:solidFill>
                <a:schemeClr val="dk1"/>
              </a:solidFill>
              <a:latin typeface="Calibri"/>
              <a:ea typeface="Calibri"/>
              <a:cs typeface="Calibri"/>
              <a:sym typeface="Calibri"/>
            </a:endParaRPr>
          </a:p>
        </p:txBody>
      </p:sp>
      <p:sp>
        <p:nvSpPr>
          <p:cNvPr id="1723" name="Google Shape;1723;p39"/>
          <p:cNvSpPr/>
          <p:nvPr/>
        </p:nvSpPr>
        <p:spPr>
          <a:xfrm>
            <a:off x="17195483" y="9608820"/>
            <a:ext cx="330518"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FA6C8"/>
              </a:buClr>
              <a:buSzPts val="1800"/>
              <a:buFont typeface="Helvetica Neue"/>
              <a:buNone/>
            </a:pPr>
            <a:r>
              <a:rPr b="0" i="0" lang="en-US" sz="1800" u="none" cap="none" strike="noStrike">
                <a:solidFill>
                  <a:srgbClr val="8FA6C8"/>
                </a:solidFill>
                <a:latin typeface="Helvetica Neue"/>
                <a:ea typeface="Helvetica Neue"/>
                <a:cs typeface="Helvetica Neue"/>
                <a:sym typeface="Helvetica Neue"/>
              </a:rPr>
              <a:t>39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23A"/>
        </a:solidFill>
      </p:bgPr>
    </p:bg>
    <p:spTree>
      <p:nvGrpSpPr>
        <p:cNvPr id="1728" name="Shape 1728"/>
        <p:cNvGrpSpPr/>
        <p:nvPr/>
      </p:nvGrpSpPr>
      <p:grpSpPr>
        <a:xfrm>
          <a:off x="0" y="0"/>
          <a:ext cx="0" cy="0"/>
          <a:chOff x="0" y="0"/>
          <a:chExt cx="0" cy="0"/>
        </a:xfrm>
      </p:grpSpPr>
      <p:pic>
        <p:nvPicPr>
          <p:cNvPr descr="preencoded.png" id="1729" name="Google Shape;1729;p40"/>
          <p:cNvPicPr preferRelativeResize="0"/>
          <p:nvPr/>
        </p:nvPicPr>
        <p:blipFill rotWithShape="1">
          <a:blip r:embed="rId3">
            <a:alphaModFix/>
          </a:blip>
          <a:srcRect b="0" l="0" r="0" t="0"/>
          <a:stretch/>
        </p:blipFill>
        <p:spPr>
          <a:xfrm>
            <a:off x="0" y="0"/>
            <a:ext cx="18288002" cy="10286999"/>
          </a:xfrm>
          <a:prstGeom prst="rect">
            <a:avLst/>
          </a:prstGeom>
          <a:noFill/>
          <a:ln>
            <a:noFill/>
          </a:ln>
        </p:spPr>
      </p:pic>
      <p:sp>
        <p:nvSpPr>
          <p:cNvPr id="1730" name="Google Shape;1730;p40"/>
          <p:cNvSpPr/>
          <p:nvPr/>
        </p:nvSpPr>
        <p:spPr>
          <a:xfrm>
            <a:off x="914400" y="723900"/>
            <a:ext cx="10269915" cy="29718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A9BBD6"/>
              </a:buClr>
              <a:buSzPts val="1800"/>
              <a:buFont typeface="Helvetica Neue"/>
              <a:buNone/>
            </a:pPr>
            <a:r>
              <a:rPr b="0" i="0" lang="en-US" sz="1800" u="none" cap="none" strike="noStrike">
                <a:solidFill>
                  <a:schemeClr val="lt1"/>
                </a:solidFill>
                <a:latin typeface="Helvetica Neue"/>
                <a:ea typeface="Helvetica Neue"/>
                <a:cs typeface="Helvetica Neue"/>
                <a:sym typeface="Helvetica Neue"/>
              </a:rPr>
              <a:t>DBT-BIC-NNP-TREE GENOME INFORMATICS · GENOME HACKWEEK 2026</a:t>
            </a:r>
            <a:endParaRPr b="0" i="0" sz="1800" u="none" cap="none" strike="noStrike">
              <a:solidFill>
                <a:schemeClr val="lt1"/>
              </a:solidFill>
              <a:latin typeface="Calibri"/>
              <a:ea typeface="Calibri"/>
              <a:cs typeface="Calibri"/>
              <a:sym typeface="Calibri"/>
            </a:endParaRPr>
          </a:p>
        </p:txBody>
      </p:sp>
      <p:sp>
        <p:nvSpPr>
          <p:cNvPr id="1731" name="Google Shape;1731;p40"/>
          <p:cNvSpPr/>
          <p:nvPr/>
        </p:nvSpPr>
        <p:spPr>
          <a:xfrm>
            <a:off x="914400" y="3662005"/>
            <a:ext cx="914400" cy="47625"/>
          </a:xfrm>
          <a:prstGeom prst="rect">
            <a:avLst/>
          </a:prstGeom>
          <a:solidFill>
            <a:srgbClr val="E8A3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40"/>
          <p:cNvSpPr/>
          <p:nvPr/>
        </p:nvSpPr>
        <p:spPr>
          <a:xfrm>
            <a:off x="914400" y="3995380"/>
            <a:ext cx="18105120" cy="1048464"/>
          </a:xfrm>
          <a:prstGeom prst="rect">
            <a:avLst/>
          </a:prstGeom>
          <a:noFill/>
          <a:ln>
            <a:noFill/>
          </a:ln>
        </p:spPr>
        <p:txBody>
          <a:bodyPr anchorCtr="0" anchor="t" bIns="25400" lIns="25400" spcFirstLastPara="1" rIns="25400" wrap="square" tIns="25400">
            <a:normAutofit/>
          </a:bodyPr>
          <a:lstStyle/>
          <a:p>
            <a:pPr indent="0" lvl="0" marL="0" marR="0" rtl="0" algn="l">
              <a:lnSpc>
                <a:spcPct val="88400"/>
              </a:lnSpc>
              <a:spcBef>
                <a:spcPts val="0"/>
              </a:spcBef>
              <a:spcAft>
                <a:spcPts val="0"/>
              </a:spcAft>
              <a:buClr>
                <a:srgbClr val="FFFFFF"/>
              </a:buClr>
              <a:buSzPts val="7800"/>
              <a:buFont typeface="Helvetica Neue"/>
              <a:buNone/>
            </a:pPr>
            <a:r>
              <a:rPr b="1" i="0" lang="en-US" sz="7800" u="none" cap="none" strike="noStrike">
                <a:solidFill>
                  <a:srgbClr val="FFFFFF"/>
                </a:solidFill>
                <a:latin typeface="Helvetica Neue"/>
                <a:ea typeface="Helvetica Neue"/>
                <a:cs typeface="Helvetica Neue"/>
                <a:sym typeface="Helvetica Neue"/>
              </a:rPr>
              <a:t>Thank you</a:t>
            </a:r>
            <a:endParaRPr b="0" i="0" sz="7800" u="none" cap="none" strike="noStrike">
              <a:solidFill>
                <a:schemeClr val="dk1"/>
              </a:solidFill>
              <a:latin typeface="Calibri"/>
              <a:ea typeface="Calibri"/>
              <a:cs typeface="Calibri"/>
              <a:sym typeface="Calibri"/>
            </a:endParaRPr>
          </a:p>
        </p:txBody>
      </p:sp>
      <p:sp>
        <p:nvSpPr>
          <p:cNvPr id="1733" name="Google Shape;1733;p40"/>
          <p:cNvSpPr/>
          <p:nvPr/>
        </p:nvSpPr>
        <p:spPr>
          <a:xfrm>
            <a:off x="914400" y="5291495"/>
            <a:ext cx="12573000" cy="544830"/>
          </a:xfrm>
          <a:prstGeom prst="rect">
            <a:avLst/>
          </a:prstGeom>
          <a:noFill/>
          <a:ln>
            <a:noFill/>
          </a:ln>
        </p:spPr>
        <p:txBody>
          <a:bodyPr anchorCtr="0" anchor="t" bIns="25400" lIns="25400" spcFirstLastPara="1" rIns="25400" wrap="square" tIns="25400">
            <a:normAutofit/>
          </a:bodyPr>
          <a:lstStyle/>
          <a:p>
            <a:pPr indent="0" lvl="0" marL="0" marR="0" rtl="0" algn="l">
              <a:lnSpc>
                <a:spcPct val="120909"/>
              </a:lnSpc>
              <a:spcBef>
                <a:spcPts val="0"/>
              </a:spcBef>
              <a:spcAft>
                <a:spcPts val="0"/>
              </a:spcAft>
              <a:buClr>
                <a:srgbClr val="C8D6EA"/>
              </a:buClr>
              <a:buSzPts val="2850"/>
              <a:buFont typeface="Helvetica Neue"/>
              <a:buNone/>
            </a:pPr>
            <a:r>
              <a:rPr b="0" i="0" lang="en-US" sz="2850" u="none" cap="none" strike="noStrike">
                <a:solidFill>
                  <a:schemeClr val="lt1"/>
                </a:solidFill>
                <a:latin typeface="Helvetica Neue"/>
                <a:ea typeface="Helvetica Neue"/>
                <a:cs typeface="Helvetica Neue"/>
                <a:sym typeface="Helvetica Neue"/>
              </a:rPr>
              <a:t>Questions before we open the notebook?</a:t>
            </a:r>
            <a:endParaRPr b="0" i="0" sz="2850" u="none" cap="none" strike="noStrike">
              <a:solidFill>
                <a:schemeClr val="lt1"/>
              </a:solidFill>
              <a:latin typeface="Calibri"/>
              <a:ea typeface="Calibri"/>
              <a:cs typeface="Calibri"/>
              <a:sym typeface="Calibri"/>
            </a:endParaRPr>
          </a:p>
        </p:txBody>
      </p:sp>
      <p:sp>
        <p:nvSpPr>
          <p:cNvPr id="1734" name="Google Shape;1734;p40"/>
          <p:cNvSpPr/>
          <p:nvPr/>
        </p:nvSpPr>
        <p:spPr>
          <a:xfrm>
            <a:off x="914400" y="8477250"/>
            <a:ext cx="12030527"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31250"/>
              </a:lnSpc>
              <a:spcBef>
                <a:spcPts val="0"/>
              </a:spcBef>
              <a:spcAft>
                <a:spcPts val="0"/>
              </a:spcAft>
              <a:buClr>
                <a:srgbClr val="FFFFFF"/>
              </a:buClr>
              <a:buSzPts val="2100"/>
              <a:buFont typeface="Helvetica Neue"/>
              <a:buNone/>
            </a:pPr>
            <a:r>
              <a:rPr b="1" i="0" lang="en-US" sz="2100" u="none" cap="none" strike="noStrike">
                <a:solidFill>
                  <a:srgbClr val="FFFFFF"/>
                </a:solidFill>
                <a:latin typeface="Helvetica Neue"/>
                <a:ea typeface="Helvetica Neue"/>
                <a:cs typeface="Helvetica Neue"/>
                <a:sym typeface="Helvetica Neue"/>
              </a:rPr>
              <a:t>Aditya Upadhyay · CSIR-IICB, Kolkata</a:t>
            </a:r>
            <a:endParaRPr b="0" i="0" sz="2100" u="none" cap="none" strike="noStrike">
              <a:solidFill>
                <a:schemeClr val="dk1"/>
              </a:solidFill>
              <a:latin typeface="Calibri"/>
              <a:ea typeface="Calibri"/>
              <a:cs typeface="Calibri"/>
              <a:sym typeface="Calibri"/>
            </a:endParaRPr>
          </a:p>
        </p:txBody>
      </p:sp>
      <p:sp>
        <p:nvSpPr>
          <p:cNvPr id="1735" name="Google Shape;1735;p40"/>
          <p:cNvSpPr/>
          <p:nvPr/>
        </p:nvSpPr>
        <p:spPr>
          <a:xfrm>
            <a:off x="914400" y="8877300"/>
            <a:ext cx="12030527"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31250"/>
              </a:lnSpc>
              <a:spcBef>
                <a:spcPts val="0"/>
              </a:spcBef>
              <a:spcAft>
                <a:spcPts val="0"/>
              </a:spcAft>
              <a:buClr>
                <a:srgbClr val="C8D6EA"/>
              </a:buClr>
              <a:buSzPts val="2100"/>
              <a:buFont typeface="Helvetica Neue"/>
              <a:buNone/>
            </a:pPr>
            <a:r>
              <a:rPr b="0" i="0" lang="en-US" sz="2100" u="none" cap="none" strike="noStrike">
                <a:solidFill>
                  <a:srgbClr val="FFFFFF"/>
                </a:solidFill>
                <a:latin typeface="Helvetica Neue"/>
                <a:ea typeface="Helvetica Neue"/>
                <a:cs typeface="Helvetica Neue"/>
                <a:sym typeface="Helvetica Neue"/>
              </a:rPr>
              <a:t>DNA language models &amp; sequence classifiers </a:t>
            </a:r>
            <a:endParaRPr b="0" i="0" sz="2100" u="none" cap="none" strike="noStrike">
              <a:solidFill>
                <a:srgbClr val="FFFFFF"/>
              </a:solidFill>
              <a:latin typeface="Calibri"/>
              <a:ea typeface="Calibri"/>
              <a:cs typeface="Calibri"/>
              <a:sym typeface="Calibri"/>
            </a:endParaRPr>
          </a:p>
        </p:txBody>
      </p:sp>
      <p:sp>
        <p:nvSpPr>
          <p:cNvPr id="1736" name="Google Shape;1736;p40"/>
          <p:cNvSpPr/>
          <p:nvPr/>
        </p:nvSpPr>
        <p:spPr>
          <a:xfrm>
            <a:off x="914400" y="9277350"/>
            <a:ext cx="12030527" cy="438150"/>
          </a:xfrm>
          <a:prstGeom prst="rect">
            <a:avLst/>
          </a:prstGeom>
          <a:noFill/>
          <a:ln>
            <a:noFill/>
          </a:ln>
        </p:spPr>
        <p:txBody>
          <a:bodyPr anchorCtr="0" anchor="t" bIns="25400" lIns="25400" spcFirstLastPara="1" rIns="25400" wrap="square" tIns="25400">
            <a:normAutofit/>
          </a:bodyPr>
          <a:lstStyle/>
          <a:p>
            <a:pPr indent="0" lvl="0" marL="0" marR="0" rtl="0" algn="l">
              <a:lnSpc>
                <a:spcPct val="131250"/>
              </a:lnSpc>
              <a:spcBef>
                <a:spcPts val="0"/>
              </a:spcBef>
              <a:spcAft>
                <a:spcPts val="0"/>
              </a:spcAft>
              <a:buClr>
                <a:srgbClr val="C8D6EA"/>
              </a:buClr>
              <a:buSzPts val="2100"/>
              <a:buFont typeface="Helvetica Neue"/>
              <a:buNone/>
            </a:pPr>
            <a:r>
              <a:rPr b="0" i="0" lang="en-US" sz="2100" u="none" cap="none" strike="noStrike">
                <a:solidFill>
                  <a:schemeClr val="lt1"/>
                </a:solidFill>
                <a:latin typeface="Helvetica Neue"/>
                <a:ea typeface="Helvetica Neue"/>
                <a:cs typeface="Helvetica Neue"/>
                <a:sym typeface="Helvetica Neue"/>
              </a:rPr>
              <a:t>Genome HackWeek 2026 · </a:t>
            </a:r>
            <a:r>
              <a:rPr lang="en-US" sz="2100">
                <a:solidFill>
                  <a:schemeClr val="lt1"/>
                </a:solidFill>
                <a:latin typeface="Helvetica Neue"/>
                <a:ea typeface="Helvetica Neue"/>
                <a:cs typeface="Helvetica Neue"/>
                <a:sym typeface="Helvetica Neue"/>
              </a:rPr>
              <a:t>2</a:t>
            </a:r>
            <a:r>
              <a:rPr b="0" i="0" lang="en-US" sz="2100" u="none" cap="none" strike="noStrike">
                <a:solidFill>
                  <a:schemeClr val="lt1"/>
                </a:solidFill>
                <a:latin typeface="Helvetica Neue"/>
                <a:ea typeface="Helvetica Neue"/>
                <a:cs typeface="Helvetica Neue"/>
                <a:sym typeface="Helvetica Neue"/>
              </a:rPr>
              <a:t> September 2026 · Annotate, Innovate, Collaborate</a:t>
            </a:r>
            <a:endParaRPr b="0" i="0" sz="2100" u="none" cap="none" strike="noStrike">
              <a:solidFill>
                <a:schemeClr val="lt1"/>
              </a:solidFill>
              <a:latin typeface="Calibri"/>
              <a:ea typeface="Calibri"/>
              <a:cs typeface="Calibri"/>
              <a:sym typeface="Calibri"/>
            </a:endParaRPr>
          </a:p>
        </p:txBody>
      </p:sp>
      <p:pic>
        <p:nvPicPr>
          <p:cNvPr descr="preencoded.png" id="1737" name="Google Shape;1737;p40"/>
          <p:cNvPicPr preferRelativeResize="0"/>
          <p:nvPr/>
        </p:nvPicPr>
        <p:blipFill rotWithShape="1">
          <a:blip r:embed="rId4">
            <a:alphaModFix/>
          </a:blip>
          <a:srcRect b="0" l="0" r="0" t="0"/>
          <a:stretch/>
        </p:blipFill>
        <p:spPr>
          <a:xfrm>
            <a:off x="12445752" y="723900"/>
            <a:ext cx="1313598" cy="1313598"/>
          </a:xfrm>
          <a:prstGeom prst="rect">
            <a:avLst/>
          </a:prstGeom>
          <a:noFill/>
          <a:ln>
            <a:noFill/>
          </a:ln>
        </p:spPr>
      </p:pic>
      <p:pic>
        <p:nvPicPr>
          <p:cNvPr descr="preencoded.png" id="1738" name="Google Shape;1738;p40"/>
          <p:cNvPicPr preferRelativeResize="0"/>
          <p:nvPr/>
        </p:nvPicPr>
        <p:blipFill rotWithShape="1">
          <a:blip r:embed="rId5">
            <a:alphaModFix/>
          </a:blip>
          <a:srcRect b="0" l="0" r="0" t="0"/>
          <a:stretch/>
        </p:blipFill>
        <p:spPr>
          <a:xfrm>
            <a:off x="14381584" y="723900"/>
            <a:ext cx="1075078" cy="1313600"/>
          </a:xfrm>
          <a:prstGeom prst="rect">
            <a:avLst/>
          </a:prstGeom>
          <a:noFill/>
          <a:ln>
            <a:noFill/>
          </a:ln>
        </p:spPr>
      </p:pic>
      <p:pic>
        <p:nvPicPr>
          <p:cNvPr descr="preencoded.png" id="1739" name="Google Shape;1739;p40"/>
          <p:cNvPicPr preferRelativeResize="0"/>
          <p:nvPr/>
        </p:nvPicPr>
        <p:blipFill rotWithShape="1">
          <a:blip r:embed="rId6">
            <a:alphaModFix/>
          </a:blip>
          <a:srcRect b="0" l="0" r="0" t="0"/>
          <a:stretch/>
        </p:blipFill>
        <p:spPr>
          <a:xfrm>
            <a:off x="16078894" y="723900"/>
            <a:ext cx="1187209" cy="1313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2026-09-01T14:50:22Z</dcterms:created>
  <dc:creator>PptxGenJS</dc:creator>
</cp:coreProperties>
</file>