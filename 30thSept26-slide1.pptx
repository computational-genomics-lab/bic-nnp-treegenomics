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76" r:id="rId3"/>
    <p:sldId id="270" r:id="rId4"/>
    <p:sldId id="269" r:id="rId5"/>
    <p:sldId id="271" r:id="rId6"/>
    <p:sldId id="277" r:id="rId7"/>
    <p:sldId id="278" r:id="rId8"/>
    <p:sldId id="279" r:id="rId9"/>
    <p:sldId id="281" r:id="rId10"/>
    <p:sldId id="280" r:id="rId11"/>
    <p:sldId id="282" r:id="rId12"/>
    <p:sldId id="283" r:id="rId13"/>
    <p:sldId id="272" r:id="rId14"/>
    <p:sldId id="273" r:id="rId15"/>
    <p:sldId id="274" r:id="rId16"/>
    <p:sldId id="275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E2780D-F900-7940-B7D2-6D3AEF3EFA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92A6E1-7147-6D53-BAA9-01DCE4115DD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3167BE-089E-490D-BF84-71C7CE40F95B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4BCF7-FA98-12F8-895A-73B12874C7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DCCA50-75A8-9669-A151-0DCD4F0C4D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1BADF2-EFD7-499C-8C2D-03ADD5668E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97926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879738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NP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2390291" y="274661"/>
            <a:ext cx="8348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0" dirty="0">
                <a:ln w="3175">
                  <a:noFill/>
                </a:ln>
                <a:solidFill>
                  <a:srgbClr val="002060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DBT-BIC-NNP-TREE Genome Informatics — Genome HackWeek 2026</a:t>
            </a:r>
            <a:endParaRPr lang="en-US" sz="2000" b="0" dirty="0">
              <a:ln w="3175">
                <a:noFill/>
              </a:ln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920240" y="658368"/>
            <a:ext cx="8348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00206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Annotate, Innovate, Collaborate  |  CSIR-IICB, Kolkata</a:t>
            </a:r>
            <a:endParaRPr lang="en-US" sz="1600" b="1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365760" y="647395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 err="1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Sucheta</a:t>
            </a:r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Tripathy</a:t>
            </a:r>
            <a:endParaRPr lang="en-US" sz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 3"/>
          <p:cNvSpPr/>
          <p:nvPr userDrawn="1"/>
        </p:nvSpPr>
        <p:spPr>
          <a:xfrm>
            <a:off x="4270248" y="64739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dirty="0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 descr="File:CSIR-Logo-With-Tagline-Seleceted-Bilingual.png ...">
            <a:extLst>
              <a:ext uri="{FF2B5EF4-FFF2-40B4-BE49-F238E27FC236}">
                <a16:creationId xmlns:a16="http://schemas.microsoft.com/office/drawing/2014/main" id="{4D82A8F7-CCC1-0656-73BD-C1135308F9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337" y="91440"/>
            <a:ext cx="1220204" cy="12202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48E026-E031-A75D-60FD-E59714E371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6929" y="171243"/>
            <a:ext cx="802483" cy="8877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5FB87B-4D58-BE6F-784D-A9C794DC953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45567" y="171243"/>
            <a:ext cx="915429" cy="111835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A4A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AB5468B-A89B-E21B-8654-6BBB160831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11" Type="http://schemas.openxmlformats.org/officeDocument/2006/relationships/image" Target="../media/image16.png"/><Relationship Id="rId5" Type="http://schemas.openxmlformats.org/officeDocument/2006/relationships/image" Target="../media/image10.jpeg"/><Relationship Id="rId10" Type="http://schemas.openxmlformats.org/officeDocument/2006/relationships/image" Target="../media/image15.png"/><Relationship Id="rId4" Type="http://schemas.openxmlformats.org/officeDocument/2006/relationships/image" Target="../media/image9.jpe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8408" y="246888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2026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342900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DBT-BIC-NNP-TREE Genome Informatics: Annotate, Innovate, Collaborate</a:t>
            </a:r>
            <a:endParaRPr lang="en-US" sz="1800" dirty="0">
              <a:solidFill>
                <a:srgbClr val="00206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39776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August – 4 September 2026   |   Room 120, Guest Block, IICB TRUE Campus, Salt Lake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A4A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7336E8-C2DC-81B7-292E-0543C0E0C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0" y="2269639"/>
            <a:ext cx="2420322" cy="24203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EAA0E6-861E-3AC4-2D4C-B242CFB657B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2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47985F-CA0D-413E-35C6-A89C15A32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525" y="1625600"/>
            <a:ext cx="8680431" cy="359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936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77E60F-5B9D-9289-2416-84708C269DB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fld id="{715C7C3F-DEDB-4C71-B82C-F512B4DC8CBB}" type="slidenum">
              <a:rPr lang="en-US" b="0"/>
              <a:t>3</a:t>
            </a:fld>
            <a:endParaRPr lang="en-US" b="0"/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022" y="1716402"/>
            <a:ext cx="1489977" cy="1712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3402" y="1716403"/>
            <a:ext cx="1552245" cy="1712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4E390E-CEDB-52D8-0095-CD53F0F48CB6}"/>
              </a:ext>
            </a:extLst>
          </p:cNvPr>
          <p:cNvPicPr/>
          <p:nvPr/>
        </p:nvPicPr>
        <p:blipFill>
          <a:blip r:embed="rId4"/>
          <a:srcRect l="-1" t="6966" r="24910" b="30306"/>
          <a:stretch>
            <a:fillRect/>
          </a:stretch>
        </p:blipFill>
        <p:spPr>
          <a:xfrm>
            <a:off x="5510376" y="1716404"/>
            <a:ext cx="1552245" cy="17125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A2A2D8-371F-BF67-7766-15AF226C731F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7713827" y="1716402"/>
            <a:ext cx="1552244" cy="1793877"/>
          </a:xfrm>
          <a:prstGeom prst="rect">
            <a:avLst/>
          </a:prstGeom>
        </p:spPr>
      </p:pic>
      <p:pic>
        <p:nvPicPr>
          <p:cNvPr id="1026" name="Picture 2" descr="https://lh3.googleusercontent.com/sitesv/AG8ngQX-DaRdenpXm1BTctafq0zmIkLpmVvG-3ExigLRS9H20wUlDAw_7L6QK0bM3Yw_MZYUjwT3VgNzhVLoGlCs5J7h7aiEWjFZnWjKjvlBRyPGRtwDpTs2fcyfMgNnOgu8xuUGhevt-wQfsPndLRdFD5f6NRgn1h4qBkzgILNBZGjYXL564BYaqrj084VFl-H16ff4gBjD-2GzagVgkiVFkzDTCpmCACzCnwFR4TISaxo=w128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854" y="4568291"/>
            <a:ext cx="1097186" cy="1113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lh3.googleusercontent.com/sitesv/AG8ngQXpVplOMQRSOHdsBIb72EhmSyLwTYsYqYmmvxuo9toFUWciO9PTx_7-v9nM0ufgBG_cQ_bsNNMJ2YaHpOfAH5mpu5CAxHRY2IkuSQ8UBn37e9obPqH-wHcBycN5RgDJrNGp9WT6mKnLP_LSmXQf3ENP4P_9D3S1qgKFwuEW9OrEaXdmaIGGeNYFWHvCmi5SOc0DSxjglcORr3mOf0bRAGoDbviAbTsEunFYKKFH28E=w128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8626" y="4572514"/>
            <a:ext cx="917106" cy="1109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6" descr="https://lh3.googleusercontent.com/sitesv/AG8ngQW3kTHzTexS7qpXW4mznBaX6k-_fY4uuj8afMdN-MXS7DhJ1zZx72L0f2UaTcjOj7Ujaqd6WjnppmMmvLFcBTsZ0Uq3RzZHyT9YhHw7Mud9giY-0mmSrCiagMKCzIMAMERh3qp5BVSVoEvVNW_lkcAAkf7t0U_5wLcRWNz_QScwsdeMgXwhm4-EV7rqOjjVAwtNpWNmdzgvO_s2nxSG2ysDptfYx9tw5ZiNFKJxcd8=w128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8" descr="https://lh3.googleusercontent.com/sitesv/AG8ngQW3kTHzTexS7qpXW4mznBaX6k-_fY4uuj8afMdN-MXS7DhJ1zZx72L0f2UaTcjOj7Ujaqd6WjnppmMmvLFcBTsZ0Uq3RzZHyT9YhHw7Mud9giY-0mmSrCiagMKCzIMAMERh3qp5BVSVoEvVNW_lkcAAkf7t0U_5wLcRWNz_QScwsdeMgXwhm4-EV7rqOjjVAwtNpWNmdzgvO_s2nxSG2ysDptfYx9tw5ZiNFKJxcd8=w1280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8835" y="4572514"/>
            <a:ext cx="1108191" cy="110923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7840" y="4568291"/>
            <a:ext cx="1116341" cy="111346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90085" y="4572515"/>
            <a:ext cx="1146626" cy="110923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26696" y="4559276"/>
            <a:ext cx="829063" cy="112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282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5F1850-0B87-D6A5-2373-8888D287250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fld id="{B28341C0-DF9D-4A19-9AE0-2BA2D0B28CB4}" type="slidenum">
              <a:rPr lang="en-US" b="0"/>
              <a:t>4</a:t>
            </a:fld>
            <a:endParaRPr lang="en-US" b="0"/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7554BA4-3844-A426-B62B-D735E4F24C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410860"/>
              </p:ext>
            </p:extLst>
          </p:nvPr>
        </p:nvGraphicFramePr>
        <p:xfrm>
          <a:off x="2032000" y="1087071"/>
          <a:ext cx="8280400" cy="53239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1162">
                  <a:extLst>
                    <a:ext uri="{9D8B030D-6E8A-4147-A177-3AD203B41FA5}">
                      <a16:colId xmlns:a16="http://schemas.microsoft.com/office/drawing/2014/main" val="1288359345"/>
                    </a:ext>
                  </a:extLst>
                </a:gridCol>
                <a:gridCol w="1335401">
                  <a:extLst>
                    <a:ext uri="{9D8B030D-6E8A-4147-A177-3AD203B41FA5}">
                      <a16:colId xmlns:a16="http://schemas.microsoft.com/office/drawing/2014/main" val="3672011752"/>
                    </a:ext>
                  </a:extLst>
                </a:gridCol>
                <a:gridCol w="1596772">
                  <a:extLst>
                    <a:ext uri="{9D8B030D-6E8A-4147-A177-3AD203B41FA5}">
                      <a16:colId xmlns:a16="http://schemas.microsoft.com/office/drawing/2014/main" val="697643527"/>
                    </a:ext>
                  </a:extLst>
                </a:gridCol>
                <a:gridCol w="2281102">
                  <a:extLst>
                    <a:ext uri="{9D8B030D-6E8A-4147-A177-3AD203B41FA5}">
                      <a16:colId xmlns:a16="http://schemas.microsoft.com/office/drawing/2014/main" val="1437161892"/>
                    </a:ext>
                  </a:extLst>
                </a:gridCol>
                <a:gridCol w="1995963">
                  <a:extLst>
                    <a:ext uri="{9D8B030D-6E8A-4147-A177-3AD203B41FA5}">
                      <a16:colId xmlns:a16="http://schemas.microsoft.com/office/drawing/2014/main" val="3920060061"/>
                    </a:ext>
                  </a:extLst>
                </a:gridCol>
              </a:tblGrid>
              <a:tr h="2298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 err="1">
                          <a:effectLst/>
                        </a:rPr>
                        <a:t>S.No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0099" marR="30099" marT="30099" marB="3009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Photo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0099" marR="30099" marT="30099" marB="3009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Name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0099" marR="30099" marT="30099" marB="3009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Affiliation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0099" marR="30099" marT="30099" marB="3009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Contacts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0099" marR="30099" marT="30099" marB="30099" anchor="ctr"/>
                </a:tc>
                <a:extLst>
                  <a:ext uri="{0D108BD9-81ED-4DB2-BD59-A6C34878D82A}">
                    <a16:rowId xmlns:a16="http://schemas.microsoft.com/office/drawing/2014/main" val="601851305"/>
                  </a:ext>
                </a:extLst>
              </a:tr>
              <a:tr h="12034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0099" marR="30099" marT="30099" marB="300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0099" marR="30099" marT="30099" marB="3009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Prof. </a:t>
                      </a:r>
                      <a:r>
                        <a:rPr lang="en-IN" sz="1100" dirty="0" err="1">
                          <a:effectLst/>
                        </a:rPr>
                        <a:t>Modhumita</a:t>
                      </a:r>
                      <a:r>
                        <a:rPr lang="en-IN" sz="1100" dirty="0">
                          <a:effectLst/>
                        </a:rPr>
                        <a:t> Dasgupta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0099" marR="30099" marT="30099" marB="3009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Scientist G,</a:t>
                      </a:r>
                    </a:p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Division of Plant Biotechnology and Cytogenetics Institute of Forest Genetics and Tree Breeding Forest Campus.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0099" marR="30099" marT="30099" marB="3009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gmodhumita@gmail.com</a:t>
                      </a:r>
                    </a:p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+91-422-2484123</a:t>
                      </a:r>
                    </a:p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0099" marR="30099" marT="30099" marB="30099" anchor="ctr"/>
                </a:tc>
                <a:extLst>
                  <a:ext uri="{0D108BD9-81ED-4DB2-BD59-A6C34878D82A}">
                    <a16:rowId xmlns:a16="http://schemas.microsoft.com/office/drawing/2014/main" val="4252000916"/>
                  </a:ext>
                </a:extLst>
              </a:tr>
              <a:tr h="8933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0099" marR="30099" marT="30099" marB="300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0099" marR="30099" marT="30099" marB="3009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Dr. Santan Barthwal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0099" marR="30099" marT="30099" marB="3009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Scientist-G,</a:t>
                      </a:r>
                      <a:br>
                        <a:rPr lang="en-IN" sz="1100">
                          <a:effectLst/>
                        </a:rPr>
                      </a:br>
                      <a:r>
                        <a:rPr lang="en-IN" sz="1100">
                          <a:effectLst/>
                        </a:rPr>
                        <a:t>ICFRE-Forest Research Institute, Dehradun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0099" marR="30099" marT="30099" marB="3009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barthwal.santan@gmail.com</a:t>
                      </a:r>
                    </a:p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01352224403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0099" marR="30099" marT="30099" marB="30099" anchor="ctr"/>
                </a:tc>
                <a:extLst>
                  <a:ext uri="{0D108BD9-81ED-4DB2-BD59-A6C34878D82A}">
                    <a16:rowId xmlns:a16="http://schemas.microsoft.com/office/drawing/2014/main" val="2735213264"/>
                  </a:ext>
                </a:extLst>
              </a:tr>
              <a:tr h="10141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0099" marR="30099" marT="30099" marB="300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0099" marR="30099" marT="30099" marB="3009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Dr. A. Balasubramanian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0099" marR="30099" marT="30099" marB="3009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Scientist B,</a:t>
                      </a:r>
                      <a:br>
                        <a:rPr lang="en-IN" sz="1100" dirty="0">
                          <a:effectLst/>
                        </a:rPr>
                      </a:br>
                      <a:r>
                        <a:rPr lang="en-IN" sz="1100" dirty="0">
                          <a:effectLst/>
                        </a:rPr>
                        <a:t>ICFRE-Institute of Forest Genetics and Tree Breeding,</a:t>
                      </a:r>
                      <a:br>
                        <a:rPr lang="en-IN" sz="1100" dirty="0">
                          <a:effectLst/>
                        </a:rPr>
                      </a:br>
                      <a:r>
                        <a:rPr lang="en-IN" sz="1100" dirty="0">
                          <a:effectLst/>
                        </a:rPr>
                        <a:t>Coimbatore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0099" marR="30099" marT="30099" marB="3009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balabio@gmail.com</a:t>
                      </a:r>
                    </a:p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91-422 2484124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0099" marR="30099" marT="30099" marB="30099" anchor="ctr"/>
                </a:tc>
                <a:extLst>
                  <a:ext uri="{0D108BD9-81ED-4DB2-BD59-A6C34878D82A}">
                    <a16:rowId xmlns:a16="http://schemas.microsoft.com/office/drawing/2014/main" val="3486027915"/>
                  </a:ext>
                </a:extLst>
              </a:tr>
              <a:tr h="814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0099" marR="30099" marT="30099" marB="300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0099" marR="30099" marT="30099" marB="3009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Dr. Shivaprasad KM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0099" marR="30099" marT="30099" marB="3009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Scientist B,</a:t>
                      </a:r>
                      <a:br>
                        <a:rPr lang="en-IN" sz="1100" dirty="0">
                          <a:effectLst/>
                        </a:rPr>
                      </a:br>
                      <a:r>
                        <a:rPr lang="en-IN" sz="1100" dirty="0">
                          <a:effectLst/>
                        </a:rPr>
                        <a:t>ICFRE-Institute of Forest Biodiversity, Hyderabad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0099" marR="30099" marT="30099" marB="3009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shivakm@icfre.org</a:t>
                      </a:r>
                    </a:p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040-66309503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0099" marR="30099" marT="30099" marB="30099" anchor="ctr"/>
                </a:tc>
                <a:extLst>
                  <a:ext uri="{0D108BD9-81ED-4DB2-BD59-A6C34878D82A}">
                    <a16:rowId xmlns:a16="http://schemas.microsoft.com/office/drawing/2014/main" val="1303372447"/>
                  </a:ext>
                </a:extLst>
              </a:tr>
              <a:tr h="11684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5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0099" marR="30099" marT="30099" marB="300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0099" marR="30099" marT="30099" marB="3009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Dr. Archana R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0099" marR="30099" marT="30099" marB="3009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Scientist C, ICFRE-Institute of Wood Science and Technology, Bengaluru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0099" marR="30099" marT="30099" marB="3009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archanar@icfre.org</a:t>
                      </a:r>
                    </a:p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</a:p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0099" marR="30099" marT="30099" marB="30099" anchor="ctr"/>
                </a:tc>
                <a:extLst>
                  <a:ext uri="{0D108BD9-81ED-4DB2-BD59-A6C34878D82A}">
                    <a16:rowId xmlns:a16="http://schemas.microsoft.com/office/drawing/2014/main" val="296652864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8C1FFF9-2AA8-AE87-A48C-1F2126FD3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924" y="1373787"/>
            <a:ext cx="947963" cy="10668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898E49-87AD-144C-3F9E-C7C7E71F8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5924" y="2440679"/>
            <a:ext cx="932769" cy="9448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9691DD-7A7B-58B8-6222-017632E4C9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5924" y="3365193"/>
            <a:ext cx="957155" cy="9682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590CFD-09EA-3A6C-4BE5-2C98442803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5924" y="4452405"/>
            <a:ext cx="1015872" cy="8626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585CA6D-A1A5-B5D0-D3F1-450974324F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5924" y="5240641"/>
            <a:ext cx="1015872" cy="92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679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48475C-2352-C70E-071F-3A94F9D2EBC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5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5E358E2-8DE4-2631-C26F-867045F045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316222"/>
              </p:ext>
            </p:extLst>
          </p:nvPr>
        </p:nvGraphicFramePr>
        <p:xfrm>
          <a:off x="101600" y="1117086"/>
          <a:ext cx="6136640" cy="53159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9502">
                  <a:extLst>
                    <a:ext uri="{9D8B030D-6E8A-4147-A177-3AD203B41FA5}">
                      <a16:colId xmlns:a16="http://schemas.microsoft.com/office/drawing/2014/main" val="871018557"/>
                    </a:ext>
                  </a:extLst>
                </a:gridCol>
                <a:gridCol w="1313019">
                  <a:extLst>
                    <a:ext uri="{9D8B030D-6E8A-4147-A177-3AD203B41FA5}">
                      <a16:colId xmlns:a16="http://schemas.microsoft.com/office/drawing/2014/main" val="3679517691"/>
                    </a:ext>
                  </a:extLst>
                </a:gridCol>
                <a:gridCol w="1667107">
                  <a:extLst>
                    <a:ext uri="{9D8B030D-6E8A-4147-A177-3AD203B41FA5}">
                      <a16:colId xmlns:a16="http://schemas.microsoft.com/office/drawing/2014/main" val="3614007662"/>
                    </a:ext>
                  </a:extLst>
                </a:gridCol>
                <a:gridCol w="2757012">
                  <a:extLst>
                    <a:ext uri="{9D8B030D-6E8A-4147-A177-3AD203B41FA5}">
                      <a16:colId xmlns:a16="http://schemas.microsoft.com/office/drawing/2014/main" val="1732948316"/>
                    </a:ext>
                  </a:extLst>
                </a:gridCol>
              </a:tblGrid>
              <a:tr h="2092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S.No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Name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Institute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Contacts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extLst>
                  <a:ext uri="{0D108BD9-81ED-4DB2-BD59-A6C34878D82A}">
                    <a16:rowId xmlns:a16="http://schemas.microsoft.com/office/drawing/2014/main" val="3401622193"/>
                  </a:ext>
                </a:extLst>
              </a:tr>
              <a:tr h="568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1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>
                          <a:effectLst/>
                        </a:rPr>
                        <a:t>Subhamoy Dutta</a:t>
                      </a:r>
                    </a:p>
                    <a:p>
                      <a:pPr algn="ctr">
                        <a:buNone/>
                      </a:pPr>
                      <a:r>
                        <a:rPr lang="en-IN" sz="1050" dirty="0">
                          <a:effectLst/>
                        </a:rPr>
                        <a:t> </a:t>
                      </a:r>
                      <a:endParaRPr lang="en-IN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>
                          <a:effectLst/>
                        </a:rPr>
                        <a:t>ICAR-Central Inland Fisheries Research Institute</a:t>
                      </a:r>
                      <a:endParaRPr lang="en-IN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br>
                        <a:rPr lang="en-IN" sz="1050">
                          <a:effectLst/>
                        </a:rPr>
                      </a:br>
                      <a:r>
                        <a:rPr lang="en-IN" sz="1050">
                          <a:effectLst/>
                        </a:rPr>
                        <a:t>subhamoydutta2026@gmail.com</a:t>
                      </a:r>
                    </a:p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8609485303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extLst>
                  <a:ext uri="{0D108BD9-81ED-4DB2-BD59-A6C34878D82A}">
                    <a16:rowId xmlns:a16="http://schemas.microsoft.com/office/drawing/2014/main" val="3691957585"/>
                  </a:ext>
                </a:extLst>
              </a:tr>
              <a:tr h="568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2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Priyanshi saini</a:t>
                      </a:r>
                    </a:p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 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Guru Gobind Singh Indraprastha University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priyanshisaini472@gmail.com</a:t>
                      </a:r>
                    </a:p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8882083627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extLst>
                  <a:ext uri="{0D108BD9-81ED-4DB2-BD59-A6C34878D82A}">
                    <a16:rowId xmlns:a16="http://schemas.microsoft.com/office/drawing/2014/main" val="335704660"/>
                  </a:ext>
                </a:extLst>
              </a:tr>
              <a:tr h="4532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3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Anirban Nandy</a:t>
                      </a:r>
                    </a:p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 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University Of Kalyani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anirbanbcbp24@klyuniv.ac.in</a:t>
                      </a:r>
                    </a:p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8420518814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extLst>
                  <a:ext uri="{0D108BD9-81ED-4DB2-BD59-A6C34878D82A}">
                    <a16:rowId xmlns:a16="http://schemas.microsoft.com/office/drawing/2014/main" val="2775889770"/>
                  </a:ext>
                </a:extLst>
              </a:tr>
              <a:tr h="568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4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Yashasvini Rai</a:t>
                      </a:r>
                    </a:p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 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Institute Of Advanced Research,</a:t>
                      </a:r>
                    </a:p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Gandhinagar Gujarat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ryashi148@gmail.com</a:t>
                      </a:r>
                    </a:p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6394385304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extLst>
                  <a:ext uri="{0D108BD9-81ED-4DB2-BD59-A6C34878D82A}">
                    <a16:rowId xmlns:a16="http://schemas.microsoft.com/office/drawing/2014/main" val="4063024563"/>
                  </a:ext>
                </a:extLst>
              </a:tr>
              <a:tr h="4532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5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Snehasish Ray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Brainware University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snehasishray286@gmail.com</a:t>
                      </a:r>
                    </a:p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9123758939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extLst>
                  <a:ext uri="{0D108BD9-81ED-4DB2-BD59-A6C34878D82A}">
                    <a16:rowId xmlns:a16="http://schemas.microsoft.com/office/drawing/2014/main" val="2686497661"/>
                  </a:ext>
                </a:extLst>
              </a:tr>
              <a:tr h="568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6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Samiha Shabnam Banu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University Of Calcutta/Rajabazar Science College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samihashabnambanu@gmail.com</a:t>
                      </a:r>
                    </a:p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9330608319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extLst>
                  <a:ext uri="{0D108BD9-81ED-4DB2-BD59-A6C34878D82A}">
                    <a16:rowId xmlns:a16="http://schemas.microsoft.com/office/drawing/2014/main" val="1520942253"/>
                  </a:ext>
                </a:extLst>
              </a:tr>
              <a:tr h="4532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7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Madhurima Maiti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University Of Calcutta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madhurimamaiti2001@gmail.com</a:t>
                      </a:r>
                    </a:p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9051114123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extLst>
                  <a:ext uri="{0D108BD9-81ED-4DB2-BD59-A6C34878D82A}">
                    <a16:rowId xmlns:a16="http://schemas.microsoft.com/office/drawing/2014/main" val="3559562454"/>
                  </a:ext>
                </a:extLst>
              </a:tr>
              <a:tr h="4532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8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Purabi Rani Das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Brainware University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dpurabi875@gmail.com</a:t>
                      </a:r>
                    </a:p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8798345836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extLst>
                  <a:ext uri="{0D108BD9-81ED-4DB2-BD59-A6C34878D82A}">
                    <a16:rowId xmlns:a16="http://schemas.microsoft.com/office/drawing/2014/main" val="3164389114"/>
                  </a:ext>
                </a:extLst>
              </a:tr>
              <a:tr h="4532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9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Soumen Das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West Bengal State University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>
                          <a:effectLst/>
                        </a:rPr>
                        <a:t>dassoumen1994.vc.sd@gmail.com</a:t>
                      </a:r>
                    </a:p>
                    <a:p>
                      <a:pPr algn="ctr">
                        <a:buNone/>
                      </a:pPr>
                      <a:r>
                        <a:rPr lang="en-IN" sz="1050" dirty="0">
                          <a:effectLst/>
                        </a:rPr>
                        <a:t>7686964542</a:t>
                      </a:r>
                      <a:endParaRPr lang="en-IN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extLst>
                  <a:ext uri="{0D108BD9-81ED-4DB2-BD59-A6C34878D82A}">
                    <a16:rowId xmlns:a16="http://schemas.microsoft.com/office/drawing/2014/main" val="1961144004"/>
                  </a:ext>
                </a:extLst>
              </a:tr>
              <a:tr h="568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10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>
                          <a:effectLst/>
                        </a:rPr>
                        <a:t>Anup Ghosal</a:t>
                      </a:r>
                    </a:p>
                    <a:p>
                      <a:pPr algn="ctr">
                        <a:buNone/>
                      </a:pPr>
                      <a:r>
                        <a:rPr lang="en-IN" sz="1050" dirty="0">
                          <a:effectLst/>
                        </a:rPr>
                        <a:t> </a:t>
                      </a:r>
                      <a:endParaRPr lang="en-IN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JIS Institute of Advanced Studies and Research</a:t>
                      </a:r>
                      <a:endParaRPr lang="en-IN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>
                          <a:effectLst/>
                        </a:rPr>
                        <a:t>aghosla20221@gmail.com</a:t>
                      </a:r>
                    </a:p>
                    <a:p>
                      <a:pPr algn="ctr">
                        <a:buNone/>
                      </a:pPr>
                      <a:r>
                        <a:rPr lang="en-IN" sz="1050" dirty="0">
                          <a:effectLst/>
                        </a:rPr>
                        <a:t>9038882695</a:t>
                      </a:r>
                      <a:endParaRPr lang="en-IN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52" marR="24752" marT="24752" marB="24752" anchor="ctr"/>
                </a:tc>
                <a:extLst>
                  <a:ext uri="{0D108BD9-81ED-4DB2-BD59-A6C34878D82A}">
                    <a16:rowId xmlns:a16="http://schemas.microsoft.com/office/drawing/2014/main" val="162980872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4926DAC-F731-CFAB-9535-6815E84B63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886086"/>
              </p:ext>
            </p:extLst>
          </p:nvPr>
        </p:nvGraphicFramePr>
        <p:xfrm>
          <a:off x="6238240" y="1127760"/>
          <a:ext cx="5142561" cy="53159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4786">
                  <a:extLst>
                    <a:ext uri="{9D8B030D-6E8A-4147-A177-3AD203B41FA5}">
                      <a16:colId xmlns:a16="http://schemas.microsoft.com/office/drawing/2014/main" val="822278711"/>
                    </a:ext>
                  </a:extLst>
                </a:gridCol>
                <a:gridCol w="1100322">
                  <a:extLst>
                    <a:ext uri="{9D8B030D-6E8A-4147-A177-3AD203B41FA5}">
                      <a16:colId xmlns:a16="http://schemas.microsoft.com/office/drawing/2014/main" val="2746684904"/>
                    </a:ext>
                  </a:extLst>
                </a:gridCol>
                <a:gridCol w="1397052">
                  <a:extLst>
                    <a:ext uri="{9D8B030D-6E8A-4147-A177-3AD203B41FA5}">
                      <a16:colId xmlns:a16="http://schemas.microsoft.com/office/drawing/2014/main" val="3359874605"/>
                    </a:ext>
                  </a:extLst>
                </a:gridCol>
                <a:gridCol w="2310401">
                  <a:extLst>
                    <a:ext uri="{9D8B030D-6E8A-4147-A177-3AD203B41FA5}">
                      <a16:colId xmlns:a16="http://schemas.microsoft.com/office/drawing/2014/main" val="2393742458"/>
                    </a:ext>
                  </a:extLst>
                </a:gridCol>
              </a:tblGrid>
              <a:tr h="5166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700">
                          <a:effectLst/>
                        </a:rPr>
                        <a:t>11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Tanushree Paul</a:t>
                      </a:r>
                      <a:endParaRPr lang="en-IN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CSIR-IICB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paultanushree17201@gmail.com</a:t>
                      </a:r>
                      <a:endParaRPr lang="en-IN" sz="8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6291399043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extLst>
                  <a:ext uri="{0D108BD9-81ED-4DB2-BD59-A6C34878D82A}">
                    <a16:rowId xmlns:a16="http://schemas.microsoft.com/office/drawing/2014/main" val="1560477725"/>
                  </a:ext>
                </a:extLst>
              </a:tr>
              <a:tr h="5166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700">
                          <a:effectLst/>
                        </a:rPr>
                        <a:t>12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Abishek Swarnakar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CSIR-IICB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abhishekswarnakar@csiriicb.res.in</a:t>
                      </a:r>
                      <a:endParaRPr lang="en-IN" sz="8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9007643203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extLst>
                  <a:ext uri="{0D108BD9-81ED-4DB2-BD59-A6C34878D82A}">
                    <a16:rowId xmlns:a16="http://schemas.microsoft.com/office/drawing/2014/main" val="3534620809"/>
                  </a:ext>
                </a:extLst>
              </a:tr>
              <a:tr h="5166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700">
                          <a:effectLst/>
                        </a:rPr>
                        <a:t>13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Sohini Saha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CSIR-IICB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sohinisaha196@gmail.com</a:t>
                      </a:r>
                      <a:endParaRPr lang="en-IN" sz="8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9971462905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extLst>
                  <a:ext uri="{0D108BD9-81ED-4DB2-BD59-A6C34878D82A}">
                    <a16:rowId xmlns:a16="http://schemas.microsoft.com/office/drawing/2014/main" val="440755502"/>
                  </a:ext>
                </a:extLst>
              </a:tr>
              <a:tr h="5166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700">
                          <a:effectLst/>
                        </a:rPr>
                        <a:t>14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Sarbani Saha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CSIR-IICB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sarbani@csiriicb.res.in</a:t>
                      </a:r>
                      <a:endParaRPr lang="en-IN" sz="80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9804408027</a:t>
                      </a:r>
                      <a:endParaRPr lang="en-IN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extLst>
                  <a:ext uri="{0D108BD9-81ED-4DB2-BD59-A6C34878D82A}">
                    <a16:rowId xmlns:a16="http://schemas.microsoft.com/office/drawing/2014/main" val="3154799058"/>
                  </a:ext>
                </a:extLst>
              </a:tr>
              <a:tr h="5166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700">
                          <a:effectLst/>
                        </a:rPr>
                        <a:t>15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Md Arsadullah Ansari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CSIR-IICB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mdarsadullah@gmail.com </a:t>
                      </a:r>
                      <a:br>
                        <a:rPr lang="en-IN" sz="1100">
                          <a:effectLst/>
                        </a:rPr>
                      </a:br>
                      <a:r>
                        <a:rPr lang="en-IN" sz="1100">
                          <a:effectLst/>
                        </a:rPr>
                        <a:t>7001484963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extLst>
                  <a:ext uri="{0D108BD9-81ED-4DB2-BD59-A6C34878D82A}">
                    <a16:rowId xmlns:a16="http://schemas.microsoft.com/office/drawing/2014/main" val="4215402210"/>
                  </a:ext>
                </a:extLst>
              </a:tr>
              <a:tr h="5166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700">
                          <a:effectLst/>
                        </a:rPr>
                        <a:t>16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Pamelika Das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CSIR-IICB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pamelikadas@gmail.com</a:t>
                      </a:r>
                      <a:br>
                        <a:rPr lang="en-IN" sz="1100">
                          <a:effectLst/>
                        </a:rPr>
                      </a:br>
                      <a:r>
                        <a:rPr lang="en-IN" sz="1100">
                          <a:effectLst/>
                        </a:rPr>
                        <a:t>8697129788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extLst>
                  <a:ext uri="{0D108BD9-81ED-4DB2-BD59-A6C34878D82A}">
                    <a16:rowId xmlns:a16="http://schemas.microsoft.com/office/drawing/2014/main" val="41130089"/>
                  </a:ext>
                </a:extLst>
              </a:tr>
              <a:tr h="5166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700">
                          <a:effectLst/>
                        </a:rPr>
                        <a:t>17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Dipamoy Datta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CSIR-IICB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ddbmbg@gmail.com</a:t>
                      </a:r>
                      <a:br>
                        <a:rPr lang="en-IN" sz="1100">
                          <a:effectLst/>
                        </a:rPr>
                      </a:br>
                      <a:r>
                        <a:rPr lang="en-IN" sz="1100">
                          <a:effectLst/>
                        </a:rPr>
                        <a:t>8420427958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extLst>
                  <a:ext uri="{0D108BD9-81ED-4DB2-BD59-A6C34878D82A}">
                    <a16:rowId xmlns:a16="http://schemas.microsoft.com/office/drawing/2014/main" val="618248123"/>
                  </a:ext>
                </a:extLst>
              </a:tr>
              <a:tr h="5166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700">
                          <a:effectLst/>
                        </a:rPr>
                        <a:t>18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Avimanyu Das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CSIR-IICB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avimanyudas08@gmail.com</a:t>
                      </a:r>
                      <a:br>
                        <a:rPr lang="en-IN" sz="1100">
                          <a:effectLst/>
                        </a:rPr>
                      </a:br>
                      <a:r>
                        <a:rPr lang="en-IN" sz="1100">
                          <a:effectLst/>
                        </a:rPr>
                        <a:t>7596819917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extLst>
                  <a:ext uri="{0D108BD9-81ED-4DB2-BD59-A6C34878D82A}">
                    <a16:rowId xmlns:a16="http://schemas.microsoft.com/office/drawing/2014/main" val="395320909"/>
                  </a:ext>
                </a:extLst>
              </a:tr>
              <a:tr h="5166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700">
                          <a:effectLst/>
                        </a:rPr>
                        <a:t>19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Vishal Agarwal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CSIR-IICB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vishal1298agarwal@gmail.com</a:t>
                      </a:r>
                      <a:br>
                        <a:rPr lang="en-IN" sz="1100">
                          <a:effectLst/>
                        </a:rPr>
                      </a:br>
                      <a:r>
                        <a:rPr lang="en-IN" sz="1100">
                          <a:effectLst/>
                        </a:rPr>
                        <a:t>9804214151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extLst>
                  <a:ext uri="{0D108BD9-81ED-4DB2-BD59-A6C34878D82A}">
                    <a16:rowId xmlns:a16="http://schemas.microsoft.com/office/drawing/2014/main" val="3822438505"/>
                  </a:ext>
                </a:extLst>
              </a:tr>
              <a:tr h="6660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700">
                          <a:effectLst/>
                        </a:rPr>
                        <a:t>20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Shreeparna Mondal</a:t>
                      </a:r>
                      <a:endParaRPr lang="en-IN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CSIR-IICB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shreeparnamondal771@gmail.com</a:t>
                      </a:r>
                      <a:br>
                        <a:rPr lang="en-IN" sz="1100" dirty="0">
                          <a:effectLst/>
                        </a:rPr>
                      </a:br>
                      <a:r>
                        <a:rPr lang="en-IN" sz="1100" dirty="0">
                          <a:effectLst/>
                        </a:rPr>
                        <a:t>9875313332</a:t>
                      </a:r>
                      <a:endParaRPr lang="en-IN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9009" marR="29009" marT="29009" marB="29009" anchor="ctr"/>
                </a:tc>
                <a:extLst>
                  <a:ext uri="{0D108BD9-81ED-4DB2-BD59-A6C34878D82A}">
                    <a16:rowId xmlns:a16="http://schemas.microsoft.com/office/drawing/2014/main" val="2104023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744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977E1C-4789-F89E-D969-34634D66CD1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7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80784B-CB08-8C70-AC86-00ABCB852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159086"/>
            <a:ext cx="8411210" cy="560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426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2E5237-8E65-5F23-ADD8-0D97D16CA8E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6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EF2EC8-BDE7-1219-4F87-DEC584E87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520" y="1109133"/>
            <a:ext cx="8486140" cy="565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179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3FC6E8-92AD-0B13-EE84-F0AB2249660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8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F2FC18-F3F7-59B6-DB55-3C154B64A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008" y="1269233"/>
            <a:ext cx="7467984" cy="511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473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F8128D-6E95-6FCB-8297-A29FC7C00FD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9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26BA6E-35E9-2355-9727-3EC20BF5D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200" y="1256494"/>
            <a:ext cx="7467600" cy="514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47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CA2767-AEBF-934D-C6CB-F8B310E0050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10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C6EC74-7CAD-DAA5-1806-A90041410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20" y="1352820"/>
            <a:ext cx="7418070" cy="4785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011907-4CDA-C12B-95C7-6E569594C15C}"/>
              </a:ext>
            </a:extLst>
          </p:cNvPr>
          <p:cNvSpPr txBox="1"/>
          <p:nvPr/>
        </p:nvSpPr>
        <p:spPr>
          <a:xfrm>
            <a:off x="8219440" y="1544320"/>
            <a:ext cx="2976880" cy="415498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RNA-seq gets the fewest exons, not the most. Evidence-based annotation under-calls anything not expressed in the tissue and condition you sampled, which for a tree means most of the genome most of the year.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99484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9CD0DB-58BE-A5F7-4EF6-3A68F5C8BB0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8FAEA4-4007-7338-A35F-BC6247DF6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760" y="1082010"/>
            <a:ext cx="7688418" cy="529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526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3F31D7-92F8-C68B-C2AD-2738D7F5B6A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12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5D83B1-93AE-5348-6165-55DD81980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720" y="1162988"/>
            <a:ext cx="8727440" cy="521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195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58092B-06A3-1235-F65B-07F4EDA0FD9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13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B93B7A-7362-FB7A-F2AA-540B571D9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127" y="1113102"/>
            <a:ext cx="7530833" cy="5186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681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393855-8298-D26D-4D2C-B8A098309E0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14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A7AB8B-B38C-9817-AD00-798486032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501" y="1290320"/>
            <a:ext cx="6641275" cy="22352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45DC7E-9F79-9BFA-E77D-659017C7F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0501" y="3525571"/>
            <a:ext cx="6641275" cy="203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2341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42FF65-BA61-D152-4A9F-A0DAA8BD1F4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15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4496FC-15E1-DDF0-F0C8-303D8A199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615" y="1290319"/>
            <a:ext cx="7876505" cy="4962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678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5E0DE3-3A87-8B4F-D352-D918EBB4080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16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1CC441-7DC3-9C02-7554-6F029827A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558" y="1036321"/>
            <a:ext cx="7104442" cy="26204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5EFB09-DE02-BB09-90D3-4270271BE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558" y="3656745"/>
            <a:ext cx="7104442" cy="3054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161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1579</TotalTime>
  <Words>482</Words>
  <Application>Microsoft Office PowerPoint</Application>
  <PresentationFormat>Widescreen</PresentationFormat>
  <Paragraphs>158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Arial</vt:lpstr>
      <vt:lpstr>Calibri</vt:lpstr>
      <vt:lpstr>Cambria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Sucheta Tripathi</cp:lastModifiedBy>
  <cp:revision>48</cp:revision>
  <dcterms:created xsi:type="dcterms:W3CDTF">2026-08-25T11:32:45Z</dcterms:created>
  <dcterms:modified xsi:type="dcterms:W3CDTF">2026-08-31T03:18:37Z</dcterms:modified>
</cp:coreProperties>
</file>