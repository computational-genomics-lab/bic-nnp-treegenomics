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9" r:id="rId3"/>
    <p:sldId id="280" r:id="rId4"/>
    <p:sldId id="281" r:id="rId5"/>
    <p:sldId id="282" r:id="rId6"/>
    <p:sldId id="283" r:id="rId7"/>
    <p:sldId id="284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77" r:id="rId16"/>
    <p:sldId id="278" r:id="rId17"/>
    <p:sldId id="279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E2780D-F900-7940-B7D2-6D3AEF3EFAA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892A6E1-7147-6D53-BAA9-01DCE4115D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3167BE-089E-490D-BF84-71C7CE40F95B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C4BCF7-FA98-12F8-895A-73B12874C7F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DCCA50-75A8-9669-A151-0DCD4F0C4D8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BADF2-EFD7-499C-8C2D-03ADD5668E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297926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879738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NP_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/>
          <p:cNvSpPr/>
          <p:nvPr/>
        </p:nvSpPr>
        <p:spPr>
          <a:xfrm>
            <a:off x="2390291" y="274661"/>
            <a:ext cx="8348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0" dirty="0">
                <a:ln w="3175">
                  <a:noFill/>
                </a:ln>
                <a:solidFill>
                  <a:srgbClr val="002060"/>
                </a:solidFill>
                <a:latin typeface="Georgia" panose="02040502050405020303" pitchFamily="18" charset="0"/>
                <a:ea typeface="Cambria" pitchFamily="34" charset="-122"/>
                <a:cs typeface="Cambria" pitchFamily="34" charset="-120"/>
              </a:rPr>
              <a:t>DBT-BIC-NNP-TREE Genome Informatics — Genome HackWeek 2026</a:t>
            </a:r>
            <a:endParaRPr lang="en-US" sz="2000" b="0" dirty="0">
              <a:ln w="3175">
                <a:noFill/>
              </a:ln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5" name="Text 1"/>
          <p:cNvSpPr/>
          <p:nvPr/>
        </p:nvSpPr>
        <p:spPr>
          <a:xfrm>
            <a:off x="1920240" y="658368"/>
            <a:ext cx="8348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002060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Annotate, Innovate, Collaborate  |  CSIR-IICB, Kolkata</a:t>
            </a:r>
            <a:endParaRPr lang="en-US" sz="1600" b="1" dirty="0">
              <a:solidFill>
                <a:srgbClr val="002060"/>
              </a:solidFill>
              <a:latin typeface="Georgia" panose="02040502050405020303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365760" y="647395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 err="1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Sucheta</a:t>
            </a: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Tripathy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7" name="Text 3"/>
          <p:cNvSpPr/>
          <p:nvPr userDrawn="1"/>
        </p:nvSpPr>
        <p:spPr>
          <a:xfrm>
            <a:off x="4270248" y="647395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  <a:latin typeface="Georgia" panose="02040502050405020303" pitchFamily="18" charset="0"/>
                <a:ea typeface="Calibri" pitchFamily="34" charset="-122"/>
                <a:cs typeface="Calibri" pitchFamily="34" charset="-120"/>
              </a:rPr>
              <a:t>Gene Prediction</a:t>
            </a:r>
            <a:endParaRPr lang="en-US" sz="12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r>
              <a:rPr lang="en-US" dirty="0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9" name="Picture 8" descr="File:CSIR-Logo-With-Tagline-Seleceted-Bilingual.png ...">
            <a:extLst>
              <a:ext uri="{FF2B5EF4-FFF2-40B4-BE49-F238E27FC236}">
                <a16:creationId xmlns:a16="http://schemas.microsoft.com/office/drawing/2014/main" id="{4D82A8F7-CCC1-0656-73BD-C1135308F91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337" y="91440"/>
            <a:ext cx="1220204" cy="122020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48E026-E031-A75D-60FD-E59714E3711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36929" y="171243"/>
            <a:ext cx="802483" cy="88779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65FB87B-4D58-BE6F-784D-A9C794DC953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945567" y="171243"/>
            <a:ext cx="915429" cy="1118356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78408" y="2468880"/>
            <a:ext cx="1072591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20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 Prediction</a:t>
            </a:r>
            <a:endParaRPr lang="en-US" sz="4000" dirty="0">
              <a:solidFill>
                <a:srgbClr val="002060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3429000"/>
            <a:ext cx="10725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DBT-BIC-NNP-TREE Genome Informatics: Annotate, Innovate, Collaborate</a:t>
            </a:r>
            <a:endParaRPr lang="en-US" sz="1800" dirty="0">
              <a:solidFill>
                <a:srgbClr val="002060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31520" y="3977640"/>
            <a:ext cx="107259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August – 4 September 2026   |   Room 120, Guest Block, IICB TRUE Campus, Salt Lake</a:t>
            </a:r>
            <a:endParaRPr lang="en-US" sz="1300" dirty="0">
              <a:solidFill>
                <a:srgbClr val="002060"/>
              </a:solidFill>
            </a:endParaRP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73952"/>
            <a:ext cx="457200" cy="29260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3A4A6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5F1850-0B87-D6A5-2373-8888D287250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fld id="{B28341C0-DF9D-4A19-9AE0-2BA2D0B28CB4}" type="slidenum">
              <a:rPr lang="en-US" b="0"/>
              <a:t>2</a:t>
            </a:fld>
            <a:endParaRPr lang="en-US" b="0"/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Text 2"/>
          <p:cNvSpPr txBox="1"/>
          <p:nvPr/>
        </p:nvSpPr>
        <p:spPr>
          <a:xfrm>
            <a:off x="82296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GENOME ANNOTATION</a:t>
            </a:r>
            <a:endParaRPr lang="en-US" sz="1300" dirty="0"/>
          </a:p>
        </p:txBody>
      </p:sp>
      <p:sp>
        <p:nvSpPr>
          <p:cNvPr id="12" name="Text 3"/>
          <p:cNvSpPr txBox="1"/>
          <p:nvPr/>
        </p:nvSpPr>
        <p:spPr>
          <a:xfrm>
            <a:off x="822960" y="2057400"/>
            <a:ext cx="8412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 Prediction</a:t>
            </a:r>
            <a:endParaRPr lang="en-US" sz="5400" dirty="0"/>
          </a:p>
        </p:txBody>
      </p:sp>
      <p:sp>
        <p:nvSpPr>
          <p:cNvPr id="13" name="Text 4"/>
          <p:cNvSpPr txBox="1"/>
          <p:nvPr/>
        </p:nvSpPr>
        <p:spPr>
          <a:xfrm>
            <a:off x="822960" y="31546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9D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Evidence, predictors, and where the quality is actually won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5786791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75B422B-A810-CF01-F525-49A71F4429B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31A5A3-23AD-AF9E-AD48-E3F8232066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5680" y="957864"/>
            <a:ext cx="6492570" cy="5516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418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EEC300C-BEB0-E3C3-520D-8B4EC390F0D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4B12392-838D-A5C7-3ACD-6DC864719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320" y="1027714"/>
            <a:ext cx="6198898" cy="525192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2978052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D3E15B-F17B-4D37-56FA-0B8935B75B3D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178F96-34A0-30FD-8BB0-48302FC89198}"/>
              </a:ext>
            </a:extLst>
          </p:cNvPr>
          <p:cNvSpPr txBox="1"/>
          <p:nvPr/>
        </p:nvSpPr>
        <p:spPr>
          <a:xfrm>
            <a:off x="802640" y="1480652"/>
            <a:ext cx="9956800" cy="4154984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IN" sz="800" dirty="0">
                <a:solidFill>
                  <a:schemeClr val="bg1"/>
                </a:solidFill>
              </a:rPr>
              <a:t>ACGTTTTTCCGCCCATTTTCGACCCAGATATGGCCGAACTTTCCCCTGTGAACGTCGTGAAGCCCTTCCTAGACGTGATCCGCCACGAACACGCTAGCAGCACAGTGACGGGTGCTGCACTGCAGGCCGTGATGAACTTCTTGCACACGTGGCCCTGGGCGGACGTCAAGGACCAGAACGCGGCGGCAGACGCCGTGGCCGACATCGTGGACGCCGTGAGCCACTGCAGGTTCCAGGAGACGGGCGTCGAGAACGACCAGAACGTGCTGGTGCTCGTGGTGCACGTGCTCCATGCGGTGGTGCGCTCGCCCTGCGGCGCGCGGCTGTCGGACCACGCGATGTGGCAGCTGGTGGAGTCTCTTTACGCGCTCAGCCGCGGTAATCGACACGATGTGCGTGCTGGTGACTGATTAATTTAATTTCTCTCTGACGTTAGCTGACTATTGATACTGACTGACCCTTGCGCTGTGTTCTGTGTTCGTGCTGGGCAGCCGCATATTACGCTGCCGTTGCGATCGACGGCCACGAATTTCCTGCATGACACGGTGGCCTTTATCTTTTCGAATCCTGCAATCTACTCGGACTTAGCTCCTGTTGCGGCGCCTGCAAATGCTGGATCGGAACCTCTCAGACCGGGCTTTGGACTGCCGTGTGCCGTGAAGATTGTTGGCTTTTTGTGCCAGAAGCTGCACCAGAAAAACTTCGTGCCGCCTCCGTCCCCGGATGCACCAGCAGCCAACACTGGAAACACAACAAGCCGTCGCGAAGTGCTGCTGTCGTTTACCTTGCTCCAGCGTGCCTGATTGCTTGTGATGCTGAACTGATTACCGGCGTGCCGTCGCTGATGCTGTTTATTAAAGATGATCTGTGTAGCGCCATTTTGCGTTACTGCCGTCTCGGGTACGAAGGATATCATTATTTTGCATGACACATGCCACACTTCCGAGCGCTGTTCTAATGTTGACCTCTTTTCATGATCTGCGCAGTGCGTGTGCTGAACTCAAGATCCCAGTGGTGTGTCTCGAGCTTATTAGGCTGCTATGGTCGAAGCTTCGTTCCGAGCTTAAGATGCAGGTAGAGGCGATATTCAACGGAGTGTTCTACCACACGCTGCATTGGAGTCTCGCGTATGGATGTGAACAACCCAGATTTCCCGCGTGGAGATAATGCAACCCCGCCAACTGGCGATGTGAACGGCCAGGCCAGTGACAAACCTGCGGTGACATTGACGCGGCACTCGATGAGTTCTCTGGGGAAATGTTGTCCAAGAGTCGGCTGTACAACATTTCGTTTGAAATCCTGGATTGCCTCGTGGACTTGCTTGCGGAGGCAACGCTGCTCCCCGACTTGTATGTGAACTATGACTGCGATGGCAACCGTTGCGACCTGACGCAGAGCTTATTCGACCTGTTATCCCAGGTTGCTCAGCAGTCCCATGTTGCGTGCTTTGAGTCGCACGAAGAAACACACTTTCTGTGGGCTCAGGCTGTTGGAGAGATTGCACTTCGTGGAATGTTCAATGCTCTATACGTTGTGCATCTTCGTACGCACCCGCAAACACCCGTTGTAAGTGGCGAAAACAGTAGTCCGCCTAGCGATGAAGAGATTCGCGAGGATACGTTTTGGTGGATCAGGAAGAGCAGCCTTCCTCTGGCGATGATGATACGTTCGCTTCTGCAGAAGTTTTGTTCAAGAAGCGTCAGCGTAAAAGTTCTTCCAGCATGGCATCCAGGAATTTAATCGGAAGCCGCTCGCTGGAATCAAGTATCTGCAACAAAACACGTTCCTCCCGACACCACTTGACAGCATGTCTCTCGCAACTTTCCTGCGCTCACTCCCACAAGGTTTGAATAAGAATGCGGTGGGCGTGTATCTGGGCGCAATGGGCAAGGAGGTCAAGGGTTTCGAGAAAACTGAGATTCACGAGGCCGACACGATGGATTTCCACCGGGACGTTTTGACCAACTTTGTGCGGTCGTTCAACTTCGAGGGCGAGAGTATCGTTACAGCGCTGCGCATGTTTCTTGCGAGTTTCCGTCTTCCTGGAGAAGCGCAGCAAATTGACCGAATCCTCAACACGTTTTCGCTGCAAGTATATGAGCAATGCCGAGAACGCTTTCTCATGGCGTCAGTGGACGTGGCGTATCTGCTGTCGTTCAGCTTAATCATGCTGAATACGGATCTGCATAACCCGAATATTCGAGCGGACAAGAAAATGAAGCTGATCGACTTTATCAGAAACAACAAAAACTACGGCCAAGAGGTTTCTAAGGGCTTAGATTTACCGGAGGACTATTTGACCGAGTTGTACGATACCATCGCGAAGGACGAAATCAAGACGTTTGAAGATGGCGGTAAACATGGTGAAGTGACCAGTGATCGGTGGAAGGACCTGCTCAATCAAGCAGAAAGTGACCCGCGCAACTCGCGCTTAATTGTGCATCACCCCGCGTTGCACCTCCGGTCGTTTAGTACGCCTCGCCGAATTGGTATTGCCCAAGGCGTATCGTCACCCCTAGCACCTGATGCTATGCGTACGATGAAGCAGGCCCGTCTCACTAAGAGCACATCTACTCCTGCAAATGGAACGACGGTGAAAAGCGGTACTTGGGAGCAACAGGATGGGTTTGACGGACTTGTGCCTCTCTATGCCTCGTCGGGTAACCAGTACGACCGCCACATTTTCGAGCTGATTCATCAAAGTCTTGTACGAGCCTTTGGCAGCGTGTTCCAGCAATTTGTCGTGGATTCACAAGCGAAGGATGCAGCGCGTGGTGAGGATCTGTCTGTTGGCAACAGCTATGAGATGCACTACGTGCCTCAGAAAAGCGCCCTCCAGCTCGCATGCAACGGTTTCGTGCTGTGCGCGGCGGTGGCATCCAATTTGTCGCTGGTGGAACACTGCAACGCAATATTTATCCGTCTTTGCAAATACACGGCGCTGCTATCGTCGGATATTTATCCGGTGGGGTACAACGGCCGCGAGAATGGTATCTGGGTGTTTTGCGATAATCAAAGTGCCCCTATCGCGACAGCTGCCGTGCTAAAAATTGTCAGTACGTGCAGTTTATCGCTCCACAGTCGTTCATGGAAGTACTTCTTCCACGTCGTTAGTGGCTTGCGGGAGTTCCATGTGTTGCCAACTCGGATTCTGTACCCCAGTGACGACATGAAATTGGAGCTGATGACACCAGACGAGCGGCTGGAGTTTATTGACTTGGTGTACCAGAACAAGGAAGAGTTGGAAAGGAGAATTGCGCTAAGTGCTCAAGAGCAGGACGGTAGTGATGGCGACTCTGGCGGCTTTTTCAGTGGTGTTACTTGGCTGTTATCGGCACTCGACTCCAACCTTGGTGGATCTGCGCCAGGATCTTCTGCACCGACAAGGTCGCATCTGTCTCCTGGTTTCGAACAGTACCAGCTGAGCCCAGCCGAGCTGGCGTCGCATACCGAAGACCTTGTGATCGAGGGAAAAACACCGAAGAAGCAGCCATCGAGCGGTGAACACGACCCGAGAGGTGATTTTGGCACCGATCTGTGGATCCGAACCACATTGCAGCCGTACCGTCTTGAATTTTTGATGCAAGACGTGGCAAGCTTACCCTCTCGTGCTCTGGCTGAAGTTATTGAAGCACTGCATGACGAGACACTGCGCGTACTGAGGGGCCCGGATGAGAAGGAGTCACCAAAAGACCGGAAGAAATCCGCGAAACTGTCACTTAGCAAGGTGGGTGCGTGTTATTCGAACACTTGCTGAGTCAAGTGGTCGCACTGGGCGGTTCCCTGTTTGATG GCGGGGCTGACGATGAAGACGGAATATCTGCCGTGCTGGAAGCCCACTACACCCAAATCCTGGAAGTTCTGCGACCAGTGCTTCTTACCAACCACAGCCCCAGCGGGCTCACGTACGAAAACGCGTGCTTCTTGTTGCACAAGTCGATCAACGGCCTGTTTGCATGGGTGACACGCACTCGTAGCGAAGCTAACGGCCTGTTATTGATCACCTTCCTGAGCACCTTTATGGAAATGAGCGGTGATGACGAGCTGATTCGTCCGTTCCTGACGTCAATCATGCGCGGGTTGGATCGATATGTAACTTTGGTGGAGCCAAGCAACCTGCACTACTCTCGAATGGATTGGCTCACGATCTGTAATTTGATCAGCTGGTCTGTCGGAATGCCCCACGCAGCTTCTCGTGCTTTCGGACTGCTTGAACGACTTGTGACGGAGAAGATCTGGAATGGGGAGGGAAATGACATTCTCATCAGCGATTGCTACACGAAGATGATCATGTTTGCGATGAAGGCTCGCGATCCGCACGACTCATGGGCACCGTCACGCCCTCTCGATCTGCTGCTCTTCATGTTTGACACGCTGCGTCCCGATGCAACCAATTACGTTGAAGAACGCCTACGCTTCTTGGGCGGAACAGCTGTTGTGTCAAGACATTTGCTGCTGAATCAGATCAAACAGGAACTTTCCAATGACCTCGTCGTAGCGGCAATCGAGGGGCTGAAGCATATGCTTCGCGAACACGCGGGGACTGAACGATCATTCAAGGCCATGGCCTGGTTGGATGTTCTCCGGTACGGACTTGTTCCTGTCGGTTTTGACTTGCTAAATGATGCTGGACCCAAACATTCTGGTGGAGCTATGCATTTCGGAGAGGATGAAGAAGAAACGAATTCTCCGTTCCTCTATTACCGGCGCCAACTTCCATCCTTCGACGATGAGAACTCATTGAAGCATCCTACTGCCTCTCAAACGCACACTGAGTCCAAGGGACCTACTGGTCGTCGTCGAAGACCATCGACTATGAAAGACCCGTTGGCACTTCGACCGCATGTCGTTGTGGTTCAACTGCTCTCTCTTGTGGTGTGCGAGGAGCTGACA AAGCTGCAGACGTGCGCCAAATTCCCGGCCGTATGGGAAGACGTGGCAGAGCTGCTGGTAGGTTTGCTGGATCACACTGCCATGGAAACCCCTCCGTCCG CAGGTGAGGGTGCAGCGAGCGGAGAGGTACTAATCGCGGCACTCGAGCGTCGCAGCGTGCTATCAGCGCACGAGGAAATTCTTGAGCACAGCAAGGGCATTGTTCGACGCTTAGCAATGCTTCAAGATGAGGAAACGAAAGACGAAGAGGAGAAGGAGGAGCAGAAGGAAGATGCTCCAAATGTTGACCAAGCCCAGCCAAACCCCTTAATGCAAGTGCTCGAGGAGAAGTGCCGTGCCCACCCAGACTTGATTGACCAGCTTTTCTCGTCGAAGGATGATACTGGATCTACTGGTGGACGCACTCCTCCGATCGAAGAAGTTGATGGAGAAAATGCTGACGAGCAGAACGACAGCGATGCGTCGAGCTGAACACGAAGGTAGTGGATAAATGTTTGTTC ATAGAAGTATGCAGATGTTAGGTAGTGGTGTTGAGCTGACTGTCGTTGAGCTAGCTGGGCCTAACCGTTGTTGGGTGGCCGCTTTCTGACGTAGGCCCGT </a:t>
            </a:r>
          </a:p>
        </p:txBody>
      </p:sp>
    </p:spTree>
    <p:extLst>
      <p:ext uri="{BB962C8B-B14F-4D97-AF65-F5344CB8AC3E}">
        <p14:creationId xmlns:p14="http://schemas.microsoft.com/office/powerpoint/2010/main" val="350702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BEE1B3-29F7-8B9B-5119-48BC186F5D3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8AB70587-BD81-9E40-A932-5901E51F71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0418" y="671830"/>
            <a:ext cx="803116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dirty="0">
                <a:solidFill>
                  <a:schemeClr val="tx2"/>
                </a:solidFill>
                <a:latin typeface="Garamond" pitchFamily="18" charset="0"/>
              </a:rPr>
              <a:t>Prediction of Translation Starts Using PSSM</a:t>
            </a:r>
          </a:p>
        </p:txBody>
      </p:sp>
      <p:sp>
        <p:nvSpPr>
          <p:cNvPr id="26" name="Rectangle 5">
            <a:extLst>
              <a:ext uri="{FF2B5EF4-FFF2-40B4-BE49-F238E27FC236}">
                <a16:creationId xmlns:a16="http://schemas.microsoft.com/office/drawing/2014/main" id="{EBDE1240-56B6-8492-2492-65BFB9B380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59000" y="1447800"/>
            <a:ext cx="84582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100" dirty="0"/>
              <a:t>Certain nucleotides prefer to be in certain position around </a:t>
            </a:r>
            <a:r>
              <a:rPr lang="en-US" sz="2100" dirty="0">
                <a:solidFill>
                  <a:srgbClr val="FF0000"/>
                </a:solidFill>
              </a:rPr>
              <a:t>start</a:t>
            </a:r>
            <a:r>
              <a:rPr lang="en-US" sz="2100" dirty="0"/>
              <a:t> “ATG” and other nucleotides prefer not to be there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</a:pPr>
            <a:endParaRPr lang="en-US" sz="21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sz="21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</a:pPr>
            <a:endParaRPr lang="en-US" sz="21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sz="21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sz="21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sz="19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sz="19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sz="19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sz="19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1900" dirty="0"/>
              <a:t>The “biased” nucleotide distribution is information! It is a basis for translation start prediction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endParaRPr lang="en-US" sz="1900" dirty="0"/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1900" dirty="0">
                <a:solidFill>
                  <a:srgbClr val="FF0000"/>
                </a:solidFill>
              </a:rPr>
              <a:t>Question</a:t>
            </a:r>
            <a:r>
              <a:rPr lang="en-US" sz="1900" dirty="0"/>
              <a:t>: which one is more probable to be a translation start?</a:t>
            </a:r>
          </a:p>
        </p:txBody>
      </p:sp>
      <p:pic>
        <p:nvPicPr>
          <p:cNvPr id="28" name="Picture 6" descr="fig">
            <a:extLst>
              <a:ext uri="{FF2B5EF4-FFF2-40B4-BE49-F238E27FC236}">
                <a16:creationId xmlns:a16="http://schemas.microsoft.com/office/drawing/2014/main" id="{6B5514D5-4389-E2F1-C47E-BB44B1E446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2400" y="2895600"/>
            <a:ext cx="7729538" cy="1130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Text Box 7">
            <a:extLst>
              <a:ext uri="{FF2B5EF4-FFF2-40B4-BE49-F238E27FC236}">
                <a16:creationId xmlns:a16="http://schemas.microsoft.com/office/drawing/2014/main" id="{4B0058B0-957C-BD66-80EF-C0BFCC6E4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73800" y="2362200"/>
            <a:ext cx="6096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ATG</a:t>
            </a:r>
          </a:p>
        </p:txBody>
      </p:sp>
      <p:sp>
        <p:nvSpPr>
          <p:cNvPr id="32" name="AutoShape 8">
            <a:extLst>
              <a:ext uri="{FF2B5EF4-FFF2-40B4-BE49-F238E27FC236}">
                <a16:creationId xmlns:a16="http://schemas.microsoft.com/office/drawing/2014/main" id="{90F6977A-879A-6CFD-9B7B-613A744C3B87}"/>
              </a:ext>
            </a:extLst>
          </p:cNvPr>
          <p:cNvSpPr>
            <a:spLocks/>
          </p:cNvSpPr>
          <p:nvPr/>
        </p:nvSpPr>
        <p:spPr bwMode="auto">
          <a:xfrm rot="16302057">
            <a:off x="6464300" y="2552700"/>
            <a:ext cx="228600" cy="457200"/>
          </a:xfrm>
          <a:prstGeom prst="leftBrace">
            <a:avLst>
              <a:gd name="adj1" fmla="val 16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4" name="Text Box 9">
            <a:extLst>
              <a:ext uri="{FF2B5EF4-FFF2-40B4-BE49-F238E27FC236}">
                <a16:creationId xmlns:a16="http://schemas.microsoft.com/office/drawing/2014/main" id="{104B1537-0FC3-9FC8-4955-D3A2961328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600" y="2743200"/>
            <a:ext cx="3048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A</a:t>
            </a:r>
          </a:p>
        </p:txBody>
      </p:sp>
      <p:sp>
        <p:nvSpPr>
          <p:cNvPr id="36" name="Text Box 10">
            <a:extLst>
              <a:ext uri="{FF2B5EF4-FFF2-40B4-BE49-F238E27FC236}">
                <a16:creationId xmlns:a16="http://schemas.microsoft.com/office/drawing/2014/main" id="{9BBBF88E-B34D-0B13-2121-87685CC080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600" y="3048000"/>
            <a:ext cx="3810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 dirty="0">
                <a:solidFill>
                  <a:schemeClr val="tx2"/>
                </a:solidFill>
              </a:rPr>
              <a:t>C</a:t>
            </a:r>
          </a:p>
        </p:txBody>
      </p:sp>
      <p:sp>
        <p:nvSpPr>
          <p:cNvPr id="38" name="Text Box 11">
            <a:extLst>
              <a:ext uri="{FF2B5EF4-FFF2-40B4-BE49-F238E27FC236}">
                <a16:creationId xmlns:a16="http://schemas.microsoft.com/office/drawing/2014/main" id="{83850A6B-F029-2A14-7FBC-D5CBDA037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600" y="354965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T</a:t>
            </a:r>
          </a:p>
        </p:txBody>
      </p:sp>
      <p:sp>
        <p:nvSpPr>
          <p:cNvPr id="40" name="Text Box 12">
            <a:extLst>
              <a:ext uri="{FF2B5EF4-FFF2-40B4-BE49-F238E27FC236}">
                <a16:creationId xmlns:a16="http://schemas.microsoft.com/office/drawing/2014/main" id="{4E0C95E7-4BD5-EA48-79BD-C6AA9B2431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7600" y="32766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G</a:t>
            </a:r>
          </a:p>
        </p:txBody>
      </p:sp>
      <p:sp>
        <p:nvSpPr>
          <p:cNvPr id="42" name="Text Box 13">
            <a:extLst>
              <a:ext uri="{FF2B5EF4-FFF2-40B4-BE49-F238E27FC236}">
                <a16:creationId xmlns:a16="http://schemas.microsoft.com/office/drawing/2014/main" id="{B5886BBF-C51C-8138-001D-BA309CD8A2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92800" y="3886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-1</a:t>
            </a:r>
          </a:p>
        </p:txBody>
      </p:sp>
      <p:sp>
        <p:nvSpPr>
          <p:cNvPr id="44" name="Text Box 14">
            <a:extLst>
              <a:ext uri="{FF2B5EF4-FFF2-40B4-BE49-F238E27FC236}">
                <a16:creationId xmlns:a16="http://schemas.microsoft.com/office/drawing/2014/main" id="{F30B9355-F318-771B-ACBE-5C034D01F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3200" y="3886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-2</a:t>
            </a:r>
          </a:p>
        </p:txBody>
      </p:sp>
      <p:sp>
        <p:nvSpPr>
          <p:cNvPr id="46" name="Text Box 15">
            <a:extLst>
              <a:ext uri="{FF2B5EF4-FFF2-40B4-BE49-F238E27FC236}">
                <a16:creationId xmlns:a16="http://schemas.microsoft.com/office/drawing/2014/main" id="{7BE883FA-2EE2-0B8D-9DFE-361D5F5996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64000" y="3886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-4</a:t>
            </a:r>
          </a:p>
        </p:txBody>
      </p:sp>
      <p:sp>
        <p:nvSpPr>
          <p:cNvPr id="48" name="Text Box 16">
            <a:extLst>
              <a:ext uri="{FF2B5EF4-FFF2-40B4-BE49-F238E27FC236}">
                <a16:creationId xmlns:a16="http://schemas.microsoft.com/office/drawing/2014/main" id="{390DA0C1-0075-ADEB-E06C-3B24B8A890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3600" y="3886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-3</a:t>
            </a:r>
          </a:p>
        </p:txBody>
      </p:sp>
      <p:sp>
        <p:nvSpPr>
          <p:cNvPr id="50" name="Text Box 17">
            <a:extLst>
              <a:ext uri="{FF2B5EF4-FFF2-40B4-BE49-F238E27FC236}">
                <a16:creationId xmlns:a16="http://schemas.microsoft.com/office/drawing/2014/main" id="{EBA2C368-F0FB-36D7-FD5B-E364F8745D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1000" y="3886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+3</a:t>
            </a:r>
          </a:p>
        </p:txBody>
      </p:sp>
      <p:sp>
        <p:nvSpPr>
          <p:cNvPr id="52" name="Text Box 18">
            <a:extLst>
              <a:ext uri="{FF2B5EF4-FFF2-40B4-BE49-F238E27FC236}">
                <a16:creationId xmlns:a16="http://schemas.microsoft.com/office/drawing/2014/main" id="{6EA00AEC-FD14-A085-ED98-03CB31F379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0200" y="3886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+5</a:t>
            </a:r>
          </a:p>
        </p:txBody>
      </p:sp>
      <p:sp>
        <p:nvSpPr>
          <p:cNvPr id="54" name="Text Box 19">
            <a:extLst>
              <a:ext uri="{FF2B5EF4-FFF2-40B4-BE49-F238E27FC236}">
                <a16:creationId xmlns:a16="http://schemas.microsoft.com/office/drawing/2014/main" id="{D170DCC4-712D-26D6-548F-EBD1244917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40600" y="3886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+4</a:t>
            </a:r>
          </a:p>
        </p:txBody>
      </p:sp>
      <p:sp>
        <p:nvSpPr>
          <p:cNvPr id="56" name="Text Box 20">
            <a:extLst>
              <a:ext uri="{FF2B5EF4-FFF2-40B4-BE49-F238E27FC236}">
                <a16:creationId xmlns:a16="http://schemas.microsoft.com/office/drawing/2014/main" id="{06DEA75C-4FDD-4875-7AB9-8014846714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36000" y="3886200"/>
            <a:ext cx="4572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600">
                <a:solidFill>
                  <a:schemeClr val="tx2"/>
                </a:solidFill>
              </a:rPr>
              <a:t>+6</a:t>
            </a:r>
          </a:p>
        </p:txBody>
      </p:sp>
      <p:sp>
        <p:nvSpPr>
          <p:cNvPr id="58" name="Text Box 35">
            <a:extLst>
              <a:ext uri="{FF2B5EF4-FFF2-40B4-BE49-F238E27FC236}">
                <a16:creationId xmlns:a16="http://schemas.microsoft.com/office/drawing/2014/main" id="{D6D85060-FC06-65C7-E456-ECEC16735F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87800" y="4419600"/>
            <a:ext cx="2286000" cy="7794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2060"/>
                </a:solidFill>
              </a:rPr>
              <a:t>CACC ATG GC</a:t>
            </a:r>
          </a:p>
          <a:p>
            <a:pPr>
              <a:spcBef>
                <a:spcPct val="50000"/>
              </a:spcBef>
            </a:pPr>
            <a:r>
              <a:rPr lang="en-US" dirty="0">
                <a:solidFill>
                  <a:schemeClr val="bg1"/>
                </a:solidFill>
              </a:rPr>
              <a:t>TCGA ATG TT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40A6C5DD-E0A1-E7EF-C249-0CE1490DEF58}"/>
              </a:ext>
            </a:extLst>
          </p:cNvPr>
          <p:cNvSpPr txBox="1"/>
          <p:nvPr/>
        </p:nvSpPr>
        <p:spPr>
          <a:xfrm>
            <a:off x="2616200" y="2057400"/>
            <a:ext cx="2514600" cy="90011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TCTAGAAG</a:t>
            </a:r>
            <a:r>
              <a:rPr lang="en-US" sz="105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ATG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GCAGTGGCGAAGA</a:t>
            </a:r>
          </a:p>
          <a:p>
            <a:pPr>
              <a:defRPr/>
            </a:pP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TCTAGAAA</a:t>
            </a:r>
            <a:r>
              <a:rPr lang="en-US" sz="105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ATG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ACAGTGGCGAAGA</a:t>
            </a:r>
          </a:p>
          <a:p>
            <a:pPr>
              <a:defRPr/>
            </a:pP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TCTAGAAA</a:t>
            </a:r>
            <a:r>
              <a:rPr lang="en-US" sz="105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ATG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GCAGTAGCGAAGA</a:t>
            </a:r>
          </a:p>
          <a:p>
            <a:pPr>
              <a:defRPr/>
            </a:pP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TCTACT A A</a:t>
            </a:r>
            <a:r>
              <a:rPr lang="en-US" sz="105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ATG</a:t>
            </a: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ATAGTAGCGAAGA </a:t>
            </a:r>
          </a:p>
          <a:p>
            <a:pPr>
              <a:defRPr/>
            </a:pPr>
            <a:r>
              <a:rPr lang="en-US" sz="1050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E2518016-3E7D-6BEB-8254-55375FA9D9EB}"/>
              </a:ext>
            </a:extLst>
          </p:cNvPr>
          <p:cNvSpPr txBox="1"/>
          <p:nvPr/>
        </p:nvSpPr>
        <p:spPr>
          <a:xfrm>
            <a:off x="7340600" y="2057400"/>
            <a:ext cx="3048000" cy="7381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US" sz="1050" dirty="0"/>
              <a:t>A 0,0,0,100   ,0,   75,100, 75 ATG</a:t>
            </a:r>
          </a:p>
          <a:p>
            <a:pPr>
              <a:defRPr/>
            </a:pPr>
            <a:r>
              <a:rPr lang="en-US" sz="1050" dirty="0"/>
              <a:t>T 100,0,100,0,0,   25, 0,     0   ATG</a:t>
            </a:r>
          </a:p>
          <a:p>
            <a:pPr>
              <a:defRPr/>
            </a:pPr>
            <a:r>
              <a:rPr lang="en-US" sz="1050" dirty="0"/>
              <a:t>G 0, 0, 0, 0,    75   ,0,  0,    25 ATG</a:t>
            </a:r>
          </a:p>
          <a:p>
            <a:pPr>
              <a:defRPr/>
            </a:pPr>
            <a:r>
              <a:rPr lang="en-US" sz="1050" dirty="0"/>
              <a:t>C 0,100,0,0,   25   ,0,  0,     0  ATG</a:t>
            </a:r>
          </a:p>
        </p:txBody>
      </p:sp>
    </p:spTree>
    <p:extLst>
      <p:ext uri="{BB962C8B-B14F-4D97-AF65-F5344CB8AC3E}">
        <p14:creationId xmlns:p14="http://schemas.microsoft.com/office/powerpoint/2010/main" val="1967648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90BB36F-F03A-342C-6C67-CFC992839D23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584EA585-9F4D-C328-25C5-B5C827E63F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3655" y="786607"/>
            <a:ext cx="8031163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r>
              <a:rPr lang="en-US" sz="3200" dirty="0">
                <a:solidFill>
                  <a:schemeClr val="bg1"/>
                </a:solidFill>
                <a:latin typeface="Garamond" pitchFamily="18" charset="0"/>
              </a:rPr>
              <a:t>Prediction of Translation Starts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A557836-272D-814A-BD02-983F41F5AD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29243" y="1676400"/>
            <a:ext cx="7772400" cy="449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100" dirty="0"/>
              <a:t>Mathematical model: F</a:t>
            </a:r>
            <a:r>
              <a:rPr lang="en-US" sz="2100" baseline="-25000" dirty="0"/>
              <a:t>i</a:t>
            </a:r>
            <a:r>
              <a:rPr lang="en-US" sz="2100" dirty="0"/>
              <a:t> (X): frequency of  X (A, C, G, T) in position i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65000"/>
              <a:buFont typeface="Wingdings" pitchFamily="2" charset="2"/>
              <a:buChar char="n"/>
            </a:pPr>
            <a:r>
              <a:rPr lang="en-US" sz="2100" dirty="0"/>
              <a:t>Score a string by </a:t>
            </a:r>
            <a:r>
              <a:rPr lang="en-US" sz="2100" dirty="0">
                <a:sym typeface="Symbol" pitchFamily="18" charset="2"/>
              </a:rPr>
              <a:t> log (</a:t>
            </a:r>
            <a:r>
              <a:rPr lang="en-US" sz="2100" dirty="0"/>
              <a:t>F</a:t>
            </a:r>
            <a:r>
              <a:rPr lang="en-US" sz="2100" baseline="-25000" dirty="0"/>
              <a:t>i</a:t>
            </a:r>
            <a:r>
              <a:rPr lang="en-US" sz="2100" dirty="0"/>
              <a:t> (X)/0.25)</a:t>
            </a:r>
          </a:p>
        </p:txBody>
      </p:sp>
      <p:grpSp>
        <p:nvGrpSpPr>
          <p:cNvPr id="5" name="Group 6">
            <a:extLst>
              <a:ext uri="{FF2B5EF4-FFF2-40B4-BE49-F238E27FC236}">
                <a16:creationId xmlns:a16="http://schemas.microsoft.com/office/drawing/2014/main" id="{E82AAB97-6D7A-C03F-DE4F-534EFD03A1DE}"/>
              </a:ext>
            </a:extLst>
          </p:cNvPr>
          <p:cNvGrpSpPr>
            <a:grpSpLocks/>
          </p:cNvGrpSpPr>
          <p:nvPr/>
        </p:nvGrpSpPr>
        <p:grpSpPr bwMode="auto">
          <a:xfrm>
            <a:off x="2570480" y="5486400"/>
            <a:ext cx="8034338" cy="1143000"/>
            <a:chOff x="576" y="2400"/>
            <a:chExt cx="5061" cy="720"/>
          </a:xfrm>
        </p:grpSpPr>
        <p:pic>
          <p:nvPicPr>
            <p:cNvPr id="6" name="Picture 7" descr="fig">
              <a:extLst>
                <a:ext uri="{FF2B5EF4-FFF2-40B4-BE49-F238E27FC236}">
                  <a16:creationId xmlns:a16="http://schemas.microsoft.com/office/drawing/2014/main" id="{700D43D9-ABD9-E8C4-9F8B-7E29518761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68" y="2408"/>
              <a:ext cx="4869" cy="7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 Box 8">
              <a:extLst>
                <a:ext uri="{FF2B5EF4-FFF2-40B4-BE49-F238E27FC236}">
                  <a16:creationId xmlns:a16="http://schemas.microsoft.com/office/drawing/2014/main" id="{6CBC8A43-736D-4BB6-63DB-A1D97997CD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400"/>
              <a:ext cx="192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A</a:t>
              </a: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BF647AF5-8745-1252-72D5-05F2B4AF3E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592"/>
              <a:ext cx="240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C</a:t>
              </a:r>
            </a:p>
          </p:txBody>
        </p:sp>
        <p:sp>
          <p:nvSpPr>
            <p:cNvPr id="9" name="Text Box 10">
              <a:extLst>
                <a:ext uri="{FF2B5EF4-FFF2-40B4-BE49-F238E27FC236}">
                  <a16:creationId xmlns:a16="http://schemas.microsoft.com/office/drawing/2014/main" id="{1272A18B-FB77-4F24-24F9-5A0609785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908"/>
              <a:ext cx="28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T</a:t>
              </a:r>
            </a:p>
          </p:txBody>
        </p:sp>
        <p:sp>
          <p:nvSpPr>
            <p:cNvPr id="10" name="Text Box 11">
              <a:extLst>
                <a:ext uri="{FF2B5EF4-FFF2-40B4-BE49-F238E27FC236}">
                  <a16:creationId xmlns:a16="http://schemas.microsoft.com/office/drawing/2014/main" id="{B2E12F4D-54C3-F8E5-EF26-9E01ED5C5B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736"/>
              <a:ext cx="288" cy="21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>
                  <a:solidFill>
                    <a:schemeClr val="tx2"/>
                  </a:solidFill>
                </a:rPr>
                <a:t>G</a:t>
              </a:r>
            </a:p>
          </p:txBody>
        </p:sp>
        <p:grpSp>
          <p:nvGrpSpPr>
            <p:cNvPr id="11" name="Group 12">
              <a:extLst>
                <a:ext uri="{FF2B5EF4-FFF2-40B4-BE49-F238E27FC236}">
                  <a16:creationId xmlns:a16="http://schemas.microsoft.com/office/drawing/2014/main" id="{4009AA3F-F1A1-3C8D-E914-AADD14424CD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36" y="2448"/>
              <a:ext cx="2496" cy="624"/>
              <a:chOff x="1536" y="1776"/>
              <a:chExt cx="2496" cy="624"/>
            </a:xfrm>
          </p:grpSpPr>
          <p:sp>
            <p:nvSpPr>
              <p:cNvPr id="12" name="Rectangle 13">
                <a:extLst>
                  <a:ext uri="{FF2B5EF4-FFF2-40B4-BE49-F238E27FC236}">
                    <a16:creationId xmlns:a16="http://schemas.microsoft.com/office/drawing/2014/main" id="{6871A2BB-C52E-23CB-B1B1-9EEAA5083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920"/>
                <a:ext cx="384" cy="1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3" name="Rectangle 14">
                <a:extLst>
                  <a:ext uri="{FF2B5EF4-FFF2-40B4-BE49-F238E27FC236}">
                    <a16:creationId xmlns:a16="http://schemas.microsoft.com/office/drawing/2014/main" id="{EB9600DB-8B54-B8AB-A0A1-3FDDEB6FC0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36" y="1776"/>
                <a:ext cx="384" cy="1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4" name="Rectangle 15">
                <a:extLst>
                  <a:ext uri="{FF2B5EF4-FFF2-40B4-BE49-F238E27FC236}">
                    <a16:creationId xmlns:a16="http://schemas.microsoft.com/office/drawing/2014/main" id="{B949D44D-8AD7-CE73-F8CF-343C78B70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2112"/>
                <a:ext cx="384" cy="1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5" name="Rectangle 17">
                <a:extLst>
                  <a:ext uri="{FF2B5EF4-FFF2-40B4-BE49-F238E27FC236}">
                    <a16:creationId xmlns:a16="http://schemas.microsoft.com/office/drawing/2014/main" id="{9329EB20-12ED-5C73-3A16-D9187765ED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776"/>
                <a:ext cx="384" cy="1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Rectangle 19">
                <a:extLst>
                  <a:ext uri="{FF2B5EF4-FFF2-40B4-BE49-F238E27FC236}">
                    <a16:creationId xmlns:a16="http://schemas.microsoft.com/office/drawing/2014/main" id="{02487546-1381-7B84-B4E9-9717D10B28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1920"/>
                <a:ext cx="384" cy="1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7" name="Rectangle 20">
                <a:extLst>
                  <a:ext uri="{FF2B5EF4-FFF2-40B4-BE49-F238E27FC236}">
                    <a16:creationId xmlns:a16="http://schemas.microsoft.com/office/drawing/2014/main" id="{08DF386E-C9E4-AD7A-080C-E667939278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1920"/>
                <a:ext cx="384" cy="1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8" name="Rectangle 21">
                <a:extLst>
                  <a:ext uri="{FF2B5EF4-FFF2-40B4-BE49-F238E27FC236}">
                    <a16:creationId xmlns:a16="http://schemas.microsoft.com/office/drawing/2014/main" id="{D77FB71F-45C4-7528-8E41-DBC90622D7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2112"/>
                <a:ext cx="384" cy="1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9" name="Rectangle 22">
                <a:extLst>
                  <a:ext uri="{FF2B5EF4-FFF2-40B4-BE49-F238E27FC236}">
                    <a16:creationId xmlns:a16="http://schemas.microsoft.com/office/drawing/2014/main" id="{0A374165-B105-C216-13F9-7998AEB6BF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256"/>
                <a:ext cx="384" cy="1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0" name="Rectangle 23">
                <a:extLst>
                  <a:ext uri="{FF2B5EF4-FFF2-40B4-BE49-F238E27FC236}">
                    <a16:creationId xmlns:a16="http://schemas.microsoft.com/office/drawing/2014/main" id="{3D2195F8-E1D2-1F3C-DD50-2E5C743854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1920"/>
                <a:ext cx="384" cy="1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1" name="Rectangle 25">
                <a:extLst>
                  <a:ext uri="{FF2B5EF4-FFF2-40B4-BE49-F238E27FC236}">
                    <a16:creationId xmlns:a16="http://schemas.microsoft.com/office/drawing/2014/main" id="{3CDD38E6-705E-2A89-4EB4-A965C82BBC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48" y="2256"/>
                <a:ext cx="384" cy="144"/>
              </a:xfrm>
              <a:prstGeom prst="rect">
                <a:avLst/>
              </a:prstGeom>
              <a:solidFill>
                <a:schemeClr val="accent1">
                  <a:alpha val="50195"/>
                </a:schemeClr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</p:grpSp>
      <p:sp>
        <p:nvSpPr>
          <p:cNvPr id="22" name="Text Box 26">
            <a:extLst>
              <a:ext uri="{FF2B5EF4-FFF2-40B4-BE49-F238E27FC236}">
                <a16:creationId xmlns:a16="http://schemas.microsoft.com/office/drawing/2014/main" id="{A29BF747-5BE6-1D14-5C80-015C21B401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84880" y="3124200"/>
            <a:ext cx="640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>
                <a:solidFill>
                  <a:srgbClr val="002060"/>
                </a:solidFill>
              </a:rPr>
              <a:t>CACC ATG GC                          </a:t>
            </a:r>
            <a:r>
              <a:rPr lang="en-US" dirty="0">
                <a:solidFill>
                  <a:srgbClr val="FF0000"/>
                </a:solidFill>
              </a:rPr>
              <a:t>TCGA ATG TT</a:t>
            </a:r>
          </a:p>
        </p:txBody>
      </p:sp>
      <p:sp>
        <p:nvSpPr>
          <p:cNvPr id="23" name="Text Box 27">
            <a:extLst>
              <a:ext uri="{FF2B5EF4-FFF2-40B4-BE49-F238E27FC236}">
                <a16:creationId xmlns:a16="http://schemas.microsoft.com/office/drawing/2014/main" id="{9B7A0B0B-11C7-04C5-DADB-7446AFCE1F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51480" y="3581400"/>
            <a:ext cx="3429000" cy="1169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log (58/25) + log (49/25) + log (40/25) + log (50/25) + log (43/25) + log (39/25) = 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0.37 + 0.29 + 0.20 + 0.30 + 0.24 + 0.29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= 1.69</a:t>
            </a:r>
          </a:p>
        </p:txBody>
      </p:sp>
      <p:sp>
        <p:nvSpPr>
          <p:cNvPr id="24" name="Text Box 28">
            <a:extLst>
              <a:ext uri="{FF2B5EF4-FFF2-40B4-BE49-F238E27FC236}">
                <a16:creationId xmlns:a16="http://schemas.microsoft.com/office/drawing/2014/main" id="{41F15618-1B1F-CD07-D8A8-10DFE2E46B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80480" y="3505200"/>
            <a:ext cx="3352800" cy="116955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log (6/25) + log (6/25) + log (15/25) + log (15/25) + log (13/25) + log (14/25) = 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-(0.62 + 0.62 + 0.22 + 0.22 + 0.28 + 0.25)</a:t>
            </a:r>
          </a:p>
          <a:p>
            <a:pPr>
              <a:spcBef>
                <a:spcPct val="50000"/>
              </a:spcBef>
            </a:pPr>
            <a:r>
              <a:rPr lang="en-US" sz="1400" dirty="0">
                <a:solidFill>
                  <a:schemeClr val="bg1"/>
                </a:solidFill>
              </a:rPr>
              <a:t>= -2.54</a:t>
            </a:r>
          </a:p>
        </p:txBody>
      </p:sp>
      <p:sp>
        <p:nvSpPr>
          <p:cNvPr id="25" name="Text Box 29">
            <a:extLst>
              <a:ext uri="{FF2B5EF4-FFF2-40B4-BE49-F238E27FC236}">
                <a16:creationId xmlns:a16="http://schemas.microsoft.com/office/drawing/2014/main" id="{6A378A3F-64A7-0C0A-F317-91BDEF02EF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7880" y="4953000"/>
            <a:ext cx="36576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>
                <a:solidFill>
                  <a:schemeClr val="tx2"/>
                </a:solidFill>
              </a:rPr>
              <a:t>The model captures our intuition!</a:t>
            </a:r>
          </a:p>
        </p:txBody>
      </p:sp>
      <p:sp>
        <p:nvSpPr>
          <p:cNvPr id="26" name="Rectangle 17">
            <a:extLst>
              <a:ext uri="{FF2B5EF4-FFF2-40B4-BE49-F238E27FC236}">
                <a16:creationId xmlns:a16="http://schemas.microsoft.com/office/drawing/2014/main" id="{E9A0BD9D-101A-EAE2-2C70-76A6F126BB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89880" y="5791200"/>
            <a:ext cx="609600" cy="2286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7" name="Rectangle 17">
            <a:extLst>
              <a:ext uri="{FF2B5EF4-FFF2-40B4-BE49-F238E27FC236}">
                <a16:creationId xmlns:a16="http://schemas.microsoft.com/office/drawing/2014/main" id="{D20CDC22-DC22-AB1E-24DF-27AB41966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7680" y="6324600"/>
            <a:ext cx="609600" cy="228600"/>
          </a:xfrm>
          <a:prstGeom prst="rect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9006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utoUpdateAnimBg="0"/>
      <p:bldP spid="24" grpId="0" autoUpdateAnimBg="0"/>
      <p:bldP spid="2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0"/>
          <p:cNvSpPr txBox="1"/>
          <p:nvPr/>
        </p:nvSpPr>
        <p:spPr>
          <a:xfrm>
            <a:off x="658368" y="1463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HEADLINE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71713" y="1052842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predictor is not the bottleneck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5" name="Text 2"/>
          <p:cNvSpPr txBox="1"/>
          <p:nvPr/>
        </p:nvSpPr>
        <p:spPr>
          <a:xfrm>
            <a:off x="571713" y="1668054"/>
            <a:ext cx="6492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7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masking and evidence integration decide annotation quality. Swapping BRAKER3 for MAKER2 moves the needle far less than either of those.</a:t>
            </a:r>
            <a:endParaRPr lang="en-US" sz="1700" dirty="0">
              <a:solidFill>
                <a:schemeClr val="bg1"/>
              </a:solidFill>
            </a:endParaRPr>
          </a:p>
        </p:txBody>
      </p:sp>
      <p:sp>
        <p:nvSpPr>
          <p:cNvPr id="6" name="Shape 3"/>
          <p:cNvSpPr/>
          <p:nvPr/>
        </p:nvSpPr>
        <p:spPr>
          <a:xfrm>
            <a:off x="640080" y="2843784"/>
            <a:ext cx="6492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68680" y="301752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686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1440180" y="2945479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masking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417320" y="3249795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Unmasked TEs generate thousands of spurious "genes". Soft-mask with a plant-specific library.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4081899"/>
            <a:ext cx="6492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68680" y="4315968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868680" y="43159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417320" y="4242816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quality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1371600" y="4507992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Full-length transcripts and cross-species proteins beat any ab initio tuning.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640080" y="5294376"/>
            <a:ext cx="649224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68680" y="5614416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68680" y="56144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417320" y="54406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reconciliation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417320" y="5769864"/>
            <a:ext cx="5532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consensus over multiple predictors outperforms trusting one.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7635240" y="1371600"/>
            <a:ext cx="3886200" cy="5074920"/>
          </a:xfrm>
          <a:prstGeom prst="roundRect">
            <a:avLst>
              <a:gd name="adj" fmla="val 3529"/>
            </a:avLst>
          </a:prstGeom>
          <a:solidFill>
            <a:srgbClr val="0070C0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795528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people argue about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7955280" y="20574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predictor?</a:t>
            </a:r>
            <a:endParaRPr lang="en-US" sz="2600" dirty="0"/>
          </a:p>
        </p:txBody>
      </p:sp>
      <p:sp>
        <p:nvSpPr>
          <p:cNvPr id="24" name="Shape 21"/>
          <p:cNvSpPr/>
          <p:nvPr/>
        </p:nvSpPr>
        <p:spPr>
          <a:xfrm>
            <a:off x="7955280" y="2880360"/>
            <a:ext cx="3246120" cy="0"/>
          </a:xfrm>
          <a:prstGeom prst="line">
            <a:avLst/>
          </a:prstGeom>
          <a:noFill/>
          <a:ln w="19050">
            <a:solidFill>
              <a:srgbClr val="2F4A3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955280" y="3108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actually decides it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955280" y="3474720"/>
            <a:ext cx="3383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fed it,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what you masked first</a:t>
            </a:r>
            <a:endParaRPr lang="en-US" sz="2600" dirty="0"/>
          </a:p>
        </p:txBody>
      </p:sp>
      <p:sp>
        <p:nvSpPr>
          <p:cNvPr id="27" name="Text 24"/>
          <p:cNvSpPr txBox="1"/>
          <p:nvPr/>
        </p:nvSpPr>
        <p:spPr>
          <a:xfrm>
            <a:off x="7955280" y="5394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B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choice is a tuning knob. Inputs are the machine.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1192460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07D7401-ED06-42DA-1E05-D50B3BC4A7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68AE790C-10A3-7D11-D0AC-92256DF606B7}"/>
              </a:ext>
            </a:extLst>
          </p:cNvPr>
          <p:cNvSpPr txBox="1"/>
          <p:nvPr/>
        </p:nvSpPr>
        <p:spPr>
          <a:xfrm>
            <a:off x="658368" y="10200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3349FE65-A191-3334-9EBC-A78FAD6A0289}"/>
              </a:ext>
            </a:extLst>
          </p:cNvPr>
          <p:cNvSpPr txBox="1"/>
          <p:nvPr/>
        </p:nvSpPr>
        <p:spPr>
          <a:xfrm>
            <a:off x="640080" y="12852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prediction sits in the pipeline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62BBAFC5-B903-BE89-33DE-2AECC069BC21}"/>
              </a:ext>
            </a:extLst>
          </p:cNvPr>
          <p:cNvSpPr/>
          <p:nvPr/>
        </p:nvSpPr>
        <p:spPr>
          <a:xfrm>
            <a:off x="640080" y="293116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19872269-9FEE-AC89-DA94-3D018ACB62DE}"/>
              </a:ext>
            </a:extLst>
          </p:cNvPr>
          <p:cNvSpPr txBox="1"/>
          <p:nvPr/>
        </p:nvSpPr>
        <p:spPr>
          <a:xfrm>
            <a:off x="868680" y="3132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3000" dirty="0"/>
          </a:p>
        </p:txBody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8A7393AA-2195-FB64-A38B-AFF11F17B8E4}"/>
              </a:ext>
            </a:extLst>
          </p:cNvPr>
          <p:cNvSpPr txBox="1"/>
          <p:nvPr/>
        </p:nvSpPr>
        <p:spPr>
          <a:xfrm>
            <a:off x="868680" y="3799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masking</a:t>
            </a:r>
            <a:endParaRPr lang="en-US" sz="15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067F7561-32DF-207B-A5D0-437B5CFE0D62}"/>
              </a:ext>
            </a:extLst>
          </p:cNvPr>
          <p:cNvSpPr txBox="1"/>
          <p:nvPr/>
        </p:nvSpPr>
        <p:spPr>
          <a:xfrm>
            <a:off x="868680" y="453136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D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EDTA + RepeatMasker</a:t>
            </a:r>
            <a:endParaRPr lang="en-US" sz="11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72F3B896-9A1A-586B-45F7-EBEB17AAACC1}"/>
              </a:ext>
            </a:extLst>
          </p:cNvPr>
          <p:cNvSpPr/>
          <p:nvPr/>
        </p:nvSpPr>
        <p:spPr>
          <a:xfrm rot="5400000">
            <a:off x="2688336" y="4010152"/>
            <a:ext cx="182880" cy="237744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3C66CCF8-7208-6853-E09C-1A83AC4002F7}"/>
              </a:ext>
            </a:extLst>
          </p:cNvPr>
          <p:cNvSpPr/>
          <p:nvPr/>
        </p:nvSpPr>
        <p:spPr>
          <a:xfrm>
            <a:off x="2871216" y="293116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33A8E8E1-5EBD-DD85-349A-B5236CA50A08}"/>
              </a:ext>
            </a:extLst>
          </p:cNvPr>
          <p:cNvSpPr txBox="1"/>
          <p:nvPr/>
        </p:nvSpPr>
        <p:spPr>
          <a:xfrm>
            <a:off x="3099816" y="3132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D4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30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69D6BC26-BD14-797C-7F59-812EA762B662}"/>
              </a:ext>
            </a:extLst>
          </p:cNvPr>
          <p:cNvSpPr txBox="1"/>
          <p:nvPr/>
        </p:nvSpPr>
        <p:spPr>
          <a:xfrm>
            <a:off x="3099816" y="3799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5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D3B3A878-C93C-D386-8EE9-B72AA6D46DA2}"/>
              </a:ext>
            </a:extLst>
          </p:cNvPr>
          <p:cNvSpPr txBox="1"/>
          <p:nvPr/>
        </p:nvSpPr>
        <p:spPr>
          <a:xfrm>
            <a:off x="3099816" y="453136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RNA-seq · Iso-Seq · proteins</a:t>
            </a:r>
            <a:endParaRPr lang="en-US" sz="1100" dirty="0"/>
          </a:p>
        </p:txBody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DBE72300-FC91-9D46-9958-5672D19EF84D}"/>
              </a:ext>
            </a:extLst>
          </p:cNvPr>
          <p:cNvSpPr/>
          <p:nvPr/>
        </p:nvSpPr>
        <p:spPr>
          <a:xfrm rot="5400000">
            <a:off x="4919472" y="4010152"/>
            <a:ext cx="182880" cy="237744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DC605621-731F-5A25-8511-CCE37ED1A937}"/>
              </a:ext>
            </a:extLst>
          </p:cNvPr>
          <p:cNvSpPr/>
          <p:nvPr/>
        </p:nvSpPr>
        <p:spPr>
          <a:xfrm>
            <a:off x="5102352" y="293116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348AD1FF-3390-70C4-0B10-8691D177B44D}"/>
              </a:ext>
            </a:extLst>
          </p:cNvPr>
          <p:cNvSpPr txBox="1"/>
          <p:nvPr/>
        </p:nvSpPr>
        <p:spPr>
          <a:xfrm>
            <a:off x="5330952" y="3132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97BC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000" dirty="0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8F5152EF-CEED-6EAA-1E47-3719D8BB4269}"/>
              </a:ext>
            </a:extLst>
          </p:cNvPr>
          <p:cNvSpPr txBox="1"/>
          <p:nvPr/>
        </p:nvSpPr>
        <p:spPr>
          <a:xfrm>
            <a:off x="5330952" y="3799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</a:t>
            </a:r>
            <a:endParaRPr lang="en-US" sz="150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D7781659-272D-C42E-0B99-A7C46E222673}"/>
              </a:ext>
            </a:extLst>
          </p:cNvPr>
          <p:cNvSpPr txBox="1"/>
          <p:nvPr/>
        </p:nvSpPr>
        <p:spPr>
          <a:xfrm>
            <a:off x="5330952" y="453136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4D5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BRAKER3 · MAKER2 · PASA</a:t>
            </a:r>
            <a:endParaRPr lang="en-US" sz="1100" dirty="0"/>
          </a:p>
        </p:txBody>
      </p:sp>
      <p:sp>
        <p:nvSpPr>
          <p:cNvPr id="36" name="Shape 16">
            <a:extLst>
              <a:ext uri="{FF2B5EF4-FFF2-40B4-BE49-F238E27FC236}">
                <a16:creationId xmlns:a16="http://schemas.microsoft.com/office/drawing/2014/main" id="{33FAAA16-A266-6FC4-0E0C-2DA0CC43C802}"/>
              </a:ext>
            </a:extLst>
          </p:cNvPr>
          <p:cNvSpPr/>
          <p:nvPr/>
        </p:nvSpPr>
        <p:spPr>
          <a:xfrm rot="5400000">
            <a:off x="7150608" y="4010152"/>
            <a:ext cx="182880" cy="237744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48CF50B7-FF27-EB6F-EC12-61E443966C31}"/>
              </a:ext>
            </a:extLst>
          </p:cNvPr>
          <p:cNvSpPr/>
          <p:nvPr/>
        </p:nvSpPr>
        <p:spPr>
          <a:xfrm>
            <a:off x="7333488" y="293116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E685D006-AB7F-1F72-2261-A7C30F8AE5E8}"/>
              </a:ext>
            </a:extLst>
          </p:cNvPr>
          <p:cNvSpPr txBox="1"/>
          <p:nvPr/>
        </p:nvSpPr>
        <p:spPr>
          <a:xfrm>
            <a:off x="7562088" y="3132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D4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000" dirty="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D63C6F3E-17CF-AD7C-6275-3F0F43229A22}"/>
              </a:ext>
            </a:extLst>
          </p:cNvPr>
          <p:cNvSpPr txBox="1"/>
          <p:nvPr/>
        </p:nvSpPr>
        <p:spPr>
          <a:xfrm>
            <a:off x="7562088" y="3799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500" dirty="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295F89C4-79DB-0B2C-F99B-DFDAF5DD577B}"/>
              </a:ext>
            </a:extLst>
          </p:cNvPr>
          <p:cNvSpPr txBox="1"/>
          <p:nvPr/>
        </p:nvSpPr>
        <p:spPr>
          <a:xfrm>
            <a:off x="7562088" y="453136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InterProScan · eggNOG</a:t>
            </a:r>
            <a:endParaRPr lang="en-US" sz="1100" dirty="0"/>
          </a:p>
        </p:txBody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B6E71495-E947-7620-BE32-D7E2BC262225}"/>
              </a:ext>
            </a:extLst>
          </p:cNvPr>
          <p:cNvSpPr/>
          <p:nvPr/>
        </p:nvSpPr>
        <p:spPr>
          <a:xfrm rot="5400000">
            <a:off x="9381744" y="4010152"/>
            <a:ext cx="182880" cy="237744"/>
          </a:xfrm>
          <a:prstGeom prst="triangle">
            <a:avLst/>
          </a:prstGeom>
          <a:solidFill>
            <a:srgbClr val="97BC62"/>
          </a:solidFill>
          <a:ln/>
        </p:spPr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3F9A7155-D426-214C-17B8-0D06641169BA}"/>
              </a:ext>
            </a:extLst>
          </p:cNvPr>
          <p:cNvSpPr/>
          <p:nvPr/>
        </p:nvSpPr>
        <p:spPr>
          <a:xfrm>
            <a:off x="9564624" y="2931160"/>
            <a:ext cx="1965960" cy="237744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AA41F284-82DC-76E7-3202-2460D869B002}"/>
              </a:ext>
            </a:extLst>
          </p:cNvPr>
          <p:cNvSpPr txBox="1"/>
          <p:nvPr/>
        </p:nvSpPr>
        <p:spPr>
          <a:xfrm>
            <a:off x="9793224" y="313232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FD4C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3000" dirty="0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9E7B0C44-C779-7FFA-AE10-C2EC6D8E4270}"/>
              </a:ext>
            </a:extLst>
          </p:cNvPr>
          <p:cNvSpPr txBox="1"/>
          <p:nvPr/>
        </p:nvSpPr>
        <p:spPr>
          <a:xfrm>
            <a:off x="9793224" y="37998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&amp; curation</a:t>
            </a:r>
            <a:endParaRPr lang="en-US" sz="150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24C0F6B2-3E46-0BD5-206B-3E37123B7794}"/>
              </a:ext>
            </a:extLst>
          </p:cNvPr>
          <p:cNvSpPr txBox="1"/>
          <p:nvPr/>
        </p:nvSpPr>
        <p:spPr>
          <a:xfrm>
            <a:off x="9793224" y="4531360"/>
            <a:ext cx="157276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AGAT · BUSCO · Apollo</a:t>
            </a:r>
            <a:endParaRPr lang="en-US" sz="1100" dirty="0"/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0254924A-B8F7-7A89-606B-257DDEFEB297}"/>
              </a:ext>
            </a:extLst>
          </p:cNvPr>
          <p:cNvSpPr txBox="1"/>
          <p:nvPr/>
        </p:nvSpPr>
        <p:spPr>
          <a:xfrm>
            <a:off x="640080" y="59944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5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stages are the two that determine whether the gene set is trustworthy. Everything else is bookkeeping by comparison.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1612855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EE415EE-AF13-E6F0-3987-A87588940D2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2DA5BDD1-98BF-EFF9-C264-71DDF1AF01ED}"/>
              </a:ext>
            </a:extLst>
          </p:cNvPr>
          <p:cNvSpPr txBox="1"/>
          <p:nvPr/>
        </p:nvSpPr>
        <p:spPr>
          <a:xfrm>
            <a:off x="741680" y="950976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Mask before you predict</a:t>
            </a:r>
            <a:endParaRPr lang="en-US" sz="3400" dirty="0"/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0973BB01-F93D-DE3F-8172-108480E238AF}"/>
              </a:ext>
            </a:extLst>
          </p:cNvPr>
          <p:cNvSpPr txBox="1"/>
          <p:nvPr/>
        </p:nvSpPr>
        <p:spPr>
          <a:xfrm>
            <a:off x="640080" y="1527048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9D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 genomes are 50–85% repetitive. An unmasked genome hands the predictor tens of thousands of transposase and reverse-transcriptase ORFs and it will happily call them genes.</a:t>
            </a:r>
            <a:endParaRPr lang="en-US" sz="1600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ED8CB722-4559-B8CD-BD55-9E636A7FE6F6}"/>
              </a:ext>
            </a:extLst>
          </p:cNvPr>
          <p:cNvSpPr/>
          <p:nvPr/>
        </p:nvSpPr>
        <p:spPr>
          <a:xfrm>
            <a:off x="640080" y="2697480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>
            <a:solidFill>
              <a:schemeClr val="accent1"/>
            </a:solidFill>
          </a:ln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A768CDA7-8AAC-BC84-234F-4A8F6BDCF64F}"/>
              </a:ext>
            </a:extLst>
          </p:cNvPr>
          <p:cNvSpPr txBox="1"/>
          <p:nvPr/>
        </p:nvSpPr>
        <p:spPr>
          <a:xfrm>
            <a:off x="914400" y="27889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EDTA</a:t>
            </a:r>
            <a:endParaRPr lang="en-US" sz="15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90620A80-8026-F5F9-6B0C-1AF071D8496A}"/>
              </a:ext>
            </a:extLst>
          </p:cNvPr>
          <p:cNvSpPr txBox="1"/>
          <p:nvPr/>
        </p:nvSpPr>
        <p:spPr>
          <a:xfrm>
            <a:off x="914400" y="308152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Plant-specific TE annotation — LTR, TIR, Helitron in one benchmarked pipeline. The de facto standard.</a:t>
            </a:r>
            <a:endParaRPr lang="en-US" sz="12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9F1CC50A-7AD2-2E90-7036-4D0B04644ED8}"/>
              </a:ext>
            </a:extLst>
          </p:cNvPr>
          <p:cNvSpPr/>
          <p:nvPr/>
        </p:nvSpPr>
        <p:spPr>
          <a:xfrm>
            <a:off x="640080" y="3666744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/>
        </p:spPr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56CC01F5-AE8C-2A6B-A30A-2C8443263B01}"/>
              </a:ext>
            </a:extLst>
          </p:cNvPr>
          <p:cNvSpPr txBox="1"/>
          <p:nvPr/>
        </p:nvSpPr>
        <p:spPr>
          <a:xfrm>
            <a:off x="914400" y="3758184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RepeatModeler2</a:t>
            </a:r>
            <a:endParaRPr lang="en-US" sz="1500" dirty="0"/>
          </a:p>
        </p:txBody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C1BDA90A-0361-6819-BCD9-F51344EAFCF7}"/>
              </a:ext>
            </a:extLst>
          </p:cNvPr>
          <p:cNvSpPr txBox="1"/>
          <p:nvPr/>
        </p:nvSpPr>
        <p:spPr>
          <a:xfrm>
            <a:off x="914400" y="4050792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novo families EDTA does not fully resolve. Run alongside, not instead.</a:t>
            </a:r>
            <a:endParaRPr lang="en-US" sz="120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E98F99DE-B0D1-0991-2922-2254CE62BE00}"/>
              </a:ext>
            </a:extLst>
          </p:cNvPr>
          <p:cNvSpPr/>
          <p:nvPr/>
        </p:nvSpPr>
        <p:spPr>
          <a:xfrm>
            <a:off x="640080" y="4636008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/>
        </p:spPr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DAD0F73D-7B49-0D9F-C85C-1D8340B1BDFF}"/>
              </a:ext>
            </a:extLst>
          </p:cNvPr>
          <p:cNvSpPr txBox="1"/>
          <p:nvPr/>
        </p:nvSpPr>
        <p:spPr>
          <a:xfrm>
            <a:off x="914400" y="472744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RepeatMasker</a:t>
            </a:r>
            <a:endParaRPr lang="en-US" sz="150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6BCE66DD-DF77-C315-22CA-C7C6AAFD7E24}"/>
              </a:ext>
            </a:extLst>
          </p:cNvPr>
          <p:cNvSpPr txBox="1"/>
          <p:nvPr/>
        </p:nvSpPr>
        <p:spPr>
          <a:xfrm>
            <a:off x="914400" y="5020056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the library. Soft-mask (lowercase) — hard-masking hides real genes that overlap repeats.</a:t>
            </a:r>
            <a:endParaRPr lang="en-US" sz="120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B838202C-32D6-347C-E659-326201CC3D56}"/>
              </a:ext>
            </a:extLst>
          </p:cNvPr>
          <p:cNvSpPr/>
          <p:nvPr/>
        </p:nvSpPr>
        <p:spPr>
          <a:xfrm>
            <a:off x="640080" y="5605272"/>
            <a:ext cx="6400800" cy="914400"/>
          </a:xfrm>
          <a:prstGeom prst="roundRect">
            <a:avLst>
              <a:gd name="adj" fmla="val 10000"/>
            </a:avLst>
          </a:prstGeom>
          <a:solidFill>
            <a:srgbClr val="002060"/>
          </a:solidFill>
          <a:ln/>
        </p:spPr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C4223043-4438-ECB6-E28C-612A90295840}"/>
              </a:ext>
            </a:extLst>
          </p:cNvPr>
          <p:cNvSpPr txBox="1"/>
          <p:nvPr/>
        </p:nvSpPr>
        <p:spPr>
          <a:xfrm>
            <a:off x="914400" y="569671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LTR_retriever</a:t>
            </a:r>
            <a:endParaRPr lang="en-US" sz="1500" dirty="0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37FF3BC6-6209-0542-8811-FFDCD620DC32}"/>
              </a:ext>
            </a:extLst>
          </p:cNvPr>
          <p:cNvSpPr txBox="1"/>
          <p:nvPr/>
        </p:nvSpPr>
        <p:spPr>
          <a:xfrm>
            <a:off x="914400" y="598932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0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High-precision LTR calls; also feeds the LAI contiguity metric.</a:t>
            </a:r>
            <a:endParaRPr lang="en-US" sz="1200" dirty="0"/>
          </a:p>
        </p:txBody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0A05D692-2C39-945A-DC97-F55724BCC07C}"/>
              </a:ext>
            </a:extLst>
          </p:cNvPr>
          <p:cNvSpPr/>
          <p:nvPr/>
        </p:nvSpPr>
        <p:spPr>
          <a:xfrm>
            <a:off x="7589520" y="1417320"/>
            <a:ext cx="3931920" cy="2194560"/>
          </a:xfrm>
          <a:prstGeom prst="roundRect">
            <a:avLst>
              <a:gd name="adj" fmla="val 6250"/>
            </a:avLst>
          </a:prstGeom>
          <a:solidFill>
            <a:schemeClr val="accent1">
              <a:lumMod val="20000"/>
              <a:lumOff val="80000"/>
            </a:schemeClr>
          </a:solidFill>
          <a:ln/>
        </p:spPr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6A2620FC-79AF-29B4-91F0-3FEAA822E296}"/>
              </a:ext>
            </a:extLst>
          </p:cNvPr>
          <p:cNvSpPr txBox="1"/>
          <p:nvPr/>
        </p:nvSpPr>
        <p:spPr>
          <a:xfrm>
            <a:off x="7863840" y="173736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1B3D2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50–85%</a:t>
            </a:r>
            <a:endParaRPr lang="en-US" sz="54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A4F2489C-F7A2-07CE-9D0E-742CC6840AA9}"/>
              </a:ext>
            </a:extLst>
          </p:cNvPr>
          <p:cNvSpPr txBox="1"/>
          <p:nvPr/>
        </p:nvSpPr>
        <p:spPr>
          <a:xfrm>
            <a:off x="7863840" y="2697480"/>
            <a:ext cx="3429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4A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typical plant genome is repetitive — the fraction that must be soft-masked before prediction</a:t>
            </a:r>
            <a:endParaRPr lang="en-US" sz="1300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B728C862-2D50-9096-5B9D-E56D693AFC6C}"/>
              </a:ext>
            </a:extLst>
          </p:cNvPr>
          <p:cNvSpPr/>
          <p:nvPr/>
        </p:nvSpPr>
        <p:spPr>
          <a:xfrm>
            <a:off x="7589520" y="3886200"/>
            <a:ext cx="3931920" cy="2560320"/>
          </a:xfrm>
          <a:prstGeom prst="roundRect">
            <a:avLst>
              <a:gd name="adj" fmla="val 5357"/>
            </a:avLst>
          </a:prstGeom>
          <a:solidFill>
            <a:srgbClr val="002060"/>
          </a:solidFill>
          <a:ln/>
        </p:spPr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7613387E-826E-5556-9F6E-7B07D93583C1}"/>
              </a:ext>
            </a:extLst>
          </p:cNvPr>
          <p:cNvSpPr txBox="1"/>
          <p:nvPr/>
        </p:nvSpPr>
        <p:spPr>
          <a:xfrm>
            <a:off x="7863840" y="4160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</a:t>
            </a:r>
            <a:endParaRPr lang="en-US" sz="1300" dirty="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BB3C688C-1925-9AB7-5078-89D61A871AF4}"/>
              </a:ext>
            </a:extLst>
          </p:cNvPr>
          <p:cNvSpPr txBox="1"/>
          <p:nvPr/>
        </p:nvSpPr>
        <p:spPr>
          <a:xfrm>
            <a:off x="7863840" y="4526280"/>
            <a:ext cx="3429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gene counts (60k+ in a diploid)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 domains dominating your "novel" families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9D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catching it before you do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3291894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2CEFAA-85A3-DFD5-8E98-3BB97D46A980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7EEACCF2-3331-E6BC-BDAE-BF582918212E}"/>
              </a:ext>
            </a:extLst>
          </p:cNvPr>
          <p:cNvSpPr txBox="1"/>
          <p:nvPr/>
        </p:nvSpPr>
        <p:spPr>
          <a:xfrm>
            <a:off x="658368" y="5120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9</a:t>
            </a:r>
            <a:endParaRPr lang="en-US" sz="1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BC6706FD-DF21-3E11-9F42-3AF6A9FCB164}"/>
              </a:ext>
            </a:extLst>
          </p:cNvPr>
          <p:cNvSpPr txBox="1"/>
          <p:nvPr/>
        </p:nvSpPr>
        <p:spPr>
          <a:xfrm>
            <a:off x="731520" y="10927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Evidence: what you feed the predictor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F12DC02D-C83D-53FC-3C80-DB9441D9FE62}"/>
              </a:ext>
            </a:extLst>
          </p:cNvPr>
          <p:cNvSpPr/>
          <p:nvPr/>
        </p:nvSpPr>
        <p:spPr>
          <a:xfrm>
            <a:off x="640080" y="197104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ABD7520F-AB0A-7AE5-6D03-29CDDCFA2BED}"/>
              </a:ext>
            </a:extLst>
          </p:cNvPr>
          <p:cNvSpPr/>
          <p:nvPr/>
        </p:nvSpPr>
        <p:spPr>
          <a:xfrm>
            <a:off x="960120" y="214884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C126FEE1-AFDB-FD53-F1B7-521951E29E5B}"/>
              </a:ext>
            </a:extLst>
          </p:cNvPr>
          <p:cNvSpPr txBox="1"/>
          <p:nvPr/>
        </p:nvSpPr>
        <p:spPr>
          <a:xfrm>
            <a:off x="960120" y="2148840"/>
            <a:ext cx="4114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51F410BC-AC10-C5F0-CF51-A03F0CA046E0}"/>
              </a:ext>
            </a:extLst>
          </p:cNvPr>
          <p:cNvSpPr txBox="1"/>
          <p:nvPr/>
        </p:nvSpPr>
        <p:spPr>
          <a:xfrm>
            <a:off x="1554480" y="2121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Short-read RNA-seq</a:t>
            </a:r>
            <a:endParaRPr lang="en-US" sz="18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9AF0425-F2E2-94ED-3A20-88D3F475E4F4}"/>
              </a:ext>
            </a:extLst>
          </p:cNvPr>
          <p:cNvSpPr txBox="1"/>
          <p:nvPr/>
        </p:nvSpPr>
        <p:spPr>
          <a:xfrm>
            <a:off x="1554480" y="2487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/ HISAT2 → StringTie</a:t>
            </a:r>
            <a:endParaRPr lang="en-US" sz="1200" dirty="0"/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0CA7EAC1-993E-1B4E-FD9D-5E01A627F49F}"/>
              </a:ext>
            </a:extLst>
          </p:cNvPr>
          <p:cNvSpPr txBox="1"/>
          <p:nvPr/>
        </p:nvSpPr>
        <p:spPr>
          <a:xfrm>
            <a:off x="960120" y="2926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Backbone exon-intron evidence. Cheap, deep, but systematically wrong about UTRs and isoform diversity.</a:t>
            </a:r>
            <a:endParaRPr lang="en-US" sz="13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DFC40E93-C4C0-C36D-F082-CAF2BD9205AD}"/>
              </a:ext>
            </a:extLst>
          </p:cNvPr>
          <p:cNvSpPr/>
          <p:nvPr/>
        </p:nvSpPr>
        <p:spPr>
          <a:xfrm>
            <a:off x="6263640" y="1984248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3E4E3654-5959-73DD-829C-A2A6E5AC9446}"/>
              </a:ext>
            </a:extLst>
          </p:cNvPr>
          <p:cNvSpPr/>
          <p:nvPr/>
        </p:nvSpPr>
        <p:spPr>
          <a:xfrm>
            <a:off x="6583680" y="214884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B6E8E4F0-A0AB-7E86-D3CD-DBD964B771FC}"/>
              </a:ext>
            </a:extLst>
          </p:cNvPr>
          <p:cNvSpPr txBox="1"/>
          <p:nvPr/>
        </p:nvSpPr>
        <p:spPr>
          <a:xfrm>
            <a:off x="6583680" y="2148840"/>
            <a:ext cx="4114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CB54FAFB-EE81-BBEA-E298-70B4386BD19A}"/>
              </a:ext>
            </a:extLst>
          </p:cNvPr>
          <p:cNvSpPr txBox="1"/>
          <p:nvPr/>
        </p:nvSpPr>
        <p:spPr>
          <a:xfrm>
            <a:off x="7178040" y="21214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Long-read transcripts</a:t>
            </a:r>
            <a:endParaRPr lang="en-US" sz="1800" dirty="0"/>
          </a:p>
        </p:txBody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73DC6EA2-FA9B-6BFE-32D4-CE1AA339764B}"/>
              </a:ext>
            </a:extLst>
          </p:cNvPr>
          <p:cNvSpPr txBox="1"/>
          <p:nvPr/>
        </p:nvSpPr>
        <p:spPr>
          <a:xfrm>
            <a:off x="7178040" y="24871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Iso-Seq / ONT direct RNA</a:t>
            </a:r>
            <a:endParaRPr lang="en-US" sz="120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76AFECE4-C97F-55D3-B377-641DA82F90C0}"/>
              </a:ext>
            </a:extLst>
          </p:cNvPr>
          <p:cNvSpPr txBox="1"/>
          <p:nvPr/>
        </p:nvSpPr>
        <p:spPr>
          <a:xfrm>
            <a:off x="6583680" y="29260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biggest lever on annotation accuracy. True full-length isoforms and real UTR boundaries.</a:t>
            </a:r>
            <a:endParaRPr lang="en-US" sz="1300" dirty="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F4B9815C-4F2C-7725-5494-BA2D02477E97}"/>
              </a:ext>
            </a:extLst>
          </p:cNvPr>
          <p:cNvSpPr/>
          <p:nvPr/>
        </p:nvSpPr>
        <p:spPr>
          <a:xfrm>
            <a:off x="640080" y="434340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7638745F-D205-1C97-AD6E-ABE2CB4A8ACC}"/>
              </a:ext>
            </a:extLst>
          </p:cNvPr>
          <p:cNvSpPr/>
          <p:nvPr/>
        </p:nvSpPr>
        <p:spPr>
          <a:xfrm>
            <a:off x="960120" y="466344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3E47732F-9D2D-C6C6-DAF4-160699052C37}"/>
              </a:ext>
            </a:extLst>
          </p:cNvPr>
          <p:cNvSpPr txBox="1"/>
          <p:nvPr/>
        </p:nvSpPr>
        <p:spPr>
          <a:xfrm>
            <a:off x="960120" y="4663440"/>
            <a:ext cx="4114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E90D6FDC-5A3B-1C3C-5E1C-4B5FBCD04755}"/>
              </a:ext>
            </a:extLst>
          </p:cNvPr>
          <p:cNvSpPr txBox="1"/>
          <p:nvPr/>
        </p:nvSpPr>
        <p:spPr>
          <a:xfrm>
            <a:off x="1554480" y="46360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Cross-species proteins</a:t>
            </a:r>
            <a:endParaRPr lang="en-US" sz="1800" dirty="0"/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00C2F30E-9A32-43F2-C4BE-483797ED7A0D}"/>
              </a:ext>
            </a:extLst>
          </p:cNvPr>
          <p:cNvSpPr txBox="1"/>
          <p:nvPr/>
        </p:nvSpPr>
        <p:spPr>
          <a:xfrm>
            <a:off x="1554480" y="5001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miniprot / GenomeThreader</a:t>
            </a:r>
            <a:endParaRPr lang="en-US" sz="1200" dirty="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4C3BA378-4164-9265-C66B-DB69594C546C}"/>
              </a:ext>
            </a:extLst>
          </p:cNvPr>
          <p:cNvSpPr txBox="1"/>
          <p:nvPr/>
        </p:nvSpPr>
        <p:spPr>
          <a:xfrm>
            <a:off x="960120" y="54406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 genes not expressed in your sampled tissues. Non-optional for stress and development genes.</a:t>
            </a:r>
            <a:endParaRPr lang="en-US" sz="1300" dirty="0"/>
          </a:p>
        </p:txBody>
      </p:sp>
      <p:sp>
        <p:nvSpPr>
          <p:cNvPr id="44" name="Shape 20">
            <a:extLst>
              <a:ext uri="{FF2B5EF4-FFF2-40B4-BE49-F238E27FC236}">
                <a16:creationId xmlns:a16="http://schemas.microsoft.com/office/drawing/2014/main" id="{1012889A-FE46-1C28-F17C-C36A25F103C8}"/>
              </a:ext>
            </a:extLst>
          </p:cNvPr>
          <p:cNvSpPr/>
          <p:nvPr/>
        </p:nvSpPr>
        <p:spPr>
          <a:xfrm>
            <a:off x="6263640" y="434340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46" name="Shape 21">
            <a:extLst>
              <a:ext uri="{FF2B5EF4-FFF2-40B4-BE49-F238E27FC236}">
                <a16:creationId xmlns:a16="http://schemas.microsoft.com/office/drawing/2014/main" id="{AFBFF858-0A50-4F97-9484-94FB4D7ADA75}"/>
              </a:ext>
            </a:extLst>
          </p:cNvPr>
          <p:cNvSpPr/>
          <p:nvPr/>
        </p:nvSpPr>
        <p:spPr>
          <a:xfrm>
            <a:off x="6583680" y="4663440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1351D237-CD87-0ADD-A5F1-2C8C4DD86150}"/>
              </a:ext>
            </a:extLst>
          </p:cNvPr>
          <p:cNvSpPr txBox="1"/>
          <p:nvPr/>
        </p:nvSpPr>
        <p:spPr>
          <a:xfrm>
            <a:off x="6583680" y="4663440"/>
            <a:ext cx="411480" cy="411480"/>
          </a:xfrm>
          <a:prstGeom prst="rect">
            <a:avLst/>
          </a:prstGeom>
          <a:solidFill>
            <a:srgbClr val="002060"/>
          </a:solidFill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50" name="Text 23">
            <a:extLst>
              <a:ext uri="{FF2B5EF4-FFF2-40B4-BE49-F238E27FC236}">
                <a16:creationId xmlns:a16="http://schemas.microsoft.com/office/drawing/2014/main" id="{F29B5060-F19E-0DE3-F0C0-61AC9D034747}"/>
              </a:ext>
            </a:extLst>
          </p:cNvPr>
          <p:cNvSpPr txBox="1"/>
          <p:nvPr/>
        </p:nvSpPr>
        <p:spPr>
          <a:xfrm>
            <a:off x="7178040" y="4636008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Tissue &amp; condition breadth</a:t>
            </a:r>
            <a:endParaRPr lang="en-US" sz="1800" dirty="0"/>
          </a:p>
        </p:txBody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1B2642CE-B43F-BD5C-21A2-6121EBF6BAE4}"/>
              </a:ext>
            </a:extLst>
          </p:cNvPr>
          <p:cNvSpPr txBox="1"/>
          <p:nvPr/>
        </p:nvSpPr>
        <p:spPr>
          <a:xfrm>
            <a:off x="7178040" y="5001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design</a:t>
            </a:r>
            <a:endParaRPr lang="en-US" sz="120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FF44FFAC-BB6D-41D8-A754-B9DBF730AC79}"/>
              </a:ext>
            </a:extLst>
          </p:cNvPr>
          <p:cNvSpPr txBox="1"/>
          <p:nvPr/>
        </p:nvSpPr>
        <p:spPr>
          <a:xfrm>
            <a:off x="6583680" y="544068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predictor cannot annotate a gene that was never transcribed in your samples. Breadth beats depth.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9730227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40C861-5840-1050-54F5-24285B2D1086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AF29BEA7-824B-67A4-78D7-B3D658422476}"/>
              </a:ext>
            </a:extLst>
          </p:cNvPr>
          <p:cNvSpPr txBox="1"/>
          <p:nvPr/>
        </p:nvSpPr>
        <p:spPr>
          <a:xfrm>
            <a:off x="658368" y="27838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C58E0C87-C606-409A-050F-2E7C04A3E9E5}"/>
              </a:ext>
            </a:extLst>
          </p:cNvPr>
          <p:cNvSpPr txBox="1"/>
          <p:nvPr/>
        </p:nvSpPr>
        <p:spPr>
          <a:xfrm>
            <a:off x="2804160" y="877824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this goes wrong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B5D33505-9BC8-6922-A2AA-465BA049D3A8}"/>
              </a:ext>
            </a:extLst>
          </p:cNvPr>
          <p:cNvSpPr/>
          <p:nvPr/>
        </p:nvSpPr>
        <p:spPr>
          <a:xfrm>
            <a:off x="640080" y="164084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D6EC62A-593C-1274-B1E7-DDC1B0EA4617}"/>
              </a:ext>
            </a:extLst>
          </p:cNvPr>
          <p:cNvSpPr/>
          <p:nvPr/>
        </p:nvSpPr>
        <p:spPr>
          <a:xfrm>
            <a:off x="868680" y="1842008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D8C57AB4-1A4E-E5CC-8045-FCB92B47634A}"/>
              </a:ext>
            </a:extLst>
          </p:cNvPr>
          <p:cNvSpPr txBox="1"/>
          <p:nvPr/>
        </p:nvSpPr>
        <p:spPr>
          <a:xfrm>
            <a:off x="868680" y="18420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00AB0A6B-F8E6-790D-2167-8AD3BB864B3C}"/>
              </a:ext>
            </a:extLst>
          </p:cNvPr>
          <p:cNvSpPr txBox="1"/>
          <p:nvPr/>
        </p:nvSpPr>
        <p:spPr>
          <a:xfrm>
            <a:off x="1417320" y="16408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 count far above sister species</a:t>
            </a:r>
            <a:endParaRPr lang="en-US" sz="1500" dirty="0"/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81D94CE7-57F2-D972-7486-254B2AFE925A}"/>
              </a:ext>
            </a:extLst>
          </p:cNvPr>
          <p:cNvSpPr txBox="1"/>
          <p:nvPr/>
        </p:nvSpPr>
        <p:spPr>
          <a:xfrm>
            <a:off x="5852160" y="16408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Unmasked repeats, or haplotigs never purged before annotation.</a:t>
            </a:r>
            <a:endParaRPr lang="en-US" sz="1300" dirty="0"/>
          </a:p>
        </p:txBody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EDEDF2ED-8015-6872-B1C8-51279463D2BA}"/>
              </a:ext>
            </a:extLst>
          </p:cNvPr>
          <p:cNvSpPr/>
          <p:nvPr/>
        </p:nvSpPr>
        <p:spPr>
          <a:xfrm>
            <a:off x="640080" y="260096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83E9ED5A-6A9B-13A5-EAAF-EDE228CD52EB}"/>
              </a:ext>
            </a:extLst>
          </p:cNvPr>
          <p:cNvSpPr/>
          <p:nvPr/>
        </p:nvSpPr>
        <p:spPr>
          <a:xfrm>
            <a:off x="868680" y="2802128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2A5E6F30-06F2-C6A6-DFBA-2D41DAC492C1}"/>
              </a:ext>
            </a:extLst>
          </p:cNvPr>
          <p:cNvSpPr txBox="1"/>
          <p:nvPr/>
        </p:nvSpPr>
        <p:spPr>
          <a:xfrm>
            <a:off x="868680" y="2802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68AE9724-97B9-D18B-4DB3-99918F33C67C}"/>
              </a:ext>
            </a:extLst>
          </p:cNvPr>
          <p:cNvSpPr txBox="1"/>
          <p:nvPr/>
        </p:nvSpPr>
        <p:spPr>
          <a:xfrm>
            <a:off x="1417320" y="260096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Truncated models, missing UTRs</a:t>
            </a:r>
            <a:endParaRPr lang="en-US" sz="1500" dirty="0"/>
          </a:p>
        </p:txBody>
      </p:sp>
      <p:sp>
        <p:nvSpPr>
          <p:cNvPr id="26" name="Text 11">
            <a:extLst>
              <a:ext uri="{FF2B5EF4-FFF2-40B4-BE49-F238E27FC236}">
                <a16:creationId xmlns:a16="http://schemas.microsoft.com/office/drawing/2014/main" id="{32BC65C9-74AC-53BC-7B1B-9BC864B3CD10}"/>
              </a:ext>
            </a:extLst>
          </p:cNvPr>
          <p:cNvSpPr txBox="1"/>
          <p:nvPr/>
        </p:nvSpPr>
        <p:spPr>
          <a:xfrm>
            <a:off x="5852160" y="26009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initio prediction without PASA transcript refinement.</a:t>
            </a:r>
            <a:endParaRPr lang="en-US" sz="1300" dirty="0"/>
          </a:p>
        </p:txBody>
      </p:sp>
      <p:sp>
        <p:nvSpPr>
          <p:cNvPr id="28" name="Shape 12">
            <a:extLst>
              <a:ext uri="{FF2B5EF4-FFF2-40B4-BE49-F238E27FC236}">
                <a16:creationId xmlns:a16="http://schemas.microsoft.com/office/drawing/2014/main" id="{84F3F6AE-CDCF-9CA4-4D03-227D583DDB40}"/>
              </a:ext>
            </a:extLst>
          </p:cNvPr>
          <p:cNvSpPr/>
          <p:nvPr/>
        </p:nvSpPr>
        <p:spPr>
          <a:xfrm>
            <a:off x="640080" y="356108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30" name="Shape 13">
            <a:extLst>
              <a:ext uri="{FF2B5EF4-FFF2-40B4-BE49-F238E27FC236}">
                <a16:creationId xmlns:a16="http://schemas.microsoft.com/office/drawing/2014/main" id="{648A4309-77CB-2FF3-0E23-9FF6243C86AA}"/>
              </a:ext>
            </a:extLst>
          </p:cNvPr>
          <p:cNvSpPr/>
          <p:nvPr/>
        </p:nvSpPr>
        <p:spPr>
          <a:xfrm>
            <a:off x="868680" y="3762248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2B61B007-4F23-F40E-07DD-45657D6369F8}"/>
              </a:ext>
            </a:extLst>
          </p:cNvPr>
          <p:cNvSpPr txBox="1"/>
          <p:nvPr/>
        </p:nvSpPr>
        <p:spPr>
          <a:xfrm>
            <a:off x="868680" y="3762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34" name="Text 15">
            <a:extLst>
              <a:ext uri="{FF2B5EF4-FFF2-40B4-BE49-F238E27FC236}">
                <a16:creationId xmlns:a16="http://schemas.microsoft.com/office/drawing/2014/main" id="{7B1EAFB9-2DCA-D002-51AE-EBD8C09B865D}"/>
              </a:ext>
            </a:extLst>
          </p:cNvPr>
          <p:cNvSpPr txBox="1"/>
          <p:nvPr/>
        </p:nvSpPr>
        <p:spPr>
          <a:xfrm>
            <a:off x="1417320" y="356108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Genes present in relatives but absent here</a:t>
            </a:r>
            <a:endParaRPr lang="en-US" sz="1500" dirty="0"/>
          </a:p>
        </p:txBody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F27FF17D-A81A-0529-6880-4FDC79EC366E}"/>
              </a:ext>
            </a:extLst>
          </p:cNvPr>
          <p:cNvSpPr txBox="1"/>
          <p:nvPr/>
        </p:nvSpPr>
        <p:spPr>
          <a:xfrm>
            <a:off x="5852160" y="356108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gap — narrow tissue sampling, no protein homology input.</a:t>
            </a:r>
            <a:endParaRPr lang="en-US" sz="1300" dirty="0"/>
          </a:p>
        </p:txBody>
      </p:sp>
      <p:sp>
        <p:nvSpPr>
          <p:cNvPr id="38" name="Shape 17">
            <a:extLst>
              <a:ext uri="{FF2B5EF4-FFF2-40B4-BE49-F238E27FC236}">
                <a16:creationId xmlns:a16="http://schemas.microsoft.com/office/drawing/2014/main" id="{C9D2C2C0-344C-03CC-DD76-C303BE061416}"/>
              </a:ext>
            </a:extLst>
          </p:cNvPr>
          <p:cNvSpPr/>
          <p:nvPr/>
        </p:nvSpPr>
        <p:spPr>
          <a:xfrm>
            <a:off x="640080" y="452120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652F556F-0CAA-1BD1-1B7A-2410C00C14A4}"/>
              </a:ext>
            </a:extLst>
          </p:cNvPr>
          <p:cNvSpPr/>
          <p:nvPr/>
        </p:nvSpPr>
        <p:spPr>
          <a:xfrm>
            <a:off x="868680" y="4722368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66727749-F661-8F22-90A2-808231E67D39}"/>
              </a:ext>
            </a:extLst>
          </p:cNvPr>
          <p:cNvSpPr txBox="1"/>
          <p:nvPr/>
        </p:nvSpPr>
        <p:spPr>
          <a:xfrm>
            <a:off x="868680" y="4722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C50B3B78-DA99-7A06-AB38-FC9775845C17}"/>
              </a:ext>
            </a:extLst>
          </p:cNvPr>
          <p:cNvSpPr txBox="1"/>
          <p:nvPr/>
        </p:nvSpPr>
        <p:spPr>
          <a:xfrm>
            <a:off x="1417320" y="45212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multi-exon genes</a:t>
            </a:r>
            <a:endParaRPr lang="en-US" sz="15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4BEACBE9-DECB-8866-77D2-F37F9E18BF64}"/>
              </a:ext>
            </a:extLst>
          </p:cNvPr>
          <p:cNvSpPr txBox="1"/>
          <p:nvPr/>
        </p:nvSpPr>
        <p:spPr>
          <a:xfrm>
            <a:off x="5852160" y="452120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base errors from an unpolished ONT assembly causing frameshifts.</a:t>
            </a:r>
            <a:endParaRPr lang="en-US" sz="1300" dirty="0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B7A9DCB8-93A0-08DF-D9D2-293D29FC9512}"/>
              </a:ext>
            </a:extLst>
          </p:cNvPr>
          <p:cNvSpPr/>
          <p:nvPr/>
        </p:nvSpPr>
        <p:spPr>
          <a:xfrm>
            <a:off x="640080" y="5481320"/>
            <a:ext cx="1088136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49AE9902-D920-0B4C-C3CD-52FFD4801CD1}"/>
              </a:ext>
            </a:extLst>
          </p:cNvPr>
          <p:cNvSpPr/>
          <p:nvPr/>
        </p:nvSpPr>
        <p:spPr>
          <a:xfrm>
            <a:off x="868680" y="5682488"/>
            <a:ext cx="411480" cy="41148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FCF76EEE-CF89-15EC-F339-54731BDD6745}"/>
              </a:ext>
            </a:extLst>
          </p:cNvPr>
          <p:cNvSpPr txBox="1"/>
          <p:nvPr/>
        </p:nvSpPr>
        <p:spPr>
          <a:xfrm>
            <a:off x="868680" y="56824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2BBFD80B-C1AC-5BE7-4A13-E700265D8C35}"/>
              </a:ext>
            </a:extLst>
          </p:cNvPr>
          <p:cNvSpPr txBox="1"/>
          <p:nvPr/>
        </p:nvSpPr>
        <p:spPr>
          <a:xfrm>
            <a:off x="1417320" y="548132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assembly BUSCO, poor proteome BUSCO</a:t>
            </a:r>
            <a:endParaRPr lang="en-US" sz="1500" dirty="0"/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72863353-A6EA-1A65-9638-9DEAB185AEDC}"/>
              </a:ext>
            </a:extLst>
          </p:cNvPr>
          <p:cNvSpPr txBox="1"/>
          <p:nvPr/>
        </p:nvSpPr>
        <p:spPr>
          <a:xfrm>
            <a:off x="5852160" y="54813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is fine; prediction is the problem. Look at Stages 8–10, not the contigs.</a:t>
            </a:r>
            <a:endParaRPr lang="en-US" sz="1300" dirty="0"/>
          </a:p>
        </p:txBody>
      </p:sp>
      <p:sp>
        <p:nvSpPr>
          <p:cNvPr id="58" name="Text 27">
            <a:extLst>
              <a:ext uri="{FF2B5EF4-FFF2-40B4-BE49-F238E27FC236}">
                <a16:creationId xmlns:a16="http://schemas.microsoft.com/office/drawing/2014/main" id="{E61919C4-82E0-B874-55D3-AD1EA35D5711}"/>
              </a:ext>
            </a:extLst>
          </p:cNvPr>
          <p:cNvSpPr txBox="1"/>
          <p:nvPr/>
        </p:nvSpPr>
        <p:spPr>
          <a:xfrm>
            <a:off x="640080" y="648716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 on the left, actual cause on the right — almost never the predictor itself.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13956468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26ED89-3F7B-E37D-31A6-EB9E8F95516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5FAE1DDB-C51F-27C0-E7D4-A3167DE1F26F}"/>
              </a:ext>
            </a:extLst>
          </p:cNvPr>
          <p:cNvSpPr txBox="1"/>
          <p:nvPr/>
        </p:nvSpPr>
        <p:spPr>
          <a:xfrm>
            <a:off x="658368" y="71526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13</a:t>
            </a:r>
            <a:endParaRPr lang="en-US" sz="1200" dirty="0"/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48AAF96A-F5E2-AA5D-58AA-A2B981CF799B}"/>
              </a:ext>
            </a:extLst>
          </p:cNvPr>
          <p:cNvSpPr txBox="1"/>
          <p:nvPr/>
        </p:nvSpPr>
        <p:spPr>
          <a:xfrm>
            <a:off x="640080" y="98044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Proving the gene set is real</a:t>
            </a:r>
            <a:endParaRPr lang="en-US" sz="3400" dirty="0">
              <a:solidFill>
                <a:schemeClr val="bg1"/>
              </a:solidFill>
            </a:endParaRPr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B4094E5E-FD5C-4432-EEDE-72C484320415}"/>
              </a:ext>
            </a:extLst>
          </p:cNvPr>
          <p:cNvSpPr/>
          <p:nvPr/>
        </p:nvSpPr>
        <p:spPr>
          <a:xfrm>
            <a:off x="640080" y="21234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9F3AB55C-9F94-C1BE-F958-F82E18984307}"/>
              </a:ext>
            </a:extLst>
          </p:cNvPr>
          <p:cNvSpPr/>
          <p:nvPr/>
        </p:nvSpPr>
        <p:spPr>
          <a:xfrm>
            <a:off x="914400" y="2397760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12" name="Text 4">
            <a:extLst>
              <a:ext uri="{FF2B5EF4-FFF2-40B4-BE49-F238E27FC236}">
                <a16:creationId xmlns:a16="http://schemas.microsoft.com/office/drawing/2014/main" id="{030F3C31-F716-64E7-9A2C-ECAEC7F136B2}"/>
              </a:ext>
            </a:extLst>
          </p:cNvPr>
          <p:cNvSpPr txBox="1"/>
          <p:nvPr/>
        </p:nvSpPr>
        <p:spPr>
          <a:xfrm>
            <a:off x="914400" y="2836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BUSCO on the proteome</a:t>
            </a:r>
            <a:endParaRPr lang="en-US" sz="16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962579C3-6308-79E8-B136-D69256B5B27D}"/>
              </a:ext>
            </a:extLst>
          </p:cNvPr>
          <p:cNvSpPr txBox="1"/>
          <p:nvPr/>
        </p:nvSpPr>
        <p:spPr>
          <a:xfrm>
            <a:off x="914400" y="3220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from the assembly run. Tests prediction, not contigs.</a:t>
            </a:r>
            <a:endParaRPr lang="en-US" sz="1300" dirty="0"/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47303609-E860-471B-22D3-F63A21752BE9}"/>
              </a:ext>
            </a:extLst>
          </p:cNvPr>
          <p:cNvSpPr/>
          <p:nvPr/>
        </p:nvSpPr>
        <p:spPr>
          <a:xfrm>
            <a:off x="4343400" y="21234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18" name="Shape 7">
            <a:extLst>
              <a:ext uri="{FF2B5EF4-FFF2-40B4-BE49-F238E27FC236}">
                <a16:creationId xmlns:a16="http://schemas.microsoft.com/office/drawing/2014/main" id="{80C859B0-2E39-DED8-A4CD-D3A5D728E58B}"/>
              </a:ext>
            </a:extLst>
          </p:cNvPr>
          <p:cNvSpPr/>
          <p:nvPr/>
        </p:nvSpPr>
        <p:spPr>
          <a:xfrm>
            <a:off x="4617720" y="2397760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0" name="Text 8">
            <a:extLst>
              <a:ext uri="{FF2B5EF4-FFF2-40B4-BE49-F238E27FC236}">
                <a16:creationId xmlns:a16="http://schemas.microsoft.com/office/drawing/2014/main" id="{59105887-0406-29A6-D780-2468AAB95061}"/>
              </a:ext>
            </a:extLst>
          </p:cNvPr>
          <p:cNvSpPr txBox="1"/>
          <p:nvPr/>
        </p:nvSpPr>
        <p:spPr>
          <a:xfrm>
            <a:off x="4617720" y="2836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AGAT</a:t>
            </a:r>
            <a:endParaRPr lang="en-US" sz="1600" dirty="0"/>
          </a:p>
        </p:txBody>
      </p:sp>
      <p:sp>
        <p:nvSpPr>
          <p:cNvPr id="22" name="Text 9">
            <a:extLst>
              <a:ext uri="{FF2B5EF4-FFF2-40B4-BE49-F238E27FC236}">
                <a16:creationId xmlns:a16="http://schemas.microsoft.com/office/drawing/2014/main" id="{1E65714F-34A5-06D9-0D49-F955D283740A}"/>
              </a:ext>
            </a:extLst>
          </p:cNvPr>
          <p:cNvSpPr txBox="1"/>
          <p:nvPr/>
        </p:nvSpPr>
        <p:spPr>
          <a:xfrm>
            <a:off x="4617720" y="3220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GFF3 validation and statistics. Every pipeline emits inconsistent formats.</a:t>
            </a:r>
            <a:endParaRPr lang="en-US" sz="1300" dirty="0"/>
          </a:p>
        </p:txBody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25ECE132-A188-FD10-783E-3AE9D1232304}"/>
              </a:ext>
            </a:extLst>
          </p:cNvPr>
          <p:cNvSpPr/>
          <p:nvPr/>
        </p:nvSpPr>
        <p:spPr>
          <a:xfrm>
            <a:off x="8046720" y="212344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26" name="Shape 11">
            <a:extLst>
              <a:ext uri="{FF2B5EF4-FFF2-40B4-BE49-F238E27FC236}">
                <a16:creationId xmlns:a16="http://schemas.microsoft.com/office/drawing/2014/main" id="{5B76E833-86B9-7921-1D74-515FE50CFA96}"/>
              </a:ext>
            </a:extLst>
          </p:cNvPr>
          <p:cNvSpPr/>
          <p:nvPr/>
        </p:nvSpPr>
        <p:spPr>
          <a:xfrm>
            <a:off x="8321040" y="2397760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28" name="Text 12">
            <a:extLst>
              <a:ext uri="{FF2B5EF4-FFF2-40B4-BE49-F238E27FC236}">
                <a16:creationId xmlns:a16="http://schemas.microsoft.com/office/drawing/2014/main" id="{80630EB0-ACAA-08FC-E69C-9B6A8C5AC311}"/>
              </a:ext>
            </a:extLst>
          </p:cNvPr>
          <p:cNvSpPr txBox="1"/>
          <p:nvPr/>
        </p:nvSpPr>
        <p:spPr>
          <a:xfrm>
            <a:off x="8321040" y="283667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Mono-exonic fraction</a:t>
            </a:r>
            <a:endParaRPr lang="en-US" sz="1600" dirty="0"/>
          </a:p>
        </p:txBody>
      </p:sp>
      <p:sp>
        <p:nvSpPr>
          <p:cNvPr id="30" name="Text 13">
            <a:extLst>
              <a:ext uri="{FF2B5EF4-FFF2-40B4-BE49-F238E27FC236}">
                <a16:creationId xmlns:a16="http://schemas.microsoft.com/office/drawing/2014/main" id="{697E16B6-10F0-3B64-3EFB-C2DD8205BEB2}"/>
              </a:ext>
            </a:extLst>
          </p:cNvPr>
          <p:cNvSpPr txBox="1"/>
          <p:nvPr/>
        </p:nvSpPr>
        <p:spPr>
          <a:xfrm>
            <a:off x="8321040" y="32207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 share of single-exon models signals TE contamination.</a:t>
            </a:r>
            <a:endParaRPr lang="en-US" sz="1300" dirty="0"/>
          </a:p>
        </p:txBody>
      </p:sp>
      <p:sp>
        <p:nvSpPr>
          <p:cNvPr id="32" name="Shape 14">
            <a:extLst>
              <a:ext uri="{FF2B5EF4-FFF2-40B4-BE49-F238E27FC236}">
                <a16:creationId xmlns:a16="http://schemas.microsoft.com/office/drawing/2014/main" id="{D4853814-F40C-8102-34C5-696EECF649CB}"/>
              </a:ext>
            </a:extLst>
          </p:cNvPr>
          <p:cNvSpPr/>
          <p:nvPr/>
        </p:nvSpPr>
        <p:spPr>
          <a:xfrm>
            <a:off x="640080" y="42722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34" name="Shape 15">
            <a:extLst>
              <a:ext uri="{FF2B5EF4-FFF2-40B4-BE49-F238E27FC236}">
                <a16:creationId xmlns:a16="http://schemas.microsoft.com/office/drawing/2014/main" id="{7BAF5B6E-60CF-D1FA-C057-9D3204BCC2C9}"/>
              </a:ext>
            </a:extLst>
          </p:cNvPr>
          <p:cNvSpPr/>
          <p:nvPr/>
        </p:nvSpPr>
        <p:spPr>
          <a:xfrm>
            <a:off x="914400" y="4546600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36" name="Text 16">
            <a:extLst>
              <a:ext uri="{FF2B5EF4-FFF2-40B4-BE49-F238E27FC236}">
                <a16:creationId xmlns:a16="http://schemas.microsoft.com/office/drawing/2014/main" id="{DD3943E7-D498-E978-BF4C-435CE8F0B3FD}"/>
              </a:ext>
            </a:extLst>
          </p:cNvPr>
          <p:cNvSpPr txBox="1"/>
          <p:nvPr/>
        </p:nvSpPr>
        <p:spPr>
          <a:xfrm>
            <a:off x="914400" y="4985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distributions</a:t>
            </a:r>
            <a:endParaRPr lang="en-US" sz="1600" dirty="0"/>
          </a:p>
        </p:txBody>
      </p:sp>
      <p:sp>
        <p:nvSpPr>
          <p:cNvPr id="38" name="Text 17">
            <a:extLst>
              <a:ext uri="{FF2B5EF4-FFF2-40B4-BE49-F238E27FC236}">
                <a16:creationId xmlns:a16="http://schemas.microsoft.com/office/drawing/2014/main" id="{4F7B68B1-4382-3777-B360-4DB17F0C0AD6}"/>
              </a:ext>
            </a:extLst>
          </p:cNvPr>
          <p:cNvSpPr txBox="1"/>
          <p:nvPr/>
        </p:nvSpPr>
        <p:spPr>
          <a:xfrm>
            <a:off x="914400" y="5369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CDS and intron distributions against a close relative.</a:t>
            </a:r>
            <a:endParaRPr lang="en-US" sz="1300" dirty="0"/>
          </a:p>
        </p:txBody>
      </p:sp>
      <p:sp>
        <p:nvSpPr>
          <p:cNvPr id="40" name="Shape 18">
            <a:extLst>
              <a:ext uri="{FF2B5EF4-FFF2-40B4-BE49-F238E27FC236}">
                <a16:creationId xmlns:a16="http://schemas.microsoft.com/office/drawing/2014/main" id="{37D56CBF-EBD0-AA5D-852D-068ACB486C68}"/>
              </a:ext>
            </a:extLst>
          </p:cNvPr>
          <p:cNvSpPr/>
          <p:nvPr/>
        </p:nvSpPr>
        <p:spPr>
          <a:xfrm>
            <a:off x="4343400" y="42722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42" name="Shape 19">
            <a:extLst>
              <a:ext uri="{FF2B5EF4-FFF2-40B4-BE49-F238E27FC236}">
                <a16:creationId xmlns:a16="http://schemas.microsoft.com/office/drawing/2014/main" id="{4561AF86-75B2-A9EE-9E77-8FF66A22439C}"/>
              </a:ext>
            </a:extLst>
          </p:cNvPr>
          <p:cNvSpPr/>
          <p:nvPr/>
        </p:nvSpPr>
        <p:spPr>
          <a:xfrm>
            <a:off x="4617720" y="4546600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472B659E-C7A3-8086-2AEC-1C968E20DA22}"/>
              </a:ext>
            </a:extLst>
          </p:cNvPr>
          <p:cNvSpPr txBox="1"/>
          <p:nvPr/>
        </p:nvSpPr>
        <p:spPr>
          <a:xfrm>
            <a:off x="4617720" y="4985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Apollo curation</a:t>
            </a:r>
            <a:endParaRPr lang="en-US" sz="1600" dirty="0"/>
          </a:p>
        </p:txBody>
      </p:sp>
      <p:sp>
        <p:nvSpPr>
          <p:cNvPr id="46" name="Text 21">
            <a:extLst>
              <a:ext uri="{FF2B5EF4-FFF2-40B4-BE49-F238E27FC236}">
                <a16:creationId xmlns:a16="http://schemas.microsoft.com/office/drawing/2014/main" id="{B5964B03-043F-3949-9AA1-31EE6A1E6476}"/>
              </a:ext>
            </a:extLst>
          </p:cNvPr>
          <p:cNvSpPr txBox="1"/>
          <p:nvPr/>
        </p:nvSpPr>
        <p:spPr>
          <a:xfrm>
            <a:off x="4617720" y="5369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Hand-check the families you actually care about — R-genes, metabolic clusters.</a:t>
            </a:r>
            <a:endParaRPr lang="en-US" sz="1300" dirty="0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57939F7D-DD3F-57CE-3197-BA579450F8ED}"/>
              </a:ext>
            </a:extLst>
          </p:cNvPr>
          <p:cNvSpPr/>
          <p:nvPr/>
        </p:nvSpPr>
        <p:spPr>
          <a:xfrm>
            <a:off x="8046720" y="4272280"/>
            <a:ext cx="34290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2D6"/>
            </a:solidFill>
            <a:prstDash val="solid"/>
          </a:ln>
        </p:spPr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C76E28F7-7D30-037C-2ACF-BE7537F48BCC}"/>
              </a:ext>
            </a:extLst>
          </p:cNvPr>
          <p:cNvSpPr/>
          <p:nvPr/>
        </p:nvSpPr>
        <p:spPr>
          <a:xfrm>
            <a:off x="8321040" y="4546600"/>
            <a:ext cx="310896" cy="310896"/>
          </a:xfrm>
          <a:prstGeom prst="ellipse">
            <a:avLst/>
          </a:prstGeom>
          <a:solidFill>
            <a:srgbClr val="97BC62"/>
          </a:solidFill>
          <a:ln/>
        </p:spPr>
      </p:sp>
      <p:sp>
        <p:nvSpPr>
          <p:cNvPr id="52" name="Text 24">
            <a:extLst>
              <a:ext uri="{FF2B5EF4-FFF2-40B4-BE49-F238E27FC236}">
                <a16:creationId xmlns:a16="http://schemas.microsoft.com/office/drawing/2014/main" id="{92E5E8C8-6CB8-A827-C140-E70F855E6B67}"/>
              </a:ext>
            </a:extLst>
          </p:cNvPr>
          <p:cNvSpPr txBox="1"/>
          <p:nvPr/>
        </p:nvSpPr>
        <p:spPr>
          <a:xfrm>
            <a:off x="8321040" y="498551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TE-domain screen</a:t>
            </a:r>
            <a:endParaRPr lang="en-US" sz="1600" dirty="0"/>
          </a:p>
        </p:txBody>
      </p:sp>
      <p:sp>
        <p:nvSpPr>
          <p:cNvPr id="54" name="Text 25">
            <a:extLst>
              <a:ext uri="{FF2B5EF4-FFF2-40B4-BE49-F238E27FC236}">
                <a16:creationId xmlns:a16="http://schemas.microsoft.com/office/drawing/2014/main" id="{DBFF739F-D163-9065-7F6E-00B6B9CF6131}"/>
              </a:ext>
            </a:extLst>
          </p:cNvPr>
          <p:cNvSpPr txBox="1"/>
          <p:nvPr/>
        </p:nvSpPr>
        <p:spPr>
          <a:xfrm>
            <a:off x="8321040" y="53695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05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InterProScan hits to transposase/RT domains flag survivors of masking.</a:t>
            </a:r>
            <a:endParaRPr lang="en-US" sz="1300" dirty="0"/>
          </a:p>
        </p:txBody>
      </p:sp>
      <p:sp>
        <p:nvSpPr>
          <p:cNvPr id="56" name="Text 26">
            <a:extLst>
              <a:ext uri="{FF2B5EF4-FFF2-40B4-BE49-F238E27FC236}">
                <a16:creationId xmlns:a16="http://schemas.microsoft.com/office/drawing/2014/main" id="{83314806-9F24-05FC-5C4E-E7422C5BE27F}"/>
              </a:ext>
            </a:extLst>
          </p:cNvPr>
          <p:cNvSpPr txBox="1"/>
          <p:nvPr/>
        </p:nvSpPr>
        <p:spPr>
          <a:xfrm>
            <a:off x="640080" y="6466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A56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pipelines are least reliable exactly where the biology is most interesting.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5425334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E93F883-ADC2-8492-E1EE-D3E9166B554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46932C-FB26-050B-185A-A1767C079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9529" y="2235480"/>
            <a:ext cx="10432942" cy="332204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09D0FC0-927A-35EF-90E0-A5E7D49CCEB5}"/>
              </a:ext>
            </a:extLst>
          </p:cNvPr>
          <p:cNvSpPr txBox="1"/>
          <p:nvPr/>
        </p:nvSpPr>
        <p:spPr>
          <a:xfrm>
            <a:off x="1107440" y="1371600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Augustus Gene predictor</a:t>
            </a:r>
          </a:p>
        </p:txBody>
      </p:sp>
    </p:spTree>
    <p:extLst>
      <p:ext uri="{BB962C8B-B14F-4D97-AF65-F5344CB8AC3E}">
        <p14:creationId xmlns:p14="http://schemas.microsoft.com/office/powerpoint/2010/main" val="534866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D49CFE-A741-A4B7-F56F-4D5B4C22C6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ECF8E1E-8C25-5F16-C71A-75B717A2BD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250" y="1112858"/>
            <a:ext cx="7683500" cy="512233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69ACE0F-AA4E-FB64-023F-C80B9C670F3D}"/>
              </a:ext>
            </a:extLst>
          </p:cNvPr>
          <p:cNvSpPr/>
          <p:nvPr/>
        </p:nvSpPr>
        <p:spPr>
          <a:xfrm>
            <a:off x="8554720" y="1112858"/>
            <a:ext cx="1383030" cy="46194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7808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33D1B1-AEA2-BB56-C8D5-8CE9C06620A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F1EC94C-35A6-A996-FA8B-EE29C3BFB606}"/>
              </a:ext>
            </a:extLst>
          </p:cNvPr>
          <p:cNvSpPr txBox="1"/>
          <p:nvPr/>
        </p:nvSpPr>
        <p:spPr>
          <a:xfrm>
            <a:off x="680720" y="1483360"/>
            <a:ext cx="6817360" cy="1477328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1. Collect Annotated Training Data</a:t>
            </a:r>
          </a:p>
          <a:p>
            <a:r>
              <a:rPr lang="en-IN" dirty="0">
                <a:solidFill>
                  <a:schemeClr val="bg1"/>
                </a:solidFill>
              </a:rPr>
              <a:t>Setup High-quality gene models are required to train AUGUSTUS.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Gather </a:t>
            </a:r>
            <a:r>
              <a:rPr lang="en-IN" b="1" dirty="0">
                <a:solidFill>
                  <a:schemeClr val="bg1"/>
                </a:solidFill>
              </a:rPr>
              <a:t>genomic sequences</a:t>
            </a:r>
            <a:r>
              <a:rPr lang="en-IN" dirty="0">
                <a:solidFill>
                  <a:schemeClr val="bg1"/>
                </a:solidFill>
              </a:rPr>
              <a:t> in FASTA format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Obtain </a:t>
            </a:r>
            <a:r>
              <a:rPr lang="en-IN" b="1" dirty="0">
                <a:solidFill>
                  <a:schemeClr val="bg1"/>
                </a:solidFill>
              </a:rPr>
              <a:t>gene annotations</a:t>
            </a:r>
            <a:r>
              <a:rPr lang="en-IN" dirty="0">
                <a:solidFill>
                  <a:schemeClr val="bg1"/>
                </a:solidFill>
              </a:rPr>
              <a:t> in GFF or GenBank format</a:t>
            </a:r>
          </a:p>
          <a:p>
            <a:pPr lvl="0"/>
            <a:r>
              <a:rPr lang="en-IN" dirty="0">
                <a:solidFill>
                  <a:schemeClr val="bg1"/>
                </a:solidFill>
              </a:rPr>
              <a:t>Ensure annotations include complete exon–intron structures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7502592-345B-F077-EEDE-BC50F5343846}"/>
              </a:ext>
            </a:extLst>
          </p:cNvPr>
          <p:cNvSpPr txBox="1"/>
          <p:nvPr/>
        </p:nvSpPr>
        <p:spPr>
          <a:xfrm>
            <a:off x="680720" y="3272750"/>
            <a:ext cx="6817360" cy="923330"/>
          </a:xfrm>
          <a:prstGeom prst="rect">
            <a:avLst/>
          </a:prstGeom>
          <a:solidFill>
            <a:srgbClr val="002060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2. Initialize Species </a:t>
            </a:r>
            <a:r>
              <a:rPr lang="en-US" dirty="0" err="1">
                <a:solidFill>
                  <a:schemeClr val="bg1"/>
                </a:solidFill>
              </a:rPr>
              <a:t>DirectoryCreate</a:t>
            </a:r>
            <a:r>
              <a:rPr lang="en-US" dirty="0">
                <a:solidFill>
                  <a:schemeClr val="bg1"/>
                </a:solidFill>
              </a:rPr>
              <a:t> a dedicated folder to store training </a:t>
            </a:r>
            <a:r>
              <a:rPr lang="en-US" dirty="0" err="1">
                <a:solidFill>
                  <a:schemeClr val="bg1"/>
                </a:solidFill>
              </a:rPr>
              <a:t>outputs.Run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mkdir</a:t>
            </a:r>
            <a:r>
              <a:rPr lang="en-US" dirty="0">
                <a:solidFill>
                  <a:schemeClr val="bg1"/>
                </a:solidFill>
              </a:rPr>
              <a:t> species/</a:t>
            </a:r>
            <a:r>
              <a:rPr lang="en-US" dirty="0" err="1">
                <a:solidFill>
                  <a:schemeClr val="bg1"/>
                </a:solidFill>
              </a:rPr>
              <a:t>new_speciesPlace</a:t>
            </a:r>
            <a:r>
              <a:rPr lang="en-US" dirty="0">
                <a:solidFill>
                  <a:schemeClr val="bg1"/>
                </a:solidFill>
              </a:rPr>
              <a:t> training files inside this </a:t>
            </a:r>
            <a:r>
              <a:rPr lang="en-US" dirty="0" err="1">
                <a:solidFill>
                  <a:schemeClr val="bg1"/>
                </a:solidFill>
              </a:rPr>
              <a:t>directoryThis</a:t>
            </a:r>
            <a:r>
              <a:rPr lang="en-US" dirty="0">
                <a:solidFill>
                  <a:schemeClr val="bg1"/>
                </a:solidFill>
              </a:rPr>
              <a:t> will hold the final .</a:t>
            </a:r>
            <a:r>
              <a:rPr lang="en-US" dirty="0" err="1">
                <a:solidFill>
                  <a:schemeClr val="bg1"/>
                </a:solidFill>
              </a:rPr>
              <a:t>pbl</a:t>
            </a:r>
            <a:r>
              <a:rPr lang="en-US" dirty="0">
                <a:solidFill>
                  <a:schemeClr val="bg1"/>
                </a:solidFill>
              </a:rPr>
              <a:t> file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C58310F-80F1-E1D9-C401-B37F53865353}"/>
              </a:ext>
            </a:extLst>
          </p:cNvPr>
          <p:cNvSpPr txBox="1"/>
          <p:nvPr/>
        </p:nvSpPr>
        <p:spPr>
          <a:xfrm>
            <a:off x="680720" y="4389120"/>
            <a:ext cx="6817360" cy="120032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3. Run </a:t>
            </a:r>
            <a:r>
              <a:rPr lang="en-IN" dirty="0" err="1">
                <a:solidFill>
                  <a:schemeClr val="bg1"/>
                </a:solidFill>
              </a:rPr>
              <a:t>etrainingEstimate</a:t>
            </a:r>
            <a:r>
              <a:rPr lang="en-IN" dirty="0">
                <a:solidFill>
                  <a:schemeClr val="bg1"/>
                </a:solidFill>
              </a:rPr>
              <a:t> initial parameters from annotated gene </a:t>
            </a:r>
            <a:r>
              <a:rPr lang="en-IN" dirty="0" err="1">
                <a:solidFill>
                  <a:schemeClr val="bg1"/>
                </a:solidFill>
              </a:rPr>
              <a:t>models.Execute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etraining</a:t>
            </a:r>
            <a:r>
              <a:rPr lang="en-IN" dirty="0">
                <a:solidFill>
                  <a:schemeClr val="bg1"/>
                </a:solidFill>
              </a:rPr>
              <a:t> --species=</a:t>
            </a:r>
            <a:r>
              <a:rPr lang="en-IN" dirty="0" err="1">
                <a:solidFill>
                  <a:schemeClr val="bg1"/>
                </a:solidFill>
              </a:rPr>
              <a:t>new_species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training.gbk</a:t>
            </a:r>
            <a:endParaRPr lang="en-IN" dirty="0">
              <a:solidFill>
                <a:schemeClr val="bg1"/>
              </a:solidFill>
            </a:endParaRPr>
          </a:p>
          <a:p>
            <a:r>
              <a:rPr lang="en-IN" dirty="0">
                <a:solidFill>
                  <a:schemeClr val="bg1"/>
                </a:solidFill>
              </a:rPr>
              <a:t>Generates preliminary parameter files. Check logs for malformed or incomplete gene models</a:t>
            </a:r>
          </a:p>
        </p:txBody>
      </p:sp>
    </p:spTree>
    <p:extLst>
      <p:ext uri="{BB962C8B-B14F-4D97-AF65-F5344CB8AC3E}">
        <p14:creationId xmlns:p14="http://schemas.microsoft.com/office/powerpoint/2010/main" val="38360243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57CB948-4231-D689-97E3-FF5B1F5B4E3B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/>
        <p:txBody>
          <a:bodyPr/>
          <a:lstStyle/>
          <a:p>
            <a:pPr algn="r"/>
            <a:r>
              <a:rPr lang="en-US"/>
              <a:t>(#)</a:t>
            </a:r>
          </a:p>
          <a:p>
            <a:pPr algn="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DB14DE6-FD30-516D-C955-AFEB007B8F91}"/>
              </a:ext>
            </a:extLst>
          </p:cNvPr>
          <p:cNvSpPr txBox="1"/>
          <p:nvPr/>
        </p:nvSpPr>
        <p:spPr>
          <a:xfrm>
            <a:off x="640080" y="1625600"/>
            <a:ext cx="9773920" cy="120032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</a:rPr>
              <a:t>4. Optimize Parameters</a:t>
            </a:r>
          </a:p>
          <a:p>
            <a:r>
              <a:rPr lang="en-IN" dirty="0">
                <a:solidFill>
                  <a:schemeClr val="bg1"/>
                </a:solidFill>
              </a:rPr>
              <a:t>Refinement Iteratively refine parameters for accuracy.</a:t>
            </a:r>
          </a:p>
          <a:p>
            <a:r>
              <a:rPr lang="en-IN" dirty="0">
                <a:solidFill>
                  <a:schemeClr val="bg1"/>
                </a:solidFill>
              </a:rPr>
              <a:t>Run optimize_augustus.pl --species=</a:t>
            </a:r>
            <a:r>
              <a:rPr lang="en-IN" dirty="0" err="1">
                <a:solidFill>
                  <a:schemeClr val="bg1"/>
                </a:solidFill>
              </a:rPr>
              <a:t>new_species</a:t>
            </a:r>
            <a:r>
              <a:rPr lang="en-IN" dirty="0">
                <a:solidFill>
                  <a:schemeClr val="bg1"/>
                </a:solidFill>
              </a:rPr>
              <a:t> </a:t>
            </a:r>
            <a:r>
              <a:rPr lang="en-IN" dirty="0" err="1">
                <a:solidFill>
                  <a:schemeClr val="bg1"/>
                </a:solidFill>
              </a:rPr>
              <a:t>training.gbkScript</a:t>
            </a:r>
            <a:r>
              <a:rPr lang="en-IN" dirty="0">
                <a:solidFill>
                  <a:schemeClr val="bg1"/>
                </a:solidFill>
              </a:rPr>
              <a:t> runs AUGUSTUS multiple times</a:t>
            </a:r>
          </a:p>
          <a:p>
            <a:r>
              <a:rPr lang="en-IN" dirty="0">
                <a:solidFill>
                  <a:schemeClr val="bg1"/>
                </a:solidFill>
              </a:rPr>
              <a:t>Produces optimized .</a:t>
            </a:r>
            <a:r>
              <a:rPr lang="en-IN" dirty="0" err="1">
                <a:solidFill>
                  <a:schemeClr val="bg1"/>
                </a:solidFill>
              </a:rPr>
              <a:t>pbl</a:t>
            </a:r>
            <a:r>
              <a:rPr lang="en-IN" dirty="0">
                <a:solidFill>
                  <a:schemeClr val="bg1"/>
                </a:solidFill>
              </a:rPr>
              <a:t> file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4FF9FD-03E0-3608-8560-24710E1415AF}"/>
              </a:ext>
            </a:extLst>
          </p:cNvPr>
          <p:cNvSpPr txBox="1"/>
          <p:nvPr/>
        </p:nvSpPr>
        <p:spPr>
          <a:xfrm>
            <a:off x="640080" y="3108960"/>
            <a:ext cx="9773920" cy="120032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5. Validate the Model </a:t>
            </a:r>
          </a:p>
          <a:p>
            <a:r>
              <a:rPr lang="en-US" dirty="0">
                <a:solidFill>
                  <a:schemeClr val="bg1"/>
                </a:solidFill>
              </a:rPr>
              <a:t>Test predictions against independent datasets.</a:t>
            </a:r>
          </a:p>
          <a:p>
            <a:r>
              <a:rPr lang="en-US" dirty="0">
                <a:solidFill>
                  <a:schemeClr val="bg1"/>
                </a:solidFill>
              </a:rPr>
              <a:t>Run </a:t>
            </a:r>
            <a:r>
              <a:rPr lang="en-US" dirty="0" err="1">
                <a:solidFill>
                  <a:schemeClr val="bg1"/>
                </a:solidFill>
              </a:rPr>
              <a:t>augustus</a:t>
            </a:r>
            <a:r>
              <a:rPr lang="en-US" dirty="0">
                <a:solidFill>
                  <a:schemeClr val="bg1"/>
                </a:solidFill>
              </a:rPr>
              <a:t> --species=</a:t>
            </a:r>
            <a:r>
              <a:rPr lang="en-US" dirty="0" err="1">
                <a:solidFill>
                  <a:schemeClr val="bg1"/>
                </a:solidFill>
              </a:rPr>
              <a:t>new_species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test.faCompare</a:t>
            </a:r>
            <a:r>
              <a:rPr lang="en-US" dirty="0">
                <a:solidFill>
                  <a:schemeClr val="bg1"/>
                </a:solidFill>
              </a:rPr>
              <a:t> predictions with known </a:t>
            </a:r>
            <a:r>
              <a:rPr lang="en-US" dirty="0" err="1">
                <a:solidFill>
                  <a:schemeClr val="bg1"/>
                </a:solidFill>
              </a:rPr>
              <a:t>annotationsUse</a:t>
            </a:r>
            <a:r>
              <a:rPr lang="en-US" dirty="0">
                <a:solidFill>
                  <a:schemeClr val="bg1"/>
                </a:solidFill>
              </a:rPr>
              <a:t> tools like BUSCO or Eval for benchmarking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3F7763-44BB-E44E-7E79-AFCAB87DF022}"/>
              </a:ext>
            </a:extLst>
          </p:cNvPr>
          <p:cNvSpPr txBox="1"/>
          <p:nvPr/>
        </p:nvSpPr>
        <p:spPr>
          <a:xfrm>
            <a:off x="640080" y="4493399"/>
            <a:ext cx="9773920" cy="1200329"/>
          </a:xfrm>
          <a:prstGeom prst="rect">
            <a:avLst/>
          </a:prstGeom>
          <a:solidFill>
            <a:srgbClr val="002060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6. Deploy Trained .</a:t>
            </a:r>
            <a:r>
              <a:rPr lang="en-US" dirty="0" err="1">
                <a:solidFill>
                  <a:schemeClr val="bg1"/>
                </a:solidFill>
              </a:rPr>
              <a:t>pbl</a:t>
            </a:r>
            <a:r>
              <a:rPr lang="en-US" dirty="0">
                <a:solidFill>
                  <a:schemeClr val="bg1"/>
                </a:solidFill>
              </a:rPr>
              <a:t> File</a:t>
            </a:r>
          </a:p>
          <a:p>
            <a:r>
              <a:rPr lang="en-US" dirty="0">
                <a:solidFill>
                  <a:schemeClr val="bg1"/>
                </a:solidFill>
              </a:rPr>
              <a:t>Ready</a:t>
            </a:r>
          </a:p>
          <a:p>
            <a:r>
              <a:rPr lang="en-US" dirty="0">
                <a:solidFill>
                  <a:schemeClr val="bg1"/>
                </a:solidFill>
              </a:rPr>
              <a:t>Use the new species-specific model for </a:t>
            </a:r>
            <a:r>
              <a:rPr lang="en-US" dirty="0" err="1">
                <a:solidFill>
                  <a:schemeClr val="bg1"/>
                </a:solidFill>
              </a:rPr>
              <a:t>predictions.The</a:t>
            </a:r>
            <a:r>
              <a:rPr lang="en-US" dirty="0">
                <a:solidFill>
                  <a:schemeClr val="bg1"/>
                </a:solidFill>
              </a:rPr>
              <a:t> .</a:t>
            </a:r>
            <a:r>
              <a:rPr lang="en-US" dirty="0" err="1">
                <a:solidFill>
                  <a:schemeClr val="bg1"/>
                </a:solidFill>
              </a:rPr>
              <a:t>pbl</a:t>
            </a:r>
            <a:r>
              <a:rPr lang="en-US" dirty="0">
                <a:solidFill>
                  <a:schemeClr val="bg1"/>
                </a:solidFill>
              </a:rPr>
              <a:t> file is stored in species/</a:t>
            </a:r>
            <a:r>
              <a:rPr lang="en-US" dirty="0" err="1">
                <a:solidFill>
                  <a:schemeClr val="bg1"/>
                </a:solidFill>
              </a:rPr>
              <a:t>new_species</a:t>
            </a:r>
            <a:r>
              <a:rPr lang="en-US" dirty="0">
                <a:solidFill>
                  <a:schemeClr val="bg1"/>
                </a:solidFill>
              </a:rPr>
              <a:t>/Apply it for gene prediction on unannotated genomes. Ensure consistent accuracy across datasets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2859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</TotalTime>
  <Words>1205</Words>
  <Application>Microsoft Office PowerPoint</Application>
  <PresentationFormat>Widescreen</PresentationFormat>
  <Paragraphs>200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Aptos</vt:lpstr>
      <vt:lpstr>Arial</vt:lpstr>
      <vt:lpstr>Calibri</vt:lpstr>
      <vt:lpstr>Cambria</vt:lpstr>
      <vt:lpstr>Garamond</vt:lpstr>
      <vt:lpstr>Georgia</vt:lpstr>
      <vt:lpstr>Symbol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Sucheta Tripathi</cp:lastModifiedBy>
  <cp:revision>36</cp:revision>
  <dcterms:created xsi:type="dcterms:W3CDTF">2026-08-25T11:32:45Z</dcterms:created>
  <dcterms:modified xsi:type="dcterms:W3CDTF">2026-09-01T03:24:26Z</dcterms:modified>
</cp:coreProperties>
</file>