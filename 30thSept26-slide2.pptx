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4" r:id="rId3"/>
    <p:sldId id="258" r:id="rId4"/>
    <p:sldId id="260" r:id="rId5"/>
    <p:sldId id="261" r:id="rId6"/>
    <p:sldId id="259" r:id="rId7"/>
    <p:sldId id="262" r:id="rId8"/>
    <p:sldId id="263" r:id="rId9"/>
    <p:sldId id="265" r:id="rId10"/>
    <p:sldId id="268" r:id="rId11"/>
    <p:sldId id="269" r:id="rId12"/>
    <p:sldId id="270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57133" y="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</a:t>
            </a:r>
            <a:r>
              <a:rPr lang="en-US" sz="2000" b="0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HackWeek</a:t>
            </a: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 2026</a:t>
            </a:r>
            <a:endParaRPr lang="en-US" sz="2000" b="0" dirty="0">
              <a:ln w="3175">
                <a:solidFill>
                  <a:schemeClr val="bg1"/>
                </a:solidFill>
              </a:ln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39412" y="364661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Sucheta Tripathy</a:t>
            </a: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Introductory session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594184B-97E5-A005-FEF9-A98D48E9E240}"/>
              </a:ext>
            </a:extLst>
          </p:cNvPr>
          <p:cNvSpPr txBox="1"/>
          <p:nvPr userDrawn="1"/>
        </p:nvSpPr>
        <p:spPr>
          <a:xfrm>
            <a:off x="59436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and Linux for data handling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96C7186-E812-E557-B46C-7CA7E5E46626}"/>
              </a:ext>
            </a:extLst>
          </p:cNvPr>
          <p:cNvSpPr txBox="1"/>
          <p:nvPr userDrawn="1"/>
        </p:nvSpPr>
        <p:spPr>
          <a:xfrm>
            <a:off x="594360" y="18288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 with Linux/Unix</a:t>
            </a:r>
            <a:endParaRPr lang="en-US" sz="5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E811023-5C86-9E80-6865-055FDB97D9FD}"/>
              </a:ext>
            </a:extLst>
          </p:cNvPr>
          <p:cNvSpPr txBox="1"/>
          <p:nvPr userDrawn="1"/>
        </p:nvSpPr>
        <p:spPr>
          <a:xfrm>
            <a:off x="59436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how DNA becomes data.  Part 2 — how data becomes biology.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57133" y="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</a:t>
            </a:r>
            <a:r>
              <a:rPr lang="en-US" sz="2000" b="0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HackWeek</a:t>
            </a: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 2026</a:t>
            </a:r>
            <a:endParaRPr lang="en-US" sz="2000" b="0" dirty="0">
              <a:ln w="3175">
                <a:solidFill>
                  <a:schemeClr val="bg1"/>
                </a:solidFill>
              </a:ln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39412" y="364661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Sucheta Tripathy</a:t>
            </a: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Introductory session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594184B-97E5-A005-FEF9-A98D48E9E240}"/>
              </a:ext>
            </a:extLst>
          </p:cNvPr>
          <p:cNvSpPr txBox="1"/>
          <p:nvPr userDrawn="1"/>
        </p:nvSpPr>
        <p:spPr>
          <a:xfrm>
            <a:off x="2357133" y="821861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with </a:t>
            </a:r>
            <a:r>
              <a:rPr lang="en-US" sz="1200" b="1" kern="0" spc="300" dirty="0" err="1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b="1" kern="0" spc="300" dirty="0" err="1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E811023-5C86-9E80-6865-055FDB97D9FD}"/>
              </a:ext>
            </a:extLst>
          </p:cNvPr>
          <p:cNvSpPr txBox="1"/>
          <p:nvPr userDrawn="1"/>
        </p:nvSpPr>
        <p:spPr>
          <a:xfrm>
            <a:off x="338328" y="62332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how DNA becomes data.  Part 2 — how data becomes biology.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346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934D-A8E7-F550-3956-892B7BF0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505A01-F7C9-4117-B7B1-729CE9146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0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-2072640" y="609803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5AACC3-96EF-E431-4B63-97415DC295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2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B876BD-DC90-0DE6-8DF3-AEFE599B76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5A1B4-EF01-C5CB-AEC1-C4F1EED4BD20}"/>
              </a:ext>
            </a:extLst>
          </p:cNvPr>
          <p:cNvSpPr txBox="1"/>
          <p:nvPr/>
        </p:nvSpPr>
        <p:spPr>
          <a:xfrm>
            <a:off x="233680" y="1690430"/>
            <a:ext cx="1116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Piping/SED/AWK/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3F60-4CA0-B7D3-F917-D9A1A1F3B60A}"/>
              </a:ext>
            </a:extLst>
          </p:cNvPr>
          <p:cNvSpPr txBox="1"/>
          <p:nvPr/>
        </p:nvSpPr>
        <p:spPr>
          <a:xfrm>
            <a:off x="426720" y="4254400"/>
            <a:ext cx="460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Output of a command is passed as input of another</a:t>
            </a:r>
          </a:p>
          <a:p>
            <a:r>
              <a:rPr lang="en-IN" dirty="0">
                <a:solidFill>
                  <a:srgbClr val="FFFF00"/>
                </a:solidFill>
              </a:rPr>
              <a:t>ls | </a:t>
            </a:r>
            <a:r>
              <a:rPr lang="en-IN" dirty="0" err="1">
                <a:solidFill>
                  <a:srgbClr val="FFFF00"/>
                </a:solidFill>
              </a:rPr>
              <a:t>wc</a:t>
            </a:r>
            <a:r>
              <a:rPr lang="en-IN" dirty="0">
                <a:solidFill>
                  <a:srgbClr val="FFFF00"/>
                </a:solidFill>
              </a:rPr>
              <a:t> -l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B6EDB-3322-48C9-0662-0273B8664599}"/>
              </a:ext>
            </a:extLst>
          </p:cNvPr>
          <p:cNvSpPr txBox="1"/>
          <p:nvPr/>
        </p:nvSpPr>
        <p:spPr>
          <a:xfrm>
            <a:off x="233680" y="2448560"/>
            <a:ext cx="757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Windows subsystem for </a:t>
            </a:r>
            <a:r>
              <a:rPr lang="en-IN" dirty="0" err="1">
                <a:solidFill>
                  <a:schemeClr val="bg2"/>
                </a:solidFill>
              </a:rPr>
              <a:t>linux</a:t>
            </a:r>
            <a:r>
              <a:rPr lang="en-IN" dirty="0">
                <a:solidFill>
                  <a:schemeClr val="bg2"/>
                </a:solidFill>
              </a:rPr>
              <a:t> (</a:t>
            </a:r>
            <a:r>
              <a:rPr lang="en-IN" dirty="0" err="1">
                <a:solidFill>
                  <a:schemeClr val="bg2"/>
                </a:solidFill>
              </a:rPr>
              <a:t>wsl</a:t>
            </a:r>
            <a:r>
              <a:rPr lang="en-IN" dirty="0">
                <a:solidFill>
                  <a:schemeClr val="bg2"/>
                </a:solidFill>
              </a:rPr>
              <a:t>): From your power shell launch : </a:t>
            </a:r>
            <a:r>
              <a:rPr lang="en-IN" dirty="0" err="1">
                <a:solidFill>
                  <a:schemeClr val="bg2"/>
                </a:solidFill>
              </a:rPr>
              <a:t>wsl</a:t>
            </a:r>
            <a:r>
              <a:rPr lang="en-IN" dirty="0">
                <a:solidFill>
                  <a:schemeClr val="bg2"/>
                </a:solidFill>
              </a:rPr>
              <a:t> –install</a:t>
            </a:r>
          </a:p>
          <a:p>
            <a:r>
              <a:rPr lang="en-IN" dirty="0">
                <a:solidFill>
                  <a:schemeClr val="bg2"/>
                </a:solidFill>
              </a:rPr>
              <a:t>A user will be created and you can setup your own password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72BA8-E700-972D-FD8F-9C6E8B25B19A}"/>
              </a:ext>
            </a:extLst>
          </p:cNvPr>
          <p:cNvSpPr txBox="1"/>
          <p:nvPr/>
        </p:nvSpPr>
        <p:spPr>
          <a:xfrm>
            <a:off x="233680" y="3342640"/>
            <a:ext cx="494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Launch it by </a:t>
            </a:r>
            <a:r>
              <a:rPr lang="en-IN" dirty="0">
                <a:solidFill>
                  <a:srgbClr val="FFFF00"/>
                </a:solidFill>
              </a:rPr>
              <a:t>wsl.exe –d ubuntu</a:t>
            </a:r>
          </a:p>
        </p:txBody>
      </p:sp>
    </p:spTree>
    <p:extLst>
      <p:ext uri="{BB962C8B-B14F-4D97-AF65-F5344CB8AC3E}">
        <p14:creationId xmlns:p14="http://schemas.microsoft.com/office/powerpoint/2010/main" val="332554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57419-E5A3-6860-3281-C7F9FADA02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4E9DD-43FC-9A18-1F8E-1C55148813E7}"/>
              </a:ext>
            </a:extLst>
          </p:cNvPr>
          <p:cNvSpPr txBox="1"/>
          <p:nvPr/>
        </p:nvSpPr>
        <p:spPr>
          <a:xfrm>
            <a:off x="1534160" y="1259840"/>
            <a:ext cx="38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</a:rPr>
              <a:t>Sed is a stream 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D38E9-2795-C1BE-2168-AB65C6BD9DF4}"/>
              </a:ext>
            </a:extLst>
          </p:cNvPr>
          <p:cNvSpPr txBox="1"/>
          <p:nvPr/>
        </p:nvSpPr>
        <p:spPr>
          <a:xfrm>
            <a:off x="1310640" y="2007344"/>
            <a:ext cx="65633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2"/>
                </a:solidFill>
              </a:rPr>
              <a:t>Substitution</a:t>
            </a:r>
          </a:p>
          <a:p>
            <a:r>
              <a:rPr lang="en-US" dirty="0">
                <a:solidFill>
                  <a:schemeClr val="bg2"/>
                </a:solidFill>
              </a:rPr>
              <a:t>sed 's/regex/replacement/g;' file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Deleting</a:t>
            </a:r>
          </a:p>
          <a:p>
            <a:endParaRPr lang="en-US" b="1" u="sng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sed '5d'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‘1,5d'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'12,$d' filename.txt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Insert Text</a:t>
            </a:r>
          </a:p>
          <a:p>
            <a:r>
              <a:rPr lang="en-US" dirty="0">
                <a:solidFill>
                  <a:schemeClr val="bg2"/>
                </a:solidFill>
              </a:rPr>
              <a:t>sed '3i\new text'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'3a\new text' filename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11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777B6-8945-2872-52EC-89753EC559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CFD6B-FFFA-C5A8-1AB9-C74642F175C8}"/>
              </a:ext>
            </a:extLst>
          </p:cNvPr>
          <p:cNvSpPr txBox="1"/>
          <p:nvPr/>
        </p:nvSpPr>
        <p:spPr>
          <a:xfrm>
            <a:off x="294640" y="1503680"/>
            <a:ext cx="1118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AWK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stands for the surnames of its three original creators: Alfred </a:t>
            </a:r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Aho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Peter </a:t>
            </a:r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Weinberger,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and Brian </a:t>
            </a:r>
            <a:r>
              <a:rPr lang="en-US" b="1" u="sng" dirty="0">
                <a:solidFill>
                  <a:srgbClr val="00B050"/>
                </a:solidFill>
              </a:rPr>
              <a:t>Kernighan</a:t>
            </a:r>
            <a:endParaRPr lang="en-IN" b="1" u="sng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77824-33E6-89A2-356E-E42AAF071315}"/>
              </a:ext>
            </a:extLst>
          </p:cNvPr>
          <p:cNvSpPr txBox="1"/>
          <p:nvPr/>
        </p:nvSpPr>
        <p:spPr>
          <a:xfrm>
            <a:off x="396240" y="2367280"/>
            <a:ext cx="623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awk -F '\t' '{print $1}' </a:t>
            </a:r>
            <a:r>
              <a:rPr lang="en-US" dirty="0" err="1">
                <a:solidFill>
                  <a:srgbClr val="FFFF00"/>
                </a:solidFill>
              </a:rPr>
              <a:t>Genbank.gff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1C3CE-30B2-8622-558E-3912782E035E}"/>
              </a:ext>
            </a:extLst>
          </p:cNvPr>
          <p:cNvSpPr txBox="1"/>
          <p:nvPr/>
        </p:nvSpPr>
        <p:spPr>
          <a:xfrm>
            <a:off x="548640" y="3190240"/>
            <a:ext cx="726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Built in variables in awk ..</a:t>
            </a:r>
          </a:p>
          <a:p>
            <a:r>
              <a:rPr lang="en-IN" b="1" dirty="0">
                <a:solidFill>
                  <a:srgbClr val="FFFF00"/>
                </a:solidFill>
              </a:rPr>
              <a:t>$0, $1, $2, ...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>
                <a:solidFill>
                  <a:srgbClr val="FFFF00"/>
                </a:solidFill>
              </a:rPr>
              <a:t>NR (Number of Records)</a:t>
            </a:r>
          </a:p>
          <a:p>
            <a:r>
              <a:rPr lang="en-IN" b="1" dirty="0">
                <a:solidFill>
                  <a:srgbClr val="FFFF00"/>
                </a:solidFill>
              </a:rPr>
              <a:t>NF (Number of Fields)</a:t>
            </a:r>
          </a:p>
          <a:p>
            <a:r>
              <a:rPr lang="en-IN" b="1" dirty="0">
                <a:solidFill>
                  <a:srgbClr val="FFFF00"/>
                </a:solidFill>
              </a:rPr>
              <a:t>FS (Field Separator)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>
                <a:solidFill>
                  <a:srgbClr val="FFFF00"/>
                </a:solidFill>
              </a:rPr>
              <a:t>awk '/serine protease/ {print}' </a:t>
            </a:r>
            <a:r>
              <a:rPr lang="en-IN" b="1" dirty="0" err="1">
                <a:solidFill>
                  <a:srgbClr val="FFFF00"/>
                </a:solidFill>
              </a:rPr>
              <a:t>Genbank.gff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65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CA09E-69DF-1757-43CF-B25CF3BC6E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C6788-39A5-A604-D179-38EC3001B51B}"/>
              </a:ext>
            </a:extLst>
          </p:cNvPr>
          <p:cNvSpPr txBox="1"/>
          <p:nvPr/>
        </p:nvSpPr>
        <p:spPr>
          <a:xfrm>
            <a:off x="995680" y="1288534"/>
            <a:ext cx="834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chemeClr val="bg2"/>
                </a:solidFill>
              </a:rPr>
              <a:t>Piping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1ADC5-ECA6-8DC0-4497-F3091B6F0A82}"/>
              </a:ext>
            </a:extLst>
          </p:cNvPr>
          <p:cNvSpPr txBox="1"/>
          <p:nvPr/>
        </p:nvSpPr>
        <p:spPr>
          <a:xfrm>
            <a:off x="843280" y="2091730"/>
            <a:ext cx="6979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What if I have a doc file and I want to make it a text file</a:t>
            </a:r>
          </a:p>
          <a:p>
            <a:r>
              <a:rPr lang="en-IN" sz="2000" dirty="0">
                <a:solidFill>
                  <a:srgbClr val="FFFF00"/>
                </a:solidFill>
              </a:rPr>
              <a:t>unzip -p file.docx word/document.xml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-e 's/&lt;[^&gt;]*&gt;//g' &gt; file.txt</a:t>
            </a:r>
          </a:p>
          <a:p>
            <a:endParaRPr lang="en-IN" sz="2000" dirty="0">
              <a:solidFill>
                <a:srgbClr val="FFFF00"/>
              </a:solidFill>
            </a:endParaRPr>
          </a:p>
          <a:p>
            <a:r>
              <a:rPr lang="en-IN" sz="2000" dirty="0">
                <a:solidFill>
                  <a:schemeClr val="bg2"/>
                </a:solidFill>
              </a:rPr>
              <a:t>Or for a clean removal</a:t>
            </a:r>
          </a:p>
          <a:p>
            <a:r>
              <a:rPr lang="en-IN" sz="2000" dirty="0">
                <a:solidFill>
                  <a:srgbClr val="FFFF00"/>
                </a:solidFill>
              </a:rPr>
              <a:t>unzip -p file.zip word/document.xml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's/&lt;\/</a:t>
            </a:r>
            <a:r>
              <a:rPr lang="en-IN" sz="2000" dirty="0" err="1">
                <a:solidFill>
                  <a:srgbClr val="FFFF00"/>
                </a:solidFill>
              </a:rPr>
              <a:t>w:p</a:t>
            </a:r>
            <a:r>
              <a:rPr lang="en-IN" sz="2000" dirty="0">
                <a:solidFill>
                  <a:srgbClr val="FFFF00"/>
                </a:solidFill>
              </a:rPr>
              <a:t>&gt;/\n/g'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's/&lt;[^&gt;]*&gt;//g'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's/&amp;[^;]*;//g' &gt; clean_text.txt</a:t>
            </a:r>
          </a:p>
          <a:p>
            <a:endParaRPr lang="en-IN" sz="2000" dirty="0">
              <a:solidFill>
                <a:srgbClr val="FFFF00"/>
              </a:solidFill>
            </a:endParaRPr>
          </a:p>
          <a:p>
            <a:r>
              <a:rPr lang="en-IN" sz="2000" dirty="0">
                <a:solidFill>
                  <a:schemeClr val="bg2"/>
                </a:solidFill>
              </a:rPr>
              <a:t>Count unique words in a huge file</a:t>
            </a:r>
          </a:p>
          <a:p>
            <a:r>
              <a:rPr lang="en-IN" sz="2000" dirty="0">
                <a:solidFill>
                  <a:srgbClr val="FFFF00"/>
                </a:solidFill>
              </a:rPr>
              <a:t>cat bigfile.txt | tr -s ' ' '\n' | sort | </a:t>
            </a:r>
            <a:r>
              <a:rPr lang="en-IN" sz="2000" dirty="0" err="1">
                <a:solidFill>
                  <a:srgbClr val="FFFF00"/>
                </a:solidFill>
              </a:rPr>
              <a:t>uniq</a:t>
            </a:r>
            <a:r>
              <a:rPr lang="en-IN" sz="2000" dirty="0">
                <a:solidFill>
                  <a:srgbClr val="FFFF00"/>
                </a:solidFill>
              </a:rPr>
              <a:t> -c | sort -nr | head</a:t>
            </a:r>
          </a:p>
        </p:txBody>
      </p:sp>
    </p:spTree>
    <p:extLst>
      <p:ext uri="{BB962C8B-B14F-4D97-AF65-F5344CB8AC3E}">
        <p14:creationId xmlns:p14="http://schemas.microsoft.com/office/powerpoint/2010/main" val="11253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06A65-5910-50E2-35E6-61F9503C78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98D37-99B8-002F-F994-A432A666DFA8}"/>
              </a:ext>
            </a:extLst>
          </p:cNvPr>
          <p:cNvSpPr txBox="1"/>
          <p:nvPr/>
        </p:nvSpPr>
        <p:spPr>
          <a:xfrm>
            <a:off x="1016000" y="1554480"/>
            <a:ext cx="731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Piping</a:t>
            </a:r>
          </a:p>
          <a:p>
            <a:endParaRPr lang="en-IN" b="1" u="sng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largest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cat  74cds.fa | awk '{ print length, $0 }' | sort -nr | head -1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shortest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awk '{ print length, $0 }' 74cds.fa | sort -n | head -1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length of the largest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awk '{ if (length($0) &gt; max) max = length($0) } END { print max }’ 74cds.fa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sequences larger than certain bases</a:t>
            </a:r>
          </a:p>
          <a:p>
            <a:r>
              <a:rPr lang="en-US" dirty="0">
                <a:solidFill>
                  <a:schemeClr val="bg1"/>
                </a:solidFill>
              </a:rPr>
              <a:t>awk 'length($0) &gt; 100’ 74cds.fa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sequences between a certain range</a:t>
            </a:r>
          </a:p>
          <a:p>
            <a:r>
              <a:rPr lang="en-IN" dirty="0">
                <a:solidFill>
                  <a:schemeClr val="bg1"/>
                </a:solidFill>
              </a:rPr>
              <a:t>awk 'length($0) &gt;= 40 &amp;&amp; length($0) &lt;= 50’ 74cds.fa</a:t>
            </a:r>
          </a:p>
        </p:txBody>
      </p:sp>
    </p:spTree>
    <p:extLst>
      <p:ext uri="{BB962C8B-B14F-4D97-AF65-F5344CB8AC3E}">
        <p14:creationId xmlns:p14="http://schemas.microsoft.com/office/powerpoint/2010/main" val="174813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C841AE-315C-3173-ABC6-02D3A358A6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26C4C-F2C6-D868-17C8-2266980AA540}"/>
              </a:ext>
            </a:extLst>
          </p:cNvPr>
          <p:cNvSpPr txBox="1"/>
          <p:nvPr/>
        </p:nvSpPr>
        <p:spPr>
          <a:xfrm>
            <a:off x="894080" y="1513840"/>
            <a:ext cx="8696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Remove any unwanted character from sequence file: </a:t>
            </a:r>
          </a:p>
          <a:p>
            <a:r>
              <a:rPr lang="en-US" dirty="0">
                <a:solidFill>
                  <a:schemeClr val="bg1"/>
                </a:solidFill>
              </a:rPr>
              <a:t>sed '/^&gt;/! s/[^ATGC]//g' </a:t>
            </a:r>
            <a:r>
              <a:rPr lang="en-US" dirty="0" err="1">
                <a:solidFill>
                  <a:schemeClr val="bg1"/>
                </a:solidFill>
              </a:rPr>
              <a:t>sequences.fasta</a:t>
            </a:r>
            <a:r>
              <a:rPr lang="en-US" dirty="0">
                <a:solidFill>
                  <a:schemeClr val="bg1"/>
                </a:solidFill>
              </a:rPr>
              <a:t> &gt; </a:t>
            </a:r>
            <a:r>
              <a:rPr lang="en-US" dirty="0" err="1">
                <a:solidFill>
                  <a:schemeClr val="bg1"/>
                </a:solidFill>
              </a:rPr>
              <a:t>cleaned.fasta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2. Count sequence lengths with awk</a:t>
            </a:r>
          </a:p>
          <a:p>
            <a:r>
              <a:rPr lang="en-US" dirty="0">
                <a:solidFill>
                  <a:schemeClr val="bg1"/>
                </a:solidFill>
              </a:rPr>
              <a:t>awk '/^&gt;/ {header=$0; next} {print header, "Length:", length($0)}' </a:t>
            </a:r>
            <a:r>
              <a:rPr lang="en-US" dirty="0" err="1">
                <a:solidFill>
                  <a:schemeClr val="bg1"/>
                </a:solidFill>
              </a:rPr>
              <a:t>cleaned.fasta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3. GC content calculation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awk '/^&gt;/ {header=$0; next} {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gc</a:t>
            </a:r>
            <a:r>
              <a:rPr lang="en-IN" dirty="0">
                <a:solidFill>
                  <a:schemeClr val="bg1"/>
                </a:solidFill>
              </a:rPr>
              <a:t>=</a:t>
            </a:r>
            <a:r>
              <a:rPr lang="en-IN" dirty="0" err="1">
                <a:solidFill>
                  <a:schemeClr val="bg1"/>
                </a:solidFill>
              </a:rPr>
              <a:t>gsub</a:t>
            </a:r>
            <a:r>
              <a:rPr lang="en-IN" dirty="0">
                <a:solidFill>
                  <a:schemeClr val="bg1"/>
                </a:solidFill>
              </a:rPr>
              <a:t>(/[GC]/,"");</a:t>
            </a:r>
          </a:p>
          <a:p>
            <a:r>
              <a:rPr lang="en-IN" dirty="0">
                <a:solidFill>
                  <a:schemeClr val="bg1"/>
                </a:solidFill>
              </a:rPr>
              <a:t>  print header, "GC%:", (</a:t>
            </a:r>
            <a:r>
              <a:rPr lang="en-IN" dirty="0" err="1">
                <a:solidFill>
                  <a:schemeClr val="bg1"/>
                </a:solidFill>
              </a:rPr>
              <a:t>gc</a:t>
            </a:r>
            <a:r>
              <a:rPr lang="en-IN" dirty="0">
                <a:solidFill>
                  <a:schemeClr val="bg1"/>
                </a:solidFill>
              </a:rPr>
              <a:t>/length($0))*100</a:t>
            </a:r>
          </a:p>
          <a:p>
            <a:r>
              <a:rPr lang="en-IN" dirty="0">
                <a:solidFill>
                  <a:schemeClr val="bg1"/>
                </a:solidFill>
              </a:rPr>
              <a:t>}' </a:t>
            </a:r>
            <a:r>
              <a:rPr lang="en-IN" dirty="0" err="1">
                <a:solidFill>
                  <a:schemeClr val="bg1"/>
                </a:solidFill>
              </a:rPr>
              <a:t>cleaned.fasta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4. Sorting sequences by length</a:t>
            </a:r>
          </a:p>
          <a:p>
            <a:r>
              <a:rPr lang="en-IN" dirty="0">
                <a:solidFill>
                  <a:schemeClr val="bg1"/>
                </a:solidFill>
              </a:rPr>
              <a:t>awk '/^&gt;/ {header=$0; next} {print header, "Length:", length($0)}’ </a:t>
            </a:r>
            <a:r>
              <a:rPr lang="en-IN" dirty="0" err="1">
                <a:solidFill>
                  <a:schemeClr val="bg1"/>
                </a:solidFill>
              </a:rPr>
              <a:t>cleaned.fasta</a:t>
            </a:r>
            <a:r>
              <a:rPr lang="en-IN" dirty="0">
                <a:solidFill>
                  <a:schemeClr val="bg1"/>
                </a:solidFill>
              </a:rPr>
              <a:t> | sort -k3,3n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04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33D55C-E8A2-F5A7-A1BF-F97923346B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8CE4F-5E62-D464-BCDD-F5E82ABF7B60}"/>
              </a:ext>
            </a:extLst>
          </p:cNvPr>
          <p:cNvSpPr txBox="1"/>
          <p:nvPr/>
        </p:nvSpPr>
        <p:spPr>
          <a:xfrm>
            <a:off x="2255520" y="1110287"/>
            <a:ext cx="9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</a:rPr>
              <a:t>K-</a:t>
            </a:r>
            <a:r>
              <a:rPr lang="en-IN" sz="2400" b="1" u="sng" dirty="0" err="1">
                <a:solidFill>
                  <a:schemeClr val="bg1"/>
                </a:solidFill>
              </a:rPr>
              <a:t>mer</a:t>
            </a:r>
            <a:r>
              <a:rPr lang="en-IN" sz="2400" b="1" u="sng" dirty="0">
                <a:solidFill>
                  <a:schemeClr val="bg1"/>
                </a:solidFill>
              </a:rPr>
              <a:t> counting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18477-B6DF-2AEB-6027-5265DCF662E1}"/>
              </a:ext>
            </a:extLst>
          </p:cNvPr>
          <p:cNvSpPr txBox="1"/>
          <p:nvPr/>
        </p:nvSpPr>
        <p:spPr>
          <a:xfrm>
            <a:off x="1219200" y="1717040"/>
            <a:ext cx="7630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jellyfish count -m 5 -s 100M -t 4 -C </a:t>
            </a:r>
            <a:r>
              <a:rPr lang="en-IN" dirty="0" err="1">
                <a:solidFill>
                  <a:schemeClr val="bg1"/>
                </a:solidFill>
              </a:rPr>
              <a:t>genome.fasta</a:t>
            </a:r>
            <a:r>
              <a:rPr lang="en-IN" dirty="0">
                <a:solidFill>
                  <a:schemeClr val="bg1"/>
                </a:solidFill>
              </a:rPr>
              <a:t> -o </a:t>
            </a:r>
            <a:r>
              <a:rPr lang="en-IN" dirty="0" err="1">
                <a:solidFill>
                  <a:schemeClr val="bg1"/>
                </a:solidFill>
              </a:rPr>
              <a:t>counts.jf</a:t>
            </a:r>
            <a:r>
              <a:rPr lang="en-IN" dirty="0">
                <a:solidFill>
                  <a:schemeClr val="bg1"/>
                </a:solidFill>
              </a:rPr>
              <a:t> &amp;&amp; jellyfish dump -c </a:t>
            </a:r>
            <a:r>
              <a:rPr lang="en-IN" dirty="0" err="1">
                <a:solidFill>
                  <a:schemeClr val="bg1"/>
                </a:solidFill>
              </a:rPr>
              <a:t>counts.jf</a:t>
            </a:r>
            <a:r>
              <a:rPr lang="en-IN" dirty="0">
                <a:solidFill>
                  <a:schemeClr val="bg1"/>
                </a:solidFill>
              </a:rPr>
              <a:t> &gt; kmer_counts.txt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INPUT=$1 </a:t>
            </a:r>
          </a:p>
          <a:p>
            <a:r>
              <a:rPr lang="en-IN" dirty="0">
                <a:solidFill>
                  <a:schemeClr val="bg1"/>
                </a:solidFill>
              </a:rPr>
              <a:t>for K in 3 4 5 6 7 8 9 10 </a:t>
            </a:r>
          </a:p>
          <a:p>
            <a:r>
              <a:rPr lang="en-IN" dirty="0">
                <a:solidFill>
                  <a:schemeClr val="bg1"/>
                </a:solidFill>
              </a:rPr>
              <a:t>do echo "Counting k=$K" </a:t>
            </a:r>
          </a:p>
          <a:p>
            <a:r>
              <a:rPr lang="en-IN" dirty="0">
                <a:solidFill>
                  <a:schemeClr val="bg1"/>
                </a:solidFill>
              </a:rPr>
              <a:t>jellyfish count \ -m $K \ </a:t>
            </a:r>
          </a:p>
          <a:p>
            <a:r>
              <a:rPr lang="en-IN" dirty="0">
                <a:solidFill>
                  <a:schemeClr val="bg1"/>
                </a:solidFill>
              </a:rPr>
              <a:t>-s 1G \</a:t>
            </a:r>
          </a:p>
          <a:p>
            <a:r>
              <a:rPr lang="en-IN" dirty="0">
                <a:solidFill>
                  <a:schemeClr val="bg1"/>
                </a:solidFill>
              </a:rPr>
              <a:t> -t 8 \ </a:t>
            </a:r>
          </a:p>
          <a:p>
            <a:r>
              <a:rPr lang="en-IN" dirty="0">
                <a:solidFill>
                  <a:schemeClr val="bg1"/>
                </a:solidFill>
              </a:rPr>
              <a:t>-C \ </a:t>
            </a:r>
          </a:p>
          <a:p>
            <a:r>
              <a:rPr lang="en-IN" dirty="0">
                <a:solidFill>
                  <a:schemeClr val="bg1"/>
                </a:solidFill>
              </a:rPr>
              <a:t>"$INPUT" \ -o "k${K}.</a:t>
            </a:r>
            <a:r>
              <a:rPr lang="en-IN" dirty="0" err="1">
                <a:solidFill>
                  <a:schemeClr val="bg1"/>
                </a:solidFill>
              </a:rPr>
              <a:t>jf</a:t>
            </a:r>
            <a:r>
              <a:rPr lang="en-IN" dirty="0">
                <a:solidFill>
                  <a:schemeClr val="bg1"/>
                </a:solidFill>
              </a:rPr>
              <a:t>“</a:t>
            </a:r>
          </a:p>
          <a:p>
            <a:r>
              <a:rPr lang="en-IN" dirty="0">
                <a:solidFill>
                  <a:schemeClr val="bg1"/>
                </a:solidFill>
              </a:rPr>
              <a:t> jellyfish dump \</a:t>
            </a:r>
          </a:p>
          <a:p>
            <a:r>
              <a:rPr lang="en-IN" dirty="0">
                <a:solidFill>
                  <a:schemeClr val="bg1"/>
                </a:solidFill>
              </a:rPr>
              <a:t> -c \ </a:t>
            </a:r>
          </a:p>
          <a:p>
            <a:r>
              <a:rPr lang="en-IN" dirty="0">
                <a:solidFill>
                  <a:schemeClr val="bg1"/>
                </a:solidFill>
              </a:rPr>
              <a:t>"k${K}.</a:t>
            </a:r>
            <a:r>
              <a:rPr lang="en-IN" dirty="0" err="1">
                <a:solidFill>
                  <a:schemeClr val="bg1"/>
                </a:solidFill>
              </a:rPr>
              <a:t>jf</a:t>
            </a:r>
            <a:r>
              <a:rPr lang="en-IN" dirty="0">
                <a:solidFill>
                  <a:schemeClr val="bg1"/>
                </a:solidFill>
              </a:rPr>
              <a:t>" \ </a:t>
            </a:r>
          </a:p>
          <a:p>
            <a:r>
              <a:rPr lang="en-IN" dirty="0">
                <a:solidFill>
                  <a:schemeClr val="bg1"/>
                </a:solidFill>
              </a:rPr>
              <a:t>"k${K}_counts.txt" </a:t>
            </a:r>
          </a:p>
          <a:p>
            <a:r>
              <a:rPr lang="en-IN" dirty="0">
                <a:solidFill>
                  <a:schemeClr val="bg1"/>
                </a:solidFill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5341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8CD3F-CA4B-C12B-477E-0613FF1C9D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63E12-E00C-EC98-CB4F-2EEB45DC0AE9}"/>
              </a:ext>
            </a:extLst>
          </p:cNvPr>
          <p:cNvSpPr txBox="1"/>
          <p:nvPr/>
        </p:nvSpPr>
        <p:spPr>
          <a:xfrm>
            <a:off x="609600" y="1778120"/>
            <a:ext cx="9154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400" b="1" dirty="0">
                <a:solidFill>
                  <a:schemeClr val="bg1"/>
                </a:solidFill>
              </a:rPr>
              <a:t>Original DNA Sequence:    [ A  G  A  T  C  G ]  (L = 6)       ───────────────────────────────────────────────────────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If k = 1 (Monomers)       [A] [G] [A] [T] [C] [G]       Total: 6 - 1 + 1 = 6     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───►  If k = 2 (Dinucleotides)  [A  G]                        Total: 6 - 2 + 1 = 5                                    [G  A]                                       [A  T]                                          [T  C]                                             [C  G]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───►  If k = 3 (Trinucleotides) [A  G  A]                     Total: 6 - 3 + 1 = 4                                    [G  A  T]                                       [A  T  C]                                          [T  C  G]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───►  If k = 4 (Tetranucleotides)[A  G  A  T]                  Total: 6 - 4 + 1 = 3                                    [G  A  T  C]                                       [A  T  C  G]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1E10F-8EE2-E032-82AA-9D7633DD9B74}"/>
              </a:ext>
            </a:extLst>
          </p:cNvPr>
          <p:cNvSpPr txBox="1"/>
          <p:nvPr/>
        </p:nvSpPr>
        <p:spPr>
          <a:xfrm>
            <a:off x="2275840" y="971062"/>
            <a:ext cx="3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K-</a:t>
            </a:r>
            <a:r>
              <a:rPr lang="en-IN" sz="3600" b="1" dirty="0" err="1">
                <a:solidFill>
                  <a:schemeClr val="bg1"/>
                </a:solidFill>
              </a:rPr>
              <a:t>mers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11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713074-ECA6-FE1E-D753-BDB81020AD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A5F10-EC45-16A3-C66C-AC12CEF7F308}"/>
              </a:ext>
            </a:extLst>
          </p:cNvPr>
          <p:cNvSpPr txBox="1"/>
          <p:nvPr/>
        </p:nvSpPr>
        <p:spPr>
          <a:xfrm>
            <a:off x="2275840" y="971062"/>
            <a:ext cx="540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K-</a:t>
            </a:r>
            <a:r>
              <a:rPr lang="en-IN" sz="3600" b="1" dirty="0" err="1">
                <a:solidFill>
                  <a:schemeClr val="bg1"/>
                </a:solidFill>
              </a:rPr>
              <a:t>mers</a:t>
            </a:r>
            <a:r>
              <a:rPr lang="en-IN" sz="3600" b="1" dirty="0">
                <a:solidFill>
                  <a:schemeClr val="bg1"/>
                </a:solidFill>
              </a:rPr>
              <a:t> vs Genome size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B51A2-CBA5-510B-32C1-2B94F80B5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9" y="1742359"/>
            <a:ext cx="10922561" cy="3149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814DA2-D600-49C6-6686-BE9B4D7DAD06}"/>
              </a:ext>
            </a:extLst>
          </p:cNvPr>
          <p:cNvSpPr txBox="1"/>
          <p:nvPr/>
        </p:nvSpPr>
        <p:spPr>
          <a:xfrm>
            <a:off x="721360" y="5222240"/>
            <a:ext cx="665480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For a 14 bp DNA, how many k-</a:t>
            </a:r>
            <a:r>
              <a:rPr lang="en-IN" dirty="0" err="1">
                <a:solidFill>
                  <a:schemeClr val="bg1"/>
                </a:solidFill>
              </a:rPr>
              <a:t>mers</a:t>
            </a:r>
            <a:r>
              <a:rPr lang="en-IN" dirty="0">
                <a:solidFill>
                  <a:schemeClr val="bg1"/>
                </a:solidFill>
              </a:rPr>
              <a:t> will be there?</a:t>
            </a:r>
          </a:p>
          <a:p>
            <a:r>
              <a:rPr lang="en-IN" dirty="0">
                <a:solidFill>
                  <a:schemeClr val="bg1"/>
                </a:solidFill>
              </a:rPr>
              <a:t>If the coverage is 10X how many k-</a:t>
            </a:r>
            <a:r>
              <a:rPr lang="en-IN" dirty="0" err="1">
                <a:solidFill>
                  <a:schemeClr val="bg1"/>
                </a:solidFill>
              </a:rPr>
              <a:t>mers</a:t>
            </a:r>
            <a:r>
              <a:rPr lang="en-IN" dirty="0">
                <a:solidFill>
                  <a:schemeClr val="bg1"/>
                </a:solidFill>
              </a:rPr>
              <a:t> will be there?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8D416-3188-6F6A-A744-2C973DAB0706}"/>
              </a:ext>
            </a:extLst>
          </p:cNvPr>
          <p:cNvSpPr txBox="1"/>
          <p:nvPr/>
        </p:nvSpPr>
        <p:spPr>
          <a:xfrm>
            <a:off x="7833360" y="5100320"/>
            <a:ext cx="3642360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 size = Total no. of k-</a:t>
            </a:r>
            <a:r>
              <a:rPr lang="en-US" dirty="0" err="1"/>
              <a:t>mers</a:t>
            </a:r>
            <a:r>
              <a:rPr lang="en-US" dirty="0"/>
              <a:t>/Coverage</a:t>
            </a:r>
          </a:p>
          <a:p>
            <a:r>
              <a:rPr lang="en-US" dirty="0"/>
              <a:t>     = Area under curve /mean coverage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00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1989F-17A0-3CAB-2D4A-339D6270C9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1E2A0-E4D8-3503-311C-A5D441A8A746}"/>
              </a:ext>
            </a:extLst>
          </p:cNvPr>
          <p:cNvSpPr txBox="1"/>
          <p:nvPr/>
        </p:nvSpPr>
        <p:spPr>
          <a:xfrm>
            <a:off x="1422400" y="1249680"/>
            <a:ext cx="812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Genome size estimation:</a:t>
            </a:r>
          </a:p>
          <a:p>
            <a:r>
              <a:rPr lang="en-IN" sz="2000" dirty="0">
                <a:solidFill>
                  <a:schemeClr val="bg1"/>
                </a:solidFill>
              </a:rPr>
              <a:t>Total number of k-</a:t>
            </a:r>
            <a:r>
              <a:rPr lang="en-IN" sz="2000" dirty="0" err="1">
                <a:solidFill>
                  <a:schemeClr val="bg1"/>
                </a:solidFill>
              </a:rPr>
              <a:t>mers</a:t>
            </a:r>
            <a:r>
              <a:rPr lang="en-IN" sz="2000" dirty="0">
                <a:solidFill>
                  <a:schemeClr val="bg1"/>
                </a:solidFill>
              </a:rPr>
              <a:t>/Coverage = Genome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B6573-11A4-38E4-E87E-3859A176C4F7}"/>
              </a:ext>
            </a:extLst>
          </p:cNvPr>
          <p:cNvSpPr txBox="1"/>
          <p:nvPr/>
        </p:nvSpPr>
        <p:spPr>
          <a:xfrm>
            <a:off x="9037320" y="983536"/>
            <a:ext cx="2895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data[10:20,]</a:t>
            </a:r>
          </a:p>
          <a:p>
            <a:endParaRPr lang="en-IN" dirty="0"/>
          </a:p>
          <a:p>
            <a:r>
              <a:rPr lang="en-IN" dirty="0"/>
              <a:t>    V1   V2</a:t>
            </a:r>
          </a:p>
          <a:p>
            <a:endParaRPr lang="en-IN" dirty="0"/>
          </a:p>
          <a:p>
            <a:r>
              <a:rPr lang="en-IN" dirty="0"/>
              <a:t>5   5 7140173</a:t>
            </a:r>
          </a:p>
          <a:p>
            <a:r>
              <a:rPr lang="en-IN" dirty="0"/>
              <a:t>6   6 8860956</a:t>
            </a:r>
          </a:p>
          <a:p>
            <a:r>
              <a:rPr lang="en-IN" dirty="0"/>
              <a:t>7   7 10461902</a:t>
            </a:r>
          </a:p>
          <a:p>
            <a:r>
              <a:rPr lang="en-IN" dirty="0"/>
              <a:t>8   8 11938782</a:t>
            </a:r>
          </a:p>
          <a:p>
            <a:r>
              <a:rPr lang="en-IN" dirty="0"/>
              <a:t>9   9 13277372</a:t>
            </a:r>
          </a:p>
          <a:p>
            <a:r>
              <a:rPr lang="en-IN" dirty="0"/>
              <a:t>10 10 14419501</a:t>
            </a:r>
          </a:p>
          <a:p>
            <a:r>
              <a:rPr lang="en-IN" dirty="0"/>
              <a:t>11 11 15230762</a:t>
            </a:r>
          </a:p>
          <a:p>
            <a:r>
              <a:rPr lang="en-IN" dirty="0"/>
              <a:t>12 12 15594907</a:t>
            </a:r>
          </a:p>
          <a:p>
            <a:r>
              <a:rPr lang="en-IN" dirty="0"/>
              <a:t>13 13 15416499</a:t>
            </a:r>
          </a:p>
          <a:p>
            <a:r>
              <a:rPr lang="en-IN" dirty="0"/>
              <a:t>14 14 14655690</a:t>
            </a:r>
          </a:p>
          <a:p>
            <a:r>
              <a:rPr lang="en-IN" dirty="0"/>
              <a:t>15 15 13442589</a:t>
            </a:r>
          </a:p>
          <a:p>
            <a:r>
              <a:rPr lang="en-IN" dirty="0"/>
              <a:t>16 16 11834646</a:t>
            </a:r>
          </a:p>
          <a:p>
            <a:r>
              <a:rPr lang="en-IN" dirty="0"/>
              <a:t>17 17 10049240</a:t>
            </a:r>
          </a:p>
          <a:p>
            <a:r>
              <a:rPr lang="en-IN" dirty="0"/>
              <a:t>18 18 8239408</a:t>
            </a:r>
          </a:p>
          <a:p>
            <a:r>
              <a:rPr lang="en-IN" dirty="0"/>
              <a:t>19 19 6533641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611B4-90CC-7D23-5908-DD2496856F60}"/>
              </a:ext>
            </a:extLst>
          </p:cNvPr>
          <p:cNvSpPr txBox="1"/>
          <p:nvPr/>
        </p:nvSpPr>
        <p:spPr>
          <a:xfrm>
            <a:off x="7269480" y="5709308"/>
            <a:ext cx="1940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V1 = Number of k-</a:t>
            </a:r>
            <a:r>
              <a:rPr lang="en-IN" dirty="0" err="1"/>
              <a:t>mers</a:t>
            </a:r>
            <a:endParaRPr lang="en-IN" dirty="0"/>
          </a:p>
          <a:p>
            <a:r>
              <a:rPr lang="en-IN" dirty="0"/>
              <a:t>V2 =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FF9B5-8AD8-C51D-8A92-8D981087A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2109798"/>
            <a:ext cx="6278880" cy="1953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2B119E-11B2-A059-7C93-F9B1CE3E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40" y="4112155"/>
            <a:ext cx="6278880" cy="18313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02AC63-738B-8C18-7031-08F179B39BD4}"/>
              </a:ext>
            </a:extLst>
          </p:cNvPr>
          <p:cNvSpPr/>
          <p:nvPr/>
        </p:nvSpPr>
        <p:spPr>
          <a:xfrm>
            <a:off x="9037320" y="4063772"/>
            <a:ext cx="1651000" cy="2440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327C6-D36D-FDE8-84ED-D9F54E1E8ECB}"/>
              </a:ext>
            </a:extLst>
          </p:cNvPr>
          <p:cNvSpPr txBox="1"/>
          <p:nvPr/>
        </p:nvSpPr>
        <p:spPr>
          <a:xfrm>
            <a:off x="7310120" y="3927489"/>
            <a:ext cx="120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478DCE-046D-F630-CEDC-136BB7B96123}"/>
              </a:ext>
            </a:extLst>
          </p:cNvPr>
          <p:cNvCxnSpPr/>
          <p:nvPr/>
        </p:nvCxnSpPr>
        <p:spPr>
          <a:xfrm>
            <a:off x="8402320" y="4112155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7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793D9E-9F42-276D-DB56-DA00B83B27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39BB3-43C8-3B18-436C-84B4A9DC789A}"/>
              </a:ext>
            </a:extLst>
          </p:cNvPr>
          <p:cNvSpPr txBox="1"/>
          <p:nvPr/>
        </p:nvSpPr>
        <p:spPr>
          <a:xfrm>
            <a:off x="1544320" y="1483360"/>
            <a:ext cx="817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grep -v '^&gt;' 74cds.fa | tr -d '\n' |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awk '{k=5; for(</a:t>
            </a:r>
            <a:r>
              <a:rPr lang="en-IN" sz="3600" dirty="0" err="1">
                <a:solidFill>
                  <a:schemeClr val="bg1"/>
                </a:solidFill>
              </a:rPr>
              <a:t>i</a:t>
            </a:r>
            <a:r>
              <a:rPr lang="en-IN" sz="3600" dirty="0">
                <a:solidFill>
                  <a:schemeClr val="bg1"/>
                </a:solidFill>
              </a:rPr>
              <a:t>=1;i&lt;=length($0)-k+1;i++)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print </a:t>
            </a:r>
            <a:r>
              <a:rPr lang="en-IN" sz="3600" dirty="0" err="1">
                <a:solidFill>
                  <a:schemeClr val="bg1"/>
                </a:solidFill>
              </a:rPr>
              <a:t>substr</a:t>
            </a:r>
            <a:r>
              <a:rPr lang="en-IN" sz="3600" dirty="0">
                <a:solidFill>
                  <a:schemeClr val="bg1"/>
                </a:solidFill>
              </a:rPr>
              <a:t>($0,i,k)}' |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sort | </a:t>
            </a:r>
            <a:r>
              <a:rPr lang="en-IN" sz="3600" dirty="0" err="1">
                <a:solidFill>
                  <a:schemeClr val="bg1"/>
                </a:solidFill>
              </a:rPr>
              <a:t>uniq</a:t>
            </a:r>
            <a:r>
              <a:rPr lang="en-IN" sz="3600" dirty="0">
                <a:solidFill>
                  <a:schemeClr val="bg1"/>
                </a:solidFill>
              </a:rPr>
              <a:t> -c | sort -nr</a:t>
            </a:r>
          </a:p>
        </p:txBody>
      </p:sp>
    </p:spTree>
    <p:extLst>
      <p:ext uri="{BB962C8B-B14F-4D97-AF65-F5344CB8AC3E}">
        <p14:creationId xmlns:p14="http://schemas.microsoft.com/office/powerpoint/2010/main" val="1920571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0641B-89B3-D168-5A38-46FAB34FA0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CB1ED-58F5-7E37-3358-1D02BCD18DA8}"/>
              </a:ext>
            </a:extLst>
          </p:cNvPr>
          <p:cNvSpPr txBox="1"/>
          <p:nvPr/>
        </p:nvSpPr>
        <p:spPr>
          <a:xfrm>
            <a:off x="3058160" y="612844"/>
            <a:ext cx="67868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awk -v k=5 '</a:t>
            </a:r>
          </a:p>
          <a:p>
            <a:r>
              <a:rPr lang="en-IN" dirty="0">
                <a:solidFill>
                  <a:schemeClr val="bg1"/>
                </a:solidFill>
              </a:rPr>
              <a:t>/^&gt;/ {</a:t>
            </a:r>
          </a:p>
          <a:p>
            <a:r>
              <a:rPr lang="en-IN" dirty="0">
                <a:solidFill>
                  <a:schemeClr val="bg1"/>
                </a:solidFill>
              </a:rPr>
              <a:t>    if 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!= "") {</a:t>
            </a:r>
          </a:p>
          <a:p>
            <a:r>
              <a:rPr lang="en-IN" dirty="0">
                <a:solidFill>
                  <a:schemeClr val="bg1"/>
                </a:solidFill>
              </a:rPr>
              <a:t>        for (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=1;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&lt;=length(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)-k+1;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++) {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print </a:t>
            </a:r>
            <a:r>
              <a:rPr lang="en-IN" dirty="0" err="1">
                <a:solidFill>
                  <a:schemeClr val="bg1"/>
                </a:solidFill>
              </a:rPr>
              <a:t>substr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seq,i,k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        }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=""</a:t>
            </a:r>
          </a:p>
          <a:p>
            <a:r>
              <a:rPr lang="en-IN" dirty="0">
                <a:solidFill>
                  <a:schemeClr val="bg1"/>
                </a:solidFill>
              </a:rPr>
              <a:t>    next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{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=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toupper</a:t>
            </a:r>
            <a:r>
              <a:rPr lang="en-IN" dirty="0">
                <a:solidFill>
                  <a:schemeClr val="bg1"/>
                </a:solidFill>
              </a:rPr>
              <a:t>($0)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END {</a:t>
            </a:r>
          </a:p>
          <a:p>
            <a:r>
              <a:rPr lang="en-IN" dirty="0">
                <a:solidFill>
                  <a:schemeClr val="bg1"/>
                </a:solidFill>
              </a:rPr>
              <a:t>    if 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!= "") {</a:t>
            </a:r>
          </a:p>
          <a:p>
            <a:r>
              <a:rPr lang="en-IN" dirty="0">
                <a:solidFill>
                  <a:schemeClr val="bg1"/>
                </a:solidFill>
              </a:rPr>
              <a:t>        for (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=1;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&lt;=length(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)-k+1;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++) {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print </a:t>
            </a:r>
            <a:r>
              <a:rPr lang="en-IN" dirty="0" err="1">
                <a:solidFill>
                  <a:schemeClr val="bg1"/>
                </a:solidFill>
              </a:rPr>
              <a:t>substr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seq,i,k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        }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}' </a:t>
            </a:r>
            <a:r>
              <a:rPr lang="en-IN" dirty="0" err="1">
                <a:solidFill>
                  <a:schemeClr val="bg1"/>
                </a:solidFill>
              </a:rPr>
              <a:t>genome.fasta</a:t>
            </a:r>
            <a:r>
              <a:rPr lang="en-IN" dirty="0">
                <a:solidFill>
                  <a:schemeClr val="bg1"/>
                </a:solidFill>
              </a:rPr>
              <a:t> | sort | </a:t>
            </a:r>
            <a:r>
              <a:rPr lang="en-IN" dirty="0" err="1">
                <a:solidFill>
                  <a:schemeClr val="bg1"/>
                </a:solidFill>
              </a:rPr>
              <a:t>uniq</a:t>
            </a:r>
            <a:r>
              <a:rPr lang="en-IN" dirty="0">
                <a:solidFill>
                  <a:schemeClr val="bg1"/>
                </a:solidFill>
              </a:rPr>
              <a:t> -c | sort -nr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9B7A3-C09A-6B31-17BD-289958BC965A}"/>
              </a:ext>
            </a:extLst>
          </p:cNvPr>
          <p:cNvSpPr txBox="1"/>
          <p:nvPr/>
        </p:nvSpPr>
        <p:spPr>
          <a:xfrm>
            <a:off x="436880" y="2661920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For </a:t>
            </a:r>
            <a:r>
              <a:rPr lang="en-IN" dirty="0" err="1">
                <a:solidFill>
                  <a:schemeClr val="bg1"/>
                </a:solidFill>
              </a:rPr>
              <a:t>multifasta</a:t>
            </a:r>
            <a:r>
              <a:rPr lang="en-IN" dirty="0">
                <a:solidFill>
                  <a:schemeClr val="bg1"/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684923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1193</Words>
  <Application>Microsoft Office PowerPoint</Application>
  <PresentationFormat>Widescreen</PresentationFormat>
  <Paragraphs>162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Sucheta Tripathi</cp:lastModifiedBy>
  <cp:revision>54</cp:revision>
  <dcterms:created xsi:type="dcterms:W3CDTF">2026-08-25T11:32:45Z</dcterms:created>
  <dcterms:modified xsi:type="dcterms:W3CDTF">2026-09-01T00:17:08Z</dcterms:modified>
</cp:coreProperties>
</file>