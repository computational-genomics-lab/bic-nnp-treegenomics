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352" r:id="rId3"/>
    <p:sldId id="270" r:id="rId4"/>
    <p:sldId id="320" r:id="rId5"/>
    <p:sldId id="312" r:id="rId6"/>
    <p:sldId id="314" r:id="rId7"/>
    <p:sldId id="324" r:id="rId8"/>
    <p:sldId id="322" r:id="rId9"/>
    <p:sldId id="317" r:id="rId10"/>
    <p:sldId id="323" r:id="rId11"/>
    <p:sldId id="318" r:id="rId12"/>
    <p:sldId id="325" r:id="rId13"/>
    <p:sldId id="326" r:id="rId14"/>
    <p:sldId id="327" r:id="rId15"/>
    <p:sldId id="329" r:id="rId16"/>
    <p:sldId id="330" r:id="rId17"/>
    <p:sldId id="331" r:id="rId18"/>
    <p:sldId id="334" r:id="rId19"/>
    <p:sldId id="337" r:id="rId20"/>
    <p:sldId id="343" r:id="rId21"/>
    <p:sldId id="338" r:id="rId22"/>
    <p:sldId id="339" r:id="rId23"/>
    <p:sldId id="344" r:id="rId24"/>
    <p:sldId id="346" r:id="rId25"/>
    <p:sldId id="348" r:id="rId26"/>
    <p:sldId id="269" r:id="rId27"/>
    <p:sldId id="35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77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E2780D-F900-7940-B7D2-6D3AEF3EF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2A6E1-7147-6D53-BAA9-01DCE4115D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167BE-089E-490D-BF84-71C7CE40F95B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4BCF7-FA98-12F8-895A-73B12874C7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CCA50-75A8-9669-A151-0DCD4F0C4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BADF2-EFD7-499C-8C2D-03ADD5668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79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7973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P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390291" y="274661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0" dirty="0">
                <a:ln w="3175">
                  <a:noFill/>
                </a:ln>
                <a:solidFill>
                  <a:srgbClr val="002060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DBT-BIC-NNP-TREE Genome Informatics — Genome HackWeek 2026</a:t>
            </a:r>
            <a:endParaRPr lang="en-US" sz="2000" b="0" dirty="0">
              <a:ln w="3175">
                <a:noFill/>
              </a:ln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920240" y="658368"/>
            <a:ext cx="8348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0206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Annotate, Innovate, Collaborate  |  CSIR-IICB, Kolkata</a:t>
            </a:r>
            <a:endParaRPr lang="en-US" sz="16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6473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Aribam Geeta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3"/>
          <p:cNvSpPr/>
          <p:nvPr userDrawn="1"/>
        </p:nvSpPr>
        <p:spPr>
          <a:xfrm>
            <a:off x="4270248" y="6473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Introduction to RNA-Seq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dirty="0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File:CSIR-Logo-With-Tagline-Seleceted-Bilingual.png ...">
            <a:extLst>
              <a:ext uri="{FF2B5EF4-FFF2-40B4-BE49-F238E27FC236}">
                <a16:creationId xmlns:a16="http://schemas.microsoft.com/office/drawing/2014/main" id="{4D82A8F7-CCC1-0656-73BD-C1135308F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337" y="91440"/>
            <a:ext cx="1220204" cy="1220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48E026-E031-A75D-60FD-E59714E371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929" y="171243"/>
            <a:ext cx="802483" cy="887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5FB87B-4D58-BE6F-784D-A9C794DC9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567" y="171243"/>
            <a:ext cx="915429" cy="11183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RNA-seq</a:t>
            </a:r>
          </a:p>
        </p:txBody>
      </p:sp>
      <p:sp>
        <p:nvSpPr>
          <p:cNvPr id="3" name="Text 1"/>
          <p:cNvSpPr/>
          <p:nvPr/>
        </p:nvSpPr>
        <p:spPr>
          <a:xfrm>
            <a:off x="731520" y="3931023"/>
            <a:ext cx="10725912" cy="1313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Aribam Geeta, PhD</a:t>
            </a:r>
          </a:p>
          <a:p>
            <a:pPr marL="0" indent="0" algn="ctr">
              <a:buNone/>
            </a:pPr>
            <a:r>
              <a:rPr lang="en-US" sz="1800" i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Associate I</a:t>
            </a:r>
          </a:p>
          <a:p>
            <a:pPr marL="0" indent="0" algn="ctr">
              <a:buNone/>
            </a:pPr>
            <a:r>
              <a:rPr lang="en-US" sz="1800" i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Genomics Lab,</a:t>
            </a:r>
          </a:p>
          <a:p>
            <a:pPr marL="0" indent="0" algn="ctr">
              <a:buNone/>
            </a:pPr>
            <a:r>
              <a:rPr lang="en-US" sz="1800" i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CSIR-Indian Institute of Chemical Biology</a:t>
            </a:r>
          </a:p>
          <a:p>
            <a:pPr marL="0" indent="0" algn="ctr">
              <a:buNone/>
            </a:pPr>
            <a:endParaRPr lang="en-US" sz="1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0AC00-591C-0CF8-224A-FC401ABC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9B5647-30E7-E7A9-A20A-4168EBAA06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BA2308-4204-DE5E-D290-D46AD4BC1D53}"/>
              </a:ext>
            </a:extLst>
          </p:cNvPr>
          <p:cNvSpPr txBox="1"/>
          <p:nvPr/>
        </p:nvSpPr>
        <p:spPr>
          <a:xfrm>
            <a:off x="1111033" y="1000461"/>
            <a:ext cx="5137368" cy="49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race to RNA-Seq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DD5B8-738D-B7A5-C9B2-517B20EF94E8}"/>
              </a:ext>
            </a:extLst>
          </p:cNvPr>
          <p:cNvSpPr txBox="1"/>
          <p:nvPr/>
        </p:nvSpPr>
        <p:spPr>
          <a:xfrm>
            <a:off x="3065929" y="6119645"/>
            <a:ext cx="80503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002060"/>
                </a:solidFill>
              </a:rPr>
              <a:t>RNA-Seq — a new way to study the transcriptome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35C514-9434-9932-01ED-08BD2ADA0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363" y="1459961"/>
            <a:ext cx="8680076" cy="474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9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77E60F-5B9D-9289-2416-84708C269D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06646A-1EE4-D21E-9AF7-BD69F4C69B49}"/>
              </a:ext>
            </a:extLst>
          </p:cNvPr>
          <p:cNvSpPr txBox="1"/>
          <p:nvPr/>
        </p:nvSpPr>
        <p:spPr>
          <a:xfrm>
            <a:off x="1021386" y="1249680"/>
            <a:ext cx="5137368" cy="49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Today’ RNA-Seq journey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1D541-5DA8-562D-FBDE-56A760C94617}"/>
              </a:ext>
            </a:extLst>
          </p:cNvPr>
          <p:cNvSpPr txBox="1"/>
          <p:nvPr/>
        </p:nvSpPr>
        <p:spPr>
          <a:xfrm>
            <a:off x="913809" y="1590888"/>
            <a:ext cx="10067956" cy="4930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2060"/>
                </a:solidFill>
              </a:rPr>
              <a:t>RNA-Seq Foundations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     </a:t>
            </a:r>
            <a:r>
              <a:rPr lang="en-US" i="1" dirty="0">
                <a:solidFill>
                  <a:srgbClr val="002060"/>
                </a:solidFill>
              </a:rPr>
              <a:t>What are we measuring? What is RNA-Seq? How does the workflow look?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2060"/>
                </a:solidFill>
              </a:rPr>
              <a:t>PART 1 — Before We Sequence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i="1" dirty="0">
                <a:solidFill>
                  <a:srgbClr val="002060"/>
                </a:solidFill>
              </a:rPr>
              <a:t> </a:t>
            </a:r>
            <a:r>
              <a:rPr lang="en-US" i="1" dirty="0">
                <a:solidFill>
                  <a:srgbClr val="002060"/>
                </a:solidFill>
              </a:rPr>
              <a:t>Experimental design • Sample preparation • Sequencing choices</a:t>
            </a:r>
            <a:endParaRPr lang="en-US" sz="20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2060"/>
                </a:solidFill>
              </a:rPr>
              <a:t>PART 2 — From Reads to Numbers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QC • Mapping and its pitfalls • Counting</a:t>
            </a:r>
            <a:endParaRPr lang="en-US" sz="20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2060"/>
                </a:solidFill>
              </a:rPr>
              <a:t>PART 3 — From Numbers to Biology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i="1" dirty="0" err="1">
                <a:solidFill>
                  <a:srgbClr val="002060"/>
                </a:solidFill>
              </a:rPr>
              <a:t>Normalisation</a:t>
            </a:r>
            <a:r>
              <a:rPr lang="en-US" i="1" dirty="0">
                <a:solidFill>
                  <a:srgbClr val="002060"/>
                </a:solidFill>
              </a:rPr>
              <a:t> • DGE• Visualisation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28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B5EA93-6549-17BB-3899-4F37359723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4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F5F794D2-8D01-2F71-503F-FD2CAACC7179}"/>
              </a:ext>
            </a:extLst>
          </p:cNvPr>
          <p:cNvSpPr/>
          <p:nvPr/>
        </p:nvSpPr>
        <p:spPr>
          <a:xfrm>
            <a:off x="640080" y="2331720"/>
            <a:ext cx="1051560" cy="1051560"/>
          </a:xfrm>
          <a:prstGeom prst="ellipse">
            <a:avLst/>
          </a:prstGeom>
          <a:solidFill>
            <a:srgbClr val="EC9A29"/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6EB955E-CC9C-DF98-B60D-595F35675663}"/>
              </a:ext>
            </a:extLst>
          </p:cNvPr>
          <p:cNvSpPr txBox="1"/>
          <p:nvPr/>
        </p:nvSpPr>
        <p:spPr>
          <a:xfrm>
            <a:off x="640080" y="2331720"/>
            <a:ext cx="1051560" cy="10515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6C3C6BD-6C8E-7B88-67BD-B77B327A06A4}"/>
              </a:ext>
            </a:extLst>
          </p:cNvPr>
          <p:cNvSpPr txBox="1"/>
          <p:nvPr/>
        </p:nvSpPr>
        <p:spPr>
          <a:xfrm>
            <a:off x="2057400" y="2286000"/>
            <a:ext cx="9494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RNA-Seq Foundations</a:t>
            </a: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CE4A23A-F3AC-36D3-77EB-D046AD36A3F1}"/>
              </a:ext>
            </a:extLst>
          </p:cNvPr>
          <p:cNvSpPr txBox="1"/>
          <p:nvPr/>
        </p:nvSpPr>
        <p:spPr>
          <a:xfrm>
            <a:off x="2057400" y="3154680"/>
            <a:ext cx="9219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i="1" dirty="0">
                <a:solidFill>
                  <a:schemeClr val="accent1"/>
                </a:solidFill>
              </a:rPr>
              <a:t>What are we measuring? What is RNA-Seq? How does the workflow look?</a:t>
            </a:r>
          </a:p>
        </p:txBody>
      </p:sp>
    </p:spTree>
    <p:extLst>
      <p:ext uri="{BB962C8B-B14F-4D97-AF65-F5344CB8AC3E}">
        <p14:creationId xmlns:p14="http://schemas.microsoft.com/office/powerpoint/2010/main" val="249283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190504-A52B-87A8-BAF9-A77FE24637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E83FF1-DF98-1E41-AE16-3ACFB06EEAD5}"/>
              </a:ext>
            </a:extLst>
          </p:cNvPr>
          <p:cNvSpPr txBox="1"/>
          <p:nvPr/>
        </p:nvSpPr>
        <p:spPr>
          <a:xfrm>
            <a:off x="627530" y="1404118"/>
            <a:ext cx="11116235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i="1" dirty="0">
                <a:solidFill>
                  <a:srgbClr val="002060"/>
                </a:solidFill>
              </a:rPr>
              <a:t> The complete set of RNA transcripts produced by a cell or organism </a:t>
            </a:r>
            <a:r>
              <a:rPr lang="en-US" sz="1800" b="1" i="1" dirty="0">
                <a:solidFill>
                  <a:srgbClr val="002060"/>
                </a:solidFill>
              </a:rPr>
              <a:t>at a particular time or under a particular condition</a:t>
            </a:r>
            <a:r>
              <a:rPr lang="en-US" sz="1800" i="1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73757F-0CDE-A5A8-B62D-38DDDCCC9D11}"/>
              </a:ext>
            </a:extLst>
          </p:cNvPr>
          <p:cNvSpPr txBox="1"/>
          <p:nvPr/>
        </p:nvSpPr>
        <p:spPr>
          <a:xfrm>
            <a:off x="1057836" y="898568"/>
            <a:ext cx="6096000" cy="658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What is Transcriptome?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84C0BB-4BE6-6668-18BF-FD276E2EDA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34"/>
          <a:stretch>
            <a:fillRect/>
          </a:stretch>
        </p:blipFill>
        <p:spPr>
          <a:xfrm>
            <a:off x="2205318" y="2062823"/>
            <a:ext cx="7628964" cy="434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7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242530-EBB6-6BC6-9C5E-66B8E62597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6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22BD40-B780-8BC9-AE21-C724DD9DC63A}"/>
              </a:ext>
            </a:extLst>
          </p:cNvPr>
          <p:cNvSpPr txBox="1">
            <a:spLocks/>
          </p:cNvSpPr>
          <p:nvPr/>
        </p:nvSpPr>
        <p:spPr>
          <a:xfrm>
            <a:off x="1165411" y="1413469"/>
            <a:ext cx="7901233" cy="791852"/>
          </a:xfr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What Is RNA-Seq — and Why?</a:t>
            </a:r>
            <a:endParaRPr lang="en-IN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BFF73B-F52E-F6CC-6B02-4A298509BC37}"/>
              </a:ext>
            </a:extLst>
          </p:cNvPr>
          <p:cNvSpPr txBox="1">
            <a:spLocks/>
          </p:cNvSpPr>
          <p:nvPr/>
        </p:nvSpPr>
        <p:spPr>
          <a:xfrm>
            <a:off x="700533" y="1936379"/>
            <a:ext cx="10926691" cy="3736847"/>
          </a:xfr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sz="2000" i="1" dirty="0">
                <a:solidFill>
                  <a:srgbClr val="002060"/>
                </a:solidFill>
              </a:rPr>
              <a:t>An </a:t>
            </a:r>
            <a:r>
              <a:rPr lang="en-US" sz="2000" b="1" i="1" dirty="0">
                <a:solidFill>
                  <a:srgbClr val="002060"/>
                </a:solidFill>
              </a:rPr>
              <a:t>NGS-based approach</a:t>
            </a:r>
            <a:r>
              <a:rPr lang="en-US" sz="2000" i="1" dirty="0">
                <a:solidFill>
                  <a:srgbClr val="002060"/>
                </a:solidFill>
              </a:rPr>
              <a:t> used to identify and quantify RNA molecules in a biological sample.</a:t>
            </a:r>
          </a:p>
          <a:p>
            <a:pPr lvl="1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sz="2000" i="1" dirty="0">
                <a:solidFill>
                  <a:srgbClr val="002060"/>
                </a:solidFill>
              </a:rPr>
              <a:t>Detects lowly expressed transcripts with far fewer false positives than arrays</a:t>
            </a:r>
          </a:p>
          <a:p>
            <a:pPr lvl="1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sz="2000" i="1" dirty="0">
                <a:solidFill>
                  <a:srgbClr val="002060"/>
                </a:solidFill>
              </a:rPr>
              <a:t>Same data can address isoforms, non-coding RNA, novel transcripts, etc.</a:t>
            </a:r>
          </a:p>
          <a:p>
            <a:pPr lvl="1">
              <a:lnSpc>
                <a:spcPct val="300000"/>
              </a:lnSpc>
              <a:buFont typeface="Wingdings" panose="05000000000000000000" pitchFamily="2" charset="2"/>
              <a:buChar char="ü"/>
            </a:pPr>
            <a:endParaRPr lang="en-US" sz="2000" i="1" dirty="0">
              <a:solidFill>
                <a:srgbClr val="002060"/>
              </a:solidFill>
            </a:endParaRPr>
          </a:p>
          <a:p>
            <a:pPr lvl="1">
              <a:lnSpc>
                <a:spcPct val="300000"/>
              </a:lnSpc>
              <a:buFont typeface="Wingdings" panose="05000000000000000000" pitchFamily="2" charset="2"/>
              <a:buChar char="ü"/>
            </a:pPr>
            <a:endParaRPr lang="en-US" sz="2000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800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DE04A-755A-624E-A5D6-D00AB2677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D53EAB-DB13-5F7C-F564-F0C47DCC199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7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95E935-2645-5834-D947-B87BBD47ADD6}"/>
              </a:ext>
            </a:extLst>
          </p:cNvPr>
          <p:cNvSpPr txBox="1">
            <a:spLocks/>
          </p:cNvSpPr>
          <p:nvPr/>
        </p:nvSpPr>
        <p:spPr>
          <a:xfrm>
            <a:off x="1036319" y="957957"/>
            <a:ext cx="10515600" cy="596409"/>
          </a:xfr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The complete workflow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299BF2-A847-436F-CD7D-9C4A6052E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606" y="1429812"/>
            <a:ext cx="8679629" cy="49510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36EA27-67AD-2CEE-A8BF-73CE22025426}"/>
              </a:ext>
            </a:extLst>
          </p:cNvPr>
          <p:cNvSpPr txBox="1"/>
          <p:nvPr/>
        </p:nvSpPr>
        <p:spPr>
          <a:xfrm>
            <a:off x="9583271" y="6363246"/>
            <a:ext cx="25459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Image adapted from Van den Berge et al. (2019)</a:t>
            </a:r>
          </a:p>
        </p:txBody>
      </p:sp>
    </p:spTree>
    <p:extLst>
      <p:ext uri="{BB962C8B-B14F-4D97-AF65-F5344CB8AC3E}">
        <p14:creationId xmlns:p14="http://schemas.microsoft.com/office/powerpoint/2010/main" val="3150111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344E9-71F9-A673-4671-562AB85C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EECC6F-5EE0-C3D4-1717-153AE74A266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8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B1D559FC-32BA-76CD-9B62-130048E23FFE}"/>
              </a:ext>
            </a:extLst>
          </p:cNvPr>
          <p:cNvSpPr/>
          <p:nvPr/>
        </p:nvSpPr>
        <p:spPr>
          <a:xfrm>
            <a:off x="640080" y="2331720"/>
            <a:ext cx="1051560" cy="1051560"/>
          </a:xfrm>
          <a:prstGeom prst="ellipse">
            <a:avLst/>
          </a:prstGeom>
          <a:solidFill>
            <a:srgbClr val="EC9A29"/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A4A86A7-0AD9-8EE7-25A7-55C5B8B58CE8}"/>
              </a:ext>
            </a:extLst>
          </p:cNvPr>
          <p:cNvSpPr txBox="1"/>
          <p:nvPr/>
        </p:nvSpPr>
        <p:spPr>
          <a:xfrm>
            <a:off x="640080" y="2331720"/>
            <a:ext cx="1051560" cy="10515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01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C65B7C9-DFDD-1404-45B3-BD3084099ECB}"/>
              </a:ext>
            </a:extLst>
          </p:cNvPr>
          <p:cNvSpPr txBox="1"/>
          <p:nvPr/>
        </p:nvSpPr>
        <p:spPr>
          <a:xfrm>
            <a:off x="2057400" y="2286000"/>
            <a:ext cx="9494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Before we sequence</a:t>
            </a: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34EE418-1A4E-1783-2E82-6DB30D43871F}"/>
              </a:ext>
            </a:extLst>
          </p:cNvPr>
          <p:cNvSpPr txBox="1"/>
          <p:nvPr/>
        </p:nvSpPr>
        <p:spPr>
          <a:xfrm>
            <a:off x="2057400" y="3154680"/>
            <a:ext cx="9219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i="1" dirty="0">
                <a:solidFill>
                  <a:schemeClr val="accent1"/>
                </a:solidFill>
              </a:rPr>
              <a:t>Designing → Preparing → Sequencing?</a:t>
            </a:r>
          </a:p>
        </p:txBody>
      </p:sp>
    </p:spTree>
    <p:extLst>
      <p:ext uri="{BB962C8B-B14F-4D97-AF65-F5344CB8AC3E}">
        <p14:creationId xmlns:p14="http://schemas.microsoft.com/office/powerpoint/2010/main" val="865836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75F20A-3DC0-7F25-8BD2-DFCE6874BF8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9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7C563-9E96-23DF-2A19-0A4692215E20}"/>
              </a:ext>
            </a:extLst>
          </p:cNvPr>
          <p:cNvSpPr txBox="1"/>
          <p:nvPr/>
        </p:nvSpPr>
        <p:spPr>
          <a:xfrm>
            <a:off x="896472" y="1518834"/>
            <a:ext cx="6705599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i="1" dirty="0">
                <a:solidFill>
                  <a:srgbClr val="002060"/>
                </a:solidFill>
              </a:rPr>
              <a:t>Gene expression varies because of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i="1" dirty="0">
                <a:solidFill>
                  <a:srgbClr val="002060"/>
                </a:solidFill>
              </a:rPr>
              <a:t>Biological differences between samples 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i="1" dirty="0">
                <a:solidFill>
                  <a:srgbClr val="002060"/>
                </a:solidFill>
              </a:rPr>
              <a:t>Sample handling and technical variation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b="1" i="1" dirty="0">
                <a:solidFill>
                  <a:srgbClr val="002060"/>
                </a:solidFill>
              </a:rPr>
              <a:t>Solution: Replicates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i="1" dirty="0">
                <a:solidFill>
                  <a:srgbClr val="002060"/>
                </a:solidFill>
              </a:rPr>
              <a:t>Replicates help distinguish true biological effects from noise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62B5018-A4FE-4FA1-1AC9-607E73CD200A}"/>
              </a:ext>
            </a:extLst>
          </p:cNvPr>
          <p:cNvGrpSpPr/>
          <p:nvPr/>
        </p:nvGrpSpPr>
        <p:grpSpPr>
          <a:xfrm>
            <a:off x="1891557" y="3876916"/>
            <a:ext cx="8884020" cy="2365818"/>
            <a:chOff x="1129554" y="3811212"/>
            <a:chExt cx="9081245" cy="245316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93DA313-6F85-EE63-19AD-F5282415C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838" t="10805" r="54632" b="47207"/>
            <a:stretch>
              <a:fillRect/>
            </a:stretch>
          </p:blipFill>
          <p:spPr>
            <a:xfrm>
              <a:off x="1129554" y="3811212"/>
              <a:ext cx="4634752" cy="2453168"/>
            </a:xfrm>
            <a:prstGeom prst="rect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F14CFFD-F342-106A-C2EF-72B23F076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3" t="63332" r="57206" b="2180"/>
            <a:stretch>
              <a:fillRect/>
            </a:stretch>
          </p:blipFill>
          <p:spPr>
            <a:xfrm>
              <a:off x="5764306" y="3811212"/>
              <a:ext cx="4446493" cy="2453168"/>
            </a:xfrm>
            <a:prstGeom prst="rect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D783DB9-5315-D341-2F05-4FEE2F589535}"/>
              </a:ext>
            </a:extLst>
          </p:cNvPr>
          <p:cNvGrpSpPr/>
          <p:nvPr/>
        </p:nvGrpSpPr>
        <p:grpSpPr>
          <a:xfrm>
            <a:off x="7602071" y="1425388"/>
            <a:ext cx="4132730" cy="2220310"/>
            <a:chOff x="7611035" y="1309711"/>
            <a:chExt cx="4132730" cy="236581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A12B053-9549-F960-8C80-510C98CCB621}"/>
                </a:ext>
              </a:extLst>
            </p:cNvPr>
            <p:cNvSpPr/>
            <p:nvPr/>
          </p:nvSpPr>
          <p:spPr>
            <a:xfrm>
              <a:off x="7611035" y="1309711"/>
              <a:ext cx="4132730" cy="236581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How many biological replicates?</a:t>
              </a:r>
            </a:p>
            <a:p>
              <a:pPr algn="ctr"/>
              <a:endPara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endPara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endPara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endPara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endPara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endPara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endPara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endPara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5115B17-FE5F-EABB-2329-4E8A35E7FAE3}"/>
                </a:ext>
              </a:extLst>
            </p:cNvPr>
            <p:cNvSpPr/>
            <p:nvPr/>
          </p:nvSpPr>
          <p:spPr>
            <a:xfrm>
              <a:off x="7835153" y="1818890"/>
              <a:ext cx="1770529" cy="161011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accent5">
                      <a:lumMod val="75000"/>
                    </a:schemeClr>
                  </a:solidFill>
                </a:rPr>
                <a:t>3</a:t>
              </a:r>
            </a:p>
            <a:p>
              <a:pPr algn="ctr"/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What most published RNA-Seq studies used</a:t>
              </a:r>
            </a:p>
            <a:p>
              <a:pPr algn="ctr"/>
              <a:endParaRPr lang="en-US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en-US" sz="1050" i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The common practice</a:t>
              </a:r>
              <a:endParaRPr lang="en-IN" sz="1050" i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6499749-EE81-DD4E-D1D9-5032B48A2238}"/>
                </a:ext>
              </a:extLst>
            </p:cNvPr>
            <p:cNvSpPr/>
            <p:nvPr/>
          </p:nvSpPr>
          <p:spPr>
            <a:xfrm>
              <a:off x="9825318" y="1818890"/>
              <a:ext cx="1770529" cy="161011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</a:rPr>
                <a:t>6</a:t>
              </a:r>
            </a:p>
            <a:p>
              <a:pPr algn="ctr"/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Recommended for reliable transcriptome description</a:t>
              </a:r>
            </a:p>
            <a:p>
              <a:pPr algn="ctr"/>
              <a:endParaRPr lang="en-US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en-US" sz="1050" i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The recommendation</a:t>
              </a:r>
              <a:endParaRPr lang="en-IN" sz="1050" i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FBFC2F0-AC56-DED5-B527-B73464EEF99C}"/>
              </a:ext>
            </a:extLst>
          </p:cNvPr>
          <p:cNvSpPr txBox="1"/>
          <p:nvPr/>
        </p:nvSpPr>
        <p:spPr>
          <a:xfrm>
            <a:off x="3500718" y="6232809"/>
            <a:ext cx="1896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/>
              <a:t>Biological Replicates</a:t>
            </a:r>
            <a:endParaRPr lang="en-IN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1A00E2-A437-14AB-62F9-AE4B9B78F038}"/>
              </a:ext>
            </a:extLst>
          </p:cNvPr>
          <p:cNvSpPr txBox="1"/>
          <p:nvPr/>
        </p:nvSpPr>
        <p:spPr>
          <a:xfrm>
            <a:off x="7772401" y="6232809"/>
            <a:ext cx="1896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/>
              <a:t>Technical Replicates</a:t>
            </a:r>
            <a:endParaRPr lang="en-IN" sz="14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89B9B2-C5F2-BBE7-D16E-E89A7D20531F}"/>
              </a:ext>
            </a:extLst>
          </p:cNvPr>
          <p:cNvSpPr txBox="1">
            <a:spLocks/>
          </p:cNvSpPr>
          <p:nvPr/>
        </p:nvSpPr>
        <p:spPr>
          <a:xfrm>
            <a:off x="1053352" y="1057803"/>
            <a:ext cx="5168154" cy="672385"/>
          </a:xfr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Step 1 —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Design: Replicates</a:t>
            </a:r>
          </a:p>
        </p:txBody>
      </p:sp>
    </p:spTree>
    <p:extLst>
      <p:ext uri="{BB962C8B-B14F-4D97-AF65-F5344CB8AC3E}">
        <p14:creationId xmlns:p14="http://schemas.microsoft.com/office/powerpoint/2010/main" val="1499719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1CBF3A-8751-FFCA-CFBE-494DD3637F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10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F6D83E-9613-D19A-22D6-D83AC11F4844}"/>
              </a:ext>
            </a:extLst>
          </p:cNvPr>
          <p:cNvSpPr txBox="1">
            <a:spLocks/>
          </p:cNvSpPr>
          <p:nvPr/>
        </p:nvSpPr>
        <p:spPr>
          <a:xfrm>
            <a:off x="1053352" y="1057803"/>
            <a:ext cx="5168154" cy="672385"/>
          </a:xfr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Step 1 —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Design: Avoiding bias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AB5774E-04BA-A5E7-25DE-7216B961E782}"/>
              </a:ext>
            </a:extLst>
          </p:cNvPr>
          <p:cNvSpPr txBox="1">
            <a:spLocks/>
          </p:cNvSpPr>
          <p:nvPr/>
        </p:nvSpPr>
        <p:spPr>
          <a:xfrm>
            <a:off x="1004298" y="1949824"/>
            <a:ext cx="4464172" cy="4440025"/>
          </a:xfr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800" b="1" i="1" dirty="0">
                <a:solidFill>
                  <a:srgbClr val="002060"/>
                </a:solidFill>
              </a:rPr>
              <a:t>Two key strategies</a:t>
            </a:r>
          </a:p>
          <a:p>
            <a:pPr lvl="1" algn="just">
              <a:lnSpc>
                <a:spcPct val="150000"/>
              </a:lnSpc>
            </a:pPr>
            <a:r>
              <a:rPr lang="en-US" sz="1800" b="1" i="1" u="sng" dirty="0">
                <a:solidFill>
                  <a:srgbClr val="002060"/>
                </a:solidFill>
              </a:rPr>
              <a:t>Randomization</a:t>
            </a:r>
            <a:endParaRPr lang="en-US" sz="1800" i="1" dirty="0">
              <a:solidFill>
                <a:srgbClr val="002060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n-US" sz="1800" b="1" i="1" u="sng" dirty="0">
                <a:solidFill>
                  <a:srgbClr val="002060"/>
                </a:solidFill>
              </a:rPr>
              <a:t>Blocking</a:t>
            </a:r>
            <a:endParaRPr lang="en-US" sz="1800" i="1" dirty="0">
              <a:solidFill>
                <a:srgbClr val="00206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219F0D-48D5-EDBD-4C2E-D7CC930749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73" t="5253" r="32647" b="3750"/>
          <a:stretch>
            <a:fillRect/>
          </a:stretch>
        </p:blipFill>
        <p:spPr>
          <a:xfrm>
            <a:off x="3398521" y="1634887"/>
            <a:ext cx="8077199" cy="461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46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9DDF9A-187A-4C57-B309-CC99CC23178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8B48B48-E31A-BA09-99A1-4049BFC3ADE4}"/>
              </a:ext>
            </a:extLst>
          </p:cNvPr>
          <p:cNvSpPr txBox="1">
            <a:spLocks/>
          </p:cNvSpPr>
          <p:nvPr/>
        </p:nvSpPr>
        <p:spPr>
          <a:xfrm>
            <a:off x="1053352" y="1147450"/>
            <a:ext cx="5168154" cy="672385"/>
          </a:xfr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Step 2 —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RNA quality: RIN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A1363F-7CB4-0C50-9A32-F9F59D725FD4}"/>
              </a:ext>
            </a:extLst>
          </p:cNvPr>
          <p:cNvSpPr txBox="1">
            <a:spLocks/>
          </p:cNvSpPr>
          <p:nvPr/>
        </p:nvSpPr>
        <p:spPr>
          <a:xfrm>
            <a:off x="895416" y="1819835"/>
            <a:ext cx="6095323" cy="3800454"/>
          </a:xfr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800" b="1" i="1" dirty="0">
                <a:solidFill>
                  <a:srgbClr val="002060"/>
                </a:solidFill>
              </a:rPr>
              <a:t>RNA extraction </a:t>
            </a:r>
          </a:p>
          <a:p>
            <a:pPr marL="685800"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1800" i="1" dirty="0">
                <a:solidFill>
                  <a:srgbClr val="002060"/>
                </a:solidFill>
              </a:rPr>
              <a:t>Remove contaminants and preserve RNA integrity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1800" b="1" i="1" dirty="0">
                <a:solidFill>
                  <a:srgbClr val="002060"/>
                </a:solidFill>
              </a:rPr>
              <a:t>RNA Integrity Number (RIN)</a:t>
            </a:r>
          </a:p>
          <a:p>
            <a:pPr marL="685800"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1800" i="1" dirty="0">
                <a:solidFill>
                  <a:srgbClr val="002060"/>
                </a:solidFill>
              </a:rPr>
              <a:t>RIN = 1–10 → measure of RNA integrity</a:t>
            </a:r>
          </a:p>
          <a:p>
            <a:pPr marL="685800"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1800" i="1" dirty="0">
                <a:solidFill>
                  <a:srgbClr val="002060"/>
                </a:solidFill>
              </a:rPr>
              <a:t>Higher RIN = better RNA quality</a:t>
            </a:r>
          </a:p>
          <a:p>
            <a:pPr marL="685800"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1800" i="1" dirty="0">
                <a:solidFill>
                  <a:srgbClr val="002060"/>
                </a:solidFill>
              </a:rPr>
              <a:t>RIN ≥ 7–8 → generally preferred for standard RNA-</a:t>
            </a:r>
            <a:r>
              <a:rPr lang="en-IN" sz="1800" i="1" dirty="0" err="1">
                <a:solidFill>
                  <a:srgbClr val="002060"/>
                </a:solidFill>
              </a:rPr>
              <a:t>Seq</a:t>
            </a:r>
            <a:endParaRPr lang="en-IN" sz="1800" i="1" dirty="0">
              <a:solidFill>
                <a:srgbClr val="002060"/>
              </a:solidFill>
            </a:endParaRPr>
          </a:p>
          <a:p>
            <a:pPr marL="685800"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1800" i="1" dirty="0">
                <a:solidFill>
                  <a:srgbClr val="002060"/>
                </a:solidFill>
              </a:rPr>
              <a:t>Degraded RNA → biased transcript representation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798235-E4A7-7D3B-9ACF-149001297B7D}"/>
              </a:ext>
            </a:extLst>
          </p:cNvPr>
          <p:cNvGrpSpPr/>
          <p:nvPr/>
        </p:nvGrpSpPr>
        <p:grpSpPr>
          <a:xfrm>
            <a:off x="7396936" y="1259234"/>
            <a:ext cx="3468287" cy="4921655"/>
            <a:chOff x="7396937" y="1147451"/>
            <a:chExt cx="3468287" cy="46988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043F1E-C461-206B-853A-D3E3E358F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4732"/>
            <a:stretch>
              <a:fillRect/>
            </a:stretch>
          </p:blipFill>
          <p:spPr>
            <a:xfrm>
              <a:off x="7396937" y="1147451"/>
              <a:ext cx="3468286" cy="217066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4EA712D-E894-B0EE-704B-CDD653799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6938" y="3318119"/>
              <a:ext cx="3468286" cy="2528225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534071E-9C25-664D-0DDA-E779BDC7DCA2}"/>
              </a:ext>
            </a:extLst>
          </p:cNvPr>
          <p:cNvSpPr txBox="1"/>
          <p:nvPr/>
        </p:nvSpPr>
        <p:spPr>
          <a:xfrm>
            <a:off x="9646024" y="6239174"/>
            <a:ext cx="25459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Image adapted from </a:t>
            </a:r>
            <a:r>
              <a:rPr lang="en-IN" sz="800" dirty="0" err="1"/>
              <a:t>Dundar</a:t>
            </a:r>
            <a:r>
              <a:rPr lang="en-IN" sz="800" dirty="0"/>
              <a:t> et al. (2015)</a:t>
            </a:r>
          </a:p>
        </p:txBody>
      </p:sp>
    </p:spTree>
    <p:extLst>
      <p:ext uri="{BB962C8B-B14F-4D97-AF65-F5344CB8AC3E}">
        <p14:creationId xmlns:p14="http://schemas.microsoft.com/office/powerpoint/2010/main" val="2878653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155F34-81C4-5135-9934-B0720E1DAA6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12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2F9BC9-B869-DC16-9920-BD04AD898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929" y="2503173"/>
            <a:ext cx="2276570" cy="30075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34005B-C83E-F159-D7A9-BCF03A1C817D}"/>
              </a:ext>
            </a:extLst>
          </p:cNvPr>
          <p:cNvSpPr txBox="1"/>
          <p:nvPr/>
        </p:nvSpPr>
        <p:spPr>
          <a:xfrm>
            <a:off x="7302649" y="5550622"/>
            <a:ext cx="4401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i="1" dirty="0">
                <a:solidFill>
                  <a:srgbClr val="002060"/>
                </a:solidFill>
              </a:rPr>
              <a:t>Platform selection depends on sample number, required sequencing depth and cost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D0F47EB-214D-7763-8CE2-02A970179601}"/>
              </a:ext>
            </a:extLst>
          </p:cNvPr>
          <p:cNvSpPr/>
          <p:nvPr/>
        </p:nvSpPr>
        <p:spPr>
          <a:xfrm>
            <a:off x="6541158" y="3429000"/>
            <a:ext cx="1398490" cy="493059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76C770-E16A-9478-01EA-6C2778486921}"/>
              </a:ext>
            </a:extLst>
          </p:cNvPr>
          <p:cNvSpPr txBox="1"/>
          <p:nvPr/>
        </p:nvSpPr>
        <p:spPr>
          <a:xfrm>
            <a:off x="6416538" y="3118880"/>
            <a:ext cx="1523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SEQUENCING</a:t>
            </a:r>
            <a:endParaRPr lang="en-IN" b="1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ACC2EA-E514-BF37-1B27-D342E5619B40}"/>
              </a:ext>
            </a:extLst>
          </p:cNvPr>
          <p:cNvSpPr txBox="1">
            <a:spLocks/>
          </p:cNvSpPr>
          <p:nvPr/>
        </p:nvSpPr>
        <p:spPr>
          <a:xfrm>
            <a:off x="1104956" y="994727"/>
            <a:ext cx="6834692" cy="549275"/>
          </a:xfrm>
        </p:spPr>
        <p:txBody>
          <a:bodyPr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800" b="1" dirty="0">
                <a:solidFill>
                  <a:srgbClr val="12303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Step 3 —</a:t>
            </a:r>
            <a:r>
              <a:rPr lang="en-IN" sz="2800" b="1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Library preparation and Sequencing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A32FFC-E938-8102-1411-FEAB14BB361C}"/>
              </a:ext>
            </a:extLst>
          </p:cNvPr>
          <p:cNvSpPr txBox="1"/>
          <p:nvPr/>
        </p:nvSpPr>
        <p:spPr>
          <a:xfrm>
            <a:off x="9439837" y="6258508"/>
            <a:ext cx="29583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Image adapted from </a:t>
            </a:r>
            <a:r>
              <a:rPr lang="en-IN" sz="800" dirty="0" err="1"/>
              <a:t>Dundar</a:t>
            </a:r>
            <a:r>
              <a:rPr lang="en-IN" sz="800" dirty="0"/>
              <a:t> et al. (2015) and Hunt AG. (2014)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A16B5F-EAC2-720C-8662-73A28C1A1030}"/>
              </a:ext>
            </a:extLst>
          </p:cNvPr>
          <p:cNvSpPr txBox="1"/>
          <p:nvPr/>
        </p:nvSpPr>
        <p:spPr>
          <a:xfrm>
            <a:off x="959224" y="1466553"/>
            <a:ext cx="772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Library Preparation / RNA Selection: </a:t>
            </a:r>
            <a:r>
              <a:rPr lang="en-US" i="1" dirty="0">
                <a:solidFill>
                  <a:srgbClr val="002060"/>
                </a:solidFill>
              </a:rPr>
              <a:t>mRNA enrichment or rRNA depletion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60C670-3501-FE71-EE6D-37711C73E4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80" t="21385" r="9129" b="10537"/>
          <a:stretch>
            <a:fillRect/>
          </a:stretch>
        </p:blipFill>
        <p:spPr>
          <a:xfrm>
            <a:off x="431701" y="2307711"/>
            <a:ext cx="5649176" cy="312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1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87FC6B-943D-27DB-F96B-45800B90AB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13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467C29-1259-1298-C45C-BC4803CABBF0}"/>
              </a:ext>
            </a:extLst>
          </p:cNvPr>
          <p:cNvSpPr txBox="1">
            <a:spLocks/>
          </p:cNvSpPr>
          <p:nvPr/>
        </p:nvSpPr>
        <p:spPr>
          <a:xfrm>
            <a:off x="1104956" y="964295"/>
            <a:ext cx="6834692" cy="549275"/>
          </a:xfr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800" b="1" dirty="0">
                <a:solidFill>
                  <a:srgbClr val="12303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Step 3 — </a:t>
            </a:r>
            <a:r>
              <a:rPr lang="en-IN" sz="2800" b="1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Sequencing reads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07FF0D-15C5-E8BF-D73F-22A8ED009FAB}"/>
              </a:ext>
            </a:extLst>
          </p:cNvPr>
          <p:cNvSpPr txBox="1"/>
          <p:nvPr/>
        </p:nvSpPr>
        <p:spPr>
          <a:xfrm>
            <a:off x="1033239" y="1354545"/>
            <a:ext cx="85344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Read Type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i="1" dirty="0">
                <a:solidFill>
                  <a:srgbClr val="002060"/>
                </a:solidFill>
              </a:rPr>
              <a:t>Single-end (SE): </a:t>
            </a:r>
            <a:r>
              <a:rPr lang="en-US" i="1" dirty="0">
                <a:solidFill>
                  <a:srgbClr val="002060"/>
                </a:solidFill>
              </a:rPr>
              <a:t>sequencing from one end of the fragment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i="1" dirty="0">
                <a:solidFill>
                  <a:srgbClr val="002060"/>
                </a:solidFill>
              </a:rPr>
              <a:t>Paired-end (PE): </a:t>
            </a:r>
            <a:r>
              <a:rPr lang="en-US" i="1" dirty="0">
                <a:solidFill>
                  <a:srgbClr val="002060"/>
                </a:solidFill>
              </a:rPr>
              <a:t>sequencing from both ends of the fragment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D9957D-BB91-8F46-CEF5-531F58F29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458" y="2693510"/>
            <a:ext cx="8946778" cy="27798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BC37A7-09E7-B15B-F437-23965CD20BA6}"/>
              </a:ext>
            </a:extLst>
          </p:cNvPr>
          <p:cNvSpPr txBox="1"/>
          <p:nvPr/>
        </p:nvSpPr>
        <p:spPr>
          <a:xfrm>
            <a:off x="1228163" y="5561020"/>
            <a:ext cx="8641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Read Length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i="1" dirty="0">
                <a:solidFill>
                  <a:srgbClr val="002060"/>
                </a:solidFill>
              </a:rPr>
              <a:t>Short-read sequencing: </a:t>
            </a:r>
            <a:r>
              <a:rPr lang="en-US" i="1" dirty="0">
                <a:solidFill>
                  <a:srgbClr val="002060"/>
                </a:solidFill>
              </a:rPr>
              <a:t>approximately 50–300 bp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i="1" dirty="0">
                <a:solidFill>
                  <a:srgbClr val="002060"/>
                </a:solidFill>
              </a:rPr>
              <a:t>Common RNA-seq formats: </a:t>
            </a:r>
            <a:r>
              <a:rPr lang="en-US" i="1" dirty="0">
                <a:solidFill>
                  <a:srgbClr val="002060"/>
                </a:solidFill>
              </a:rPr>
              <a:t>SE75, PE100, PE150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82A3B-DDA4-74ED-E0A3-E9DD86395120}"/>
              </a:ext>
            </a:extLst>
          </p:cNvPr>
          <p:cNvSpPr txBox="1"/>
          <p:nvPr/>
        </p:nvSpPr>
        <p:spPr>
          <a:xfrm>
            <a:off x="8615083" y="6021795"/>
            <a:ext cx="35769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Figure adapted from https://statomics.github.io/SGA/sequencing_intro.html</a:t>
            </a:r>
          </a:p>
        </p:txBody>
      </p:sp>
    </p:spTree>
    <p:extLst>
      <p:ext uri="{BB962C8B-B14F-4D97-AF65-F5344CB8AC3E}">
        <p14:creationId xmlns:p14="http://schemas.microsoft.com/office/powerpoint/2010/main" val="2362493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24E8-E486-A680-D8A9-60D78B566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1AF425-5C3E-8ACC-D027-D25D57A5CED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14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49F04E35-1FF3-D053-1621-7D9A4EAFEA1C}"/>
              </a:ext>
            </a:extLst>
          </p:cNvPr>
          <p:cNvSpPr/>
          <p:nvPr/>
        </p:nvSpPr>
        <p:spPr>
          <a:xfrm>
            <a:off x="640080" y="2331720"/>
            <a:ext cx="1051560" cy="1051560"/>
          </a:xfrm>
          <a:prstGeom prst="ellipse">
            <a:avLst/>
          </a:prstGeom>
          <a:solidFill>
            <a:srgbClr val="EC9A29"/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9ECDE14-6CD1-04E7-0717-F5197550A65D}"/>
              </a:ext>
            </a:extLst>
          </p:cNvPr>
          <p:cNvSpPr txBox="1"/>
          <p:nvPr/>
        </p:nvSpPr>
        <p:spPr>
          <a:xfrm>
            <a:off x="640080" y="2331720"/>
            <a:ext cx="1051560" cy="10515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02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F23D16D-3B71-DFDA-81F3-0D7837296EF4}"/>
              </a:ext>
            </a:extLst>
          </p:cNvPr>
          <p:cNvSpPr txBox="1"/>
          <p:nvPr/>
        </p:nvSpPr>
        <p:spPr>
          <a:xfrm>
            <a:off x="2057400" y="2286000"/>
            <a:ext cx="9494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From reads to numbers</a:t>
            </a: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EC819F0-3C76-FDA8-50A4-5CF043F8E336}"/>
              </a:ext>
            </a:extLst>
          </p:cNvPr>
          <p:cNvSpPr txBox="1"/>
          <p:nvPr/>
        </p:nvSpPr>
        <p:spPr>
          <a:xfrm>
            <a:off x="2057400" y="3154680"/>
            <a:ext cx="9219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i="1" dirty="0">
                <a:solidFill>
                  <a:schemeClr val="accent1"/>
                </a:solidFill>
              </a:rPr>
              <a:t>QC → Mapping → Counting</a:t>
            </a:r>
          </a:p>
        </p:txBody>
      </p:sp>
    </p:spTree>
    <p:extLst>
      <p:ext uri="{BB962C8B-B14F-4D97-AF65-F5344CB8AC3E}">
        <p14:creationId xmlns:p14="http://schemas.microsoft.com/office/powerpoint/2010/main" val="831339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9A2464-AB88-47B2-456F-ACB52283A42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6F48B2-9084-60EF-57F2-2A79E6126E0B}"/>
              </a:ext>
            </a:extLst>
          </p:cNvPr>
          <p:cNvSpPr txBox="1"/>
          <p:nvPr/>
        </p:nvSpPr>
        <p:spPr>
          <a:xfrm>
            <a:off x="636495" y="11963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2303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Step 4 —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 Quality Check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2A30B-1D81-F575-F45A-A26CB24092EF}"/>
              </a:ext>
            </a:extLst>
          </p:cNvPr>
          <p:cNvSpPr txBox="1"/>
          <p:nvPr/>
        </p:nvSpPr>
        <p:spPr>
          <a:xfrm>
            <a:off x="564776" y="1846747"/>
            <a:ext cx="6096000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Inspect the reads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002060"/>
                </a:solidFill>
              </a:rPr>
              <a:t>Check the quality of bases across the reads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002060"/>
                </a:solidFill>
              </a:rPr>
              <a:t>Look for adapter contamination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Clean the reads</a:t>
            </a:r>
            <a:endParaRPr lang="en-US" i="1" dirty="0">
              <a:solidFill>
                <a:srgbClr val="002060"/>
              </a:solidFill>
            </a:endParaRP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002060"/>
                </a:solidFill>
              </a:rPr>
              <a:t>R</a:t>
            </a:r>
            <a:r>
              <a:rPr lang="en-US" b="1" i="1" dirty="0">
                <a:solidFill>
                  <a:srgbClr val="002060"/>
                </a:solidFill>
              </a:rPr>
              <a:t>emove adapter sequences</a:t>
            </a:r>
            <a:r>
              <a:rPr lang="en-US" i="1" dirty="0">
                <a:solidFill>
                  <a:srgbClr val="002060"/>
                </a:solidFill>
              </a:rPr>
              <a:t>. 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002060"/>
                </a:solidFill>
              </a:rPr>
              <a:t>Trim </a:t>
            </a:r>
            <a:r>
              <a:rPr lang="en-US" b="1" i="1" dirty="0">
                <a:solidFill>
                  <a:srgbClr val="002060"/>
                </a:solidFill>
              </a:rPr>
              <a:t>low-quality bases</a:t>
            </a:r>
            <a:r>
              <a:rPr lang="en-US" i="1" dirty="0">
                <a:solidFill>
                  <a:srgbClr val="002060"/>
                </a:solidFill>
              </a:rPr>
              <a:t> from the reads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002060"/>
                </a:solidFill>
              </a:rPr>
              <a:t>Remove </a:t>
            </a:r>
            <a:r>
              <a:rPr lang="en-US" b="1" i="1" dirty="0">
                <a:solidFill>
                  <a:srgbClr val="002060"/>
                </a:solidFill>
              </a:rPr>
              <a:t>reads that are too short</a:t>
            </a:r>
            <a:r>
              <a:rPr lang="en-US" i="1" dirty="0">
                <a:solidFill>
                  <a:srgbClr val="002060"/>
                </a:solidFill>
              </a:rPr>
              <a:t> after trimming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i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QC tools: FastQC, </a:t>
            </a:r>
            <a:r>
              <a:rPr lang="en-US" b="1" i="1" dirty="0" err="1">
                <a:solidFill>
                  <a:srgbClr val="002060"/>
                </a:solidFill>
              </a:rPr>
              <a:t>MultiQC</a:t>
            </a:r>
            <a:endParaRPr lang="en-US" b="1" i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>
                <a:solidFill>
                  <a:srgbClr val="002060"/>
                </a:solidFill>
              </a:rPr>
              <a:t>Trimming </a:t>
            </a:r>
            <a:r>
              <a:rPr lang="en-US" b="1" i="1" dirty="0">
                <a:solidFill>
                  <a:srgbClr val="002060"/>
                </a:solidFill>
              </a:rPr>
              <a:t>tools: BBDuk, </a:t>
            </a:r>
            <a:r>
              <a:rPr lang="en-US" b="1" i="1" dirty="0" err="1">
                <a:solidFill>
                  <a:srgbClr val="002060"/>
                </a:solidFill>
              </a:rPr>
              <a:t>Cutadapt</a:t>
            </a:r>
            <a:r>
              <a:rPr lang="en-US" b="1" i="1" dirty="0">
                <a:solidFill>
                  <a:srgbClr val="002060"/>
                </a:solidFill>
              </a:rPr>
              <a:t>, </a:t>
            </a:r>
            <a:r>
              <a:rPr lang="en-US" b="1" i="1" dirty="0" err="1">
                <a:solidFill>
                  <a:srgbClr val="002060"/>
                </a:solidFill>
              </a:rPr>
              <a:t>Trimmomatic</a:t>
            </a:r>
            <a:endParaRPr lang="en-US" b="1" i="1" dirty="0">
              <a:solidFill>
                <a:srgbClr val="00206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77985E-55C8-D7E7-2281-E1352E7531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18"/>
          <a:stretch>
            <a:fillRect/>
          </a:stretch>
        </p:blipFill>
        <p:spPr>
          <a:xfrm>
            <a:off x="8865191" y="1069180"/>
            <a:ext cx="3201304" cy="30324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9580BB-3E06-DC4D-0BAA-89524B27B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968" y="1069180"/>
            <a:ext cx="3173506" cy="30324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6E2A6B-6F4A-7F16-B441-516663EB9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495" y="4210218"/>
            <a:ext cx="4055130" cy="22803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4A0A92-F3FC-2AFC-6286-F2D359FDC796}"/>
              </a:ext>
            </a:extLst>
          </p:cNvPr>
          <p:cNvSpPr txBox="1"/>
          <p:nvPr/>
        </p:nvSpPr>
        <p:spPr>
          <a:xfrm>
            <a:off x="8027894" y="6490584"/>
            <a:ext cx="36764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Figure adapted from  https://www.bioinformatics.babraham.ac.uk/projects/fastqc/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A6CDBD-B26A-68A3-B686-049818A8E4E1}"/>
              </a:ext>
            </a:extLst>
          </p:cNvPr>
          <p:cNvSpPr/>
          <p:nvPr/>
        </p:nvSpPr>
        <p:spPr>
          <a:xfrm>
            <a:off x="5619968" y="3693459"/>
            <a:ext cx="834620" cy="4081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GOOD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926E4B-DCFE-8106-D66A-1CAFA9343543}"/>
              </a:ext>
            </a:extLst>
          </p:cNvPr>
          <p:cNvSpPr/>
          <p:nvPr/>
        </p:nvSpPr>
        <p:spPr>
          <a:xfrm>
            <a:off x="8865191" y="3679004"/>
            <a:ext cx="834620" cy="4081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BAD</a:t>
            </a:r>
            <a:endParaRPr lang="en-IN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826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724DD5-8CEC-95CE-6C7B-8AFA1E7C88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16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254746-7DBD-2FE0-8B2C-D2541579FE01}"/>
              </a:ext>
            </a:extLst>
          </p:cNvPr>
          <p:cNvSpPr txBox="1"/>
          <p:nvPr/>
        </p:nvSpPr>
        <p:spPr>
          <a:xfrm>
            <a:off x="887506" y="1076744"/>
            <a:ext cx="90902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2303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Step 5 —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 Mapping: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Where do reads come from?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B01EA-8103-95DD-E26A-5EA15D207F81}"/>
              </a:ext>
            </a:extLst>
          </p:cNvPr>
          <p:cNvSpPr txBox="1"/>
          <p:nvPr/>
        </p:nvSpPr>
        <p:spPr>
          <a:xfrm>
            <a:off x="358589" y="2012341"/>
            <a:ext cx="5217458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b="1" i="1" dirty="0">
                <a:solidFill>
                  <a:srgbClr val="002060"/>
                </a:solidFill>
              </a:rPr>
              <a:t>What is mapping?</a:t>
            </a:r>
          </a:p>
          <a:p>
            <a:pPr marL="742950" lvl="1" indent="-28575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i="1" dirty="0">
                <a:solidFill>
                  <a:srgbClr val="002060"/>
                </a:solidFill>
              </a:rPr>
              <a:t>Mapping assigns sequencing reads to their most likely location in a reference sequence.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b="1" i="1" dirty="0">
                <a:solidFill>
                  <a:srgbClr val="002060"/>
                </a:solidFill>
              </a:rPr>
              <a:t>What do we map against?</a:t>
            </a:r>
          </a:p>
          <a:p>
            <a:pPr lvl="1" algn="just">
              <a:lnSpc>
                <a:spcPct val="200000"/>
              </a:lnSpc>
            </a:pPr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i="1" dirty="0">
                <a:solidFill>
                  <a:srgbClr val="002060"/>
                </a:solidFill>
              </a:rPr>
              <a:t>Reference Genome</a:t>
            </a:r>
            <a:r>
              <a:rPr lang="en-IN" i="1" dirty="0">
                <a:solidFill>
                  <a:srgbClr val="002060"/>
                </a:solidFill>
              </a:rPr>
              <a:t> </a:t>
            </a:r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i="1" dirty="0">
                <a:solidFill>
                  <a:srgbClr val="002060"/>
                </a:solidFill>
              </a:rPr>
              <a:t>Reference Transcriptome </a:t>
            </a:r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b="1" i="1" dirty="0">
                <a:solidFill>
                  <a:srgbClr val="002060"/>
                </a:solidFill>
              </a:rPr>
              <a:t> De novo Transcriptome</a:t>
            </a:r>
            <a:endParaRPr lang="en-IN" i="1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5F2D60-6411-E30F-8B22-DABAAECCB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486" y="1801052"/>
            <a:ext cx="6428975" cy="4285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13CC44-1432-10B9-65B8-E2373BD65844}"/>
              </a:ext>
            </a:extLst>
          </p:cNvPr>
          <p:cNvSpPr txBox="1"/>
          <p:nvPr/>
        </p:nvSpPr>
        <p:spPr>
          <a:xfrm>
            <a:off x="10066402" y="6087035"/>
            <a:ext cx="2017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Figure adapted from Conesa et al. (2016).</a:t>
            </a:r>
          </a:p>
        </p:txBody>
      </p:sp>
    </p:spTree>
    <p:extLst>
      <p:ext uri="{BB962C8B-B14F-4D97-AF65-F5344CB8AC3E}">
        <p14:creationId xmlns:p14="http://schemas.microsoft.com/office/powerpoint/2010/main" val="3087925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19C2E7-265A-A004-D7EB-A2235AC7FB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17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794E5A-896D-89FC-09C6-3B69DAD0D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485454"/>
              </p:ext>
            </p:extLst>
          </p:nvPr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>
                <a:tableStyleId>{85BE263C-DBD7-4A20-BB59-AAB30ACAA65A}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621822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869771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829010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738881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Mapping approach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How it works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Key tools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Best suited for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4175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1. Splice-aware genome alignment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solidFill>
                            <a:srgbClr val="002060"/>
                          </a:solidFill>
                        </a:rPr>
                        <a:t>Maps reads to the </a:t>
                      </a:r>
                      <a:r>
                        <a:rPr lang="en-US" b="1" i="1">
                          <a:solidFill>
                            <a:srgbClr val="002060"/>
                          </a:solidFill>
                        </a:rPr>
                        <a:t>genome</a:t>
                      </a:r>
                      <a:r>
                        <a:rPr lang="en-US" i="1">
                          <a:solidFill>
                            <a:srgbClr val="002060"/>
                          </a:solidFill>
                        </a:rPr>
                        <a:t> while allowing for introns and splice junctions.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STAR, HISAT2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Eukaryotic RNA-Seq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010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2. Splice-unaware alignment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solidFill>
                            <a:srgbClr val="002060"/>
                          </a:solidFill>
                        </a:rPr>
                        <a:t>Performs </a:t>
                      </a:r>
                      <a:r>
                        <a:rPr lang="en-US" b="1" i="1">
                          <a:solidFill>
                            <a:srgbClr val="002060"/>
                          </a:solidFill>
                        </a:rPr>
                        <a:t>base-by-base alignment</a:t>
                      </a:r>
                      <a:r>
                        <a:rPr lang="en-US" i="1">
                          <a:solidFill>
                            <a:srgbClr val="002060"/>
                          </a:solidFill>
                        </a:rPr>
                        <a:t> without modeling introns.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Bowtie2, BWA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1">
                          <a:solidFill>
                            <a:srgbClr val="002060"/>
                          </a:solidFill>
                        </a:rPr>
                        <a:t>Prokaryotic RNA-Seq</a:t>
                      </a:r>
                      <a:r>
                        <a:rPr lang="en-US" i="1">
                          <a:solidFill>
                            <a:srgbClr val="002060"/>
                          </a:solidFill>
                        </a:rPr>
                        <a:t> and unspliced sequences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3258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>
                          <a:solidFill>
                            <a:srgbClr val="002060"/>
                          </a:solidFill>
                        </a:rPr>
                        <a:t>3. Pseudoalignment</a:t>
                      </a:r>
                      <a:endParaRPr lang="en-IN" i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solidFill>
                            <a:srgbClr val="002060"/>
                          </a:solidFill>
                        </a:rPr>
                        <a:t>Uses </a:t>
                      </a:r>
                      <a:r>
                        <a:rPr lang="en-US" b="1" i="1">
                          <a:solidFill>
                            <a:srgbClr val="002060"/>
                          </a:solidFill>
                        </a:rPr>
                        <a:t>k-mer/sequence compatibility</a:t>
                      </a:r>
                      <a:r>
                        <a:rPr lang="en-US" i="1">
                          <a:solidFill>
                            <a:srgbClr val="002060"/>
                          </a:solidFill>
                        </a:rPr>
                        <a:t> rather than full base-by-base alignment.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002060"/>
                          </a:solidFill>
                        </a:rPr>
                        <a:t>Salmon, kallisto</a:t>
                      </a:r>
                      <a:endParaRPr lang="en-IN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>
                          <a:solidFill>
                            <a:srgbClr val="002060"/>
                          </a:solidFill>
                        </a:rPr>
                        <a:t>Fast transcript-level quantification</a:t>
                      </a:r>
                      <a:endParaRPr lang="en-IN" i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508149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92BBE64-0A57-BCB1-BADF-48499AF44E82}"/>
              </a:ext>
            </a:extLst>
          </p:cNvPr>
          <p:cNvSpPr txBox="1"/>
          <p:nvPr/>
        </p:nvSpPr>
        <p:spPr>
          <a:xfrm>
            <a:off x="887506" y="1175356"/>
            <a:ext cx="90902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2303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Step 5 —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 Mapping: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How do we map the reads?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127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7FA0FA-0532-BED0-5223-6FA8D45ACD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18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98B524-1AD6-E512-8A6F-4EA1A743C324}"/>
              </a:ext>
            </a:extLst>
          </p:cNvPr>
          <p:cNvSpPr txBox="1"/>
          <p:nvPr/>
        </p:nvSpPr>
        <p:spPr>
          <a:xfrm>
            <a:off x="1120589" y="1164522"/>
            <a:ext cx="76827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2303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Step 5 —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 Mapping: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Mapping Pitfalls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72B9B-52AE-9EE7-8323-BE22D73298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5" t="12554" r="2868" b="3634"/>
          <a:stretch>
            <a:fillRect/>
          </a:stretch>
        </p:blipFill>
        <p:spPr>
          <a:xfrm>
            <a:off x="1487245" y="1796164"/>
            <a:ext cx="9333156" cy="461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51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41EF9C-37AA-5A33-0523-E20559C511D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19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58688-7379-40CD-40A1-8B9E66D83614}"/>
              </a:ext>
            </a:extLst>
          </p:cNvPr>
          <p:cNvSpPr txBox="1"/>
          <p:nvPr/>
        </p:nvSpPr>
        <p:spPr>
          <a:xfrm>
            <a:off x="995083" y="99913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2303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Step 6 —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 Counting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DDDFE-10D0-AFB3-1424-B223500EF109}"/>
              </a:ext>
            </a:extLst>
          </p:cNvPr>
          <p:cNvSpPr txBox="1"/>
          <p:nvPr/>
        </p:nvSpPr>
        <p:spPr>
          <a:xfrm>
            <a:off x="995083" y="1745013"/>
            <a:ext cx="9538446" cy="3442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After mapping, how many reads/fragments are assigned to each gene are determined</a:t>
            </a:r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A GTF/GFF annotation provides the genomic coordinates and feature information needed for counting</a:t>
            </a:r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Counting software, such as </a:t>
            </a:r>
            <a:r>
              <a:rPr lang="en-US" i="1" dirty="0" err="1">
                <a:solidFill>
                  <a:srgbClr val="002060"/>
                </a:solidFill>
              </a:rPr>
              <a:t>featureCounts</a:t>
            </a:r>
            <a:r>
              <a:rPr lang="en-US" i="1" dirty="0">
                <a:solidFill>
                  <a:srgbClr val="002060"/>
                </a:solidFill>
              </a:rPr>
              <a:t>, uses the mapped reads + annotation to assign reads to genes.</a:t>
            </a:r>
          </a:p>
        </p:txBody>
      </p:sp>
    </p:spTree>
    <p:extLst>
      <p:ext uri="{BB962C8B-B14F-4D97-AF65-F5344CB8AC3E}">
        <p14:creationId xmlns:p14="http://schemas.microsoft.com/office/powerpoint/2010/main" val="3004598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77C2-2C36-3815-8CA4-8733C35E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0F877A-D768-0666-E86B-160CCB142E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20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B9EBF28F-6884-F2AF-072E-8152FCDA4292}"/>
              </a:ext>
            </a:extLst>
          </p:cNvPr>
          <p:cNvSpPr/>
          <p:nvPr/>
        </p:nvSpPr>
        <p:spPr>
          <a:xfrm>
            <a:off x="640080" y="2331720"/>
            <a:ext cx="1051560" cy="1051560"/>
          </a:xfrm>
          <a:prstGeom prst="ellipse">
            <a:avLst/>
          </a:prstGeom>
          <a:solidFill>
            <a:srgbClr val="EC9A29"/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B979A94-C8D4-0842-5307-96F2CFDD8A7D}"/>
              </a:ext>
            </a:extLst>
          </p:cNvPr>
          <p:cNvSpPr txBox="1"/>
          <p:nvPr/>
        </p:nvSpPr>
        <p:spPr>
          <a:xfrm>
            <a:off x="640080" y="2331720"/>
            <a:ext cx="1051560" cy="10515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02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E9D2871-F5BE-BAD5-42E9-E69479B17AC0}"/>
              </a:ext>
            </a:extLst>
          </p:cNvPr>
          <p:cNvSpPr txBox="1"/>
          <p:nvPr/>
        </p:nvSpPr>
        <p:spPr>
          <a:xfrm>
            <a:off x="2057400" y="2286000"/>
            <a:ext cx="9494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From numbers to biology</a:t>
            </a: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FA3AB94-692A-0B2E-B730-8F9D75147F32}"/>
              </a:ext>
            </a:extLst>
          </p:cNvPr>
          <p:cNvSpPr txBox="1"/>
          <p:nvPr/>
        </p:nvSpPr>
        <p:spPr>
          <a:xfrm>
            <a:off x="2057400" y="3154680"/>
            <a:ext cx="9219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i="1" dirty="0" err="1">
                <a:solidFill>
                  <a:schemeClr val="accent1"/>
                </a:solidFill>
              </a:rPr>
              <a:t>Normalisation</a:t>
            </a:r>
            <a:r>
              <a:rPr lang="en-US" sz="1600" i="1" dirty="0">
                <a:solidFill>
                  <a:schemeClr val="accent1"/>
                </a:solidFill>
              </a:rPr>
              <a:t> → DGE → Visualisation</a:t>
            </a:r>
          </a:p>
        </p:txBody>
      </p:sp>
    </p:spTree>
    <p:extLst>
      <p:ext uri="{BB962C8B-B14F-4D97-AF65-F5344CB8AC3E}">
        <p14:creationId xmlns:p14="http://schemas.microsoft.com/office/powerpoint/2010/main" val="2613505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ECC076-98E8-E36D-32DE-F504E384156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B05FF2-8D19-F70A-5F07-0C91DFA046E9}"/>
              </a:ext>
            </a:extLst>
          </p:cNvPr>
          <p:cNvSpPr txBox="1"/>
          <p:nvPr/>
        </p:nvSpPr>
        <p:spPr>
          <a:xfrm>
            <a:off x="1114665" y="1082309"/>
            <a:ext cx="5106842" cy="46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2303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Step 7 —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Normalisation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8642B-5B33-95A0-6FA7-E1BDB249D640}"/>
              </a:ext>
            </a:extLst>
          </p:cNvPr>
          <p:cNvSpPr txBox="1"/>
          <p:nvPr/>
        </p:nvSpPr>
        <p:spPr>
          <a:xfrm>
            <a:off x="627530" y="1679610"/>
            <a:ext cx="6347011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Normalization </a:t>
            </a:r>
            <a:r>
              <a:rPr lang="en-US" i="1" dirty="0">
                <a:solidFill>
                  <a:srgbClr val="002060"/>
                </a:solidFill>
              </a:rPr>
              <a:t>adjusts</a:t>
            </a:r>
            <a:r>
              <a:rPr lang="en-US" b="1" i="1" dirty="0">
                <a:solidFill>
                  <a:srgbClr val="002060"/>
                </a:solidFill>
              </a:rPr>
              <a:t> raw counts </a:t>
            </a:r>
            <a:r>
              <a:rPr lang="en-US" i="1" dirty="0">
                <a:solidFill>
                  <a:srgbClr val="002060"/>
                </a:solidFill>
              </a:rPr>
              <a:t>for </a:t>
            </a:r>
            <a:r>
              <a:rPr lang="en-US" b="1" i="1" dirty="0">
                <a:solidFill>
                  <a:srgbClr val="002060"/>
                </a:solidFill>
              </a:rPr>
              <a:t>unwanted technical differences </a:t>
            </a:r>
            <a:r>
              <a:rPr lang="en-US" i="1" dirty="0">
                <a:solidFill>
                  <a:srgbClr val="002060"/>
                </a:solidFill>
              </a:rPr>
              <a:t>between</a:t>
            </a:r>
            <a:r>
              <a:rPr lang="en-US" b="1" i="1" dirty="0">
                <a:solidFill>
                  <a:srgbClr val="002060"/>
                </a:solidFill>
              </a:rPr>
              <a:t> samples.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It makes expression values more comparable across samples.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Why do we </a:t>
            </a:r>
            <a:r>
              <a:rPr lang="en-US" b="1" i="1" dirty="0" err="1">
                <a:solidFill>
                  <a:srgbClr val="002060"/>
                </a:solidFill>
              </a:rPr>
              <a:t>normalisation</a:t>
            </a:r>
            <a:r>
              <a:rPr lang="en-US" b="1" i="1" dirty="0">
                <a:solidFill>
                  <a:srgbClr val="002060"/>
                </a:solidFill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002060"/>
                </a:solidFill>
              </a:rPr>
              <a:t>Raw counts are influenced by factors other than true expression: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i="1" dirty="0">
                <a:solidFill>
                  <a:srgbClr val="002060"/>
                </a:solidFill>
              </a:rPr>
              <a:t>Sequencing depth </a:t>
            </a:r>
            <a:r>
              <a:rPr lang="en-US" i="1" dirty="0">
                <a:solidFill>
                  <a:srgbClr val="002060"/>
                </a:solidFill>
              </a:rPr>
              <a:t>→ more reads can produce higher counts.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i="1" dirty="0">
                <a:solidFill>
                  <a:srgbClr val="002060"/>
                </a:solidFill>
              </a:rPr>
              <a:t>Gene length </a:t>
            </a:r>
            <a:r>
              <a:rPr lang="en-US" i="1" dirty="0">
                <a:solidFill>
                  <a:srgbClr val="002060"/>
                </a:solidFill>
              </a:rPr>
              <a:t>→ longer genes generate more reads.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i="1" dirty="0">
                <a:solidFill>
                  <a:srgbClr val="002060"/>
                </a:solidFill>
              </a:rPr>
              <a:t>RNA composition </a:t>
            </a:r>
            <a:r>
              <a:rPr lang="en-US" i="1" dirty="0">
                <a:solidFill>
                  <a:srgbClr val="002060"/>
                </a:solidFill>
              </a:rPr>
              <a:t>→ highly abundant genes can skew the count distribution</a:t>
            </a:r>
            <a:endParaRPr lang="en-IN" i="1" dirty="0">
              <a:solidFill>
                <a:srgbClr val="00206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EC5D3C-BBBC-83A9-8B71-016C890C6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259" y="1623683"/>
            <a:ext cx="3033873" cy="17094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EC3789-9D33-78C1-E089-D15699300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777" y="1623684"/>
            <a:ext cx="1973210" cy="17094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53B37F-B8D0-DE10-0195-EAB0D9822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827" y="3613864"/>
            <a:ext cx="2926641" cy="30706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D969BC-6B2D-D665-9902-F5160CBEEE20}"/>
              </a:ext>
            </a:extLst>
          </p:cNvPr>
          <p:cNvSpPr txBox="1"/>
          <p:nvPr/>
        </p:nvSpPr>
        <p:spPr>
          <a:xfrm>
            <a:off x="7020614" y="1349825"/>
            <a:ext cx="16405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u="sng" dirty="0">
                <a:solidFill>
                  <a:schemeClr val="tx2">
                    <a:lumMod val="50000"/>
                  </a:schemeClr>
                </a:solidFill>
              </a:rPr>
              <a:t>Sequencing depth</a:t>
            </a:r>
            <a:endParaRPr lang="en-IN" sz="1400" i="1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192A01-79CA-C97A-2968-0E3894A4B58C}"/>
              </a:ext>
            </a:extLst>
          </p:cNvPr>
          <p:cNvSpPr txBox="1"/>
          <p:nvPr/>
        </p:nvSpPr>
        <p:spPr>
          <a:xfrm>
            <a:off x="10056715" y="1332866"/>
            <a:ext cx="16405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u="sng" dirty="0">
                <a:solidFill>
                  <a:schemeClr val="tx2">
                    <a:lumMod val="50000"/>
                  </a:schemeClr>
                </a:solidFill>
              </a:rPr>
              <a:t>Gene length</a:t>
            </a:r>
            <a:endParaRPr lang="en-IN" sz="1400" i="1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8CFBC7-9F51-C143-8659-7C46B7BA12F6}"/>
              </a:ext>
            </a:extLst>
          </p:cNvPr>
          <p:cNvSpPr txBox="1"/>
          <p:nvPr/>
        </p:nvSpPr>
        <p:spPr>
          <a:xfrm>
            <a:off x="7993284" y="3359180"/>
            <a:ext cx="16405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u="sng" dirty="0">
                <a:solidFill>
                  <a:schemeClr val="tx2">
                    <a:lumMod val="50000"/>
                  </a:schemeClr>
                </a:solidFill>
              </a:rPr>
              <a:t>RNA composition</a:t>
            </a:r>
            <a:endParaRPr lang="en-IN" sz="1400" i="1" u="sng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499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B44001-7A4F-F6EB-32E5-7949BA63526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22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A4B96F-EB7B-F837-0682-DB233DC521C5}"/>
              </a:ext>
            </a:extLst>
          </p:cNvPr>
          <p:cNvSpPr txBox="1"/>
          <p:nvPr/>
        </p:nvSpPr>
        <p:spPr>
          <a:xfrm>
            <a:off x="1114664" y="1082309"/>
            <a:ext cx="7975547" cy="46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2303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Step 7 —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Normalisation: Common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D69446C-E3D4-ECB1-3E87-432BFDC40D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9583630"/>
                  </p:ext>
                </p:extLst>
              </p:nvPr>
            </p:nvGraphicFramePr>
            <p:xfrm>
              <a:off x="1683606" y="1664259"/>
              <a:ext cx="8824788" cy="4111431"/>
            </p:xfrm>
            <a:graphic>
              <a:graphicData uri="http://schemas.openxmlformats.org/drawingml/2006/table">
                <a:tbl>
                  <a:tblPr>
                    <a:tableStyleId>{6E25E649-3F16-4E02-A733-19D2CDBF48F0}</a:tableStyleId>
                  </a:tblPr>
                  <a:tblGrid>
                    <a:gridCol w="2206197">
                      <a:extLst>
                        <a:ext uri="{9D8B030D-6E8A-4147-A177-3AD203B41FA5}">
                          <a16:colId xmlns:a16="http://schemas.microsoft.com/office/drawing/2014/main" val="2390284480"/>
                        </a:ext>
                      </a:extLst>
                    </a:gridCol>
                    <a:gridCol w="2206197">
                      <a:extLst>
                        <a:ext uri="{9D8B030D-6E8A-4147-A177-3AD203B41FA5}">
                          <a16:colId xmlns:a16="http://schemas.microsoft.com/office/drawing/2014/main" val="585166861"/>
                        </a:ext>
                      </a:extLst>
                    </a:gridCol>
                    <a:gridCol w="2206197">
                      <a:extLst>
                        <a:ext uri="{9D8B030D-6E8A-4147-A177-3AD203B41FA5}">
                          <a16:colId xmlns:a16="http://schemas.microsoft.com/office/drawing/2014/main" val="2018699135"/>
                        </a:ext>
                      </a:extLst>
                    </a:gridCol>
                    <a:gridCol w="2206197">
                      <a:extLst>
                        <a:ext uri="{9D8B030D-6E8A-4147-A177-3AD203B41FA5}">
                          <a16:colId xmlns:a16="http://schemas.microsoft.com/office/drawing/2014/main" val="2327593976"/>
                        </a:ext>
                      </a:extLst>
                    </a:gridCol>
                  </a:tblGrid>
                  <a:tr h="3127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Method</a:t>
                          </a:r>
                          <a:endParaRPr lang="en-IN" sz="1400" i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How it works / Equation</a:t>
                          </a:r>
                          <a:endParaRPr lang="en-IN" sz="1400" i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Corrects for</a:t>
                          </a:r>
                          <a:endParaRPr lang="en-IN" sz="1400" i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Use it for</a:t>
                          </a:r>
                          <a:endParaRPr lang="en-IN" sz="1400" i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extLst>
                      <a:ext uri="{0D108BD9-81ED-4DB2-BD59-A6C34878D82A}">
                        <a16:rowId xmlns:a16="http://schemas.microsoft.com/office/drawing/2014/main" val="3823995413"/>
                      </a:ext>
                    </a:extLst>
                  </a:tr>
                  <a:tr h="6458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 dirty="0">
                              <a:solidFill>
                                <a:srgbClr val="002060"/>
                              </a:solidFill>
                            </a:rPr>
                            <a:t>CPM</a:t>
                          </a:r>
                          <a:r>
                            <a:rPr lang="en-IN" sz="1400" i="1" dirty="0">
                              <a:solidFill>
                                <a:srgbClr val="002060"/>
                              </a:solidFill>
                            </a:rPr>
                            <a:t> Counts Per Million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Divide by library size:</a:t>
                          </a: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IN" sz="14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𝐶𝑃𝑀</m:t>
                              </m:r>
                              <m:r>
                                <a:rPr lang="en-IN" sz="14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  <m:r>
                                <a:rPr lang="ar-AE" sz="14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ar-AE" sz="1400" i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Sequencing depth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Quick exploratory comparisons</a:t>
                          </a:r>
                        </a:p>
                      </a:txBody>
                      <a:tcPr marL="73026" marR="73026" marT="36513" marB="36513" anchor="ctr"/>
                    </a:tc>
                    <a:extLst>
                      <a:ext uri="{0D108BD9-81ED-4DB2-BD59-A6C34878D82A}">
                        <a16:rowId xmlns:a16="http://schemas.microsoft.com/office/drawing/2014/main" val="2144083121"/>
                      </a:ext>
                    </a:extLst>
                  </a:tr>
                  <a:tr h="91182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RPKM</a:t>
                          </a: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 Reads Per Kilobase per Million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Divide by gene length + library size:</a:t>
                          </a: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IN" sz="14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𝑅𝑃𝐾𝑀</m:t>
                              </m:r>
                              <m:r>
                                <a:rPr lang="en-IN" sz="14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ar-AE" sz="14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14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ar-AE" sz="14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oMath>
                          </a14:m>
                          <a:endParaRPr lang="ar-AE" sz="1400" i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Depth + gene length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i="1">
                              <a:solidFill>
                                <a:srgbClr val="002060"/>
                              </a:solidFill>
                            </a:rPr>
                            <a:t>Comparing genes within a sample</a:t>
                          </a:r>
                        </a:p>
                      </a:txBody>
                      <a:tcPr marL="73026" marR="73026" marT="36513" marB="36513" anchor="ctr"/>
                    </a:tc>
                    <a:extLst>
                      <a:ext uri="{0D108BD9-81ED-4DB2-BD59-A6C34878D82A}">
                        <a16:rowId xmlns:a16="http://schemas.microsoft.com/office/drawing/2014/main" val="1358253425"/>
                      </a:ext>
                    </a:extLst>
                  </a:tr>
                  <a:tr h="91182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FPKM</a:t>
                          </a: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 Fragments Per Kilobase per Million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Divide by gene length + library size:</a:t>
                          </a: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IN" sz="14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𝐹𝑃𝐾𝑀</m:t>
                              </m:r>
                              <m:r>
                                <a:rPr lang="en-IN" sz="14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ar-AE" sz="14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14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ar-AE" sz="14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ar-AE" sz="1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den>
                              </m:f>
                            </m:oMath>
                          </a14:m>
                          <a:endParaRPr lang="ar-AE" sz="1400" i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Depth + gene length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Paired-end RNA-seq; older measure</a:t>
                          </a:r>
                        </a:p>
                      </a:txBody>
                      <a:tcPr marL="73026" marR="73026" marT="36513" marB="36513" anchor="ctr"/>
                    </a:tc>
                    <a:extLst>
                      <a:ext uri="{0D108BD9-81ED-4DB2-BD59-A6C34878D82A}">
                        <a16:rowId xmlns:a16="http://schemas.microsoft.com/office/drawing/2014/main" val="3879634940"/>
                      </a:ext>
                    </a:extLst>
                  </a:tr>
                  <a:tr h="54729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TPM</a:t>
                          </a: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 Transcripts Per Million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 i="1">
                              <a:solidFill>
                                <a:srgbClr val="002060"/>
                              </a:solidFill>
                            </a:rPr>
                            <a:t>Length-normalise first, then scale to library total:</a:t>
                          </a:r>
                          <a:r>
                            <a:rPr lang="en-US" sz="1400" i="1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Depth + transcript length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Transcript abundance</a:t>
                          </a:r>
                        </a:p>
                      </a:txBody>
                      <a:tcPr marL="73026" marR="73026" marT="36513" marB="36513" anchor="ctr"/>
                    </a:tc>
                    <a:extLst>
                      <a:ext uri="{0D108BD9-81ED-4DB2-BD59-A6C34878D82A}">
                        <a16:rowId xmlns:a16="http://schemas.microsoft.com/office/drawing/2014/main" val="1256678790"/>
                      </a:ext>
                    </a:extLst>
                  </a:tr>
                  <a:tr h="78184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DESeq2</a:t>
                          </a:r>
                          <a:endParaRPr lang="en-IN" sz="1400" i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 i="1">
                              <a:solidFill>
                                <a:srgbClr val="002060"/>
                              </a:solidFill>
                            </a:rPr>
                            <a:t>Size-factor normalization:</a:t>
                          </a:r>
                          <a:r>
                            <a:rPr lang="en-US" sz="1400" i="1">
                              <a:solidFill>
                                <a:srgbClr val="002060"/>
                              </a:solidFill>
                            </a:rPr>
                            <a:t> geometric mean → ratios → median ratio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Depth + RNA composition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 dirty="0">
                              <a:solidFill>
                                <a:srgbClr val="002060"/>
                              </a:solidFill>
                            </a:rPr>
                            <a:t>Differential expression</a:t>
                          </a:r>
                          <a:endParaRPr lang="en-IN" sz="1400" i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extLst>
                      <a:ext uri="{0D108BD9-81ED-4DB2-BD59-A6C34878D82A}">
                        <a16:rowId xmlns:a16="http://schemas.microsoft.com/office/drawing/2014/main" val="11448164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D69446C-E3D4-ECB1-3E87-432BFDC40D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9583630"/>
                  </p:ext>
                </p:extLst>
              </p:nvPr>
            </p:nvGraphicFramePr>
            <p:xfrm>
              <a:off x="1683606" y="1664259"/>
              <a:ext cx="8824788" cy="4111431"/>
            </p:xfrm>
            <a:graphic>
              <a:graphicData uri="http://schemas.openxmlformats.org/drawingml/2006/table">
                <a:tbl>
                  <a:tblPr>
                    <a:tableStyleId>{6E25E649-3F16-4E02-A733-19D2CDBF48F0}</a:tableStyleId>
                  </a:tblPr>
                  <a:tblGrid>
                    <a:gridCol w="2206197">
                      <a:extLst>
                        <a:ext uri="{9D8B030D-6E8A-4147-A177-3AD203B41FA5}">
                          <a16:colId xmlns:a16="http://schemas.microsoft.com/office/drawing/2014/main" val="2390284480"/>
                        </a:ext>
                      </a:extLst>
                    </a:gridCol>
                    <a:gridCol w="2206197">
                      <a:extLst>
                        <a:ext uri="{9D8B030D-6E8A-4147-A177-3AD203B41FA5}">
                          <a16:colId xmlns:a16="http://schemas.microsoft.com/office/drawing/2014/main" val="585166861"/>
                        </a:ext>
                      </a:extLst>
                    </a:gridCol>
                    <a:gridCol w="2206197">
                      <a:extLst>
                        <a:ext uri="{9D8B030D-6E8A-4147-A177-3AD203B41FA5}">
                          <a16:colId xmlns:a16="http://schemas.microsoft.com/office/drawing/2014/main" val="2018699135"/>
                        </a:ext>
                      </a:extLst>
                    </a:gridCol>
                    <a:gridCol w="2206197">
                      <a:extLst>
                        <a:ext uri="{9D8B030D-6E8A-4147-A177-3AD203B41FA5}">
                          <a16:colId xmlns:a16="http://schemas.microsoft.com/office/drawing/2014/main" val="2327593976"/>
                        </a:ext>
                      </a:extLst>
                    </a:gridCol>
                  </a:tblGrid>
                  <a:tr h="3127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Method</a:t>
                          </a:r>
                          <a:endParaRPr lang="en-IN" sz="1400" i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How it works / Equation</a:t>
                          </a:r>
                          <a:endParaRPr lang="en-IN" sz="1400" i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Corrects for</a:t>
                          </a:r>
                          <a:endParaRPr lang="en-IN" sz="1400" i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Use it for</a:t>
                          </a:r>
                          <a:endParaRPr lang="en-IN" sz="1400" i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extLst>
                      <a:ext uri="{0D108BD9-81ED-4DB2-BD59-A6C34878D82A}">
                        <a16:rowId xmlns:a16="http://schemas.microsoft.com/office/drawing/2014/main" val="3823995413"/>
                      </a:ext>
                    </a:extLst>
                  </a:tr>
                  <a:tr h="6458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 dirty="0">
                              <a:solidFill>
                                <a:srgbClr val="002060"/>
                              </a:solidFill>
                            </a:rPr>
                            <a:t>CPM</a:t>
                          </a:r>
                          <a:r>
                            <a:rPr lang="en-IN" sz="1400" i="1" dirty="0">
                              <a:solidFill>
                                <a:srgbClr val="002060"/>
                              </a:solidFill>
                            </a:rPr>
                            <a:t> Counts Per Million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6" marR="73026" marT="36513" marB="36513" anchor="ctr">
                        <a:blipFill>
                          <a:blip r:embed="rId2"/>
                          <a:stretch>
                            <a:fillRect l="-100000" t="-50943" r="-200552" b="-494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Sequencing depth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Quick exploratory comparisons</a:t>
                          </a:r>
                        </a:p>
                      </a:txBody>
                      <a:tcPr marL="73026" marR="73026" marT="36513" marB="36513" anchor="ctr"/>
                    </a:tc>
                    <a:extLst>
                      <a:ext uri="{0D108BD9-81ED-4DB2-BD59-A6C34878D82A}">
                        <a16:rowId xmlns:a16="http://schemas.microsoft.com/office/drawing/2014/main" val="2144083121"/>
                      </a:ext>
                    </a:extLst>
                  </a:tr>
                  <a:tr h="91182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RPKM</a:t>
                          </a: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 Reads Per Kilobase per Million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6" marR="73026" marT="36513" marB="36513" anchor="ctr">
                        <a:blipFill>
                          <a:blip r:embed="rId2"/>
                          <a:stretch>
                            <a:fillRect l="-100000" t="-106667" r="-200552" b="-24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Depth + gene length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i="1">
                              <a:solidFill>
                                <a:srgbClr val="002060"/>
                              </a:solidFill>
                            </a:rPr>
                            <a:t>Comparing genes within a sample</a:t>
                          </a:r>
                        </a:p>
                      </a:txBody>
                      <a:tcPr marL="73026" marR="73026" marT="36513" marB="36513" anchor="ctr"/>
                    </a:tc>
                    <a:extLst>
                      <a:ext uri="{0D108BD9-81ED-4DB2-BD59-A6C34878D82A}">
                        <a16:rowId xmlns:a16="http://schemas.microsoft.com/office/drawing/2014/main" val="1358253425"/>
                      </a:ext>
                    </a:extLst>
                  </a:tr>
                  <a:tr h="91182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FPKM</a:t>
                          </a: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 Fragments Per Kilobase per Million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6" marR="73026" marT="36513" marB="36513" anchor="ctr">
                        <a:blipFill>
                          <a:blip r:embed="rId2"/>
                          <a:stretch>
                            <a:fillRect l="-100000" t="-206667" r="-200552" b="-14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Depth + gene length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Paired-end RNA-seq; older measure</a:t>
                          </a:r>
                        </a:p>
                      </a:txBody>
                      <a:tcPr marL="73026" marR="73026" marT="36513" marB="36513" anchor="ctr"/>
                    </a:tc>
                    <a:extLst>
                      <a:ext uri="{0D108BD9-81ED-4DB2-BD59-A6C34878D82A}">
                        <a16:rowId xmlns:a16="http://schemas.microsoft.com/office/drawing/2014/main" val="3879634940"/>
                      </a:ext>
                    </a:extLst>
                  </a:tr>
                  <a:tr h="54729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TPM</a:t>
                          </a: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 Transcripts Per Million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 i="1">
                              <a:solidFill>
                                <a:srgbClr val="002060"/>
                              </a:solidFill>
                            </a:rPr>
                            <a:t>Length-normalise first, then scale to library total:</a:t>
                          </a:r>
                          <a:r>
                            <a:rPr lang="en-US" sz="1400" i="1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Depth + transcript length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Transcript abundance</a:t>
                          </a:r>
                        </a:p>
                      </a:txBody>
                      <a:tcPr marL="73026" marR="73026" marT="36513" marB="36513" anchor="ctr"/>
                    </a:tc>
                    <a:extLst>
                      <a:ext uri="{0D108BD9-81ED-4DB2-BD59-A6C34878D82A}">
                        <a16:rowId xmlns:a16="http://schemas.microsoft.com/office/drawing/2014/main" val="1256678790"/>
                      </a:ext>
                    </a:extLst>
                  </a:tr>
                  <a:tr h="78184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>
                              <a:solidFill>
                                <a:srgbClr val="002060"/>
                              </a:solidFill>
                            </a:rPr>
                            <a:t>DESeq2</a:t>
                          </a:r>
                          <a:endParaRPr lang="en-IN" sz="1400" i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1" i="1">
                              <a:solidFill>
                                <a:srgbClr val="002060"/>
                              </a:solidFill>
                            </a:rPr>
                            <a:t>Size-factor normalization:</a:t>
                          </a:r>
                          <a:r>
                            <a:rPr lang="en-US" sz="1400" i="1">
                              <a:solidFill>
                                <a:srgbClr val="002060"/>
                              </a:solidFill>
                            </a:rPr>
                            <a:t> geometric mean → ratios → median ratio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i="1">
                              <a:solidFill>
                                <a:srgbClr val="002060"/>
                              </a:solidFill>
                            </a:rPr>
                            <a:t>Depth + RNA composition</a:t>
                          </a:r>
                        </a:p>
                      </a:txBody>
                      <a:tcPr marL="73026" marR="73026" marT="36513" marB="36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i="1" dirty="0">
                              <a:solidFill>
                                <a:srgbClr val="002060"/>
                              </a:solidFill>
                            </a:rPr>
                            <a:t>Differential expression</a:t>
                          </a:r>
                          <a:endParaRPr lang="en-IN" sz="1400" i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73026" marR="73026" marT="36513" marB="36513" anchor="ctr"/>
                    </a:tc>
                    <a:extLst>
                      <a:ext uri="{0D108BD9-81ED-4DB2-BD59-A6C34878D82A}">
                        <a16:rowId xmlns:a16="http://schemas.microsoft.com/office/drawing/2014/main" val="11448164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61D0C09-730F-A625-82B1-2063B404FDFD}"/>
              </a:ext>
            </a:extLst>
          </p:cNvPr>
          <p:cNvSpPr txBox="1"/>
          <p:nvPr/>
        </p:nvSpPr>
        <p:spPr>
          <a:xfrm>
            <a:off x="663388" y="6111479"/>
            <a:ext cx="11636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C = gene count N = library size (total mapped reads) F = total mapped fragments L = gene/transcript length (kb)  s = DESeq2 size factor</a:t>
            </a:r>
          </a:p>
        </p:txBody>
      </p:sp>
    </p:spTree>
    <p:extLst>
      <p:ext uri="{BB962C8B-B14F-4D97-AF65-F5344CB8AC3E}">
        <p14:creationId xmlns:p14="http://schemas.microsoft.com/office/powerpoint/2010/main" val="1015748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2A22A-E60A-AA2B-9B5E-514B29CFD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77B50A-D7D4-9CCB-9C72-1DF0A85EAFD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23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B444C8-805C-62D7-DAE8-A293C8CC73E9}"/>
              </a:ext>
            </a:extLst>
          </p:cNvPr>
          <p:cNvSpPr txBox="1"/>
          <p:nvPr/>
        </p:nvSpPr>
        <p:spPr>
          <a:xfrm>
            <a:off x="1114664" y="1082309"/>
            <a:ext cx="8612042" cy="46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2303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Step 7 —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Normalisation: DESeq2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5A4585-BFC3-2D47-710B-149DB6F7428D}"/>
              </a:ext>
            </a:extLst>
          </p:cNvPr>
          <p:cNvSpPr txBox="1"/>
          <p:nvPr/>
        </p:nvSpPr>
        <p:spPr>
          <a:xfrm>
            <a:off x="1114664" y="1555011"/>
            <a:ext cx="10091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DESeq2 uses the </a:t>
            </a:r>
            <a:r>
              <a:rPr lang="en-US" b="1" i="1" dirty="0">
                <a:solidFill>
                  <a:srgbClr val="002060"/>
                </a:solidFill>
              </a:rPr>
              <a:t>median of ratios </a:t>
            </a:r>
            <a:r>
              <a:rPr lang="en-US" i="1" dirty="0">
                <a:solidFill>
                  <a:srgbClr val="002060"/>
                </a:solidFill>
              </a:rPr>
              <a:t>method to normalize for sequencing depth and RNA composition</a:t>
            </a:r>
            <a:endParaRPr lang="en-IN" i="1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C7FEB4-7841-517B-237E-4E90DFE0D7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4" t="14799" r="2794"/>
          <a:stretch>
            <a:fillRect/>
          </a:stretch>
        </p:blipFill>
        <p:spPr>
          <a:xfrm>
            <a:off x="989158" y="1924343"/>
            <a:ext cx="10262026" cy="42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04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B99907-5AC3-A568-B388-53B4732388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24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F6029-343C-EA7E-A1CE-757FC6DDB395}"/>
              </a:ext>
            </a:extLst>
          </p:cNvPr>
          <p:cNvSpPr txBox="1"/>
          <p:nvPr/>
        </p:nvSpPr>
        <p:spPr>
          <a:xfrm>
            <a:off x="968189" y="11963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2303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Step 8 —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Differential expression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09CEC-5FB8-1FA6-127E-6C53799FC592}"/>
              </a:ext>
            </a:extLst>
          </p:cNvPr>
          <p:cNvSpPr txBox="1"/>
          <p:nvPr/>
        </p:nvSpPr>
        <p:spPr>
          <a:xfrm>
            <a:off x="968188" y="1719574"/>
            <a:ext cx="9771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2060"/>
                </a:solidFill>
              </a:rPr>
              <a:t>Goal: Identify genes with different expression between conditions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A301B8-F05E-CE84-0222-300516FE6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15" b="18750"/>
          <a:stretch>
            <a:fillRect/>
          </a:stretch>
        </p:blipFill>
        <p:spPr>
          <a:xfrm>
            <a:off x="546847" y="2242794"/>
            <a:ext cx="11098306" cy="364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D50FEF-C203-D847-95BD-C964971C99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C7046-0C8C-358C-F339-270B4F7AFE0F}"/>
              </a:ext>
            </a:extLst>
          </p:cNvPr>
          <p:cNvSpPr txBox="1"/>
          <p:nvPr/>
        </p:nvSpPr>
        <p:spPr>
          <a:xfrm>
            <a:off x="1048871" y="112866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9 — Visualising DGE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315C1C-24C0-A5FF-E1A5-64D65EE8BA47}"/>
              </a:ext>
            </a:extLst>
          </p:cNvPr>
          <p:cNvSpPr txBox="1"/>
          <p:nvPr/>
        </p:nvSpPr>
        <p:spPr>
          <a:xfrm>
            <a:off x="537882" y="1873624"/>
            <a:ext cx="292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1. MA plot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FA183-27EA-0D83-75A0-4D2C2FBBCDEB}"/>
              </a:ext>
            </a:extLst>
          </p:cNvPr>
          <p:cNvSpPr txBox="1"/>
          <p:nvPr/>
        </p:nvSpPr>
        <p:spPr>
          <a:xfrm>
            <a:off x="206188" y="5206353"/>
            <a:ext cx="4123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i="1" dirty="0">
                <a:solidFill>
                  <a:srgbClr val="002060"/>
                </a:solidFill>
              </a:rPr>
              <a:t>Shows expression level vs. fold </a:t>
            </a:r>
            <a:r>
              <a:rPr lang="en-US" sz="1600" i="1" dirty="0" err="1">
                <a:solidFill>
                  <a:srgbClr val="002060"/>
                </a:solidFill>
              </a:rPr>
              <a:t>changeI</a:t>
            </a:r>
            <a:endParaRPr lang="en-US" sz="1600" i="1" dirty="0">
              <a:solidFill>
                <a:srgbClr val="00206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i="1" dirty="0" err="1">
                <a:solidFill>
                  <a:srgbClr val="002060"/>
                </a:solidFill>
              </a:rPr>
              <a:t>dentifies</a:t>
            </a:r>
            <a:r>
              <a:rPr lang="en-US" sz="1600" i="1" dirty="0">
                <a:solidFill>
                  <a:srgbClr val="002060"/>
                </a:solidFill>
              </a:rPr>
              <a:t> genes with large expression changes</a:t>
            </a:r>
            <a:endParaRPr lang="en-IN" sz="1600" i="1" dirty="0">
              <a:solidFill>
                <a:srgbClr val="00206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EF810E-A3AA-672D-48A2-E1AFD1C4A2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48" r="4062" b="3529"/>
          <a:stretch>
            <a:fillRect/>
          </a:stretch>
        </p:blipFill>
        <p:spPr>
          <a:xfrm>
            <a:off x="452720" y="2418330"/>
            <a:ext cx="3715870" cy="26517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4D354A-64F9-019B-A774-EE0EC59A968C}"/>
              </a:ext>
            </a:extLst>
          </p:cNvPr>
          <p:cNvSpPr txBox="1"/>
          <p:nvPr/>
        </p:nvSpPr>
        <p:spPr>
          <a:xfrm>
            <a:off x="4365812" y="5266166"/>
            <a:ext cx="378310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i="1" dirty="0">
                <a:solidFill>
                  <a:srgbClr val="002060"/>
                </a:solidFill>
              </a:rPr>
              <a:t>Shows log₂ fold change vs. statistical significance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i="1" dirty="0">
                <a:solidFill>
                  <a:srgbClr val="002060"/>
                </a:solidFill>
              </a:rPr>
              <a:t>Highlights strongly and significantly changed genes</a:t>
            </a:r>
            <a:endParaRPr lang="en-IN" sz="1600" i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99BF91-3541-E886-F97F-F0AB431082E3}"/>
              </a:ext>
            </a:extLst>
          </p:cNvPr>
          <p:cNvSpPr txBox="1"/>
          <p:nvPr/>
        </p:nvSpPr>
        <p:spPr>
          <a:xfrm>
            <a:off x="8148918" y="2009874"/>
            <a:ext cx="292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3. Heatmap</a:t>
            </a:r>
            <a:endParaRPr lang="en-IN" b="1" dirty="0">
              <a:solidFill>
                <a:srgbClr val="00206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CD3663-1492-681E-D6F0-6B28D0BACE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44"/>
          <a:stretch>
            <a:fillRect/>
          </a:stretch>
        </p:blipFill>
        <p:spPr>
          <a:xfrm>
            <a:off x="4518213" y="2418330"/>
            <a:ext cx="3478305" cy="27036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C8FA39-CD6F-5CF9-EB27-08DD50FD47E1}"/>
              </a:ext>
            </a:extLst>
          </p:cNvPr>
          <p:cNvSpPr txBox="1"/>
          <p:nvPr/>
        </p:nvSpPr>
        <p:spPr>
          <a:xfrm>
            <a:off x="4419600" y="2009874"/>
            <a:ext cx="292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2. Volcano plot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110EC8-6E07-B4F7-2114-1BA2E9D483B0}"/>
              </a:ext>
            </a:extLst>
          </p:cNvPr>
          <p:cNvSpPr txBox="1"/>
          <p:nvPr/>
        </p:nvSpPr>
        <p:spPr>
          <a:xfrm>
            <a:off x="8184777" y="5206353"/>
            <a:ext cx="36486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i="1" dirty="0">
                <a:solidFill>
                  <a:srgbClr val="002060"/>
                </a:solidFill>
              </a:rPr>
              <a:t>Shows expression patterns of selected genes across samples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i="1" dirty="0">
                <a:solidFill>
                  <a:srgbClr val="002060"/>
                </a:solidFill>
              </a:rPr>
              <a:t>Reveals gene clusters and sample similarities</a:t>
            </a:r>
            <a:endParaRPr lang="en-IN" sz="1600" i="1" dirty="0">
              <a:solidFill>
                <a:srgbClr val="00206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6A1397E-1833-4F8F-42F4-519C4A208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141" y="2418330"/>
            <a:ext cx="3393139" cy="270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55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5F1850-0B87-D6A5-2373-8888D28725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26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EFE127-325B-A660-A513-0A274370586E}"/>
              </a:ext>
            </a:extLst>
          </p:cNvPr>
          <p:cNvSpPr txBox="1"/>
          <p:nvPr/>
        </p:nvSpPr>
        <p:spPr>
          <a:xfrm>
            <a:off x="713591" y="1683273"/>
            <a:ext cx="10762130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Start with a well-designed experiment</a:t>
            </a:r>
            <a:r>
              <a:rPr lang="en-US" i="1" dirty="0">
                <a:solidFill>
                  <a:srgbClr val="002060"/>
                </a:solidFill>
              </a:rPr>
              <a:t> — define the biological question, use appropriate replicates, and control sources of variation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Make sure the sequencing data are trustworthy </a:t>
            </a:r>
            <a:r>
              <a:rPr lang="en-US" i="1" dirty="0">
                <a:solidFill>
                  <a:srgbClr val="002060"/>
                </a:solidFill>
              </a:rPr>
              <a:t>— perform quality control and trimming before downstream analysis.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Convert reads into reliable counts </a:t>
            </a:r>
            <a:r>
              <a:rPr lang="en-US" i="1" dirty="0">
                <a:solidFill>
                  <a:srgbClr val="002060"/>
                </a:solidFill>
              </a:rPr>
              <a:t>— choose the appropriate reference, map the reads, use the correct annotation, and apply appropriate counting rules.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Make samples comparable </a:t>
            </a:r>
            <a:r>
              <a:rPr lang="en-US" i="1" dirty="0">
                <a:solidFill>
                  <a:srgbClr val="002060"/>
                </a:solidFill>
              </a:rPr>
              <a:t>— normalize the count data to account for sequencing depth and other technical differences.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1" dirty="0">
                <a:solidFill>
                  <a:srgbClr val="002060"/>
                </a:solidFill>
              </a:rPr>
              <a:t>Explore, test, and interpret the data </a:t>
            </a:r>
            <a:r>
              <a:rPr lang="en-US" i="1" dirty="0">
                <a:solidFill>
                  <a:srgbClr val="002060"/>
                </a:solidFill>
              </a:rPr>
              <a:t>—differential expression to identify changes, and visualization to reveal biological meaning.</a:t>
            </a:r>
            <a:endParaRPr lang="en-IN" i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32CF6-0FD2-CE35-8719-D1EF1B2F99B2}"/>
              </a:ext>
            </a:extLst>
          </p:cNvPr>
          <p:cNvSpPr txBox="1"/>
          <p:nvPr/>
        </p:nvSpPr>
        <p:spPr>
          <a:xfrm>
            <a:off x="1048871" y="112866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2578679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29CC1C-BF7F-168F-9504-F1D4B61E86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27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0F15F5-09F9-1808-6F20-A7665CF44576}"/>
              </a:ext>
            </a:extLst>
          </p:cNvPr>
          <p:cNvSpPr txBox="1"/>
          <p:nvPr/>
        </p:nvSpPr>
        <p:spPr>
          <a:xfrm>
            <a:off x="3290047" y="104634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RNA-SEQ CHALLENGE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074770-ABE0-CE4C-9B3D-6644303C00D6}"/>
              </a:ext>
            </a:extLst>
          </p:cNvPr>
          <p:cNvSpPr txBox="1"/>
          <p:nvPr/>
        </p:nvSpPr>
        <p:spPr>
          <a:xfrm>
            <a:off x="3048000" y="166817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solidFill>
                  <a:srgbClr val="002060"/>
                </a:solidFill>
              </a:rPr>
              <a:t>Your Task: From Cleaned Reads to Biological Insight</a:t>
            </a:r>
            <a:endParaRPr lang="en-IN" sz="2000" b="1" i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73E32-C819-6175-2244-997AB1608622}"/>
              </a:ext>
            </a:extLst>
          </p:cNvPr>
          <p:cNvSpPr txBox="1"/>
          <p:nvPr/>
        </p:nvSpPr>
        <p:spPr>
          <a:xfrm>
            <a:off x="1550894" y="2068288"/>
            <a:ext cx="9726705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① Map the reads — SERVER</a:t>
            </a:r>
          </a:p>
          <a:p>
            <a:pPr lvl="1">
              <a:lnSpc>
                <a:spcPct val="150000"/>
              </a:lnSpc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Cleaned reads 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→ Bowtie2 → SAM/BAM → sorted BAM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② Count the genes — SERVER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Sorted BAM + GFF annotation → </a:t>
            </a:r>
            <a:r>
              <a:rPr lang="en-IN" dirty="0" err="1">
                <a:solidFill>
                  <a:schemeClr val="tx2">
                    <a:lumMod val="50000"/>
                  </a:schemeClr>
                </a:solidFill>
              </a:rPr>
              <a:t>featureCounts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 → count matrix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③ </a:t>
            </a:r>
            <a:r>
              <a:rPr lang="en-IN" b="1" dirty="0" err="1">
                <a:solidFill>
                  <a:schemeClr val="tx2">
                    <a:lumMod val="50000"/>
                  </a:schemeClr>
                </a:solidFill>
              </a:rPr>
              <a:t>Analyze</a:t>
            </a: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 the expression — RStudio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Count matrix → DESeq2 normalization → differential expression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④ Explore the results — RStudio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PCA →  Sample clustering → MA plot → Volcano plot → Heatmap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⑤ Interpret the biology: Do the expression patterns reveal meaningful differences between the experimental conditions?</a:t>
            </a:r>
          </a:p>
        </p:txBody>
      </p:sp>
    </p:spTree>
    <p:extLst>
      <p:ext uri="{BB962C8B-B14F-4D97-AF65-F5344CB8AC3E}">
        <p14:creationId xmlns:p14="http://schemas.microsoft.com/office/powerpoint/2010/main" val="3232362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1309</Words>
  <Application>Microsoft Office PowerPoint</Application>
  <PresentationFormat>Widescreen</PresentationFormat>
  <Paragraphs>219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Aptos</vt:lpstr>
      <vt:lpstr>Arial</vt:lpstr>
      <vt:lpstr>Calibri</vt:lpstr>
      <vt:lpstr>Cambria</vt:lpstr>
      <vt:lpstr>Cambria Math</vt:lpstr>
      <vt:lpstr>Courier New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Night Fox Inc</cp:lastModifiedBy>
  <cp:revision>110</cp:revision>
  <dcterms:created xsi:type="dcterms:W3CDTF">2026-08-25T11:32:45Z</dcterms:created>
  <dcterms:modified xsi:type="dcterms:W3CDTF">2026-09-03T05:13:27Z</dcterms:modified>
</cp:coreProperties>
</file>