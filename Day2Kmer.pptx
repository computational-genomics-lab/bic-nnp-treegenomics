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56" r:id="rId2"/>
    <p:sldId id="264" r:id="rId3"/>
    <p:sldId id="258" r:id="rId4"/>
    <p:sldId id="260" r:id="rId5"/>
    <p:sldId id="261" r:id="rId6"/>
    <p:sldId id="259" r:id="rId7"/>
    <p:sldId id="262" r:id="rId8"/>
    <p:sldId id="263" r:id="rId9"/>
    <p:sldId id="265" r:id="rId10"/>
    <p:sldId id="268" r:id="rId11"/>
    <p:sldId id="269" r:id="rId12"/>
    <p:sldId id="270" r:id="rId13"/>
    <p:sldId id="266" r:id="rId14"/>
    <p:sldId id="267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0E2780D-F900-7940-B7D2-6D3AEF3EFAA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92A6E1-7147-6D53-BAA9-01DCE4115DD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3167BE-089E-490D-BF84-71C7CE40F95B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C4BCF7-FA98-12F8-895A-73B12874C7F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DCCA50-75A8-9669-A151-0DCD4F0C4D8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1BADF2-EFD7-499C-8C2D-03ADD5668E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2979263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08797384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NP_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2357133" y="0"/>
            <a:ext cx="8348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0" dirty="0">
                <a:ln w="3175">
                  <a:solidFill>
                    <a:schemeClr val="bg1"/>
                  </a:solidFill>
                </a:ln>
                <a:solidFill>
                  <a:schemeClr val="bg1"/>
                </a:solidFill>
                <a:latin typeface="Georgia" panose="02040502050405020303" pitchFamily="18" charset="0"/>
                <a:ea typeface="Cambria" pitchFamily="34" charset="-122"/>
                <a:cs typeface="Cambria" pitchFamily="34" charset="-120"/>
              </a:rPr>
              <a:t>DBT-BIC-NNP-TREE Genome Informatics — Genome </a:t>
            </a:r>
            <a:r>
              <a:rPr lang="en-US" sz="2000" b="0" dirty="0" err="1">
                <a:ln w="3175">
                  <a:solidFill>
                    <a:schemeClr val="bg1"/>
                  </a:solidFill>
                </a:ln>
                <a:solidFill>
                  <a:schemeClr val="bg1"/>
                </a:solidFill>
                <a:latin typeface="Georgia" panose="02040502050405020303" pitchFamily="18" charset="0"/>
                <a:ea typeface="Cambria" pitchFamily="34" charset="-122"/>
                <a:cs typeface="Cambria" pitchFamily="34" charset="-120"/>
              </a:rPr>
              <a:t>HackWeek</a:t>
            </a:r>
            <a:r>
              <a:rPr lang="en-US" sz="2000" b="0" dirty="0">
                <a:ln w="3175">
                  <a:solidFill>
                    <a:schemeClr val="bg1"/>
                  </a:solidFill>
                </a:ln>
                <a:solidFill>
                  <a:schemeClr val="bg1"/>
                </a:solidFill>
                <a:latin typeface="Georgia" panose="02040502050405020303" pitchFamily="18" charset="0"/>
                <a:ea typeface="Cambria" pitchFamily="34" charset="-122"/>
                <a:cs typeface="Cambria" pitchFamily="34" charset="-120"/>
              </a:rPr>
              <a:t> 2026</a:t>
            </a:r>
            <a:endParaRPr lang="en-US" sz="2000" b="0" dirty="0">
              <a:ln w="3175">
                <a:solidFill>
                  <a:schemeClr val="bg1"/>
                </a:solidFill>
              </a:ln>
              <a:solidFill>
                <a:schemeClr val="bg1"/>
              </a:solidFill>
              <a:latin typeface="Georgia" panose="02040502050405020303" pitchFamily="18" charset="0"/>
            </a:endParaRPr>
          </a:p>
        </p:txBody>
      </p:sp>
      <p:sp>
        <p:nvSpPr>
          <p:cNvPr id="5" name="Text 1"/>
          <p:cNvSpPr/>
          <p:nvPr/>
        </p:nvSpPr>
        <p:spPr>
          <a:xfrm>
            <a:off x="1939412" y="364661"/>
            <a:ext cx="8348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chemeClr val="tx1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Annotate, Innovate, Collaborate  |  CSIR-IICB, Kolkata</a:t>
            </a:r>
            <a:endParaRPr lang="en-US" sz="1600" b="1" dirty="0">
              <a:solidFill>
                <a:schemeClr val="tx1"/>
              </a:solidFill>
              <a:latin typeface="Georgia" panose="02040502050405020303" pitchFamily="18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365760" y="6473952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chemeClr val="tx1"/>
                </a:solidFill>
                <a:latin typeface="Georgia" panose="02040502050405020303" pitchFamily="18" charset="0"/>
              </a:rPr>
              <a:t>Sucheta Tripathy</a:t>
            </a:r>
          </a:p>
        </p:txBody>
      </p:sp>
      <p:sp>
        <p:nvSpPr>
          <p:cNvPr id="7" name="Text 3"/>
          <p:cNvSpPr/>
          <p:nvPr userDrawn="1"/>
        </p:nvSpPr>
        <p:spPr>
          <a:xfrm>
            <a:off x="4270248" y="647395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Introductory session</a:t>
            </a:r>
            <a:endParaRPr lang="en-US" sz="1200" dirty="0">
              <a:solidFill>
                <a:schemeClr val="tx1"/>
              </a:solidFill>
              <a:latin typeface="Georgia" panose="02040502050405020303" pitchFamily="18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r>
              <a:rPr lang="en-US" dirty="0"/>
              <a:t>1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9" name="Picture 8" descr="File:CSIR-Logo-With-Tagline-Seleceted-Bilingual.png ...">
            <a:extLst>
              <a:ext uri="{FF2B5EF4-FFF2-40B4-BE49-F238E27FC236}">
                <a16:creationId xmlns:a16="http://schemas.microsoft.com/office/drawing/2014/main" id="{4D82A8F7-CCC1-0656-73BD-C1135308F91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7337" y="91440"/>
            <a:ext cx="1220204" cy="122020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A48E026-E031-A75D-60FD-E59714E3711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36929" y="171243"/>
            <a:ext cx="802483" cy="88779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65FB87B-4D58-BE6F-784D-A9C794DC953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945567" y="171243"/>
            <a:ext cx="915429" cy="1118356"/>
          </a:xfrm>
          <a:prstGeom prst="rect">
            <a:avLst/>
          </a:prstGeom>
        </p:spPr>
      </p:pic>
      <p:sp>
        <p:nvSpPr>
          <p:cNvPr id="3" name="Text 5">
            <a:extLst>
              <a:ext uri="{FF2B5EF4-FFF2-40B4-BE49-F238E27FC236}">
                <a16:creationId xmlns:a16="http://schemas.microsoft.com/office/drawing/2014/main" id="{C594184B-97E5-A005-FEF9-A98D48E9E240}"/>
              </a:ext>
            </a:extLst>
          </p:cNvPr>
          <p:cNvSpPr txBox="1"/>
          <p:nvPr userDrawn="1"/>
        </p:nvSpPr>
        <p:spPr>
          <a:xfrm>
            <a:off x="594360" y="14630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98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Unix and Linux for data handling</a:t>
            </a:r>
            <a:endParaRPr lang="en-US" sz="1200" dirty="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B96C7186-E812-E557-B46C-7CA7E5E46626}"/>
              </a:ext>
            </a:extLst>
          </p:cNvPr>
          <p:cNvSpPr txBox="1"/>
          <p:nvPr userDrawn="1"/>
        </p:nvSpPr>
        <p:spPr>
          <a:xfrm>
            <a:off x="594360" y="1828800"/>
            <a:ext cx="8412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54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handling with Linux/Unix</a:t>
            </a:r>
            <a:endParaRPr lang="en-US" sz="5000" dirty="0"/>
          </a:p>
        </p:txBody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6E811023-5C86-9E80-6865-055FDB97D9FD}"/>
              </a:ext>
            </a:extLst>
          </p:cNvPr>
          <p:cNvSpPr txBox="1"/>
          <p:nvPr userDrawn="1"/>
        </p:nvSpPr>
        <p:spPr>
          <a:xfrm>
            <a:off x="594360" y="374904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600" dirty="0">
                <a:solidFill>
                  <a:srgbClr val="E2E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how DNA becomes data.  Part 2 — how data becomes biology.</a:t>
            </a:r>
            <a:endParaRPr lang="en-US" sz="1600" dirty="0"/>
          </a:p>
          <a:p>
            <a:pPr marL="0" indent="0">
              <a:lnSpc>
                <a:spcPts val="24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NNP_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2357133" y="0"/>
            <a:ext cx="8348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0" dirty="0">
                <a:ln w="3175">
                  <a:solidFill>
                    <a:schemeClr val="bg1"/>
                  </a:solidFill>
                </a:ln>
                <a:solidFill>
                  <a:schemeClr val="bg1"/>
                </a:solidFill>
                <a:latin typeface="Georgia" panose="02040502050405020303" pitchFamily="18" charset="0"/>
                <a:ea typeface="Cambria" pitchFamily="34" charset="-122"/>
                <a:cs typeface="Cambria" pitchFamily="34" charset="-120"/>
              </a:rPr>
              <a:t>DBT-BIC-NNP-TREE Genome Informatics — Genome </a:t>
            </a:r>
            <a:r>
              <a:rPr lang="en-US" sz="2000" b="0" dirty="0" err="1">
                <a:ln w="3175">
                  <a:solidFill>
                    <a:schemeClr val="bg1"/>
                  </a:solidFill>
                </a:ln>
                <a:solidFill>
                  <a:schemeClr val="bg1"/>
                </a:solidFill>
                <a:latin typeface="Georgia" panose="02040502050405020303" pitchFamily="18" charset="0"/>
                <a:ea typeface="Cambria" pitchFamily="34" charset="-122"/>
                <a:cs typeface="Cambria" pitchFamily="34" charset="-120"/>
              </a:rPr>
              <a:t>HackWeek</a:t>
            </a:r>
            <a:r>
              <a:rPr lang="en-US" sz="2000" b="0" dirty="0">
                <a:ln w="3175">
                  <a:solidFill>
                    <a:schemeClr val="bg1"/>
                  </a:solidFill>
                </a:ln>
                <a:solidFill>
                  <a:schemeClr val="bg1"/>
                </a:solidFill>
                <a:latin typeface="Georgia" panose="02040502050405020303" pitchFamily="18" charset="0"/>
                <a:ea typeface="Cambria" pitchFamily="34" charset="-122"/>
                <a:cs typeface="Cambria" pitchFamily="34" charset="-120"/>
              </a:rPr>
              <a:t> 2026</a:t>
            </a:r>
            <a:endParaRPr lang="en-US" sz="2000" b="0" dirty="0">
              <a:ln w="3175">
                <a:solidFill>
                  <a:schemeClr val="bg1"/>
                </a:solidFill>
              </a:ln>
              <a:solidFill>
                <a:schemeClr val="bg1"/>
              </a:solidFill>
              <a:latin typeface="Georgia" panose="02040502050405020303" pitchFamily="18" charset="0"/>
            </a:endParaRPr>
          </a:p>
        </p:txBody>
      </p:sp>
      <p:sp>
        <p:nvSpPr>
          <p:cNvPr id="5" name="Text 1"/>
          <p:cNvSpPr/>
          <p:nvPr/>
        </p:nvSpPr>
        <p:spPr>
          <a:xfrm>
            <a:off x="1939412" y="364661"/>
            <a:ext cx="8348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chemeClr val="tx1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Annotate, Innovate, Collaborate  |  CSIR-IICB, Kolkata</a:t>
            </a:r>
            <a:endParaRPr lang="en-US" sz="1600" b="1" dirty="0">
              <a:solidFill>
                <a:schemeClr val="tx1"/>
              </a:solidFill>
              <a:latin typeface="Georgia" panose="02040502050405020303" pitchFamily="18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365760" y="6473952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chemeClr val="tx1"/>
                </a:solidFill>
                <a:latin typeface="Georgia" panose="02040502050405020303" pitchFamily="18" charset="0"/>
              </a:rPr>
              <a:t>Sucheta Tripathy</a:t>
            </a:r>
          </a:p>
        </p:txBody>
      </p:sp>
      <p:sp>
        <p:nvSpPr>
          <p:cNvPr id="7" name="Text 3"/>
          <p:cNvSpPr/>
          <p:nvPr userDrawn="1"/>
        </p:nvSpPr>
        <p:spPr>
          <a:xfrm>
            <a:off x="4270248" y="647395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Introductory session</a:t>
            </a:r>
            <a:endParaRPr lang="en-US" sz="1200" dirty="0">
              <a:solidFill>
                <a:schemeClr val="tx1"/>
              </a:solidFill>
              <a:latin typeface="Georgia" panose="02040502050405020303" pitchFamily="18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r>
              <a:rPr lang="en-US" dirty="0"/>
              <a:t>1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9" name="Picture 8" descr="File:CSIR-Logo-With-Tagline-Seleceted-Bilingual.png ...">
            <a:extLst>
              <a:ext uri="{FF2B5EF4-FFF2-40B4-BE49-F238E27FC236}">
                <a16:creationId xmlns:a16="http://schemas.microsoft.com/office/drawing/2014/main" id="{4D82A8F7-CCC1-0656-73BD-C1135308F91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7337" y="91440"/>
            <a:ext cx="1220204" cy="122020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A48E026-E031-A75D-60FD-E59714E3711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36929" y="171243"/>
            <a:ext cx="802483" cy="88779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65FB87B-4D58-BE6F-784D-A9C794DC953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945567" y="171243"/>
            <a:ext cx="915429" cy="1118356"/>
          </a:xfrm>
          <a:prstGeom prst="rect">
            <a:avLst/>
          </a:prstGeom>
        </p:spPr>
      </p:pic>
      <p:sp>
        <p:nvSpPr>
          <p:cNvPr id="3" name="Text 5">
            <a:extLst>
              <a:ext uri="{FF2B5EF4-FFF2-40B4-BE49-F238E27FC236}">
                <a16:creationId xmlns:a16="http://schemas.microsoft.com/office/drawing/2014/main" id="{C594184B-97E5-A005-FEF9-A98D48E9E240}"/>
              </a:ext>
            </a:extLst>
          </p:cNvPr>
          <p:cNvSpPr txBox="1"/>
          <p:nvPr userDrawn="1"/>
        </p:nvSpPr>
        <p:spPr>
          <a:xfrm>
            <a:off x="2357133" y="821861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98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handling with </a:t>
            </a:r>
            <a:r>
              <a:rPr lang="en-US" sz="1200" b="1" kern="0" spc="300" dirty="0" err="1">
                <a:solidFill>
                  <a:srgbClr val="D98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</a:t>
            </a:r>
            <a:r>
              <a:rPr lang="en-US" sz="1200" b="1" kern="0" spc="300" dirty="0">
                <a:solidFill>
                  <a:srgbClr val="D98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en-US" sz="1200" b="1" kern="0" spc="300" dirty="0" err="1">
                <a:solidFill>
                  <a:srgbClr val="D98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unix</a:t>
            </a:r>
            <a:endParaRPr lang="en-US" sz="1200" dirty="0"/>
          </a:p>
        </p:txBody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6E811023-5C86-9E80-6865-055FDB97D9FD}"/>
              </a:ext>
            </a:extLst>
          </p:cNvPr>
          <p:cNvSpPr txBox="1"/>
          <p:nvPr userDrawn="1"/>
        </p:nvSpPr>
        <p:spPr>
          <a:xfrm>
            <a:off x="338328" y="6233276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600" dirty="0">
                <a:solidFill>
                  <a:srgbClr val="E2E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how DNA becomes data.  Part 2 — how data becomes biology.</a:t>
            </a:r>
            <a:endParaRPr lang="en-US" sz="1600" dirty="0"/>
          </a:p>
          <a:p>
            <a:pPr marL="0" indent="0">
              <a:lnSpc>
                <a:spcPts val="2400"/>
              </a:lnSpc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9234630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99934D-A8E7-F550-3956-892B7BF070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C505A01-F7C9-4117-B7B1-729CE91469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61000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6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3A4A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31520" y="3429000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D7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DBT-BIC-NNP-TREE Genome Informatics: Annotate, Innovate, Collaborate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-2072640" y="6098032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7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August – 4 September 2026   |   Room 120, Guest Block, IICB TRUE Campus, Salt Lake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3A4A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B5AACC3-96EF-E431-4B63-97415DC295F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r>
              <a:rPr lang="en-US"/>
              <a:t>1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36200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8B876BD-DC90-0DE6-8DF3-AEFE599B763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r>
              <a:rPr lang="en-US"/>
              <a:t>1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A85A1B4-EF01-C5CB-AEC1-C4F1EED4BD20}"/>
              </a:ext>
            </a:extLst>
          </p:cNvPr>
          <p:cNvSpPr txBox="1"/>
          <p:nvPr/>
        </p:nvSpPr>
        <p:spPr>
          <a:xfrm>
            <a:off x="233680" y="1690430"/>
            <a:ext cx="111658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solidFill>
                  <a:schemeClr val="bg1"/>
                </a:solidFill>
              </a:rPr>
              <a:t>Piping/SED/AWK/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FB3F60-4CA0-B7D3-F917-D9A1A1F3B60A}"/>
              </a:ext>
            </a:extLst>
          </p:cNvPr>
          <p:cNvSpPr txBox="1"/>
          <p:nvPr/>
        </p:nvSpPr>
        <p:spPr>
          <a:xfrm>
            <a:off x="426720" y="4254400"/>
            <a:ext cx="46024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Output of a command is passed as input of another</a:t>
            </a:r>
          </a:p>
          <a:p>
            <a:r>
              <a:rPr lang="en-IN" dirty="0">
                <a:solidFill>
                  <a:srgbClr val="FFFF00"/>
                </a:solidFill>
              </a:rPr>
              <a:t>ls | </a:t>
            </a:r>
            <a:r>
              <a:rPr lang="en-IN" dirty="0" err="1">
                <a:solidFill>
                  <a:srgbClr val="FFFF00"/>
                </a:solidFill>
              </a:rPr>
              <a:t>wc</a:t>
            </a:r>
            <a:r>
              <a:rPr lang="en-IN" dirty="0">
                <a:solidFill>
                  <a:srgbClr val="FFFF00"/>
                </a:solidFill>
              </a:rPr>
              <a:t> -l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7B6EDB-3322-48C9-0662-0273B8664599}"/>
              </a:ext>
            </a:extLst>
          </p:cNvPr>
          <p:cNvSpPr txBox="1"/>
          <p:nvPr/>
        </p:nvSpPr>
        <p:spPr>
          <a:xfrm>
            <a:off x="233680" y="2448560"/>
            <a:ext cx="75793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2"/>
                </a:solidFill>
              </a:rPr>
              <a:t>Windows subsystem for </a:t>
            </a:r>
            <a:r>
              <a:rPr lang="en-IN" dirty="0" err="1">
                <a:solidFill>
                  <a:schemeClr val="bg2"/>
                </a:solidFill>
              </a:rPr>
              <a:t>linux</a:t>
            </a:r>
            <a:r>
              <a:rPr lang="en-IN" dirty="0">
                <a:solidFill>
                  <a:schemeClr val="bg2"/>
                </a:solidFill>
              </a:rPr>
              <a:t> (</a:t>
            </a:r>
            <a:r>
              <a:rPr lang="en-IN" dirty="0" err="1">
                <a:solidFill>
                  <a:schemeClr val="bg2"/>
                </a:solidFill>
              </a:rPr>
              <a:t>wsl</a:t>
            </a:r>
            <a:r>
              <a:rPr lang="en-IN" dirty="0">
                <a:solidFill>
                  <a:schemeClr val="bg2"/>
                </a:solidFill>
              </a:rPr>
              <a:t>): From your power shell launch : </a:t>
            </a:r>
            <a:r>
              <a:rPr lang="en-IN" dirty="0" err="1">
                <a:solidFill>
                  <a:schemeClr val="bg2"/>
                </a:solidFill>
              </a:rPr>
              <a:t>wsl</a:t>
            </a:r>
            <a:r>
              <a:rPr lang="en-IN" dirty="0">
                <a:solidFill>
                  <a:schemeClr val="bg2"/>
                </a:solidFill>
              </a:rPr>
              <a:t> –install</a:t>
            </a:r>
          </a:p>
          <a:p>
            <a:r>
              <a:rPr lang="en-IN" dirty="0">
                <a:solidFill>
                  <a:schemeClr val="bg2"/>
                </a:solidFill>
              </a:rPr>
              <a:t>A user will be created and you can setup your own password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572BA8-E700-972D-FD8F-9C6E8B25B19A}"/>
              </a:ext>
            </a:extLst>
          </p:cNvPr>
          <p:cNvSpPr txBox="1"/>
          <p:nvPr/>
        </p:nvSpPr>
        <p:spPr>
          <a:xfrm>
            <a:off x="233680" y="3342640"/>
            <a:ext cx="4947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2"/>
                </a:solidFill>
              </a:rPr>
              <a:t>Launch it by </a:t>
            </a:r>
            <a:r>
              <a:rPr lang="en-IN" dirty="0">
                <a:solidFill>
                  <a:srgbClr val="FFFF00"/>
                </a:solidFill>
              </a:rPr>
              <a:t>wsl.exe –d ubuntu</a:t>
            </a:r>
          </a:p>
        </p:txBody>
      </p:sp>
    </p:spTree>
    <p:extLst>
      <p:ext uri="{BB962C8B-B14F-4D97-AF65-F5344CB8AC3E}">
        <p14:creationId xmlns:p14="http://schemas.microsoft.com/office/powerpoint/2010/main" val="33255477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B757419-E5A3-6860-3281-C7F9FADA027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r>
              <a:rPr lang="en-US"/>
              <a:t>1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54E9DD-43FC-9A18-1F8E-1C55148813E7}"/>
              </a:ext>
            </a:extLst>
          </p:cNvPr>
          <p:cNvSpPr txBox="1"/>
          <p:nvPr/>
        </p:nvSpPr>
        <p:spPr>
          <a:xfrm>
            <a:off x="1534160" y="1259840"/>
            <a:ext cx="38506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chemeClr val="bg2"/>
                </a:solidFill>
              </a:rPr>
              <a:t>Sed is a stream editor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9D38E9-2795-C1BE-2168-AB65C6BD9DF4}"/>
              </a:ext>
            </a:extLst>
          </p:cNvPr>
          <p:cNvSpPr txBox="1"/>
          <p:nvPr/>
        </p:nvSpPr>
        <p:spPr>
          <a:xfrm>
            <a:off x="1310640" y="2007344"/>
            <a:ext cx="656336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solidFill>
                  <a:schemeClr val="bg2"/>
                </a:solidFill>
              </a:rPr>
              <a:t>Substitution</a:t>
            </a:r>
          </a:p>
          <a:p>
            <a:r>
              <a:rPr lang="en-US" dirty="0">
                <a:solidFill>
                  <a:schemeClr val="bg2"/>
                </a:solidFill>
              </a:rPr>
              <a:t>sed 's/regex/replacement/g;' file</a:t>
            </a:r>
          </a:p>
          <a:p>
            <a:endParaRPr lang="en-US" dirty="0">
              <a:solidFill>
                <a:schemeClr val="bg2"/>
              </a:solidFill>
            </a:endParaRPr>
          </a:p>
          <a:p>
            <a:r>
              <a:rPr lang="en-US" b="1" u="sng" dirty="0">
                <a:solidFill>
                  <a:schemeClr val="bg2"/>
                </a:solidFill>
              </a:rPr>
              <a:t>Deleting</a:t>
            </a:r>
          </a:p>
          <a:p>
            <a:endParaRPr lang="en-US" b="1" u="sng" dirty="0">
              <a:solidFill>
                <a:schemeClr val="bg2"/>
              </a:solidFill>
            </a:endParaRPr>
          </a:p>
          <a:p>
            <a:r>
              <a:rPr lang="en-US" dirty="0">
                <a:solidFill>
                  <a:schemeClr val="bg2"/>
                </a:solidFill>
              </a:rPr>
              <a:t>sed '5d' filename.txt</a:t>
            </a:r>
          </a:p>
          <a:p>
            <a:r>
              <a:rPr lang="en-US" dirty="0">
                <a:solidFill>
                  <a:schemeClr val="bg2"/>
                </a:solidFill>
              </a:rPr>
              <a:t>sed ‘1,5d' filename.txt</a:t>
            </a:r>
          </a:p>
          <a:p>
            <a:r>
              <a:rPr lang="en-US" dirty="0">
                <a:solidFill>
                  <a:schemeClr val="bg2"/>
                </a:solidFill>
              </a:rPr>
              <a:t>sed '12,$d' filename.txt</a:t>
            </a:r>
          </a:p>
          <a:p>
            <a:endParaRPr lang="en-US" dirty="0">
              <a:solidFill>
                <a:schemeClr val="bg2"/>
              </a:solidFill>
            </a:endParaRPr>
          </a:p>
          <a:p>
            <a:r>
              <a:rPr lang="en-US" b="1" u="sng" dirty="0">
                <a:solidFill>
                  <a:schemeClr val="bg2"/>
                </a:solidFill>
              </a:rPr>
              <a:t>Insert Text</a:t>
            </a:r>
          </a:p>
          <a:p>
            <a:r>
              <a:rPr lang="en-US" dirty="0">
                <a:solidFill>
                  <a:schemeClr val="bg2"/>
                </a:solidFill>
              </a:rPr>
              <a:t>sed '3i\new text' filename.txt</a:t>
            </a:r>
          </a:p>
          <a:p>
            <a:r>
              <a:rPr lang="en-US" dirty="0">
                <a:solidFill>
                  <a:schemeClr val="bg2"/>
                </a:solidFill>
              </a:rPr>
              <a:t>sed '3a\new text' filename</a:t>
            </a:r>
          </a:p>
          <a:p>
            <a:endParaRPr lang="en-IN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11179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16777B6-8945-2872-52EC-89753EC5594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r>
              <a:rPr lang="en-US"/>
              <a:t>1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5CFD6B-FFFA-C5A8-1AB9-C74642F175C8}"/>
              </a:ext>
            </a:extLst>
          </p:cNvPr>
          <p:cNvSpPr txBox="1"/>
          <p:nvPr/>
        </p:nvSpPr>
        <p:spPr>
          <a:xfrm>
            <a:off x="294640" y="1503680"/>
            <a:ext cx="11181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solidFill>
                  <a:schemeClr val="bg1">
                    <a:lumMod val="95000"/>
                  </a:schemeClr>
                </a:solidFill>
              </a:rPr>
              <a:t>AWK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 stands for the surnames of its three original creators: Alfred </a:t>
            </a:r>
            <a:r>
              <a:rPr lang="en-US" b="1" u="sng" dirty="0">
                <a:solidFill>
                  <a:schemeClr val="bg1">
                    <a:lumMod val="95000"/>
                  </a:schemeClr>
                </a:solidFill>
              </a:rPr>
              <a:t>Aho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, Peter </a:t>
            </a:r>
            <a:r>
              <a:rPr lang="en-US" b="1" u="sng" dirty="0">
                <a:solidFill>
                  <a:schemeClr val="bg1">
                    <a:lumMod val="95000"/>
                  </a:schemeClr>
                </a:solidFill>
              </a:rPr>
              <a:t>Weinberger,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dirty="0">
                <a:solidFill>
                  <a:srgbClr val="00B050"/>
                </a:solidFill>
              </a:rPr>
              <a:t>and Brian </a:t>
            </a:r>
            <a:r>
              <a:rPr lang="en-US" b="1" u="sng" dirty="0">
                <a:solidFill>
                  <a:srgbClr val="00B050"/>
                </a:solidFill>
              </a:rPr>
              <a:t>Kernighan</a:t>
            </a:r>
            <a:endParaRPr lang="en-IN" b="1" u="sng" dirty="0">
              <a:solidFill>
                <a:srgbClr val="00B05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E77824-33E6-89A2-356E-E42AAF071315}"/>
              </a:ext>
            </a:extLst>
          </p:cNvPr>
          <p:cNvSpPr txBox="1"/>
          <p:nvPr/>
        </p:nvSpPr>
        <p:spPr>
          <a:xfrm>
            <a:off x="396240" y="2367280"/>
            <a:ext cx="6238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FF00"/>
                </a:solidFill>
              </a:rPr>
              <a:t>awk -F '\t' '{print $1}' </a:t>
            </a:r>
            <a:r>
              <a:rPr lang="en-US" dirty="0" err="1">
                <a:solidFill>
                  <a:srgbClr val="FFFF00"/>
                </a:solidFill>
              </a:rPr>
              <a:t>Genbank.gff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F1C3CE-30B2-8622-558E-3912782E035E}"/>
              </a:ext>
            </a:extLst>
          </p:cNvPr>
          <p:cNvSpPr txBox="1"/>
          <p:nvPr/>
        </p:nvSpPr>
        <p:spPr>
          <a:xfrm>
            <a:off x="548640" y="3190240"/>
            <a:ext cx="72644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FFFF00"/>
                </a:solidFill>
              </a:rPr>
              <a:t>Built in variables in awk ..</a:t>
            </a:r>
          </a:p>
          <a:p>
            <a:r>
              <a:rPr lang="en-IN" b="1" dirty="0">
                <a:solidFill>
                  <a:srgbClr val="FFFF00"/>
                </a:solidFill>
              </a:rPr>
              <a:t>$0, $1, $2, ...</a:t>
            </a:r>
          </a:p>
          <a:p>
            <a:endParaRPr lang="en-IN" b="1" dirty="0">
              <a:solidFill>
                <a:srgbClr val="FFFF00"/>
              </a:solidFill>
            </a:endParaRPr>
          </a:p>
          <a:p>
            <a:r>
              <a:rPr lang="en-IN" b="1" dirty="0">
                <a:solidFill>
                  <a:srgbClr val="FFFF00"/>
                </a:solidFill>
              </a:rPr>
              <a:t>NR (Number of Records)</a:t>
            </a:r>
          </a:p>
          <a:p>
            <a:r>
              <a:rPr lang="en-IN" b="1" dirty="0">
                <a:solidFill>
                  <a:srgbClr val="FFFF00"/>
                </a:solidFill>
              </a:rPr>
              <a:t>NF (Number of Fields)</a:t>
            </a:r>
          </a:p>
          <a:p>
            <a:r>
              <a:rPr lang="en-IN" b="1" dirty="0">
                <a:solidFill>
                  <a:srgbClr val="FFFF00"/>
                </a:solidFill>
              </a:rPr>
              <a:t>FS (Field Separator)</a:t>
            </a:r>
          </a:p>
          <a:p>
            <a:endParaRPr lang="en-IN" b="1" dirty="0">
              <a:solidFill>
                <a:srgbClr val="FFFF00"/>
              </a:solidFill>
            </a:endParaRPr>
          </a:p>
          <a:p>
            <a:r>
              <a:rPr lang="en-IN" b="1" dirty="0">
                <a:solidFill>
                  <a:srgbClr val="FFFF00"/>
                </a:solidFill>
              </a:rPr>
              <a:t>awk '/serine protease/ {print}' </a:t>
            </a:r>
            <a:r>
              <a:rPr lang="en-IN" b="1" dirty="0" err="1">
                <a:solidFill>
                  <a:srgbClr val="FFFF00"/>
                </a:solidFill>
              </a:rPr>
              <a:t>Genbank.gff</a:t>
            </a:r>
            <a:endParaRPr lang="en-IN" b="1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76511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AFCA09E-69DF-1757-43CF-B25CF3BC6E6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r>
              <a:rPr lang="en-US"/>
              <a:t>1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1C6788-39A5-A604-D179-38EC3001B51B}"/>
              </a:ext>
            </a:extLst>
          </p:cNvPr>
          <p:cNvSpPr txBox="1"/>
          <p:nvPr/>
        </p:nvSpPr>
        <p:spPr>
          <a:xfrm>
            <a:off x="995680" y="1288534"/>
            <a:ext cx="8341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u="sng" dirty="0">
                <a:solidFill>
                  <a:schemeClr val="bg2"/>
                </a:solidFill>
              </a:rPr>
              <a:t>Piping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41ADC5-ECA6-8DC0-4497-F3091B6F0A82}"/>
              </a:ext>
            </a:extLst>
          </p:cNvPr>
          <p:cNvSpPr txBox="1"/>
          <p:nvPr/>
        </p:nvSpPr>
        <p:spPr>
          <a:xfrm>
            <a:off x="843280" y="2091730"/>
            <a:ext cx="697992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solidFill>
                  <a:schemeClr val="bg1"/>
                </a:solidFill>
              </a:rPr>
              <a:t>What if I have a doc file and I want to make it a text file</a:t>
            </a:r>
          </a:p>
          <a:p>
            <a:r>
              <a:rPr lang="en-IN" sz="2000" dirty="0">
                <a:solidFill>
                  <a:srgbClr val="FFFF00"/>
                </a:solidFill>
              </a:rPr>
              <a:t>unzip -p file.docx word/document.xml | </a:t>
            </a:r>
            <a:r>
              <a:rPr lang="en-IN" sz="2000" dirty="0" err="1">
                <a:solidFill>
                  <a:srgbClr val="FFFF00"/>
                </a:solidFill>
              </a:rPr>
              <a:t>sed</a:t>
            </a:r>
            <a:r>
              <a:rPr lang="en-IN" sz="2000" dirty="0">
                <a:solidFill>
                  <a:srgbClr val="FFFF00"/>
                </a:solidFill>
              </a:rPr>
              <a:t> -e 's/&lt;[^&gt;]*&gt;//g' &gt; file.txt</a:t>
            </a:r>
          </a:p>
          <a:p>
            <a:endParaRPr lang="en-IN" sz="2000" dirty="0">
              <a:solidFill>
                <a:srgbClr val="FFFF00"/>
              </a:solidFill>
            </a:endParaRPr>
          </a:p>
          <a:p>
            <a:r>
              <a:rPr lang="en-IN" sz="2000" dirty="0">
                <a:solidFill>
                  <a:schemeClr val="bg2"/>
                </a:solidFill>
              </a:rPr>
              <a:t>Or for a clean removal</a:t>
            </a:r>
          </a:p>
          <a:p>
            <a:r>
              <a:rPr lang="en-IN" sz="2000" dirty="0">
                <a:solidFill>
                  <a:srgbClr val="FFFF00"/>
                </a:solidFill>
              </a:rPr>
              <a:t>unzip -p file.zip word/document.xml | </a:t>
            </a:r>
            <a:r>
              <a:rPr lang="en-IN" sz="2000" dirty="0" err="1">
                <a:solidFill>
                  <a:srgbClr val="FFFF00"/>
                </a:solidFill>
              </a:rPr>
              <a:t>sed</a:t>
            </a:r>
            <a:r>
              <a:rPr lang="en-IN" sz="2000" dirty="0">
                <a:solidFill>
                  <a:srgbClr val="FFFF00"/>
                </a:solidFill>
              </a:rPr>
              <a:t> 's/&lt;\/</a:t>
            </a:r>
            <a:r>
              <a:rPr lang="en-IN" sz="2000" dirty="0" err="1">
                <a:solidFill>
                  <a:srgbClr val="FFFF00"/>
                </a:solidFill>
              </a:rPr>
              <a:t>w:p</a:t>
            </a:r>
            <a:r>
              <a:rPr lang="en-IN" sz="2000" dirty="0">
                <a:solidFill>
                  <a:srgbClr val="FFFF00"/>
                </a:solidFill>
              </a:rPr>
              <a:t>&gt;/\n/g' | </a:t>
            </a:r>
            <a:r>
              <a:rPr lang="en-IN" sz="2000" dirty="0" err="1">
                <a:solidFill>
                  <a:srgbClr val="FFFF00"/>
                </a:solidFill>
              </a:rPr>
              <a:t>sed</a:t>
            </a:r>
            <a:r>
              <a:rPr lang="en-IN" sz="2000" dirty="0">
                <a:solidFill>
                  <a:srgbClr val="FFFF00"/>
                </a:solidFill>
              </a:rPr>
              <a:t> 's/&lt;[^&gt;]*&gt;//g' | </a:t>
            </a:r>
            <a:r>
              <a:rPr lang="en-IN" sz="2000" dirty="0" err="1">
                <a:solidFill>
                  <a:srgbClr val="FFFF00"/>
                </a:solidFill>
              </a:rPr>
              <a:t>sed</a:t>
            </a:r>
            <a:r>
              <a:rPr lang="en-IN" sz="2000" dirty="0">
                <a:solidFill>
                  <a:srgbClr val="FFFF00"/>
                </a:solidFill>
              </a:rPr>
              <a:t> 's/&amp;[^;]*;//g' &gt; clean_text.txt</a:t>
            </a:r>
          </a:p>
          <a:p>
            <a:endParaRPr lang="en-IN" sz="2000" dirty="0">
              <a:solidFill>
                <a:srgbClr val="FFFF00"/>
              </a:solidFill>
            </a:endParaRPr>
          </a:p>
          <a:p>
            <a:r>
              <a:rPr lang="en-IN" sz="2000" dirty="0">
                <a:solidFill>
                  <a:schemeClr val="bg2"/>
                </a:solidFill>
              </a:rPr>
              <a:t>Count unique words in a huge file</a:t>
            </a:r>
          </a:p>
          <a:p>
            <a:r>
              <a:rPr lang="en-IN" sz="2000" dirty="0">
                <a:solidFill>
                  <a:srgbClr val="FFFF00"/>
                </a:solidFill>
              </a:rPr>
              <a:t>cat bigfile.txt | tr -s ' ' '\n' | sort | </a:t>
            </a:r>
            <a:r>
              <a:rPr lang="en-IN" sz="2000" dirty="0" err="1">
                <a:solidFill>
                  <a:srgbClr val="FFFF00"/>
                </a:solidFill>
              </a:rPr>
              <a:t>uniq</a:t>
            </a:r>
            <a:r>
              <a:rPr lang="en-IN" sz="2000" dirty="0">
                <a:solidFill>
                  <a:srgbClr val="FFFF00"/>
                </a:solidFill>
              </a:rPr>
              <a:t> -c | sort -nr | head</a:t>
            </a:r>
          </a:p>
        </p:txBody>
      </p:sp>
    </p:spTree>
    <p:extLst>
      <p:ext uri="{BB962C8B-B14F-4D97-AF65-F5344CB8AC3E}">
        <p14:creationId xmlns:p14="http://schemas.microsoft.com/office/powerpoint/2010/main" val="11253372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0806A65-5910-50E2-35E6-61F9503C785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r>
              <a:rPr lang="en-US"/>
              <a:t>1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898D37-99B8-002F-F994-A432A666DFA8}"/>
              </a:ext>
            </a:extLst>
          </p:cNvPr>
          <p:cNvSpPr txBox="1"/>
          <p:nvPr/>
        </p:nvSpPr>
        <p:spPr>
          <a:xfrm>
            <a:off x="1016000" y="1554480"/>
            <a:ext cx="73152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u="sng" dirty="0">
                <a:solidFill>
                  <a:schemeClr val="bg1"/>
                </a:solidFill>
              </a:rPr>
              <a:t>Piping</a:t>
            </a:r>
          </a:p>
          <a:p>
            <a:endParaRPr lang="en-IN" b="1" u="sng" dirty="0">
              <a:solidFill>
                <a:schemeClr val="bg1"/>
              </a:solidFill>
            </a:endParaRPr>
          </a:p>
          <a:p>
            <a:r>
              <a:rPr lang="en-IN" dirty="0">
                <a:solidFill>
                  <a:schemeClr val="bg1"/>
                </a:solidFill>
              </a:rPr>
              <a:t>Find the largest sequence</a:t>
            </a:r>
          </a:p>
          <a:p>
            <a:r>
              <a:rPr lang="en-IN" dirty="0">
                <a:solidFill>
                  <a:schemeClr val="bg1"/>
                </a:solidFill>
              </a:rPr>
              <a:t>cat  74cds.fa | awk '{ print length, $0 }' | sort -nr | head -1</a:t>
            </a:r>
          </a:p>
          <a:p>
            <a:endParaRPr lang="en-IN" dirty="0">
              <a:solidFill>
                <a:schemeClr val="bg1"/>
              </a:solidFill>
            </a:endParaRPr>
          </a:p>
          <a:p>
            <a:r>
              <a:rPr lang="en-IN" dirty="0">
                <a:solidFill>
                  <a:schemeClr val="bg1"/>
                </a:solidFill>
              </a:rPr>
              <a:t>Find the shortest sequence</a:t>
            </a:r>
          </a:p>
          <a:p>
            <a:r>
              <a:rPr lang="en-IN" dirty="0">
                <a:solidFill>
                  <a:schemeClr val="bg1"/>
                </a:solidFill>
              </a:rPr>
              <a:t>awk '{ print length, $0 }' 74cds.fa | sort -n | head -1</a:t>
            </a:r>
          </a:p>
          <a:p>
            <a:endParaRPr lang="en-IN" dirty="0">
              <a:solidFill>
                <a:schemeClr val="bg1"/>
              </a:solidFill>
            </a:endParaRPr>
          </a:p>
          <a:p>
            <a:r>
              <a:rPr lang="en-IN" dirty="0">
                <a:solidFill>
                  <a:schemeClr val="bg1"/>
                </a:solidFill>
              </a:rPr>
              <a:t>Find the length of the largest sequence</a:t>
            </a:r>
          </a:p>
          <a:p>
            <a:r>
              <a:rPr lang="en-IN" dirty="0">
                <a:solidFill>
                  <a:schemeClr val="bg1"/>
                </a:solidFill>
              </a:rPr>
              <a:t>awk '{ if (length($0) &gt; max) max = length($0) } END { print max }’ 74cds.fa</a:t>
            </a:r>
          </a:p>
          <a:p>
            <a:endParaRPr lang="en-IN" dirty="0">
              <a:solidFill>
                <a:schemeClr val="bg1"/>
              </a:solidFill>
            </a:endParaRPr>
          </a:p>
          <a:p>
            <a:r>
              <a:rPr lang="en-IN" dirty="0">
                <a:solidFill>
                  <a:schemeClr val="bg1"/>
                </a:solidFill>
              </a:rPr>
              <a:t>Find sequences larger than certain bases</a:t>
            </a:r>
          </a:p>
          <a:p>
            <a:r>
              <a:rPr lang="en-US" dirty="0">
                <a:solidFill>
                  <a:schemeClr val="bg1"/>
                </a:solidFill>
              </a:rPr>
              <a:t>awk 'length($0) &gt; 100’ 74cds.fa</a:t>
            </a:r>
          </a:p>
          <a:p>
            <a:endParaRPr lang="en-IN" dirty="0">
              <a:solidFill>
                <a:schemeClr val="bg1"/>
              </a:solidFill>
            </a:endParaRPr>
          </a:p>
          <a:p>
            <a:r>
              <a:rPr lang="en-IN" dirty="0">
                <a:solidFill>
                  <a:schemeClr val="bg1"/>
                </a:solidFill>
              </a:rPr>
              <a:t>Find sequences between a certain range</a:t>
            </a:r>
          </a:p>
          <a:p>
            <a:r>
              <a:rPr lang="en-IN" dirty="0">
                <a:solidFill>
                  <a:schemeClr val="bg1"/>
                </a:solidFill>
              </a:rPr>
              <a:t>awk 'length($0) &gt;= 40 &amp;&amp; length($0) &lt;= 50’ 74cds.fa</a:t>
            </a:r>
          </a:p>
        </p:txBody>
      </p:sp>
    </p:spTree>
    <p:extLst>
      <p:ext uri="{BB962C8B-B14F-4D97-AF65-F5344CB8AC3E}">
        <p14:creationId xmlns:p14="http://schemas.microsoft.com/office/powerpoint/2010/main" val="17481331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EC841AE-315C-3173-ABC6-02D3A358A66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r>
              <a:rPr lang="en-US"/>
              <a:t>1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726C4C-F2C6-D868-17C8-2266980AA540}"/>
              </a:ext>
            </a:extLst>
          </p:cNvPr>
          <p:cNvSpPr txBox="1"/>
          <p:nvPr/>
        </p:nvSpPr>
        <p:spPr>
          <a:xfrm>
            <a:off x="894080" y="1513840"/>
            <a:ext cx="869696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IN" dirty="0">
                <a:solidFill>
                  <a:schemeClr val="bg1"/>
                </a:solidFill>
              </a:rPr>
              <a:t>Remove any unwanted character from sequence file: </a:t>
            </a:r>
          </a:p>
          <a:p>
            <a:r>
              <a:rPr lang="en-US" dirty="0">
                <a:solidFill>
                  <a:schemeClr val="bg1"/>
                </a:solidFill>
              </a:rPr>
              <a:t>sed '/^&gt;/! s/[^ATGC]//g' </a:t>
            </a:r>
            <a:r>
              <a:rPr lang="en-US" dirty="0" err="1">
                <a:solidFill>
                  <a:schemeClr val="bg1"/>
                </a:solidFill>
              </a:rPr>
              <a:t>sequences.fasta</a:t>
            </a:r>
            <a:r>
              <a:rPr lang="en-US" dirty="0">
                <a:solidFill>
                  <a:schemeClr val="bg1"/>
                </a:solidFill>
              </a:rPr>
              <a:t> &gt; </a:t>
            </a:r>
            <a:r>
              <a:rPr lang="en-US" dirty="0" err="1">
                <a:solidFill>
                  <a:schemeClr val="bg1"/>
                </a:solidFill>
              </a:rPr>
              <a:t>cleaned.fasta</a:t>
            </a:r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2. Count sequence lengths with awk</a:t>
            </a:r>
          </a:p>
          <a:p>
            <a:r>
              <a:rPr lang="en-US" dirty="0">
                <a:solidFill>
                  <a:schemeClr val="bg1"/>
                </a:solidFill>
              </a:rPr>
              <a:t>awk '/^&gt;/ {header=$0; next} {print header, "Length:", length($0)}' </a:t>
            </a:r>
            <a:r>
              <a:rPr lang="en-US" dirty="0" err="1">
                <a:solidFill>
                  <a:schemeClr val="bg1"/>
                </a:solidFill>
              </a:rPr>
              <a:t>cleaned.fasta</a:t>
            </a:r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3. GC content calculation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IN" dirty="0">
                <a:solidFill>
                  <a:schemeClr val="bg1"/>
                </a:solidFill>
              </a:rPr>
              <a:t>awk '/^&gt;/ {header=$0; next} {</a:t>
            </a:r>
          </a:p>
          <a:p>
            <a:r>
              <a:rPr lang="en-IN" dirty="0">
                <a:solidFill>
                  <a:schemeClr val="bg1"/>
                </a:solidFill>
              </a:rPr>
              <a:t>  </a:t>
            </a:r>
            <a:r>
              <a:rPr lang="en-IN" dirty="0" err="1">
                <a:solidFill>
                  <a:schemeClr val="bg1"/>
                </a:solidFill>
              </a:rPr>
              <a:t>gc</a:t>
            </a:r>
            <a:r>
              <a:rPr lang="en-IN" dirty="0">
                <a:solidFill>
                  <a:schemeClr val="bg1"/>
                </a:solidFill>
              </a:rPr>
              <a:t>=</a:t>
            </a:r>
            <a:r>
              <a:rPr lang="en-IN" dirty="0" err="1">
                <a:solidFill>
                  <a:schemeClr val="bg1"/>
                </a:solidFill>
              </a:rPr>
              <a:t>gsub</a:t>
            </a:r>
            <a:r>
              <a:rPr lang="en-IN" dirty="0">
                <a:solidFill>
                  <a:schemeClr val="bg1"/>
                </a:solidFill>
              </a:rPr>
              <a:t>(/[GC]/,"");</a:t>
            </a:r>
          </a:p>
          <a:p>
            <a:r>
              <a:rPr lang="en-IN" dirty="0">
                <a:solidFill>
                  <a:schemeClr val="bg1"/>
                </a:solidFill>
              </a:rPr>
              <a:t>  print header, "GC%:", (</a:t>
            </a:r>
            <a:r>
              <a:rPr lang="en-IN" dirty="0" err="1">
                <a:solidFill>
                  <a:schemeClr val="bg1"/>
                </a:solidFill>
              </a:rPr>
              <a:t>gc</a:t>
            </a:r>
            <a:r>
              <a:rPr lang="en-IN" dirty="0">
                <a:solidFill>
                  <a:schemeClr val="bg1"/>
                </a:solidFill>
              </a:rPr>
              <a:t>/length($0))*100</a:t>
            </a:r>
          </a:p>
          <a:p>
            <a:r>
              <a:rPr lang="en-IN" dirty="0">
                <a:solidFill>
                  <a:schemeClr val="bg1"/>
                </a:solidFill>
              </a:rPr>
              <a:t>}' </a:t>
            </a:r>
            <a:r>
              <a:rPr lang="en-IN" dirty="0" err="1">
                <a:solidFill>
                  <a:schemeClr val="bg1"/>
                </a:solidFill>
              </a:rPr>
              <a:t>cleaned.fasta</a:t>
            </a:r>
            <a:endParaRPr lang="en-IN" dirty="0">
              <a:solidFill>
                <a:schemeClr val="bg1"/>
              </a:solidFill>
            </a:endParaRPr>
          </a:p>
          <a:p>
            <a:endParaRPr lang="en-IN" dirty="0">
              <a:solidFill>
                <a:schemeClr val="bg1"/>
              </a:solidFill>
            </a:endParaRPr>
          </a:p>
          <a:p>
            <a:r>
              <a:rPr lang="en-IN" dirty="0">
                <a:solidFill>
                  <a:schemeClr val="bg1"/>
                </a:solidFill>
              </a:rPr>
              <a:t>4. Sorting sequences by length</a:t>
            </a:r>
          </a:p>
          <a:p>
            <a:r>
              <a:rPr lang="en-IN" dirty="0">
                <a:solidFill>
                  <a:schemeClr val="bg1"/>
                </a:solidFill>
              </a:rPr>
              <a:t>awk '/^&gt;/ {header=$0; next} {print header, "Length:", length($0)}’ </a:t>
            </a:r>
            <a:r>
              <a:rPr lang="en-IN" dirty="0" err="1">
                <a:solidFill>
                  <a:schemeClr val="bg1"/>
                </a:solidFill>
              </a:rPr>
              <a:t>cleaned.fasta</a:t>
            </a:r>
            <a:r>
              <a:rPr lang="en-IN" dirty="0">
                <a:solidFill>
                  <a:schemeClr val="bg1"/>
                </a:solidFill>
              </a:rPr>
              <a:t> | sort -k3,3n</a:t>
            </a:r>
          </a:p>
          <a:p>
            <a:endParaRPr lang="en-IN" dirty="0">
              <a:solidFill>
                <a:schemeClr val="bg1"/>
              </a:solidFill>
            </a:endParaRPr>
          </a:p>
          <a:p>
            <a:pPr marL="342900" indent="-342900">
              <a:buAutoNum type="arabicPeriod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450465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033D55C-E8A2-F5A7-A1BF-F97923346B2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r>
              <a:rPr lang="en-US"/>
              <a:t>1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18CE4F-5E62-D464-BCDD-F5E82ABF7B60}"/>
              </a:ext>
            </a:extLst>
          </p:cNvPr>
          <p:cNvSpPr txBox="1"/>
          <p:nvPr/>
        </p:nvSpPr>
        <p:spPr>
          <a:xfrm>
            <a:off x="2255520" y="1110287"/>
            <a:ext cx="9093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dirty="0">
                <a:solidFill>
                  <a:schemeClr val="bg1"/>
                </a:solidFill>
              </a:rPr>
              <a:t>K-</a:t>
            </a:r>
            <a:r>
              <a:rPr lang="en-IN" sz="2400" b="1" u="sng" dirty="0" err="1">
                <a:solidFill>
                  <a:schemeClr val="bg1"/>
                </a:solidFill>
              </a:rPr>
              <a:t>mer</a:t>
            </a:r>
            <a:r>
              <a:rPr lang="en-IN" sz="2400" b="1" u="sng" dirty="0">
                <a:solidFill>
                  <a:schemeClr val="bg1"/>
                </a:solidFill>
              </a:rPr>
              <a:t> counting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418477-B6DF-2AEB-6027-5265DCF662E1}"/>
              </a:ext>
            </a:extLst>
          </p:cNvPr>
          <p:cNvSpPr txBox="1"/>
          <p:nvPr/>
        </p:nvSpPr>
        <p:spPr>
          <a:xfrm>
            <a:off x="1219200" y="1717040"/>
            <a:ext cx="763016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jellyfish count -m 5 -s 100M -t 4 -C </a:t>
            </a:r>
            <a:r>
              <a:rPr lang="en-IN" dirty="0" err="1">
                <a:solidFill>
                  <a:schemeClr val="bg1"/>
                </a:solidFill>
              </a:rPr>
              <a:t>genome.fasta</a:t>
            </a:r>
            <a:r>
              <a:rPr lang="en-IN" dirty="0">
                <a:solidFill>
                  <a:schemeClr val="bg1"/>
                </a:solidFill>
              </a:rPr>
              <a:t> -o </a:t>
            </a:r>
            <a:r>
              <a:rPr lang="en-IN" dirty="0" err="1">
                <a:solidFill>
                  <a:schemeClr val="bg1"/>
                </a:solidFill>
              </a:rPr>
              <a:t>counts.jf</a:t>
            </a:r>
            <a:r>
              <a:rPr lang="en-IN" dirty="0">
                <a:solidFill>
                  <a:schemeClr val="bg1"/>
                </a:solidFill>
              </a:rPr>
              <a:t> &amp;&amp; jellyfish dump -c </a:t>
            </a:r>
            <a:r>
              <a:rPr lang="en-IN" dirty="0" err="1">
                <a:solidFill>
                  <a:schemeClr val="bg1"/>
                </a:solidFill>
              </a:rPr>
              <a:t>counts.jf</a:t>
            </a:r>
            <a:r>
              <a:rPr lang="en-IN" dirty="0">
                <a:solidFill>
                  <a:schemeClr val="bg1"/>
                </a:solidFill>
              </a:rPr>
              <a:t> &gt; kmer_counts.txt</a:t>
            </a:r>
          </a:p>
          <a:p>
            <a:endParaRPr lang="en-IN" dirty="0">
              <a:solidFill>
                <a:schemeClr val="bg1"/>
              </a:solidFill>
            </a:endParaRPr>
          </a:p>
          <a:p>
            <a:r>
              <a:rPr lang="en-IN" dirty="0">
                <a:solidFill>
                  <a:schemeClr val="bg1"/>
                </a:solidFill>
              </a:rPr>
              <a:t>INPUT=$1 </a:t>
            </a:r>
          </a:p>
          <a:p>
            <a:r>
              <a:rPr lang="en-IN" dirty="0">
                <a:solidFill>
                  <a:schemeClr val="bg1"/>
                </a:solidFill>
              </a:rPr>
              <a:t>for K in 3 4 5 6 7 8 9 10 </a:t>
            </a:r>
          </a:p>
          <a:p>
            <a:r>
              <a:rPr lang="en-IN" dirty="0">
                <a:solidFill>
                  <a:schemeClr val="bg1"/>
                </a:solidFill>
              </a:rPr>
              <a:t>do echo "Counting k=$K" </a:t>
            </a:r>
          </a:p>
          <a:p>
            <a:r>
              <a:rPr lang="en-IN" dirty="0">
                <a:solidFill>
                  <a:schemeClr val="bg1"/>
                </a:solidFill>
              </a:rPr>
              <a:t>jellyfish count \ -m $K \ </a:t>
            </a:r>
          </a:p>
          <a:p>
            <a:r>
              <a:rPr lang="en-IN" dirty="0">
                <a:solidFill>
                  <a:schemeClr val="bg1"/>
                </a:solidFill>
              </a:rPr>
              <a:t>-s 1G \</a:t>
            </a:r>
          </a:p>
          <a:p>
            <a:r>
              <a:rPr lang="en-IN" dirty="0">
                <a:solidFill>
                  <a:schemeClr val="bg1"/>
                </a:solidFill>
              </a:rPr>
              <a:t> -t 8 \ </a:t>
            </a:r>
          </a:p>
          <a:p>
            <a:r>
              <a:rPr lang="en-IN" dirty="0">
                <a:solidFill>
                  <a:schemeClr val="bg1"/>
                </a:solidFill>
              </a:rPr>
              <a:t>-C \ </a:t>
            </a:r>
          </a:p>
          <a:p>
            <a:r>
              <a:rPr lang="en-IN" dirty="0">
                <a:solidFill>
                  <a:schemeClr val="bg1"/>
                </a:solidFill>
              </a:rPr>
              <a:t>"$INPUT" \ -o "k${K}.</a:t>
            </a:r>
            <a:r>
              <a:rPr lang="en-IN" dirty="0" err="1">
                <a:solidFill>
                  <a:schemeClr val="bg1"/>
                </a:solidFill>
              </a:rPr>
              <a:t>jf</a:t>
            </a:r>
            <a:r>
              <a:rPr lang="en-IN" dirty="0">
                <a:solidFill>
                  <a:schemeClr val="bg1"/>
                </a:solidFill>
              </a:rPr>
              <a:t>“</a:t>
            </a:r>
          </a:p>
          <a:p>
            <a:r>
              <a:rPr lang="en-IN" dirty="0">
                <a:solidFill>
                  <a:schemeClr val="bg1"/>
                </a:solidFill>
              </a:rPr>
              <a:t> jellyfish dump \</a:t>
            </a:r>
          </a:p>
          <a:p>
            <a:r>
              <a:rPr lang="en-IN" dirty="0">
                <a:solidFill>
                  <a:schemeClr val="bg1"/>
                </a:solidFill>
              </a:rPr>
              <a:t> -c \ </a:t>
            </a:r>
          </a:p>
          <a:p>
            <a:r>
              <a:rPr lang="en-IN" dirty="0">
                <a:solidFill>
                  <a:schemeClr val="bg1"/>
                </a:solidFill>
              </a:rPr>
              <a:t>"k${K}.</a:t>
            </a:r>
            <a:r>
              <a:rPr lang="en-IN" dirty="0" err="1">
                <a:solidFill>
                  <a:schemeClr val="bg1"/>
                </a:solidFill>
              </a:rPr>
              <a:t>jf</a:t>
            </a:r>
            <a:r>
              <a:rPr lang="en-IN" dirty="0">
                <a:solidFill>
                  <a:schemeClr val="bg1"/>
                </a:solidFill>
              </a:rPr>
              <a:t>" \ </a:t>
            </a:r>
          </a:p>
          <a:p>
            <a:r>
              <a:rPr lang="en-IN" dirty="0">
                <a:solidFill>
                  <a:schemeClr val="bg1"/>
                </a:solidFill>
              </a:rPr>
              <a:t>"k${K}_counts.txt" </a:t>
            </a:r>
          </a:p>
          <a:p>
            <a:r>
              <a:rPr lang="en-IN" dirty="0">
                <a:solidFill>
                  <a:schemeClr val="bg1"/>
                </a:solidFill>
              </a:rPr>
              <a:t>done</a:t>
            </a:r>
          </a:p>
        </p:txBody>
      </p:sp>
    </p:spTree>
    <p:extLst>
      <p:ext uri="{BB962C8B-B14F-4D97-AF65-F5344CB8AC3E}">
        <p14:creationId xmlns:p14="http://schemas.microsoft.com/office/powerpoint/2010/main" val="37534103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6E8CD3F-CA4B-C12B-477E-0613FF1C9DE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r>
              <a:rPr lang="en-US"/>
              <a:t>1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C63E12-E00C-EC98-CB4F-2EEB45DC0AE9}"/>
              </a:ext>
            </a:extLst>
          </p:cNvPr>
          <p:cNvSpPr txBox="1"/>
          <p:nvPr/>
        </p:nvSpPr>
        <p:spPr>
          <a:xfrm>
            <a:off x="609600" y="1778120"/>
            <a:ext cx="915416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 </a:t>
            </a:r>
            <a:r>
              <a:rPr lang="en-IN" sz="2400" b="1" dirty="0">
                <a:solidFill>
                  <a:schemeClr val="bg1"/>
                </a:solidFill>
              </a:rPr>
              <a:t>Original DNA Sequence:    [ A  G  A  T  C  G ]  (L = 6)       ─────────────────────────────────────────────────────── </a:t>
            </a:r>
          </a:p>
          <a:p>
            <a:r>
              <a:rPr lang="en-IN" sz="2400" b="1" dirty="0">
                <a:solidFill>
                  <a:schemeClr val="bg1"/>
                </a:solidFill>
              </a:rPr>
              <a:t> If k = 1 (Monomers)       [A] [G] [A] [T] [C] [G]       Total: 6 - 1 + 1 = 6      </a:t>
            </a:r>
          </a:p>
          <a:p>
            <a:r>
              <a:rPr lang="en-IN" sz="2400" b="1" dirty="0">
                <a:solidFill>
                  <a:schemeClr val="bg1"/>
                </a:solidFill>
              </a:rPr>
              <a:t> ───►  If k = 2 (Dinucleotides)  [A  G]                        Total: 6 - 2 + 1 = 5                                    [G  A]                                       [A  T]                                          [T  C]                                             [C  G] </a:t>
            </a:r>
          </a:p>
          <a:p>
            <a:r>
              <a:rPr lang="en-IN" sz="2400" b="1" dirty="0">
                <a:solidFill>
                  <a:schemeClr val="bg1"/>
                </a:solidFill>
              </a:rPr>
              <a:t>───►  If k = 3 (Trinucleotides) [A  G  A]                     Total: 6 - 3 + 1 = 4                                    [G  A  T]                                       [A  T  C]                                          [T  C  G] </a:t>
            </a:r>
          </a:p>
          <a:p>
            <a:r>
              <a:rPr lang="en-IN" sz="2400" b="1" dirty="0">
                <a:solidFill>
                  <a:schemeClr val="bg1"/>
                </a:solidFill>
              </a:rPr>
              <a:t>───►  If k = 4 (Tetranucleotides)[A  G  A  T]                  Total: 6 - 4 + 1 = 3                                    [G  A  T  C]                                       [A  T  C  G]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F1E10F-8EE2-E032-82AA-9D7633DD9B74}"/>
              </a:ext>
            </a:extLst>
          </p:cNvPr>
          <p:cNvSpPr txBox="1"/>
          <p:nvPr/>
        </p:nvSpPr>
        <p:spPr>
          <a:xfrm>
            <a:off x="2275840" y="971062"/>
            <a:ext cx="33629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bg1"/>
                </a:solidFill>
              </a:rPr>
              <a:t>K-</a:t>
            </a:r>
            <a:r>
              <a:rPr lang="en-IN" sz="3600" b="1" dirty="0" err="1">
                <a:solidFill>
                  <a:schemeClr val="bg1"/>
                </a:solidFill>
              </a:rPr>
              <a:t>mers</a:t>
            </a:r>
            <a:endParaRPr lang="en-IN" sz="3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11194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9713074-ECA6-FE1E-D753-BDB81020AD6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r>
              <a:rPr lang="en-US"/>
              <a:t>1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AA5F10-EC45-16A3-C66C-AC12CEF7F308}"/>
              </a:ext>
            </a:extLst>
          </p:cNvPr>
          <p:cNvSpPr txBox="1"/>
          <p:nvPr/>
        </p:nvSpPr>
        <p:spPr>
          <a:xfrm>
            <a:off x="2275840" y="971062"/>
            <a:ext cx="54051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bg1"/>
                </a:solidFill>
              </a:rPr>
              <a:t>K-</a:t>
            </a:r>
            <a:r>
              <a:rPr lang="en-IN" sz="3600" b="1" dirty="0" err="1">
                <a:solidFill>
                  <a:schemeClr val="bg1"/>
                </a:solidFill>
              </a:rPr>
              <a:t>mers</a:t>
            </a:r>
            <a:r>
              <a:rPr lang="en-IN" sz="3600" b="1" dirty="0">
                <a:solidFill>
                  <a:schemeClr val="bg1"/>
                </a:solidFill>
              </a:rPr>
              <a:t> vs Genome size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85B51A2-CBA5-510B-32C1-2B94F80B51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719" y="1742359"/>
            <a:ext cx="10922561" cy="314976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4814DA2-D600-49C6-6686-BE9B4D7DAD06}"/>
              </a:ext>
            </a:extLst>
          </p:cNvPr>
          <p:cNvSpPr txBox="1"/>
          <p:nvPr/>
        </p:nvSpPr>
        <p:spPr>
          <a:xfrm>
            <a:off x="721360" y="5222240"/>
            <a:ext cx="6654800" cy="64633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For a 14 bp DNA, how many k-</a:t>
            </a:r>
            <a:r>
              <a:rPr lang="en-IN" dirty="0" err="1">
                <a:solidFill>
                  <a:schemeClr val="bg1"/>
                </a:solidFill>
              </a:rPr>
              <a:t>mers</a:t>
            </a:r>
            <a:r>
              <a:rPr lang="en-IN" dirty="0">
                <a:solidFill>
                  <a:schemeClr val="bg1"/>
                </a:solidFill>
              </a:rPr>
              <a:t> will be there?</a:t>
            </a:r>
          </a:p>
          <a:p>
            <a:r>
              <a:rPr lang="en-IN" dirty="0">
                <a:solidFill>
                  <a:schemeClr val="bg1"/>
                </a:solidFill>
              </a:rPr>
              <a:t>If the coverage is 10X how many k-</a:t>
            </a:r>
            <a:r>
              <a:rPr lang="en-IN" dirty="0" err="1">
                <a:solidFill>
                  <a:schemeClr val="bg1"/>
                </a:solidFill>
              </a:rPr>
              <a:t>mers</a:t>
            </a:r>
            <a:r>
              <a:rPr lang="en-IN" dirty="0">
                <a:solidFill>
                  <a:schemeClr val="bg1"/>
                </a:solidFill>
              </a:rPr>
              <a:t> will be there?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38D416-3188-6F6A-A744-2C973DAB0706}"/>
              </a:ext>
            </a:extLst>
          </p:cNvPr>
          <p:cNvSpPr txBox="1"/>
          <p:nvPr/>
        </p:nvSpPr>
        <p:spPr>
          <a:xfrm>
            <a:off x="7833360" y="5100320"/>
            <a:ext cx="3642360" cy="1200329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Genome size = Total no. of k-</a:t>
            </a:r>
            <a:r>
              <a:rPr lang="en-US" dirty="0" err="1"/>
              <a:t>mers</a:t>
            </a:r>
            <a:r>
              <a:rPr lang="en-US" dirty="0"/>
              <a:t>/Coverage</a:t>
            </a:r>
          </a:p>
          <a:p>
            <a:r>
              <a:rPr lang="en-US" dirty="0"/>
              <a:t>     = Area under curve /mean coverage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440028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891989F-17A0-3CAB-2D4A-339D6270C99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r>
              <a:rPr lang="en-US"/>
              <a:t>1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31E2A0-E4D8-3503-311C-A5D441A8A746}"/>
              </a:ext>
            </a:extLst>
          </p:cNvPr>
          <p:cNvSpPr txBox="1"/>
          <p:nvPr/>
        </p:nvSpPr>
        <p:spPr>
          <a:xfrm>
            <a:off x="1422400" y="1249680"/>
            <a:ext cx="8128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chemeClr val="bg1"/>
                </a:solidFill>
              </a:rPr>
              <a:t>Genome size estimation:</a:t>
            </a:r>
          </a:p>
          <a:p>
            <a:r>
              <a:rPr lang="en-IN" sz="2000" dirty="0">
                <a:solidFill>
                  <a:schemeClr val="bg1"/>
                </a:solidFill>
              </a:rPr>
              <a:t>Total number of k-</a:t>
            </a:r>
            <a:r>
              <a:rPr lang="en-IN" sz="2000" dirty="0" err="1">
                <a:solidFill>
                  <a:schemeClr val="bg1"/>
                </a:solidFill>
              </a:rPr>
              <a:t>mers</a:t>
            </a:r>
            <a:r>
              <a:rPr lang="en-IN" sz="2000" dirty="0">
                <a:solidFill>
                  <a:schemeClr val="bg1"/>
                </a:solidFill>
              </a:rPr>
              <a:t>/Coverage = Genome size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FB6573-11A4-38E4-E87E-3859A176C4F7}"/>
              </a:ext>
            </a:extLst>
          </p:cNvPr>
          <p:cNvSpPr txBox="1"/>
          <p:nvPr/>
        </p:nvSpPr>
        <p:spPr>
          <a:xfrm>
            <a:off x="9037320" y="983536"/>
            <a:ext cx="2895600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data[10:20,]</a:t>
            </a:r>
          </a:p>
          <a:p>
            <a:endParaRPr lang="en-IN" dirty="0"/>
          </a:p>
          <a:p>
            <a:r>
              <a:rPr lang="en-IN" dirty="0"/>
              <a:t>    V1   V2</a:t>
            </a:r>
          </a:p>
          <a:p>
            <a:endParaRPr lang="en-IN" dirty="0"/>
          </a:p>
          <a:p>
            <a:r>
              <a:rPr lang="en-IN" dirty="0"/>
              <a:t>5   5 7140173</a:t>
            </a:r>
          </a:p>
          <a:p>
            <a:r>
              <a:rPr lang="en-IN" dirty="0"/>
              <a:t>6   6 8860956</a:t>
            </a:r>
          </a:p>
          <a:p>
            <a:r>
              <a:rPr lang="en-IN" dirty="0"/>
              <a:t>7   7 10461902</a:t>
            </a:r>
          </a:p>
          <a:p>
            <a:r>
              <a:rPr lang="en-IN" dirty="0"/>
              <a:t>8   8 11938782</a:t>
            </a:r>
          </a:p>
          <a:p>
            <a:r>
              <a:rPr lang="en-IN" dirty="0"/>
              <a:t>9   9 13277372</a:t>
            </a:r>
          </a:p>
          <a:p>
            <a:r>
              <a:rPr lang="en-IN" dirty="0"/>
              <a:t>10 10 14419501</a:t>
            </a:r>
          </a:p>
          <a:p>
            <a:r>
              <a:rPr lang="en-IN" dirty="0"/>
              <a:t>11 11 15230762</a:t>
            </a:r>
          </a:p>
          <a:p>
            <a:r>
              <a:rPr lang="en-IN" dirty="0"/>
              <a:t>12 12 15594907</a:t>
            </a:r>
          </a:p>
          <a:p>
            <a:r>
              <a:rPr lang="en-IN" dirty="0"/>
              <a:t>13 13 15416499</a:t>
            </a:r>
          </a:p>
          <a:p>
            <a:r>
              <a:rPr lang="en-IN" dirty="0"/>
              <a:t>14 14 14655690</a:t>
            </a:r>
          </a:p>
          <a:p>
            <a:r>
              <a:rPr lang="en-IN" dirty="0"/>
              <a:t>15 15 13442589</a:t>
            </a:r>
          </a:p>
          <a:p>
            <a:r>
              <a:rPr lang="en-IN" dirty="0"/>
              <a:t>16 16 11834646</a:t>
            </a:r>
          </a:p>
          <a:p>
            <a:r>
              <a:rPr lang="en-IN" dirty="0"/>
              <a:t>17 17 10049240</a:t>
            </a:r>
          </a:p>
          <a:p>
            <a:r>
              <a:rPr lang="en-IN" dirty="0"/>
              <a:t>18 18 8239408</a:t>
            </a:r>
          </a:p>
          <a:p>
            <a:r>
              <a:rPr lang="en-IN" dirty="0"/>
              <a:t>19 19 6533641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2611B4-90CC-7D23-5908-DD2496856F60}"/>
              </a:ext>
            </a:extLst>
          </p:cNvPr>
          <p:cNvSpPr txBox="1"/>
          <p:nvPr/>
        </p:nvSpPr>
        <p:spPr>
          <a:xfrm>
            <a:off x="7269480" y="5709308"/>
            <a:ext cx="19405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V1 = Number of k-</a:t>
            </a:r>
            <a:r>
              <a:rPr lang="en-IN" dirty="0" err="1"/>
              <a:t>mers</a:t>
            </a:r>
            <a:endParaRPr lang="en-IN" dirty="0"/>
          </a:p>
          <a:p>
            <a:r>
              <a:rPr lang="en-IN" dirty="0"/>
              <a:t>V2 = Frequency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EAFF9B5-8AD8-C51D-8A92-8D981087A8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240" y="2109798"/>
            <a:ext cx="6278880" cy="195397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D2B119E-11B2-A059-7C93-F9B1CE3E5C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240" y="4112155"/>
            <a:ext cx="6278880" cy="183134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7C02AC63-738B-8C18-7031-08F179B39BD4}"/>
              </a:ext>
            </a:extLst>
          </p:cNvPr>
          <p:cNvSpPr/>
          <p:nvPr/>
        </p:nvSpPr>
        <p:spPr>
          <a:xfrm>
            <a:off x="9037320" y="4063772"/>
            <a:ext cx="1651000" cy="244068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89327C6-D36D-FDE8-84ED-D9F54E1E8ECB}"/>
              </a:ext>
            </a:extLst>
          </p:cNvPr>
          <p:cNvSpPr txBox="1"/>
          <p:nvPr/>
        </p:nvSpPr>
        <p:spPr>
          <a:xfrm>
            <a:off x="7310120" y="3927489"/>
            <a:ext cx="1209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coverage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E478DCE-046D-F630-CEDC-136BB7B96123}"/>
              </a:ext>
            </a:extLst>
          </p:cNvPr>
          <p:cNvCxnSpPr/>
          <p:nvPr/>
        </p:nvCxnSpPr>
        <p:spPr>
          <a:xfrm>
            <a:off x="8402320" y="4112155"/>
            <a:ext cx="508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13768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1793D9E-9F42-276D-DB56-DA00B83B276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r>
              <a:rPr lang="en-US"/>
              <a:t>1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E39BB3-43C8-3B18-436C-84B4A9DC789A}"/>
              </a:ext>
            </a:extLst>
          </p:cNvPr>
          <p:cNvSpPr txBox="1"/>
          <p:nvPr/>
        </p:nvSpPr>
        <p:spPr>
          <a:xfrm>
            <a:off x="1544320" y="1483360"/>
            <a:ext cx="81788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solidFill>
                  <a:schemeClr val="bg1"/>
                </a:solidFill>
              </a:rPr>
              <a:t>grep -v '^&gt;' 74cds.fa | tr -d '\n' | \</a:t>
            </a:r>
          </a:p>
          <a:p>
            <a:r>
              <a:rPr lang="en-IN" sz="3600" dirty="0">
                <a:solidFill>
                  <a:schemeClr val="bg1"/>
                </a:solidFill>
              </a:rPr>
              <a:t>awk '{k=5; for(</a:t>
            </a:r>
            <a:r>
              <a:rPr lang="en-IN" sz="3600" dirty="0" err="1">
                <a:solidFill>
                  <a:schemeClr val="bg1"/>
                </a:solidFill>
              </a:rPr>
              <a:t>i</a:t>
            </a:r>
            <a:r>
              <a:rPr lang="en-IN" sz="3600" dirty="0">
                <a:solidFill>
                  <a:schemeClr val="bg1"/>
                </a:solidFill>
              </a:rPr>
              <a:t>=1;i&lt;=length($0)-k+1;i++) \</a:t>
            </a:r>
          </a:p>
          <a:p>
            <a:r>
              <a:rPr lang="en-IN" sz="3600" dirty="0">
                <a:solidFill>
                  <a:schemeClr val="bg1"/>
                </a:solidFill>
              </a:rPr>
              <a:t>print </a:t>
            </a:r>
            <a:r>
              <a:rPr lang="en-IN" sz="3600" dirty="0" err="1">
                <a:solidFill>
                  <a:schemeClr val="bg1"/>
                </a:solidFill>
              </a:rPr>
              <a:t>substr</a:t>
            </a:r>
            <a:r>
              <a:rPr lang="en-IN" sz="3600" dirty="0">
                <a:solidFill>
                  <a:schemeClr val="bg1"/>
                </a:solidFill>
              </a:rPr>
              <a:t>($0,i,k)}' | \</a:t>
            </a:r>
          </a:p>
          <a:p>
            <a:r>
              <a:rPr lang="en-IN" sz="3600" dirty="0">
                <a:solidFill>
                  <a:schemeClr val="bg1"/>
                </a:solidFill>
              </a:rPr>
              <a:t>sort | </a:t>
            </a:r>
            <a:r>
              <a:rPr lang="en-IN" sz="3600" dirty="0" err="1">
                <a:solidFill>
                  <a:schemeClr val="bg1"/>
                </a:solidFill>
              </a:rPr>
              <a:t>uniq</a:t>
            </a:r>
            <a:r>
              <a:rPr lang="en-IN" sz="3600" dirty="0">
                <a:solidFill>
                  <a:schemeClr val="bg1"/>
                </a:solidFill>
              </a:rPr>
              <a:t> -c | sort -nr</a:t>
            </a:r>
          </a:p>
        </p:txBody>
      </p:sp>
    </p:spTree>
    <p:extLst>
      <p:ext uri="{BB962C8B-B14F-4D97-AF65-F5344CB8AC3E}">
        <p14:creationId xmlns:p14="http://schemas.microsoft.com/office/powerpoint/2010/main" val="19205717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B20641B-89B3-D168-5A38-46FAB34FA07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r>
              <a:rPr lang="en-US"/>
              <a:t>1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7CB1ED-58F5-7E37-3358-1D02BCD18DA8}"/>
              </a:ext>
            </a:extLst>
          </p:cNvPr>
          <p:cNvSpPr txBox="1"/>
          <p:nvPr/>
        </p:nvSpPr>
        <p:spPr>
          <a:xfrm>
            <a:off x="3058160" y="612844"/>
            <a:ext cx="678688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awk -v k=5 '</a:t>
            </a:r>
          </a:p>
          <a:p>
            <a:r>
              <a:rPr lang="en-IN" dirty="0">
                <a:solidFill>
                  <a:schemeClr val="bg1"/>
                </a:solidFill>
              </a:rPr>
              <a:t>/^&gt;/ {</a:t>
            </a:r>
          </a:p>
          <a:p>
            <a:r>
              <a:rPr lang="en-IN" dirty="0">
                <a:solidFill>
                  <a:schemeClr val="bg1"/>
                </a:solidFill>
              </a:rPr>
              <a:t>    if (</a:t>
            </a:r>
            <a:r>
              <a:rPr lang="en-IN" dirty="0" err="1">
                <a:solidFill>
                  <a:schemeClr val="bg1"/>
                </a:solidFill>
              </a:rPr>
              <a:t>seq</a:t>
            </a:r>
            <a:r>
              <a:rPr lang="en-IN" dirty="0">
                <a:solidFill>
                  <a:schemeClr val="bg1"/>
                </a:solidFill>
              </a:rPr>
              <a:t> != "") {</a:t>
            </a:r>
          </a:p>
          <a:p>
            <a:r>
              <a:rPr lang="en-IN" dirty="0">
                <a:solidFill>
                  <a:schemeClr val="bg1"/>
                </a:solidFill>
              </a:rPr>
              <a:t>        for (</a:t>
            </a:r>
            <a:r>
              <a:rPr lang="en-IN" dirty="0" err="1">
                <a:solidFill>
                  <a:schemeClr val="bg1"/>
                </a:solidFill>
              </a:rPr>
              <a:t>i</a:t>
            </a:r>
            <a:r>
              <a:rPr lang="en-IN" dirty="0">
                <a:solidFill>
                  <a:schemeClr val="bg1"/>
                </a:solidFill>
              </a:rPr>
              <a:t>=1; </a:t>
            </a:r>
            <a:r>
              <a:rPr lang="en-IN" dirty="0" err="1">
                <a:solidFill>
                  <a:schemeClr val="bg1"/>
                </a:solidFill>
              </a:rPr>
              <a:t>i</a:t>
            </a:r>
            <a:r>
              <a:rPr lang="en-IN" dirty="0">
                <a:solidFill>
                  <a:schemeClr val="bg1"/>
                </a:solidFill>
              </a:rPr>
              <a:t>&lt;=length(</a:t>
            </a:r>
            <a:r>
              <a:rPr lang="en-IN" dirty="0" err="1">
                <a:solidFill>
                  <a:schemeClr val="bg1"/>
                </a:solidFill>
              </a:rPr>
              <a:t>seq</a:t>
            </a:r>
            <a:r>
              <a:rPr lang="en-IN" dirty="0">
                <a:solidFill>
                  <a:schemeClr val="bg1"/>
                </a:solidFill>
              </a:rPr>
              <a:t>)-k+1; </a:t>
            </a:r>
            <a:r>
              <a:rPr lang="en-IN" dirty="0" err="1">
                <a:solidFill>
                  <a:schemeClr val="bg1"/>
                </a:solidFill>
              </a:rPr>
              <a:t>i</a:t>
            </a:r>
            <a:r>
              <a:rPr lang="en-IN" dirty="0">
                <a:solidFill>
                  <a:schemeClr val="bg1"/>
                </a:solidFill>
              </a:rPr>
              <a:t>++) {</a:t>
            </a:r>
          </a:p>
          <a:p>
            <a:r>
              <a:rPr lang="en-IN" dirty="0">
                <a:solidFill>
                  <a:schemeClr val="bg1"/>
                </a:solidFill>
              </a:rPr>
              <a:t>            print </a:t>
            </a:r>
            <a:r>
              <a:rPr lang="en-IN" dirty="0" err="1">
                <a:solidFill>
                  <a:schemeClr val="bg1"/>
                </a:solidFill>
              </a:rPr>
              <a:t>substr</a:t>
            </a:r>
            <a:r>
              <a:rPr lang="en-IN" dirty="0">
                <a:solidFill>
                  <a:schemeClr val="bg1"/>
                </a:solidFill>
              </a:rPr>
              <a:t>(</a:t>
            </a:r>
            <a:r>
              <a:rPr lang="en-IN" dirty="0" err="1">
                <a:solidFill>
                  <a:schemeClr val="bg1"/>
                </a:solidFill>
              </a:rPr>
              <a:t>seq,i,k</a:t>
            </a:r>
            <a:r>
              <a:rPr lang="en-IN" dirty="0">
                <a:solidFill>
                  <a:schemeClr val="bg1"/>
                </a:solidFill>
              </a:rPr>
              <a:t>)</a:t>
            </a:r>
          </a:p>
          <a:p>
            <a:r>
              <a:rPr lang="en-IN" dirty="0">
                <a:solidFill>
                  <a:schemeClr val="bg1"/>
                </a:solidFill>
              </a:rPr>
              <a:t>        }</a:t>
            </a:r>
          </a:p>
          <a:p>
            <a:r>
              <a:rPr lang="en-IN" dirty="0">
                <a:solidFill>
                  <a:schemeClr val="bg1"/>
                </a:solidFill>
              </a:rPr>
              <a:t>    }</a:t>
            </a:r>
          </a:p>
          <a:p>
            <a:r>
              <a:rPr lang="en-IN" dirty="0">
                <a:solidFill>
                  <a:schemeClr val="bg1"/>
                </a:solidFill>
              </a:rPr>
              <a:t>    </a:t>
            </a:r>
            <a:r>
              <a:rPr lang="en-IN" dirty="0" err="1">
                <a:solidFill>
                  <a:schemeClr val="bg1"/>
                </a:solidFill>
              </a:rPr>
              <a:t>seq</a:t>
            </a:r>
            <a:r>
              <a:rPr lang="en-IN" dirty="0">
                <a:solidFill>
                  <a:schemeClr val="bg1"/>
                </a:solidFill>
              </a:rPr>
              <a:t>=""</a:t>
            </a:r>
          </a:p>
          <a:p>
            <a:r>
              <a:rPr lang="en-IN" dirty="0">
                <a:solidFill>
                  <a:schemeClr val="bg1"/>
                </a:solidFill>
              </a:rPr>
              <a:t>    next</a:t>
            </a:r>
          </a:p>
          <a:p>
            <a:r>
              <a:rPr lang="en-IN" dirty="0">
                <a:solidFill>
                  <a:schemeClr val="bg1"/>
                </a:solidFill>
              </a:rPr>
              <a:t>}</a:t>
            </a:r>
          </a:p>
          <a:p>
            <a:r>
              <a:rPr lang="en-IN" dirty="0">
                <a:solidFill>
                  <a:schemeClr val="bg1"/>
                </a:solidFill>
              </a:rPr>
              <a:t>{</a:t>
            </a:r>
          </a:p>
          <a:p>
            <a:r>
              <a:rPr lang="en-IN" dirty="0">
                <a:solidFill>
                  <a:schemeClr val="bg1"/>
                </a:solidFill>
              </a:rPr>
              <a:t>    </a:t>
            </a:r>
            <a:r>
              <a:rPr lang="en-IN" dirty="0" err="1">
                <a:solidFill>
                  <a:schemeClr val="bg1"/>
                </a:solidFill>
              </a:rPr>
              <a:t>seq</a:t>
            </a:r>
            <a:r>
              <a:rPr lang="en-IN" dirty="0">
                <a:solidFill>
                  <a:schemeClr val="bg1"/>
                </a:solidFill>
              </a:rPr>
              <a:t> = </a:t>
            </a:r>
            <a:r>
              <a:rPr lang="en-IN" dirty="0" err="1">
                <a:solidFill>
                  <a:schemeClr val="bg1"/>
                </a:solidFill>
              </a:rPr>
              <a:t>seq</a:t>
            </a:r>
            <a:r>
              <a:rPr lang="en-IN" dirty="0">
                <a:solidFill>
                  <a:schemeClr val="bg1"/>
                </a:solidFill>
              </a:rPr>
              <a:t> </a:t>
            </a:r>
            <a:r>
              <a:rPr lang="en-IN" dirty="0" err="1">
                <a:solidFill>
                  <a:schemeClr val="bg1"/>
                </a:solidFill>
              </a:rPr>
              <a:t>toupper</a:t>
            </a:r>
            <a:r>
              <a:rPr lang="en-IN" dirty="0">
                <a:solidFill>
                  <a:schemeClr val="bg1"/>
                </a:solidFill>
              </a:rPr>
              <a:t>($0)</a:t>
            </a:r>
          </a:p>
          <a:p>
            <a:r>
              <a:rPr lang="en-IN" dirty="0">
                <a:solidFill>
                  <a:schemeClr val="bg1"/>
                </a:solidFill>
              </a:rPr>
              <a:t>}</a:t>
            </a:r>
          </a:p>
          <a:p>
            <a:r>
              <a:rPr lang="en-IN" dirty="0">
                <a:solidFill>
                  <a:schemeClr val="bg1"/>
                </a:solidFill>
              </a:rPr>
              <a:t>END {</a:t>
            </a:r>
          </a:p>
          <a:p>
            <a:r>
              <a:rPr lang="en-IN" dirty="0">
                <a:solidFill>
                  <a:schemeClr val="bg1"/>
                </a:solidFill>
              </a:rPr>
              <a:t>    if (</a:t>
            </a:r>
            <a:r>
              <a:rPr lang="en-IN" dirty="0" err="1">
                <a:solidFill>
                  <a:schemeClr val="bg1"/>
                </a:solidFill>
              </a:rPr>
              <a:t>seq</a:t>
            </a:r>
            <a:r>
              <a:rPr lang="en-IN" dirty="0">
                <a:solidFill>
                  <a:schemeClr val="bg1"/>
                </a:solidFill>
              </a:rPr>
              <a:t> != "") {</a:t>
            </a:r>
          </a:p>
          <a:p>
            <a:r>
              <a:rPr lang="en-IN" dirty="0">
                <a:solidFill>
                  <a:schemeClr val="bg1"/>
                </a:solidFill>
              </a:rPr>
              <a:t>        for (</a:t>
            </a:r>
            <a:r>
              <a:rPr lang="en-IN" dirty="0" err="1">
                <a:solidFill>
                  <a:schemeClr val="bg1"/>
                </a:solidFill>
              </a:rPr>
              <a:t>i</a:t>
            </a:r>
            <a:r>
              <a:rPr lang="en-IN" dirty="0">
                <a:solidFill>
                  <a:schemeClr val="bg1"/>
                </a:solidFill>
              </a:rPr>
              <a:t>=1; </a:t>
            </a:r>
            <a:r>
              <a:rPr lang="en-IN" dirty="0" err="1">
                <a:solidFill>
                  <a:schemeClr val="bg1"/>
                </a:solidFill>
              </a:rPr>
              <a:t>i</a:t>
            </a:r>
            <a:r>
              <a:rPr lang="en-IN" dirty="0">
                <a:solidFill>
                  <a:schemeClr val="bg1"/>
                </a:solidFill>
              </a:rPr>
              <a:t>&lt;=length(</a:t>
            </a:r>
            <a:r>
              <a:rPr lang="en-IN" dirty="0" err="1">
                <a:solidFill>
                  <a:schemeClr val="bg1"/>
                </a:solidFill>
              </a:rPr>
              <a:t>seq</a:t>
            </a:r>
            <a:r>
              <a:rPr lang="en-IN" dirty="0">
                <a:solidFill>
                  <a:schemeClr val="bg1"/>
                </a:solidFill>
              </a:rPr>
              <a:t>)-k+1; </a:t>
            </a:r>
            <a:r>
              <a:rPr lang="en-IN" dirty="0" err="1">
                <a:solidFill>
                  <a:schemeClr val="bg1"/>
                </a:solidFill>
              </a:rPr>
              <a:t>i</a:t>
            </a:r>
            <a:r>
              <a:rPr lang="en-IN" dirty="0">
                <a:solidFill>
                  <a:schemeClr val="bg1"/>
                </a:solidFill>
              </a:rPr>
              <a:t>++) {</a:t>
            </a:r>
          </a:p>
          <a:p>
            <a:r>
              <a:rPr lang="en-IN" dirty="0">
                <a:solidFill>
                  <a:schemeClr val="bg1"/>
                </a:solidFill>
              </a:rPr>
              <a:t>            print </a:t>
            </a:r>
            <a:r>
              <a:rPr lang="en-IN" dirty="0" err="1">
                <a:solidFill>
                  <a:schemeClr val="bg1"/>
                </a:solidFill>
              </a:rPr>
              <a:t>substr</a:t>
            </a:r>
            <a:r>
              <a:rPr lang="en-IN" dirty="0">
                <a:solidFill>
                  <a:schemeClr val="bg1"/>
                </a:solidFill>
              </a:rPr>
              <a:t>(</a:t>
            </a:r>
            <a:r>
              <a:rPr lang="en-IN" dirty="0" err="1">
                <a:solidFill>
                  <a:schemeClr val="bg1"/>
                </a:solidFill>
              </a:rPr>
              <a:t>seq,i,k</a:t>
            </a:r>
            <a:r>
              <a:rPr lang="en-IN" dirty="0">
                <a:solidFill>
                  <a:schemeClr val="bg1"/>
                </a:solidFill>
              </a:rPr>
              <a:t>)</a:t>
            </a:r>
          </a:p>
          <a:p>
            <a:r>
              <a:rPr lang="en-IN" dirty="0">
                <a:solidFill>
                  <a:schemeClr val="bg1"/>
                </a:solidFill>
              </a:rPr>
              <a:t>        }</a:t>
            </a:r>
          </a:p>
          <a:p>
            <a:r>
              <a:rPr lang="en-IN" dirty="0">
                <a:solidFill>
                  <a:schemeClr val="bg1"/>
                </a:solidFill>
              </a:rPr>
              <a:t>    }</a:t>
            </a:r>
          </a:p>
          <a:p>
            <a:r>
              <a:rPr lang="en-IN" dirty="0">
                <a:solidFill>
                  <a:schemeClr val="bg1"/>
                </a:solidFill>
              </a:rPr>
              <a:t>}' </a:t>
            </a:r>
            <a:r>
              <a:rPr lang="en-IN" dirty="0" err="1">
                <a:solidFill>
                  <a:schemeClr val="bg1"/>
                </a:solidFill>
              </a:rPr>
              <a:t>genome.fasta</a:t>
            </a:r>
            <a:r>
              <a:rPr lang="en-IN" dirty="0">
                <a:solidFill>
                  <a:schemeClr val="bg1"/>
                </a:solidFill>
              </a:rPr>
              <a:t> | sort | </a:t>
            </a:r>
            <a:r>
              <a:rPr lang="en-IN" dirty="0" err="1">
                <a:solidFill>
                  <a:schemeClr val="bg1"/>
                </a:solidFill>
              </a:rPr>
              <a:t>uniq</a:t>
            </a:r>
            <a:r>
              <a:rPr lang="en-IN" dirty="0">
                <a:solidFill>
                  <a:schemeClr val="bg1"/>
                </a:solidFill>
              </a:rPr>
              <a:t> -c | sort -nr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A9B7A3-C09A-6B31-17BD-289958BC965A}"/>
              </a:ext>
            </a:extLst>
          </p:cNvPr>
          <p:cNvSpPr txBox="1"/>
          <p:nvPr/>
        </p:nvSpPr>
        <p:spPr>
          <a:xfrm>
            <a:off x="436880" y="2661920"/>
            <a:ext cx="2062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For </a:t>
            </a:r>
            <a:r>
              <a:rPr lang="en-IN" dirty="0" err="1">
                <a:solidFill>
                  <a:schemeClr val="bg1"/>
                </a:solidFill>
              </a:rPr>
              <a:t>multifasta</a:t>
            </a:r>
            <a:r>
              <a:rPr lang="en-IN" dirty="0">
                <a:solidFill>
                  <a:schemeClr val="bg1"/>
                </a:solidFill>
              </a:rPr>
              <a:t> file</a:t>
            </a:r>
          </a:p>
        </p:txBody>
      </p:sp>
    </p:spTree>
    <p:extLst>
      <p:ext uri="{BB962C8B-B14F-4D97-AF65-F5344CB8AC3E}">
        <p14:creationId xmlns:p14="http://schemas.microsoft.com/office/powerpoint/2010/main" val="16849233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935</TotalTime>
  <Words>1193</Words>
  <Application>Microsoft Office PowerPoint</Application>
  <PresentationFormat>Widescreen</PresentationFormat>
  <Paragraphs>162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Aptos</vt:lpstr>
      <vt:lpstr>Arial</vt:lpstr>
      <vt:lpstr>Calibri</vt:lpstr>
      <vt:lpstr>Cambria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Sucheta Tripathi</cp:lastModifiedBy>
  <cp:revision>54</cp:revision>
  <dcterms:created xsi:type="dcterms:W3CDTF">2026-08-25T11:32:45Z</dcterms:created>
  <dcterms:modified xsi:type="dcterms:W3CDTF">2026-09-01T03:24:59Z</dcterms:modified>
</cp:coreProperties>
</file>