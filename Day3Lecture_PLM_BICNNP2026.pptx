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71" r:id="rId3"/>
    <p:sldId id="311" r:id="rId4"/>
    <p:sldId id="270" r:id="rId5"/>
    <p:sldId id="337" r:id="rId6"/>
    <p:sldId id="301" r:id="rId7"/>
    <p:sldId id="303" r:id="rId8"/>
    <p:sldId id="302" r:id="rId9"/>
    <p:sldId id="312" r:id="rId10"/>
    <p:sldId id="310" r:id="rId11"/>
    <p:sldId id="338" r:id="rId12"/>
    <p:sldId id="317" r:id="rId13"/>
    <p:sldId id="314" r:id="rId14"/>
    <p:sldId id="306" r:id="rId15"/>
    <p:sldId id="318" r:id="rId16"/>
    <p:sldId id="316" r:id="rId17"/>
    <p:sldId id="320" r:id="rId18"/>
    <p:sldId id="336" r:id="rId19"/>
    <p:sldId id="335" r:id="rId20"/>
    <p:sldId id="321" r:id="rId21"/>
    <p:sldId id="322" r:id="rId22"/>
    <p:sldId id="327" r:id="rId23"/>
    <p:sldId id="328" r:id="rId24"/>
    <p:sldId id="329" r:id="rId25"/>
    <p:sldId id="330" r:id="rId26"/>
    <p:sldId id="323" r:id="rId27"/>
    <p:sldId id="324" r:id="rId28"/>
    <p:sldId id="325" r:id="rId29"/>
    <p:sldId id="332" r:id="rId30"/>
    <p:sldId id="333" r:id="rId31"/>
    <p:sldId id="334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90291" y="274661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noFill/>
                </a:ln>
                <a:solidFill>
                  <a:srgbClr val="00206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HackWeek 2026</a:t>
            </a:r>
            <a:endParaRPr lang="en-US" sz="2000" b="0" dirty="0">
              <a:ln w="3175">
                <a:noFill/>
              </a:ln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20240" y="658368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Aribam Geeta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 Language of Proteins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75242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of Proteins</a:t>
            </a:r>
          </a:p>
          <a:p>
            <a:pPr marL="0" indent="0" algn="ctr">
              <a:buNone/>
            </a:pPr>
            <a:r>
              <a:rPr lang="en-US" sz="2000" i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Protein Embeddings, Visualisation &amp; Clustering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B374850-92F2-5F35-8643-762AE6632944}"/>
              </a:ext>
            </a:extLst>
          </p:cNvPr>
          <p:cNvSpPr/>
          <p:nvPr/>
        </p:nvSpPr>
        <p:spPr>
          <a:xfrm>
            <a:off x="606014" y="3822551"/>
            <a:ext cx="10725912" cy="1340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Aribam Geeta, PhD</a:t>
            </a:r>
          </a:p>
          <a:p>
            <a:pPr marL="0" indent="0" algn="ctr">
              <a:buNone/>
            </a:pPr>
            <a:r>
              <a:rPr lang="en-US" sz="1800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Associate I</a:t>
            </a:r>
          </a:p>
          <a:p>
            <a:pPr marL="0" indent="0" algn="ctr">
              <a:buNone/>
            </a:pPr>
            <a:r>
              <a:rPr lang="en-US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Genomics Lab,</a:t>
            </a:r>
          </a:p>
          <a:p>
            <a:pPr marL="0" indent="0" algn="ctr">
              <a:buNone/>
            </a:pPr>
            <a:r>
              <a:rPr lang="en-US" sz="1800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CSIR-Indian Institute of </a:t>
            </a:r>
            <a:r>
              <a:rPr lang="en-US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Biology</a:t>
            </a:r>
            <a:endParaRPr lang="en-US" sz="1800" i="1" dirty="0">
              <a:solidFill>
                <a:schemeClr val="tx2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77E60F-5B9D-9289-2416-84708C269D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FC64FF-0D93-8A64-46C6-AFABFF2A289B}"/>
              </a:ext>
            </a:extLst>
          </p:cNvPr>
          <p:cNvSpPr txBox="1"/>
          <p:nvPr/>
        </p:nvSpPr>
        <p:spPr>
          <a:xfrm>
            <a:off x="792785" y="1311716"/>
            <a:ext cx="10911535" cy="54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outline</a:t>
            </a:r>
            <a:endParaRPr lang="en-US" sz="3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5FBE2F-D779-1C65-0E2E-2B576E28053C}"/>
              </a:ext>
            </a:extLst>
          </p:cNvPr>
          <p:cNvSpPr txBox="1"/>
          <p:nvPr/>
        </p:nvSpPr>
        <p:spPr>
          <a:xfrm>
            <a:off x="741685" y="1923754"/>
            <a:ext cx="11013733" cy="362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2000" b="1" i="1" dirty="0">
                <a:solidFill>
                  <a:srgbClr val="002060"/>
                </a:solidFill>
              </a:rPr>
              <a:t>What and why protein language models? — </a:t>
            </a:r>
            <a:r>
              <a:rPr lang="en-US" sz="2000" i="1" dirty="0">
                <a:solidFill>
                  <a:srgbClr val="002060"/>
                </a:solidFill>
              </a:rPr>
              <a:t>What makes a protein sequence behave like a language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2000" b="1" i="1" dirty="0">
                <a:solidFill>
                  <a:srgbClr val="002060"/>
                </a:solidFill>
              </a:rPr>
              <a:t>How do they work? — </a:t>
            </a:r>
            <a:r>
              <a:rPr lang="en-US" sz="2000" i="1" dirty="0">
                <a:solidFill>
                  <a:srgbClr val="002060"/>
                </a:solidFill>
              </a:rPr>
              <a:t>Tokens, embeddings, transformers, and what pre-training actually learns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2000" b="1" i="1" dirty="0">
                <a:solidFill>
                  <a:srgbClr val="002060"/>
                </a:solidFill>
              </a:rPr>
              <a:t>What does an embedding look like? — </a:t>
            </a:r>
            <a:r>
              <a:rPr lang="en-US" sz="2000" i="1" dirty="0">
                <a:solidFill>
                  <a:srgbClr val="002060"/>
                </a:solidFill>
              </a:rPr>
              <a:t>Compressing high-dimensional vectors into a picture and biological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727580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41F831-B19A-BAED-11F9-CB2D32BF2D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5E828-B564-02E8-08D8-66C24E2A9C0E}"/>
              </a:ext>
            </a:extLst>
          </p:cNvPr>
          <p:cNvSpPr txBox="1"/>
          <p:nvPr/>
        </p:nvSpPr>
        <p:spPr>
          <a:xfrm>
            <a:off x="1532966" y="2965539"/>
            <a:ext cx="8928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Understanding the language of proteins</a:t>
            </a:r>
            <a:endParaRPr lang="en-IN" sz="3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EAFB0D-58CB-CB4A-11D3-8B50475C44E6}"/>
              </a:ext>
            </a:extLst>
          </p:cNvPr>
          <p:cNvSpPr/>
          <p:nvPr/>
        </p:nvSpPr>
        <p:spPr>
          <a:xfrm>
            <a:off x="896471" y="2930116"/>
            <a:ext cx="690282" cy="71717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IN" sz="40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66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77E60F-5B9D-9289-2416-84708C269D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16129-2679-B982-6C16-3689C1E81CF9}"/>
              </a:ext>
            </a:extLst>
          </p:cNvPr>
          <p:cNvSpPr txBox="1"/>
          <p:nvPr/>
        </p:nvSpPr>
        <p:spPr>
          <a:xfrm>
            <a:off x="2581835" y="6018112"/>
            <a:ext cx="7458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You talk to AI every day. Today, AI talks Protein.</a:t>
            </a:r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87D2E2-7DC6-56B5-FB8B-7AF708415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292"/>
          <a:stretch>
            <a:fillRect/>
          </a:stretch>
        </p:blipFill>
        <p:spPr>
          <a:xfrm>
            <a:off x="1144496" y="1833102"/>
            <a:ext cx="9903007" cy="41222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037BED-89D5-1EDC-AE95-ABA2F3F9A420}"/>
              </a:ext>
            </a:extLst>
          </p:cNvPr>
          <p:cNvSpPr txBox="1"/>
          <p:nvPr/>
        </p:nvSpPr>
        <p:spPr>
          <a:xfrm>
            <a:off x="1144496" y="124712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 Language Models???</a:t>
            </a: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8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47110A-8169-52C7-1B4A-94B63D904C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0EC981-5834-0119-3D36-057D2AD60BA7}"/>
              </a:ext>
            </a:extLst>
          </p:cNvPr>
          <p:cNvSpPr txBox="1"/>
          <p:nvPr/>
        </p:nvSpPr>
        <p:spPr>
          <a:xfrm>
            <a:off x="862723" y="1210430"/>
            <a:ext cx="10911535" cy="50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PLM?</a:t>
            </a: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5A704-95FA-8B24-D9C3-83637B609D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5" t="17080" r="4265" b="26241"/>
          <a:stretch>
            <a:fillRect/>
          </a:stretch>
        </p:blipFill>
        <p:spPr>
          <a:xfrm>
            <a:off x="533399" y="1810871"/>
            <a:ext cx="11125201" cy="26625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B12553-D862-4220-778B-B213F85460E8}"/>
              </a:ext>
            </a:extLst>
          </p:cNvPr>
          <p:cNvSpPr txBox="1"/>
          <p:nvPr/>
        </p:nvSpPr>
        <p:spPr>
          <a:xfrm>
            <a:off x="1017493" y="4564467"/>
            <a:ext cx="10157011" cy="11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Millions of protein sequences are available, but many lack structural or functional annotation.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Learn the distribution over sequences, then read information out of it</a:t>
            </a:r>
            <a:endParaRPr lang="en-IN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49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E8F746-2C55-6637-F387-3255C70909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CF8D60EC-30FF-2854-8008-63D7AC26B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561868"/>
              </p:ext>
            </p:extLst>
          </p:nvPr>
        </p:nvGraphicFramePr>
        <p:xfrm>
          <a:off x="1692626" y="1719793"/>
          <a:ext cx="8806748" cy="3192864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71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1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9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i="1" dirty="0">
                        <a:solidFill>
                          <a:srgbClr val="002060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i="1" dirty="0">
                          <a:solidFill>
                            <a:srgbClr val="002060"/>
                          </a:solidFill>
                          <a:latin typeface="+mn-lt"/>
                        </a:rPr>
                        <a:t>Languages
</a:t>
                      </a:r>
                      <a:r>
                        <a:rPr lang="en-US" sz="1600" i="1" dirty="0">
                          <a:solidFill>
                            <a:srgbClr val="002060"/>
                          </a:solidFill>
                          <a:latin typeface="+mn-lt"/>
                        </a:rPr>
                        <a:t>26 alphabet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i="1" dirty="0">
                          <a:solidFill>
                            <a:srgbClr val="002060"/>
                          </a:solidFill>
                          <a:latin typeface="+mn-lt"/>
                        </a:rPr>
                        <a:t>Protein
</a:t>
                      </a:r>
                      <a:r>
                        <a:rPr lang="en-US" sz="1600" i="1" dirty="0">
                          <a:solidFill>
                            <a:srgbClr val="002060"/>
                          </a:solidFill>
                          <a:latin typeface="+mn-lt"/>
                        </a:rPr>
                        <a:t>20 amino acids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i="1" dirty="0">
                          <a:solidFill>
                            <a:srgbClr val="002060"/>
                          </a:solidFill>
                        </a:rPr>
                        <a:t>String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The cat sat on the mat.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MADRLYMTKIHHQFDGD…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i="1" dirty="0">
                          <a:solidFill>
                            <a:srgbClr val="002060"/>
                          </a:solidFill>
                        </a:rPr>
                        <a:t>Word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cat, mat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motif, domain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i="1" dirty="0">
                          <a:solidFill>
                            <a:srgbClr val="002060"/>
                          </a:solidFill>
                        </a:rPr>
                        <a:t>Sentence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a clause with meaning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a folded protein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i="1" dirty="0">
                          <a:solidFill>
                            <a:srgbClr val="002060"/>
                          </a:solidFill>
                        </a:rPr>
                        <a:t>Grammar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syntax, word order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folding &amp; stability constraints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i="1" dirty="0">
                          <a:solidFill>
                            <a:srgbClr val="002060"/>
                          </a:solidFill>
                        </a:rPr>
                        <a:t>Meaning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semantics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002060"/>
                          </a:solidFill>
                        </a:rPr>
                        <a:t>3D structure → function</a:t>
                      </a:r>
                      <a:endParaRPr lang="en-US" sz="1600" i="1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>
            <a:extLst>
              <a:ext uri="{FF2B5EF4-FFF2-40B4-BE49-F238E27FC236}">
                <a16:creationId xmlns:a16="http://schemas.microsoft.com/office/drawing/2014/main" id="{DC2B23B7-E1B9-B1A7-DF44-193057AFB8F1}"/>
              </a:ext>
            </a:extLst>
          </p:cNvPr>
          <p:cNvSpPr txBox="1"/>
          <p:nvPr/>
        </p:nvSpPr>
        <p:spPr>
          <a:xfrm>
            <a:off x="862723" y="1210430"/>
            <a:ext cx="10911535" cy="50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treat proteins like Language?</a:t>
            </a: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C6ECC-348D-82CB-9872-C2639C92CD38}"/>
              </a:ext>
            </a:extLst>
          </p:cNvPr>
          <p:cNvSpPr txBox="1"/>
          <p:nvPr/>
        </p:nvSpPr>
        <p:spPr>
          <a:xfrm>
            <a:off x="968187" y="4985114"/>
            <a:ext cx="10507533" cy="11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A protein sequence carries biological information, similar to how a sentence carries meaning.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The order of amino acids matters because it influences protein structure and function.</a:t>
            </a:r>
          </a:p>
        </p:txBody>
      </p:sp>
    </p:spTree>
    <p:extLst>
      <p:ext uri="{BB962C8B-B14F-4D97-AF65-F5344CB8AC3E}">
        <p14:creationId xmlns:p14="http://schemas.microsoft.com/office/powerpoint/2010/main" val="90275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4256-F9DF-5552-1350-CFF1187E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1079A9-0C92-D11C-BC8B-D8F0F8808F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2A3E86-0FC8-5C3E-60DE-4AB984470500}"/>
              </a:ext>
            </a:extLst>
          </p:cNvPr>
          <p:cNvSpPr txBox="1"/>
          <p:nvPr/>
        </p:nvSpPr>
        <p:spPr>
          <a:xfrm>
            <a:off x="944880" y="1204139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analogy breaks</a:t>
            </a: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9111A-0E26-F183-B6C6-40E36DF4FF66}"/>
              </a:ext>
            </a:extLst>
          </p:cNvPr>
          <p:cNvSpPr txBox="1"/>
          <p:nvPr/>
        </p:nvSpPr>
        <p:spPr>
          <a:xfrm>
            <a:off x="830580" y="2036631"/>
            <a:ext cx="10530840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Protein sequences have patterns, just like human language, so language models can learn from them.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But </a:t>
            </a:r>
            <a:r>
              <a:rPr lang="en-US" b="1" i="1" dirty="0">
                <a:solidFill>
                  <a:srgbClr val="002060"/>
                </a:solidFill>
              </a:rPr>
              <a:t>proteins have no spaces or clear word boundaries</a:t>
            </a:r>
            <a:r>
              <a:rPr lang="en-US" i="1" dirty="0">
                <a:solidFill>
                  <a:srgbClr val="002060"/>
                </a:solidFill>
              </a:rPr>
              <a:t>; important patterns can overlap.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There is </a:t>
            </a:r>
            <a:r>
              <a:rPr lang="en-US" b="1" i="1" dirty="0">
                <a:solidFill>
                  <a:srgbClr val="002060"/>
                </a:solidFill>
              </a:rPr>
              <a:t>no dictionary </a:t>
            </a:r>
            <a:r>
              <a:rPr lang="en-US" i="1" dirty="0">
                <a:solidFill>
                  <a:srgbClr val="002060"/>
                </a:solidFill>
              </a:rPr>
              <a:t>that tells us what a </a:t>
            </a:r>
            <a:r>
              <a:rPr lang="en-US" b="1" i="1" dirty="0">
                <a:solidFill>
                  <a:srgbClr val="002060"/>
                </a:solidFill>
              </a:rPr>
              <a:t>sequence or motif means</a:t>
            </a:r>
            <a:r>
              <a:rPr lang="en-US" i="1" dirty="0">
                <a:solidFill>
                  <a:srgbClr val="002060"/>
                </a:solidFill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3D structure matters</a:t>
            </a:r>
            <a:r>
              <a:rPr lang="en-US" i="1" dirty="0">
                <a:solidFill>
                  <a:srgbClr val="002060"/>
                </a:solidFill>
              </a:rPr>
              <a:t>: amino acids far apart in sequence can interact when the protein folds.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Unlike human language, </a:t>
            </a:r>
            <a:r>
              <a:rPr lang="en-US" b="1" i="1" dirty="0">
                <a:solidFill>
                  <a:srgbClr val="002060"/>
                </a:solidFill>
              </a:rPr>
              <a:t>a model's predictions can ultimately be tested through biological experiments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en-IN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5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1CC932-F422-FF46-FC9A-EDBEEDAAEE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6</a:t>
            </a:r>
          </a:p>
          <a:p>
            <a:pPr algn="r"/>
            <a:endParaRPr lang="en-US" sz="1200" dirty="0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7552B5B-A287-E3E4-E18E-5C596D9A2BD5}"/>
              </a:ext>
            </a:extLst>
          </p:cNvPr>
          <p:cNvSpPr txBox="1"/>
          <p:nvPr/>
        </p:nvSpPr>
        <p:spPr>
          <a:xfrm>
            <a:off x="717804" y="1167743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pipeline, different corpus</a:t>
            </a: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A3628DE-632D-F5AA-1925-969E63385C4B}"/>
              </a:ext>
            </a:extLst>
          </p:cNvPr>
          <p:cNvSpPr txBox="1"/>
          <p:nvPr/>
        </p:nvSpPr>
        <p:spPr>
          <a:xfrm>
            <a:off x="717804" y="205471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Data                 Model                 Task</a:t>
            </a:r>
            <a:endParaRPr lang="en-US" sz="16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81247EA-6170-BA7A-60CE-372E6EA5FF11}"/>
              </a:ext>
            </a:extLst>
          </p:cNvPr>
          <p:cNvSpPr/>
          <p:nvPr/>
        </p:nvSpPr>
        <p:spPr>
          <a:xfrm>
            <a:off x="717804" y="2557631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DCE9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8D30B79-F6EC-7BCC-A9DF-6324434DC704}"/>
              </a:ext>
            </a:extLst>
          </p:cNvPr>
          <p:cNvSpPr txBox="1"/>
          <p:nvPr/>
        </p:nvSpPr>
        <p:spPr>
          <a:xfrm>
            <a:off x="717804" y="2557631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Books</a:t>
            </a:r>
            <a:endParaRPr lang="en-US" sz="14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B963133-AEE9-5C12-980C-A3C7E1F9EDC6}"/>
              </a:ext>
            </a:extLst>
          </p:cNvPr>
          <p:cNvSpPr/>
          <p:nvPr/>
        </p:nvSpPr>
        <p:spPr>
          <a:xfrm>
            <a:off x="2089404" y="276794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961234E-6388-F22C-26A7-2FD7FAEDBA88}"/>
              </a:ext>
            </a:extLst>
          </p:cNvPr>
          <p:cNvSpPr/>
          <p:nvPr/>
        </p:nvSpPr>
        <p:spPr>
          <a:xfrm>
            <a:off x="717804" y="3197711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DCE9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0A6C5C4-BA75-C2C6-53A5-E0E12150BFCB}"/>
              </a:ext>
            </a:extLst>
          </p:cNvPr>
          <p:cNvSpPr txBox="1"/>
          <p:nvPr/>
        </p:nvSpPr>
        <p:spPr>
          <a:xfrm>
            <a:off x="717804" y="3197711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Wikipedia</a:t>
            </a:r>
            <a:endParaRPr lang="en-US" sz="14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6BFE6AA-7481-1BF5-0580-4C0008A5C634}"/>
              </a:ext>
            </a:extLst>
          </p:cNvPr>
          <p:cNvSpPr/>
          <p:nvPr/>
        </p:nvSpPr>
        <p:spPr>
          <a:xfrm>
            <a:off x="2089404" y="340802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B0B4C54-8A95-2B60-442D-DB86ED980166}"/>
              </a:ext>
            </a:extLst>
          </p:cNvPr>
          <p:cNvSpPr/>
          <p:nvPr/>
        </p:nvSpPr>
        <p:spPr>
          <a:xfrm>
            <a:off x="717804" y="3837791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DCE9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82D7323-96D9-BF40-72FE-AB2811DEA4C8}"/>
              </a:ext>
            </a:extLst>
          </p:cNvPr>
          <p:cNvSpPr txBox="1"/>
          <p:nvPr/>
        </p:nvSpPr>
        <p:spPr>
          <a:xfrm>
            <a:off x="717804" y="3837791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Reddit</a:t>
            </a:r>
            <a:endParaRPr lang="en-US" sz="14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16B4AB6-A765-C595-FB8A-DCF2B2B56DD9}"/>
              </a:ext>
            </a:extLst>
          </p:cNvPr>
          <p:cNvSpPr/>
          <p:nvPr/>
        </p:nvSpPr>
        <p:spPr>
          <a:xfrm>
            <a:off x="2089404" y="404810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DEC615B-EE7F-18BA-46FF-D3DCCB0BC52A}"/>
              </a:ext>
            </a:extLst>
          </p:cNvPr>
          <p:cNvSpPr/>
          <p:nvPr/>
        </p:nvSpPr>
        <p:spPr>
          <a:xfrm>
            <a:off x="717804" y="4477871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DCE9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CC69FB9-9A6E-F2D4-2A15-AFADD362D4F4}"/>
              </a:ext>
            </a:extLst>
          </p:cNvPr>
          <p:cNvSpPr txBox="1"/>
          <p:nvPr/>
        </p:nvSpPr>
        <p:spPr>
          <a:xfrm>
            <a:off x="717804" y="4477871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Github</a:t>
            </a:r>
            <a:endParaRPr lang="en-US" sz="14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300968F-49D0-DE7C-F3B4-666ECD74E448}"/>
              </a:ext>
            </a:extLst>
          </p:cNvPr>
          <p:cNvSpPr/>
          <p:nvPr/>
        </p:nvSpPr>
        <p:spPr>
          <a:xfrm>
            <a:off x="2089404" y="468818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56611D7-6BC7-BFC9-7399-8C86E36F87CF}"/>
              </a:ext>
            </a:extLst>
          </p:cNvPr>
          <p:cNvSpPr/>
          <p:nvPr/>
        </p:nvSpPr>
        <p:spPr>
          <a:xfrm>
            <a:off x="2500884" y="2557631"/>
            <a:ext cx="1463040" cy="2295144"/>
          </a:xfrm>
          <a:prstGeom prst="roundRect">
            <a:avLst>
              <a:gd name="adj" fmla="val 6250"/>
            </a:avLst>
          </a:prstGeom>
          <a:solidFill>
            <a:srgbClr val="DCE9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A755A10-C3AB-737F-E8F4-79E4E4432D8B}"/>
              </a:ext>
            </a:extLst>
          </p:cNvPr>
          <p:cNvSpPr txBox="1"/>
          <p:nvPr/>
        </p:nvSpPr>
        <p:spPr>
          <a:xfrm>
            <a:off x="2500884" y="2557631"/>
            <a:ext cx="146304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English</a:t>
            </a:r>
            <a:endParaRPr lang="en-US" sz="1600" i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language</a:t>
            </a:r>
            <a:endParaRPr lang="en-US" sz="1600" i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model</a:t>
            </a:r>
            <a:endParaRPr lang="en-US" sz="16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F49ED7A-060E-3B21-1664-396D075A0DE5}"/>
              </a:ext>
            </a:extLst>
          </p:cNvPr>
          <p:cNvSpPr/>
          <p:nvPr/>
        </p:nvSpPr>
        <p:spPr>
          <a:xfrm>
            <a:off x="3991356" y="2777087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B939600-E308-75EA-9DA5-6F1C1E264A9B}"/>
              </a:ext>
            </a:extLst>
          </p:cNvPr>
          <p:cNvSpPr txBox="1"/>
          <p:nvPr/>
        </p:nvSpPr>
        <p:spPr>
          <a:xfrm>
            <a:off x="4421124" y="2603351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Text generation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AC8F26A-4D73-DEC7-F98F-A7D886FFED8D}"/>
              </a:ext>
            </a:extLst>
          </p:cNvPr>
          <p:cNvSpPr/>
          <p:nvPr/>
        </p:nvSpPr>
        <p:spPr>
          <a:xfrm>
            <a:off x="3991356" y="3344015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67F31A8-B98E-7519-EAE7-DC4F66C90543}"/>
              </a:ext>
            </a:extLst>
          </p:cNvPr>
          <p:cNvSpPr txBox="1"/>
          <p:nvPr/>
        </p:nvSpPr>
        <p:spPr>
          <a:xfrm>
            <a:off x="4421124" y="3170279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Summarization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40CE600-360E-AF47-5828-9A63706E5685}"/>
              </a:ext>
            </a:extLst>
          </p:cNvPr>
          <p:cNvSpPr/>
          <p:nvPr/>
        </p:nvSpPr>
        <p:spPr>
          <a:xfrm>
            <a:off x="3991356" y="391094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9D3316D-D6DE-5B4D-D92C-85AC162988F6}"/>
              </a:ext>
            </a:extLst>
          </p:cNvPr>
          <p:cNvSpPr txBox="1"/>
          <p:nvPr/>
        </p:nvSpPr>
        <p:spPr>
          <a:xfrm>
            <a:off x="4421124" y="3737207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18E219AD-8B6F-D31B-0703-DCF9969D87AE}"/>
              </a:ext>
            </a:extLst>
          </p:cNvPr>
          <p:cNvSpPr/>
          <p:nvPr/>
        </p:nvSpPr>
        <p:spPr>
          <a:xfrm>
            <a:off x="3991356" y="4477871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C8D080E-113F-DEA6-A02D-CC864003BB53}"/>
              </a:ext>
            </a:extLst>
          </p:cNvPr>
          <p:cNvSpPr txBox="1"/>
          <p:nvPr/>
        </p:nvSpPr>
        <p:spPr>
          <a:xfrm>
            <a:off x="4421124" y="4304135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3477A75-11D2-F593-9399-A4D3547CB500}"/>
              </a:ext>
            </a:extLst>
          </p:cNvPr>
          <p:cNvSpPr txBox="1"/>
          <p:nvPr/>
        </p:nvSpPr>
        <p:spPr>
          <a:xfrm>
            <a:off x="6432804" y="205471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Data                 Model                 Task</a:t>
            </a:r>
            <a:endParaRPr lang="en-US" sz="16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C091FDE-6A58-E478-AA81-88BB7C39870B}"/>
              </a:ext>
            </a:extLst>
          </p:cNvPr>
          <p:cNvSpPr/>
          <p:nvPr/>
        </p:nvSpPr>
        <p:spPr>
          <a:xfrm>
            <a:off x="6432804" y="2557631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7E4DA"/>
          </a:solidFill>
          <a:ln w="12700">
            <a:solidFill>
              <a:srgbClr val="C056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3DE48CA-DA65-5661-B0F4-94C1A97BE458}"/>
              </a:ext>
            </a:extLst>
          </p:cNvPr>
          <p:cNvSpPr txBox="1"/>
          <p:nvPr/>
        </p:nvSpPr>
        <p:spPr>
          <a:xfrm>
            <a:off x="6432804" y="2557631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NCBI</a:t>
            </a:r>
            <a:endParaRPr lang="en-US" sz="14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BE8E9C22-1AAA-AC7F-63E6-90E2EF853BCE}"/>
              </a:ext>
            </a:extLst>
          </p:cNvPr>
          <p:cNvSpPr/>
          <p:nvPr/>
        </p:nvSpPr>
        <p:spPr>
          <a:xfrm>
            <a:off x="7804404" y="276794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EFB0FAAD-A403-353C-ADD7-17DFF3735CC7}"/>
              </a:ext>
            </a:extLst>
          </p:cNvPr>
          <p:cNvSpPr/>
          <p:nvPr/>
        </p:nvSpPr>
        <p:spPr>
          <a:xfrm>
            <a:off x="6432804" y="3197711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7E4DA"/>
          </a:solidFill>
          <a:ln w="12700">
            <a:solidFill>
              <a:srgbClr val="C056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B878826-D474-36E9-21FD-0F9AB4687C2A}"/>
              </a:ext>
            </a:extLst>
          </p:cNvPr>
          <p:cNvSpPr txBox="1"/>
          <p:nvPr/>
        </p:nvSpPr>
        <p:spPr>
          <a:xfrm>
            <a:off x="6432804" y="3197711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GISAID</a:t>
            </a:r>
            <a:endParaRPr lang="en-US" sz="14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AB885A0A-8CC0-805C-46EF-48BC47E43773}"/>
              </a:ext>
            </a:extLst>
          </p:cNvPr>
          <p:cNvSpPr/>
          <p:nvPr/>
        </p:nvSpPr>
        <p:spPr>
          <a:xfrm>
            <a:off x="7804404" y="340802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FD42A771-6B74-703D-5ECD-54B6459ECE5B}"/>
              </a:ext>
            </a:extLst>
          </p:cNvPr>
          <p:cNvSpPr/>
          <p:nvPr/>
        </p:nvSpPr>
        <p:spPr>
          <a:xfrm>
            <a:off x="6432804" y="3837791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7E4DA"/>
          </a:solidFill>
          <a:ln w="12700">
            <a:solidFill>
              <a:srgbClr val="C056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6631C545-75C5-70B1-D360-C1A718BBFA72}"/>
              </a:ext>
            </a:extLst>
          </p:cNvPr>
          <p:cNvSpPr txBox="1"/>
          <p:nvPr/>
        </p:nvSpPr>
        <p:spPr>
          <a:xfrm>
            <a:off x="6432804" y="3837791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PDB</a:t>
            </a:r>
            <a:endParaRPr lang="en-US" sz="14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7425CC88-E5F7-B451-9618-01F1D3D28CD4}"/>
              </a:ext>
            </a:extLst>
          </p:cNvPr>
          <p:cNvSpPr/>
          <p:nvPr/>
        </p:nvSpPr>
        <p:spPr>
          <a:xfrm>
            <a:off x="7804404" y="404810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E2DDEA4C-26C5-94A2-8091-88D07CE50555}"/>
              </a:ext>
            </a:extLst>
          </p:cNvPr>
          <p:cNvSpPr/>
          <p:nvPr/>
        </p:nvSpPr>
        <p:spPr>
          <a:xfrm>
            <a:off x="6432804" y="4477871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7E4DA"/>
          </a:solidFill>
          <a:ln w="12700">
            <a:solidFill>
              <a:srgbClr val="C056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38AB4B3C-C701-7D4E-59F2-B5383A957534}"/>
              </a:ext>
            </a:extLst>
          </p:cNvPr>
          <p:cNvSpPr txBox="1"/>
          <p:nvPr/>
        </p:nvSpPr>
        <p:spPr>
          <a:xfrm>
            <a:off x="6432804" y="4477871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SAbDab</a:t>
            </a:r>
            <a:endParaRPr lang="en-US" sz="14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2948EC64-F488-8313-394D-6257BB0DCC7B}"/>
              </a:ext>
            </a:extLst>
          </p:cNvPr>
          <p:cNvSpPr/>
          <p:nvPr/>
        </p:nvSpPr>
        <p:spPr>
          <a:xfrm>
            <a:off x="7804404" y="468818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4DF8ACB9-4187-D9A2-EC96-72F89AF774E0}"/>
              </a:ext>
            </a:extLst>
          </p:cNvPr>
          <p:cNvSpPr/>
          <p:nvPr/>
        </p:nvSpPr>
        <p:spPr>
          <a:xfrm>
            <a:off x="8215884" y="2557631"/>
            <a:ext cx="1463040" cy="2295144"/>
          </a:xfrm>
          <a:prstGeom prst="roundRect">
            <a:avLst>
              <a:gd name="adj" fmla="val 6250"/>
            </a:avLst>
          </a:prstGeom>
          <a:solidFill>
            <a:srgbClr val="DCE9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8AA9F1A6-BB3F-13F9-8DC2-2D65C38FC853}"/>
              </a:ext>
            </a:extLst>
          </p:cNvPr>
          <p:cNvSpPr txBox="1"/>
          <p:nvPr/>
        </p:nvSpPr>
        <p:spPr>
          <a:xfrm>
            <a:off x="8215884" y="2557631"/>
            <a:ext cx="146304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Protein</a:t>
            </a:r>
            <a:endParaRPr lang="en-US" sz="1600" i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model</a:t>
            </a:r>
            <a:endParaRPr lang="en-US" sz="16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D3A2042C-1A89-9A98-4CAB-961D38F2A586}"/>
              </a:ext>
            </a:extLst>
          </p:cNvPr>
          <p:cNvSpPr/>
          <p:nvPr/>
        </p:nvSpPr>
        <p:spPr>
          <a:xfrm>
            <a:off x="9706356" y="2777087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7CEF0C88-0732-908B-046E-D5D399ED0E12}"/>
              </a:ext>
            </a:extLst>
          </p:cNvPr>
          <p:cNvSpPr txBox="1"/>
          <p:nvPr/>
        </p:nvSpPr>
        <p:spPr>
          <a:xfrm>
            <a:off x="10136124" y="2603351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Structure prediction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30F7C8DD-1ECF-8E2F-19F1-CB1BF30064E4}"/>
              </a:ext>
            </a:extLst>
          </p:cNvPr>
          <p:cNvSpPr/>
          <p:nvPr/>
        </p:nvSpPr>
        <p:spPr>
          <a:xfrm>
            <a:off x="9706356" y="3344015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3C0FEB03-B4B7-4380-3DC6-3DDDEEC34DD2}"/>
              </a:ext>
            </a:extLst>
          </p:cNvPr>
          <p:cNvSpPr txBox="1"/>
          <p:nvPr/>
        </p:nvSpPr>
        <p:spPr>
          <a:xfrm>
            <a:off x="10136124" y="3170279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Function annotation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F8F60E3F-AFDD-D57F-8D8C-5A7518F8B699}"/>
              </a:ext>
            </a:extLst>
          </p:cNvPr>
          <p:cNvSpPr/>
          <p:nvPr/>
        </p:nvSpPr>
        <p:spPr>
          <a:xfrm>
            <a:off x="9706356" y="3910943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D1E5E7FF-9658-0EB1-626D-E0A67BCA67FB}"/>
              </a:ext>
            </a:extLst>
          </p:cNvPr>
          <p:cNvSpPr txBox="1"/>
          <p:nvPr/>
        </p:nvSpPr>
        <p:spPr>
          <a:xfrm>
            <a:off x="10136124" y="3737207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Variant effect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7E9DE69D-010C-0AA4-4D97-094037E6AE06}"/>
              </a:ext>
            </a:extLst>
          </p:cNvPr>
          <p:cNvSpPr/>
          <p:nvPr/>
        </p:nvSpPr>
        <p:spPr>
          <a:xfrm>
            <a:off x="9706356" y="4477871"/>
            <a:ext cx="384048" cy="0"/>
          </a:xfrm>
          <a:prstGeom prst="line">
            <a:avLst/>
          </a:prstGeom>
          <a:noFill/>
          <a:ln w="1270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7B356CA5-5945-BEE7-4FCF-B428C5B32CC6}"/>
              </a:ext>
            </a:extLst>
          </p:cNvPr>
          <p:cNvSpPr txBox="1"/>
          <p:nvPr/>
        </p:nvSpPr>
        <p:spPr>
          <a:xfrm>
            <a:off x="10136124" y="4304135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Sequence design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2C429427-6861-A354-40FF-4502641F9E0B}"/>
              </a:ext>
            </a:extLst>
          </p:cNvPr>
          <p:cNvSpPr/>
          <p:nvPr/>
        </p:nvSpPr>
        <p:spPr>
          <a:xfrm>
            <a:off x="6249924" y="2008991"/>
            <a:ext cx="0" cy="306324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1C98213E-F3F0-2874-FA76-8D2ED7554EFD}"/>
              </a:ext>
            </a:extLst>
          </p:cNvPr>
          <p:cNvSpPr txBox="1"/>
          <p:nvPr/>
        </p:nvSpPr>
        <p:spPr>
          <a:xfrm>
            <a:off x="717804" y="5517059"/>
            <a:ext cx="11016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architecture remains the same.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changes is the training data, tokenizer, and definition of the task..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274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0744-F4C4-DC31-B41C-3F9D005B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51F402-894D-DD9E-A378-B6F2B65EA4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</p:spPr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961A7-D044-573E-D52C-010632B6042E}"/>
              </a:ext>
            </a:extLst>
          </p:cNvPr>
          <p:cNvSpPr txBox="1"/>
          <p:nvPr/>
        </p:nvSpPr>
        <p:spPr>
          <a:xfrm>
            <a:off x="1497106" y="3042645"/>
            <a:ext cx="7180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Inside a Protein Language Model</a:t>
            </a:r>
            <a:endParaRPr lang="en-IN" sz="3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F99BF0-1B9E-03AB-B5F4-9CE2401BCDF7}"/>
              </a:ext>
            </a:extLst>
          </p:cNvPr>
          <p:cNvSpPr/>
          <p:nvPr/>
        </p:nvSpPr>
        <p:spPr>
          <a:xfrm>
            <a:off x="842684" y="3033680"/>
            <a:ext cx="690282" cy="71717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IN" sz="40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228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2E76-5FE1-B401-04D4-FEFFAFA0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AA2CC7-59FE-CF0A-40D0-3794E52639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EA46AE-655B-CAB0-9B40-067506F5E271}"/>
              </a:ext>
            </a:extLst>
          </p:cNvPr>
          <p:cNvSpPr txBox="1"/>
          <p:nvPr/>
        </p:nvSpPr>
        <p:spPr>
          <a:xfrm>
            <a:off x="970805" y="1256583"/>
            <a:ext cx="9921314" cy="50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Protein Language Model works?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191E3-4BFB-8FCA-07A4-003E664736A5}"/>
              </a:ext>
            </a:extLst>
          </p:cNvPr>
          <p:cNvSpPr txBox="1"/>
          <p:nvPr/>
        </p:nvSpPr>
        <p:spPr>
          <a:xfrm>
            <a:off x="842680" y="1912974"/>
            <a:ext cx="8812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Features learned by training on large datasets of unlabeled protein sequences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BBE908-F7B9-955E-BF87-B2A168E023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9" t="31995" r="3975"/>
          <a:stretch>
            <a:fillRect/>
          </a:stretch>
        </p:blipFill>
        <p:spPr>
          <a:xfrm>
            <a:off x="1519583" y="2616068"/>
            <a:ext cx="9152833" cy="289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405FA-DC3E-296C-85DF-FE3879395D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321F4F-8F59-21C5-C69F-088872FBC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3" t="4575" r="3371" b="2483"/>
          <a:stretch>
            <a:fillRect/>
          </a:stretch>
        </p:blipFill>
        <p:spPr>
          <a:xfrm>
            <a:off x="2151530" y="1440137"/>
            <a:ext cx="7658560" cy="511449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431BFA6-4C63-C9CC-63F3-DB69B4D01139}"/>
              </a:ext>
            </a:extLst>
          </p:cNvPr>
          <p:cNvSpPr txBox="1"/>
          <p:nvPr/>
        </p:nvSpPr>
        <p:spPr>
          <a:xfrm>
            <a:off x="1135343" y="1001901"/>
            <a:ext cx="9921314" cy="50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a Protein Language Model learn?</a:t>
            </a:r>
          </a:p>
        </p:txBody>
      </p:sp>
    </p:spTree>
    <p:extLst>
      <p:ext uri="{BB962C8B-B14F-4D97-AF65-F5344CB8AC3E}">
        <p14:creationId xmlns:p14="http://schemas.microsoft.com/office/powerpoint/2010/main" val="365794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B61634-6C97-B4D1-08A5-97AF64FECC9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9B3D90-B1B0-462C-C389-0AAAF1A8D9C6}"/>
              </a:ext>
            </a:extLst>
          </p:cNvPr>
          <p:cNvSpPr txBox="1"/>
          <p:nvPr/>
        </p:nvSpPr>
        <p:spPr>
          <a:xfrm>
            <a:off x="977153" y="11465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Pre-training on protein sequences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E5FFE-23C8-ABF4-7219-CE2061707DC5}"/>
              </a:ext>
            </a:extLst>
          </p:cNvPr>
          <p:cNvSpPr txBox="1"/>
          <p:nvPr/>
        </p:nvSpPr>
        <p:spPr>
          <a:xfrm>
            <a:off x="824754" y="1669813"/>
            <a:ext cx="7064187" cy="2750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Masked Language Modeling </a:t>
            </a:r>
            <a:r>
              <a:rPr lang="en-US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i="1" dirty="0">
                <a:solidFill>
                  <a:srgbClr val="002060"/>
                </a:solidFill>
              </a:rPr>
              <a:t> A common training strategy is to hide some amino acids and ask the model to predict them.</a:t>
            </a:r>
            <a:endParaRPr lang="en-IN" i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Loop: </a:t>
            </a:r>
            <a:r>
              <a:rPr lang="en-US" i="1" dirty="0">
                <a:solidFill>
                  <a:srgbClr val="002060"/>
                </a:solidFill>
              </a:rPr>
              <a:t>see context → self-attention relates residues → predict masked residue → compare to actual → adjust and repeat, millions of times.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169C5-9050-E567-88DE-CC51AA529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00" t="8263" r="25000" b="14639"/>
          <a:stretch>
            <a:fillRect/>
          </a:stretch>
        </p:blipFill>
        <p:spPr>
          <a:xfrm>
            <a:off x="7888941" y="1852907"/>
            <a:ext cx="4222376" cy="344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95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2C4FDA-2B24-7D64-93F5-85F408939F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ADE0E-A867-3FAA-32EE-61A6683F7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5502" r="3703" b="3615"/>
          <a:stretch>
            <a:fillRect/>
          </a:stretch>
        </p:blipFill>
        <p:spPr>
          <a:xfrm>
            <a:off x="2666571" y="2133702"/>
            <a:ext cx="6858855" cy="29583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E5C59857-6CC5-C6F4-2B2C-36517C16A038}"/>
              </a:ext>
            </a:extLst>
          </p:cNvPr>
          <p:cNvSpPr txBox="1"/>
          <p:nvPr/>
        </p:nvSpPr>
        <p:spPr>
          <a:xfrm>
            <a:off x="970805" y="1256583"/>
            <a:ext cx="9921314" cy="50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Tokenization: Protein sequence to tokens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306CB-10C5-761B-1681-850EAC8A9CE6}"/>
              </a:ext>
            </a:extLst>
          </p:cNvPr>
          <p:cNvSpPr txBox="1"/>
          <p:nvPr/>
        </p:nvSpPr>
        <p:spPr>
          <a:xfrm>
            <a:off x="1019949" y="4908890"/>
            <a:ext cx="10152101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Special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tokens</a:t>
            </a:r>
            <a:r>
              <a:rPr lang="en-US" i="1" dirty="0">
                <a:solidFill>
                  <a:srgbClr val="002060"/>
                </a:solidFill>
              </a:rPr>
              <a:t> are </a:t>
            </a:r>
            <a:r>
              <a:rPr lang="en-US" b="1" i="1" dirty="0">
                <a:solidFill>
                  <a:srgbClr val="002060"/>
                </a:solidFill>
              </a:rPr>
              <a:t>added</a:t>
            </a:r>
            <a:r>
              <a:rPr lang="en-US" i="1" dirty="0">
                <a:solidFill>
                  <a:srgbClr val="002060"/>
                </a:solidFill>
              </a:rPr>
              <a:t> such as: a </a:t>
            </a:r>
            <a:r>
              <a:rPr lang="en-US" b="1" i="1" dirty="0">
                <a:solidFill>
                  <a:srgbClr val="002060"/>
                </a:solidFill>
              </a:rPr>
              <a:t>start/CLS token </a:t>
            </a:r>
            <a:r>
              <a:rPr lang="en-US" i="1" dirty="0">
                <a:solidFill>
                  <a:srgbClr val="002060"/>
                </a:solidFill>
              </a:rPr>
              <a:t>and an </a:t>
            </a:r>
            <a:r>
              <a:rPr lang="en-US" b="1" i="1" dirty="0">
                <a:solidFill>
                  <a:srgbClr val="002060"/>
                </a:solidFill>
              </a:rPr>
              <a:t>end token</a:t>
            </a:r>
            <a:r>
              <a:rPr lang="en-US" i="1" dirty="0">
                <a:solidFill>
                  <a:srgbClr val="002060"/>
                </a:solidFill>
              </a:rPr>
              <a:t>, giving the model fixed reference points in every sequence.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Output</a:t>
            </a:r>
            <a:r>
              <a:rPr lang="en-US" i="1" dirty="0">
                <a:solidFill>
                  <a:srgbClr val="002060"/>
                </a:solidFill>
              </a:rPr>
              <a:t> of this step: a </a:t>
            </a:r>
            <a:r>
              <a:rPr lang="en-US" b="1" i="1" dirty="0">
                <a:solidFill>
                  <a:srgbClr val="002060"/>
                </a:solidFill>
              </a:rPr>
              <a:t>sequence of integers </a:t>
            </a:r>
            <a:r>
              <a:rPr lang="en-US" i="1" dirty="0">
                <a:solidFill>
                  <a:srgbClr val="002060"/>
                </a:solidFill>
              </a:rPr>
              <a:t>(token IDs), not yet carrying any biological meaning — just an index into a vocabulary of ~33 symbols.</a:t>
            </a:r>
            <a:endParaRPr lang="en-IN" i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37B43-C725-B864-2BC1-FEDE4F45201C}"/>
              </a:ext>
            </a:extLst>
          </p:cNvPr>
          <p:cNvSpPr txBox="1"/>
          <p:nvPr/>
        </p:nvSpPr>
        <p:spPr>
          <a:xfrm>
            <a:off x="878540" y="1786926"/>
            <a:ext cx="1043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Tokenization</a:t>
            </a:r>
            <a:r>
              <a:rPr lang="en-US" i="1" dirty="0">
                <a:solidFill>
                  <a:srgbClr val="002060"/>
                </a:solidFill>
              </a:rPr>
              <a:t> breaks a </a:t>
            </a:r>
            <a:r>
              <a:rPr lang="en-US" b="1" i="1" dirty="0">
                <a:solidFill>
                  <a:srgbClr val="002060"/>
                </a:solidFill>
              </a:rPr>
              <a:t>protein sequence </a:t>
            </a:r>
            <a:r>
              <a:rPr lang="en-US" i="1" dirty="0">
                <a:solidFill>
                  <a:srgbClr val="002060"/>
                </a:solidFill>
              </a:rPr>
              <a:t>into </a:t>
            </a:r>
            <a:r>
              <a:rPr lang="en-US" b="1" i="1" dirty="0">
                <a:solidFill>
                  <a:srgbClr val="002060"/>
                </a:solidFill>
              </a:rPr>
              <a:t>smaller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units</a:t>
            </a:r>
            <a:r>
              <a:rPr lang="en-US" i="1" dirty="0">
                <a:solidFill>
                  <a:srgbClr val="002060"/>
                </a:solidFill>
              </a:rPr>
              <a:t> called </a:t>
            </a:r>
            <a:r>
              <a:rPr lang="en-US" b="1" i="1" dirty="0">
                <a:solidFill>
                  <a:srgbClr val="002060"/>
                </a:solidFill>
              </a:rPr>
              <a:t>tokens</a:t>
            </a:r>
            <a:r>
              <a:rPr lang="en-US" i="1" dirty="0">
                <a:solidFill>
                  <a:srgbClr val="002060"/>
                </a:solidFill>
              </a:rPr>
              <a:t>: </a:t>
            </a:r>
            <a:r>
              <a:rPr lang="en-US" b="1" i="1" dirty="0">
                <a:solidFill>
                  <a:srgbClr val="002060"/>
                </a:solidFill>
              </a:rPr>
              <a:t>one amino acid = one token</a:t>
            </a:r>
            <a:endParaRPr lang="en-IN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353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5948F-A0F5-6691-702B-22A127D332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93F570-C944-DEDB-D3A4-23B8F8570FDC}"/>
              </a:ext>
            </a:extLst>
          </p:cNvPr>
          <p:cNvSpPr txBox="1"/>
          <p:nvPr/>
        </p:nvSpPr>
        <p:spPr>
          <a:xfrm>
            <a:off x="970805" y="1256583"/>
            <a:ext cx="9921314" cy="50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Token embeddings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00323-997D-58B4-E1C0-B23A24D3E4AC}"/>
              </a:ext>
            </a:extLst>
          </p:cNvPr>
          <p:cNvSpPr txBox="1"/>
          <p:nvPr/>
        </p:nvSpPr>
        <p:spPr>
          <a:xfrm>
            <a:off x="1060452" y="4670612"/>
            <a:ext cx="9401359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Embeddings convert </a:t>
            </a:r>
            <a:r>
              <a:rPr lang="en-US" i="1" dirty="0">
                <a:solidFill>
                  <a:srgbClr val="002060"/>
                </a:solidFill>
              </a:rPr>
              <a:t>each </a:t>
            </a:r>
            <a:r>
              <a:rPr lang="en-US" b="1" i="1" dirty="0">
                <a:solidFill>
                  <a:srgbClr val="002060"/>
                </a:solidFill>
              </a:rPr>
              <a:t>token</a:t>
            </a:r>
            <a:r>
              <a:rPr lang="en-US" i="1" dirty="0">
                <a:solidFill>
                  <a:srgbClr val="002060"/>
                </a:solidFill>
              </a:rPr>
              <a:t> into a </a:t>
            </a:r>
            <a:r>
              <a:rPr lang="en-US" b="1" i="1" dirty="0">
                <a:solidFill>
                  <a:srgbClr val="002060"/>
                </a:solidFill>
              </a:rPr>
              <a:t>numerical vector </a:t>
            </a:r>
            <a:r>
              <a:rPr lang="en-US" i="1" dirty="0">
                <a:solidFill>
                  <a:srgbClr val="002060"/>
                </a:solidFill>
              </a:rPr>
              <a:t>that the model can learn from.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Each </a:t>
            </a:r>
            <a:r>
              <a:rPr lang="en-US" b="1" i="1" dirty="0">
                <a:solidFill>
                  <a:srgbClr val="002060"/>
                </a:solidFill>
              </a:rPr>
              <a:t>token ID </a:t>
            </a:r>
            <a:r>
              <a:rPr lang="en-US" i="1" dirty="0">
                <a:solidFill>
                  <a:srgbClr val="002060"/>
                </a:solidFill>
              </a:rPr>
              <a:t>is mapped to a </a:t>
            </a:r>
            <a:r>
              <a:rPr lang="en-US" b="1" i="1" dirty="0">
                <a:solidFill>
                  <a:srgbClr val="002060"/>
                </a:solidFill>
              </a:rPr>
              <a:t>vector of numbers</a:t>
            </a:r>
            <a:r>
              <a:rPr lang="en-US" i="1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These </a:t>
            </a:r>
            <a:r>
              <a:rPr lang="en-US" b="1" i="1" dirty="0">
                <a:solidFill>
                  <a:srgbClr val="002060"/>
                </a:solidFill>
              </a:rPr>
              <a:t>vectors</a:t>
            </a:r>
            <a:r>
              <a:rPr lang="en-US" i="1" dirty="0">
                <a:solidFill>
                  <a:srgbClr val="002060"/>
                </a:solidFill>
              </a:rPr>
              <a:t> are the model’s </a:t>
            </a:r>
            <a:r>
              <a:rPr lang="en-US" b="1" i="1" dirty="0">
                <a:solidFill>
                  <a:srgbClr val="002060"/>
                </a:solidFill>
              </a:rPr>
              <a:t>initial numerical representation </a:t>
            </a:r>
            <a:r>
              <a:rPr lang="en-US" i="1" dirty="0">
                <a:solidFill>
                  <a:srgbClr val="002060"/>
                </a:solidFill>
              </a:rPr>
              <a:t>of the </a:t>
            </a:r>
            <a:r>
              <a:rPr lang="en-US" b="1" i="1" dirty="0">
                <a:solidFill>
                  <a:srgbClr val="002060"/>
                </a:solidFill>
              </a:rPr>
              <a:t>amino acids</a:t>
            </a:r>
            <a:r>
              <a:rPr lang="en-US" i="1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The </a:t>
            </a:r>
            <a:r>
              <a:rPr lang="en-US" b="1" i="1" dirty="0">
                <a:solidFill>
                  <a:srgbClr val="002060"/>
                </a:solidFill>
              </a:rPr>
              <a:t>vector</a:t>
            </a:r>
            <a:r>
              <a:rPr lang="en-US" i="1" dirty="0">
                <a:solidFill>
                  <a:srgbClr val="002060"/>
                </a:solidFill>
              </a:rPr>
              <a:t> is called an </a:t>
            </a:r>
            <a:r>
              <a:rPr lang="en-US" b="1" i="1" dirty="0">
                <a:solidFill>
                  <a:srgbClr val="002060"/>
                </a:solidFill>
              </a:rPr>
              <a:t>embedding</a:t>
            </a:r>
            <a:r>
              <a:rPr lang="en-US" i="1" dirty="0">
                <a:solidFill>
                  <a:srgbClr val="002060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1CF4DD-1A46-C9E7-485E-BE063B424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5" t="9827" r="7963" b="9198"/>
          <a:stretch>
            <a:fillRect/>
          </a:stretch>
        </p:blipFill>
        <p:spPr>
          <a:xfrm>
            <a:off x="2796988" y="1951981"/>
            <a:ext cx="6472518" cy="271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71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CA24-ABC3-C6FD-4290-FF97A43A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1B1450-68F0-B50B-5BBD-2E460B6192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FDB434-5FA9-EB44-CB45-5ADA8517F5C9}"/>
              </a:ext>
            </a:extLst>
          </p:cNvPr>
          <p:cNvSpPr txBox="1"/>
          <p:nvPr/>
        </p:nvSpPr>
        <p:spPr>
          <a:xfrm>
            <a:off x="970805" y="1256583"/>
            <a:ext cx="9921314" cy="50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The Transformer: Learning 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F127C-4230-13E8-D965-523B471FED0C}"/>
              </a:ext>
            </a:extLst>
          </p:cNvPr>
          <p:cNvSpPr txBox="1"/>
          <p:nvPr/>
        </p:nvSpPr>
        <p:spPr>
          <a:xfrm>
            <a:off x="970805" y="1832131"/>
            <a:ext cx="6514724" cy="444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The </a:t>
            </a:r>
            <a:r>
              <a:rPr lang="en-US" b="1" i="1" dirty="0">
                <a:solidFill>
                  <a:srgbClr val="002060"/>
                </a:solidFill>
              </a:rPr>
              <a:t>Transformer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processes</a:t>
            </a:r>
            <a:r>
              <a:rPr lang="en-US" i="1" dirty="0">
                <a:solidFill>
                  <a:srgbClr val="002060"/>
                </a:solidFill>
              </a:rPr>
              <a:t> the </a:t>
            </a:r>
            <a:r>
              <a:rPr lang="en-US" b="1" i="1" dirty="0">
                <a:solidFill>
                  <a:srgbClr val="002060"/>
                </a:solidFill>
              </a:rPr>
              <a:t>entire sequence </a:t>
            </a:r>
            <a:r>
              <a:rPr lang="en-US" i="1" dirty="0">
                <a:solidFill>
                  <a:srgbClr val="002060"/>
                </a:solidFill>
              </a:rPr>
              <a:t>and considers </a:t>
            </a:r>
            <a:r>
              <a:rPr lang="en-US" b="1" i="1" dirty="0">
                <a:solidFill>
                  <a:srgbClr val="002060"/>
                </a:solidFill>
              </a:rPr>
              <a:t>relationships between residues</a:t>
            </a:r>
            <a:r>
              <a:rPr lang="en-US" i="1" dirty="0">
                <a:solidFill>
                  <a:srgbClr val="002060"/>
                </a:solidFill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Self-attention</a:t>
            </a:r>
            <a:r>
              <a:rPr lang="en-US" i="1" dirty="0">
                <a:solidFill>
                  <a:srgbClr val="002060"/>
                </a:solidFill>
              </a:rPr>
              <a:t> allows each residue to weigh information from other residues in the sequence.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A </a:t>
            </a:r>
            <a:r>
              <a:rPr lang="en-US" b="1" i="1" dirty="0">
                <a:solidFill>
                  <a:srgbClr val="002060"/>
                </a:solidFill>
              </a:rPr>
              <a:t>residue</a:t>
            </a:r>
            <a:r>
              <a:rPr lang="en-US" i="1" dirty="0">
                <a:solidFill>
                  <a:srgbClr val="002060"/>
                </a:solidFill>
              </a:rPr>
              <a:t> can therefore be </a:t>
            </a:r>
            <a:r>
              <a:rPr lang="en-US" b="1" i="1" dirty="0">
                <a:solidFill>
                  <a:srgbClr val="002060"/>
                </a:solidFill>
              </a:rPr>
              <a:t>represented</a:t>
            </a:r>
            <a:r>
              <a:rPr lang="en-US" i="1" dirty="0">
                <a:solidFill>
                  <a:srgbClr val="002060"/>
                </a:solidFill>
              </a:rPr>
              <a:t> based on </a:t>
            </a:r>
            <a:r>
              <a:rPr lang="en-US" b="1" i="1" dirty="0">
                <a:solidFill>
                  <a:srgbClr val="002060"/>
                </a:solidFill>
              </a:rPr>
              <a:t>its sequence context</a:t>
            </a:r>
            <a:r>
              <a:rPr lang="en-US" i="1" dirty="0">
                <a:solidFill>
                  <a:srgbClr val="002060"/>
                </a:solidFill>
              </a:rPr>
              <a:t>, not just its own identity.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This </a:t>
            </a:r>
            <a:r>
              <a:rPr lang="en-US" b="1" i="1" dirty="0">
                <a:solidFill>
                  <a:srgbClr val="002060"/>
                </a:solidFill>
              </a:rPr>
              <a:t>helps</a:t>
            </a:r>
            <a:r>
              <a:rPr lang="en-US" i="1" dirty="0">
                <a:solidFill>
                  <a:srgbClr val="002060"/>
                </a:solidFill>
              </a:rPr>
              <a:t> the </a:t>
            </a:r>
            <a:r>
              <a:rPr lang="en-US" b="1" i="1" dirty="0">
                <a:solidFill>
                  <a:srgbClr val="002060"/>
                </a:solidFill>
              </a:rPr>
              <a:t>model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learn patterns </a:t>
            </a:r>
            <a:r>
              <a:rPr lang="en-US" i="1" dirty="0">
                <a:solidFill>
                  <a:srgbClr val="002060"/>
                </a:solidFill>
              </a:rPr>
              <a:t>such as motifs, residue relationships, and long-range dependencies.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B764D3-A2DC-F9B1-9BFD-78F4CCBE4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74" t="7683" r="15831" b="17210"/>
          <a:stretch>
            <a:fillRect/>
          </a:stretch>
        </p:blipFill>
        <p:spPr>
          <a:xfrm>
            <a:off x="7382209" y="1658472"/>
            <a:ext cx="4756899" cy="425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26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C8106C-98FF-1623-7721-B12ECDCE61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E7A9B-950D-C9E0-7927-4809F4D95D33}"/>
              </a:ext>
            </a:extLst>
          </p:cNvPr>
          <p:cNvSpPr txBox="1"/>
          <p:nvPr/>
        </p:nvSpPr>
        <p:spPr>
          <a:xfrm>
            <a:off x="1075764" y="1182452"/>
            <a:ext cx="88840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From residue embeddings to protein embedding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3E417-0478-3CEF-FC2E-22CAFC382439}"/>
              </a:ext>
            </a:extLst>
          </p:cNvPr>
          <p:cNvSpPr txBox="1"/>
          <p:nvPr/>
        </p:nvSpPr>
        <p:spPr>
          <a:xfrm>
            <a:off x="1156446" y="1736057"/>
            <a:ext cx="6517342" cy="413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To </a:t>
            </a:r>
            <a:r>
              <a:rPr lang="en-US" b="1" i="1" dirty="0">
                <a:solidFill>
                  <a:srgbClr val="002060"/>
                </a:solidFill>
              </a:rPr>
              <a:t>represent</a:t>
            </a:r>
            <a:r>
              <a:rPr lang="en-US" i="1" dirty="0">
                <a:solidFill>
                  <a:srgbClr val="002060"/>
                </a:solidFill>
              </a:rPr>
              <a:t> the whole </a:t>
            </a:r>
            <a:r>
              <a:rPr lang="en-US" b="1" i="1" dirty="0">
                <a:solidFill>
                  <a:srgbClr val="002060"/>
                </a:solidFill>
              </a:rPr>
              <a:t>protein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with one vector</a:t>
            </a:r>
            <a:r>
              <a:rPr lang="en-US" i="1" dirty="0">
                <a:solidFill>
                  <a:srgbClr val="002060"/>
                </a:solidFill>
              </a:rPr>
              <a:t>, these </a:t>
            </a:r>
            <a:r>
              <a:rPr lang="en-US" b="1" i="1" dirty="0">
                <a:solidFill>
                  <a:srgbClr val="002060"/>
                </a:solidFill>
              </a:rPr>
              <a:t>residue embeddings can be combined or pooled</a:t>
            </a:r>
            <a:r>
              <a:rPr lang="en-US" i="1" dirty="0">
                <a:solidFill>
                  <a:srgbClr val="002060"/>
                </a:solidFill>
              </a:rPr>
              <a:t>.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A common </a:t>
            </a:r>
            <a:r>
              <a:rPr lang="en-US" b="1" i="1" dirty="0">
                <a:solidFill>
                  <a:srgbClr val="002060"/>
                </a:solidFill>
              </a:rPr>
              <a:t>approach</a:t>
            </a:r>
            <a:r>
              <a:rPr lang="en-US" i="1" dirty="0">
                <a:solidFill>
                  <a:srgbClr val="002060"/>
                </a:solidFill>
              </a:rPr>
              <a:t> is </a:t>
            </a:r>
            <a:r>
              <a:rPr lang="en-US" b="1" i="1" u="sng" dirty="0">
                <a:solidFill>
                  <a:srgbClr val="002060"/>
                </a:solidFill>
              </a:rPr>
              <a:t>mean pooling</a:t>
            </a:r>
            <a:r>
              <a:rPr lang="en-US" b="1" i="1" dirty="0">
                <a:solidFill>
                  <a:srgbClr val="002060"/>
                </a:solidFill>
              </a:rPr>
              <a:t> </a:t>
            </a:r>
            <a:r>
              <a:rPr lang="en-US" i="1" dirty="0">
                <a:solidFill>
                  <a:srgbClr val="002060"/>
                </a:solidFill>
              </a:rPr>
              <a:t>— calculating the average across all residue embeddings.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The </a:t>
            </a:r>
            <a:r>
              <a:rPr lang="en-US" b="1" i="1" dirty="0">
                <a:solidFill>
                  <a:srgbClr val="002060"/>
                </a:solidFill>
              </a:rPr>
              <a:t>resulting protein embedding </a:t>
            </a:r>
            <a:r>
              <a:rPr lang="en-US" i="1" dirty="0">
                <a:solidFill>
                  <a:srgbClr val="002060"/>
                </a:solidFill>
              </a:rPr>
              <a:t>is a fixed-length vector that </a:t>
            </a:r>
            <a:r>
              <a:rPr lang="en-US" b="1" i="1" dirty="0">
                <a:solidFill>
                  <a:srgbClr val="002060"/>
                </a:solidFill>
              </a:rPr>
              <a:t>summarizes information</a:t>
            </a:r>
            <a:r>
              <a:rPr lang="en-US" i="1" dirty="0">
                <a:solidFill>
                  <a:srgbClr val="002060"/>
                </a:solidFill>
              </a:rPr>
              <a:t> learned from the </a:t>
            </a:r>
            <a:r>
              <a:rPr lang="en-US" b="1" i="1" dirty="0">
                <a:solidFill>
                  <a:srgbClr val="002060"/>
                </a:solidFill>
              </a:rPr>
              <a:t>entire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sequence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en-IN" i="1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054A71-6AB6-B0A8-EE38-94C049AEC3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48" t="12287" r="18825" b="6667"/>
          <a:stretch>
            <a:fillRect/>
          </a:stretch>
        </p:blipFill>
        <p:spPr>
          <a:xfrm>
            <a:off x="7763436" y="2052918"/>
            <a:ext cx="4258235" cy="378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87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C2A87D-E710-9529-9619-DEDBE89DF3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D1054-9F05-24A7-B03B-037A3541CE61}"/>
              </a:ext>
            </a:extLst>
          </p:cNvPr>
          <p:cNvSpPr txBox="1"/>
          <p:nvPr/>
        </p:nvSpPr>
        <p:spPr>
          <a:xfrm>
            <a:off x="1075764" y="1182452"/>
            <a:ext cx="88840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Protein Embeddings to Biological Applications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479C0-DA6B-3BA7-62A3-1DD6205AE9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32" t="7921" r="8824" b="8067"/>
          <a:stretch>
            <a:fillRect/>
          </a:stretch>
        </p:blipFill>
        <p:spPr>
          <a:xfrm>
            <a:off x="1945340" y="1751186"/>
            <a:ext cx="8713695" cy="427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77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718D-7A2F-3560-2803-42FD8723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A9E21-CB73-DA31-71E0-6E79592350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DD04C-540C-D9F1-54AA-541C578EF560}"/>
              </a:ext>
            </a:extLst>
          </p:cNvPr>
          <p:cNvSpPr txBox="1"/>
          <p:nvPr/>
        </p:nvSpPr>
        <p:spPr>
          <a:xfrm>
            <a:off x="1084728" y="1173487"/>
            <a:ext cx="84447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Protein Language Models in practice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788A43-8EC5-61AA-6ECE-47005F30B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73654"/>
              </p:ext>
            </p:extLst>
          </p:nvPr>
        </p:nvGraphicFramePr>
        <p:xfrm>
          <a:off x="960120" y="2079812"/>
          <a:ext cx="10515600" cy="301214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3606644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056451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162262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7088124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908187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33063208"/>
                    </a:ext>
                  </a:extLst>
                </a:gridCol>
              </a:tblGrid>
              <a:tr h="75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Model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Architecture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Dim.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Training data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i="1" dirty="0">
                          <a:solidFill>
                            <a:srgbClr val="002060"/>
                          </a:solidFill>
                        </a:rPr>
                        <a:t>From</a:t>
                      </a:r>
                      <a:endParaRPr lang="en-IN" i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Use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509156"/>
                  </a:ext>
                </a:extLst>
              </a:tr>
              <a:tr h="75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ESM-2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0" i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 – 5120</a:t>
                      </a:r>
                      <a:endParaRPr lang="en-IN" i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UniRef50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i="1" dirty="0">
                          <a:solidFill>
                            <a:srgbClr val="002060"/>
                          </a:solidFill>
                        </a:rPr>
                        <a:t>M</a:t>
                      </a:r>
                      <a:r>
                        <a:rPr lang="en-IN" i="1" dirty="0">
                          <a:solidFill>
                            <a:srgbClr val="002060"/>
                          </a:solidFill>
                        </a:rPr>
                        <a:t>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097812"/>
                  </a:ext>
                </a:extLst>
              </a:tr>
              <a:tr h="75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ProtBERT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UniRef100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i="1" dirty="0" err="1">
                          <a:solidFill>
                            <a:srgbClr val="002060"/>
                          </a:solidFill>
                        </a:rPr>
                        <a:t>Rostlab</a:t>
                      </a:r>
                      <a:endParaRPr lang="en-IN" i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01054"/>
                  </a:ext>
                </a:extLst>
              </a:tr>
              <a:tr h="75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ProtT5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>
                          <a:solidFill>
                            <a:srgbClr val="002060"/>
                          </a:solidFill>
                        </a:rPr>
                        <a:t>BFD + UniRef50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i="1" dirty="0" err="1">
                          <a:solidFill>
                            <a:srgbClr val="002060"/>
                          </a:solidFill>
                        </a:rPr>
                        <a:t>Rostlab</a:t>
                      </a:r>
                      <a:endParaRPr lang="en-IN" i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>
                          <a:solidFill>
                            <a:srgbClr val="002060"/>
                          </a:solidFill>
                        </a:rPr>
                        <a:t>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606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519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6F237-9ABE-7DFC-1839-1C3A277E49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2838C-33C8-11F5-1082-BEED8589A2CD}"/>
              </a:ext>
            </a:extLst>
          </p:cNvPr>
          <p:cNvSpPr txBox="1"/>
          <p:nvPr/>
        </p:nvSpPr>
        <p:spPr>
          <a:xfrm>
            <a:off x="959223" y="1178958"/>
            <a:ext cx="9350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Where can we find pre-trained PLMs? — Hugging Face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C9466-69AD-F775-547C-BADD56461E6A}"/>
              </a:ext>
            </a:extLst>
          </p:cNvPr>
          <p:cNvSpPr txBox="1"/>
          <p:nvPr/>
        </p:nvSpPr>
        <p:spPr>
          <a:xfrm>
            <a:off x="842682" y="1957148"/>
            <a:ext cx="4177553" cy="420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Hugging Face </a:t>
            </a:r>
            <a:r>
              <a:rPr lang="en-US" i="1" dirty="0">
                <a:solidFill>
                  <a:srgbClr val="002060"/>
                </a:solidFill>
              </a:rPr>
              <a:t>is a </a:t>
            </a:r>
            <a:r>
              <a:rPr lang="en-US" b="1" i="1" dirty="0">
                <a:solidFill>
                  <a:srgbClr val="002060"/>
                </a:solidFill>
              </a:rPr>
              <a:t>platform/ecosystem </a:t>
            </a:r>
            <a:r>
              <a:rPr lang="en-US" i="1" dirty="0">
                <a:solidFill>
                  <a:srgbClr val="002060"/>
                </a:solidFill>
              </a:rPr>
              <a:t>for accessing pre-trained AI models and datasets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Provides many </a:t>
            </a:r>
            <a:r>
              <a:rPr lang="en-US" b="1" i="1" dirty="0">
                <a:solidFill>
                  <a:srgbClr val="002060"/>
                </a:solidFill>
              </a:rPr>
              <a:t>pre-trained protein language models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Models can be loaded and used without training from scratch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Requires an API token </a:t>
            </a:r>
            <a:r>
              <a:rPr lang="en-US" i="1" dirty="0">
                <a:solidFill>
                  <a:srgbClr val="002060"/>
                </a:solidFill>
              </a:rPr>
              <a:t>for authenticated </a:t>
            </a:r>
            <a:r>
              <a:rPr lang="en-US" b="1" i="1" dirty="0">
                <a:solidFill>
                  <a:srgbClr val="002060"/>
                </a:solidFill>
              </a:rPr>
              <a:t>access</a:t>
            </a:r>
            <a:r>
              <a:rPr lang="en-US" i="1" dirty="0">
                <a:solidFill>
                  <a:srgbClr val="002060"/>
                </a:solidFill>
              </a:rPr>
              <a:t> to certain models and </a:t>
            </a:r>
            <a:r>
              <a:rPr lang="en-US" b="1" i="1" dirty="0">
                <a:solidFill>
                  <a:srgbClr val="002060"/>
                </a:solidFill>
              </a:rPr>
              <a:t>services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endParaRPr lang="en-IN" i="1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E351B-4931-2E0B-3BAD-2D6A15E4E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348" y="1957148"/>
            <a:ext cx="6534572" cy="376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43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0F6D7-CB43-9FAD-8EF7-309FFE18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C05E8F-B5D3-D347-5F5E-4C78F879EA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</p:spPr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5ED76-7EE9-A495-91F2-67BD73CD3097}"/>
              </a:ext>
            </a:extLst>
          </p:cNvPr>
          <p:cNvSpPr txBox="1"/>
          <p:nvPr/>
        </p:nvSpPr>
        <p:spPr>
          <a:xfrm>
            <a:off x="1497106" y="3042645"/>
            <a:ext cx="9063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Exploring the protein embedding space</a:t>
            </a:r>
            <a:endParaRPr lang="en-IN" sz="3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13D6D14-4E63-D0BE-7D3D-2EBB38999BA4}"/>
              </a:ext>
            </a:extLst>
          </p:cNvPr>
          <p:cNvSpPr/>
          <p:nvPr/>
        </p:nvSpPr>
        <p:spPr>
          <a:xfrm>
            <a:off x="842684" y="3033680"/>
            <a:ext cx="690282" cy="71717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IN" sz="40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504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1A18A-5841-1E7F-14E4-F2A4D8960E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68C8B-B42E-ED18-227E-27A69FBEEFA4}"/>
              </a:ext>
            </a:extLst>
          </p:cNvPr>
          <p:cNvSpPr txBox="1"/>
          <p:nvPr/>
        </p:nvSpPr>
        <p:spPr>
          <a:xfrm>
            <a:off x="1111624" y="11107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Protein Embeddings as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CF6DC-ABD6-8C5A-FE14-BCE4F8071774}"/>
              </a:ext>
            </a:extLst>
          </p:cNvPr>
          <p:cNvSpPr txBox="1"/>
          <p:nvPr/>
        </p:nvSpPr>
        <p:spPr>
          <a:xfrm>
            <a:off x="1111624" y="1827510"/>
            <a:ext cx="10183905" cy="413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Each </a:t>
            </a:r>
            <a:r>
              <a:rPr lang="en-US" b="1" i="1" dirty="0">
                <a:solidFill>
                  <a:srgbClr val="002060"/>
                </a:solidFill>
              </a:rPr>
              <a:t>protein</a:t>
            </a:r>
            <a:r>
              <a:rPr lang="en-US" i="1" dirty="0">
                <a:solidFill>
                  <a:srgbClr val="002060"/>
                </a:solidFill>
              </a:rPr>
              <a:t> is represented by a </a:t>
            </a:r>
            <a:r>
              <a:rPr lang="en-US" b="1" i="1" dirty="0">
                <a:solidFill>
                  <a:srgbClr val="002060"/>
                </a:solidFill>
              </a:rPr>
              <a:t>high-dimensional vector </a:t>
            </a:r>
            <a:r>
              <a:rPr lang="en-US" i="1" dirty="0">
                <a:solidFill>
                  <a:srgbClr val="002060"/>
                </a:solidFill>
              </a:rPr>
              <a:t>containing hundreds or thousands of numbers.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These </a:t>
            </a:r>
            <a:r>
              <a:rPr lang="en-US" b="1" i="1" dirty="0">
                <a:solidFill>
                  <a:srgbClr val="002060"/>
                </a:solidFill>
              </a:rPr>
              <a:t>embeddings</a:t>
            </a:r>
            <a:r>
              <a:rPr lang="en-US" i="1" dirty="0">
                <a:solidFill>
                  <a:srgbClr val="002060"/>
                </a:solidFill>
              </a:rPr>
              <a:t> allow us to </a:t>
            </a:r>
            <a:r>
              <a:rPr lang="en-US" b="1" i="1" dirty="0">
                <a:solidFill>
                  <a:srgbClr val="002060"/>
                </a:solidFill>
              </a:rPr>
              <a:t>compare proteins </a:t>
            </a:r>
            <a:r>
              <a:rPr lang="en-US" i="1" dirty="0">
                <a:solidFill>
                  <a:srgbClr val="002060"/>
                </a:solidFill>
              </a:rPr>
              <a:t>and explore </a:t>
            </a:r>
            <a:r>
              <a:rPr lang="en-US" b="1" i="1" dirty="0">
                <a:solidFill>
                  <a:srgbClr val="002060"/>
                </a:solidFill>
              </a:rPr>
              <a:t>potential biological relationships</a:t>
            </a:r>
            <a:r>
              <a:rPr lang="en-US" i="1" dirty="0">
                <a:solidFill>
                  <a:srgbClr val="002060"/>
                </a:solidFill>
              </a:rPr>
              <a:t>.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However, </a:t>
            </a:r>
            <a:r>
              <a:rPr lang="en-US" b="1" i="1" dirty="0">
                <a:solidFill>
                  <a:srgbClr val="002060"/>
                </a:solidFill>
              </a:rPr>
              <a:t>high-dimensional embeddings </a:t>
            </a:r>
            <a:r>
              <a:rPr lang="en-US" i="1" dirty="0">
                <a:solidFill>
                  <a:srgbClr val="002060"/>
                </a:solidFill>
              </a:rPr>
              <a:t>are </a:t>
            </a:r>
            <a:r>
              <a:rPr lang="en-US" b="1" i="1" dirty="0">
                <a:solidFill>
                  <a:srgbClr val="002060"/>
                </a:solidFill>
              </a:rPr>
              <a:t>difficult</a:t>
            </a:r>
            <a:r>
              <a:rPr lang="en-US" i="1" dirty="0">
                <a:solidFill>
                  <a:srgbClr val="002060"/>
                </a:solidFill>
              </a:rPr>
              <a:t> to visualize and </a:t>
            </a:r>
            <a:r>
              <a:rPr lang="en-US" b="1" i="1" dirty="0">
                <a:solidFill>
                  <a:srgbClr val="002060"/>
                </a:solidFill>
              </a:rPr>
              <a:t>interpret</a:t>
            </a:r>
            <a:r>
              <a:rPr lang="en-US" i="1" dirty="0">
                <a:solidFill>
                  <a:srgbClr val="002060"/>
                </a:solidFill>
              </a:rPr>
              <a:t> directly.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Unsupervised learning </a:t>
            </a:r>
            <a:r>
              <a:rPr lang="en-US" i="1" dirty="0">
                <a:solidFill>
                  <a:srgbClr val="002060"/>
                </a:solidFill>
              </a:rPr>
              <a:t>helps us </a:t>
            </a:r>
            <a:r>
              <a:rPr lang="en-US" b="1" i="1" dirty="0">
                <a:solidFill>
                  <a:srgbClr val="002060"/>
                </a:solidFill>
              </a:rPr>
              <a:t>discover patterns </a:t>
            </a:r>
            <a:r>
              <a:rPr lang="en-US" i="1" dirty="0">
                <a:solidFill>
                  <a:srgbClr val="002060"/>
                </a:solidFill>
              </a:rPr>
              <a:t>without </a:t>
            </a:r>
            <a:r>
              <a:rPr lang="en-US" b="1" i="1" dirty="0">
                <a:solidFill>
                  <a:srgbClr val="002060"/>
                </a:solidFill>
              </a:rPr>
              <a:t>predefined labels </a:t>
            </a:r>
            <a:r>
              <a:rPr lang="en-US" i="1" dirty="0">
                <a:solidFill>
                  <a:srgbClr val="002060"/>
                </a:solidFill>
              </a:rPr>
              <a:t>through </a:t>
            </a:r>
          </a:p>
          <a:p>
            <a:pPr marL="1200150" lvl="2" indent="-285750" algn="just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Clustering</a:t>
            </a:r>
          </a:p>
          <a:p>
            <a:pPr marL="1200150" lvl="2" indent="-285750" algn="just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Dimensionality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reduction</a:t>
            </a:r>
            <a:endParaRPr lang="en-US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744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8AB2C8-BDF8-7071-52D3-D793097DCD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72DE27-7923-11C6-84BB-4561001D6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85" b="18170"/>
          <a:stretch>
            <a:fillRect/>
          </a:stretch>
        </p:blipFill>
        <p:spPr>
          <a:xfrm>
            <a:off x="1102210" y="2398108"/>
            <a:ext cx="9816802" cy="3995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090F4F-32AC-47AC-F4AD-D84375E7BAE7}"/>
              </a:ext>
            </a:extLst>
          </p:cNvPr>
          <p:cNvSpPr txBox="1"/>
          <p:nvPr/>
        </p:nvSpPr>
        <p:spPr>
          <a:xfrm>
            <a:off x="1052904" y="1517739"/>
            <a:ext cx="9915414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Clustering is a method that groups proteins/ samples based on their similarity.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Proteins that are more similar in the embedding space are assigned to the same cluster.</a:t>
            </a:r>
            <a:endParaRPr lang="en-IN" i="1" dirty="0">
              <a:solidFill>
                <a:srgbClr val="002060"/>
              </a:solidFill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C43FC-E25C-35DF-F008-CC9D8F651FA4}"/>
              </a:ext>
            </a:extLst>
          </p:cNvPr>
          <p:cNvSpPr txBox="1"/>
          <p:nvPr/>
        </p:nvSpPr>
        <p:spPr>
          <a:xfrm>
            <a:off x="1052904" y="1082948"/>
            <a:ext cx="48951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2012801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C9BAA5-C03D-2721-02D3-953AAE7E98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5089D29-C6FD-6237-2B98-4880218860CE}"/>
              </a:ext>
            </a:extLst>
          </p:cNvPr>
          <p:cNvSpPr txBox="1">
            <a:spLocks/>
          </p:cNvSpPr>
          <p:nvPr/>
        </p:nvSpPr>
        <p:spPr>
          <a:xfrm>
            <a:off x="996876" y="1152918"/>
            <a:ext cx="7403053" cy="5628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How do we measure similarity?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DC6E5-429F-F730-045F-21C28D1ED706}"/>
              </a:ext>
            </a:extLst>
          </p:cNvPr>
          <p:cNvSpPr txBox="1"/>
          <p:nvPr/>
        </p:nvSpPr>
        <p:spPr>
          <a:xfrm>
            <a:off x="996876" y="1703616"/>
            <a:ext cx="108577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To cluster samples, we need a distance or similarity metric.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rgbClr val="002060"/>
                </a:solidFill>
                <a:ea typeface="Cambria" panose="02040503050406030204" pitchFamily="18" charset="0"/>
              </a:rPr>
              <a:t>Common distance measure </a:t>
            </a:r>
            <a:r>
              <a:rPr lang="en-IN" b="1" i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– </a:t>
            </a:r>
            <a:r>
              <a:rPr lang="en-IN" b="1" i="1" u="sng" dirty="0">
                <a:solidFill>
                  <a:srgbClr val="002060"/>
                </a:solidFill>
                <a:ea typeface="Cambria" panose="02040503050406030204" pitchFamily="18" charset="0"/>
              </a:rPr>
              <a:t>Manhattan distance, Euclidean distance and </a:t>
            </a:r>
            <a:r>
              <a:rPr lang="en-US" b="1" i="1" u="sng" dirty="0">
                <a:solidFill>
                  <a:srgbClr val="002060"/>
                </a:solidFill>
                <a:ea typeface="Cambria" panose="02040503050406030204" pitchFamily="18" charset="0"/>
              </a:rPr>
              <a:t>Cosine Similarity</a:t>
            </a:r>
            <a:endParaRPr lang="en-US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algn="just"/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b="1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algn="just"/>
            <a:r>
              <a:rPr lang="en-US" b="1" dirty="0">
                <a:solidFill>
                  <a:schemeClr val="tx2">
                    <a:lumMod val="50000"/>
                  </a:schemeClr>
                </a:solidFill>
                <a:ea typeface="Cambria" panose="02040503050406030204" pitchFamily="18" charset="0"/>
              </a:rPr>
              <a:t>                                </a:t>
            </a:r>
            <a:r>
              <a:rPr lang="en-US" b="1" i="1" dirty="0">
                <a:solidFill>
                  <a:schemeClr val="tx2">
                    <a:lumMod val="50000"/>
                  </a:schemeClr>
                </a:solidFill>
                <a:ea typeface="Cambria" panose="02040503050406030204" pitchFamily="18" charset="0"/>
              </a:rPr>
              <a:t>Small distance → more similar </a:t>
            </a:r>
            <a:r>
              <a:rPr lang="en-US" i="1" dirty="0">
                <a:solidFill>
                  <a:schemeClr val="tx2">
                    <a:lumMod val="50000"/>
                  </a:schemeClr>
                </a:solidFill>
                <a:ea typeface="Cambria" panose="02040503050406030204" pitchFamily="18" charset="0"/>
              </a:rPr>
              <a:t>and</a:t>
            </a:r>
            <a:r>
              <a:rPr lang="en-US" b="1" i="1" dirty="0">
                <a:solidFill>
                  <a:schemeClr val="tx2">
                    <a:lumMod val="50000"/>
                  </a:schemeClr>
                </a:solidFill>
                <a:ea typeface="Cambria" panose="02040503050406030204" pitchFamily="18" charset="0"/>
              </a:rPr>
              <a:t> Large distance → more different</a:t>
            </a:r>
            <a:endParaRPr lang="en-US" i="1" dirty="0">
              <a:solidFill>
                <a:schemeClr val="tx2">
                  <a:lumMod val="50000"/>
                </a:schemeClr>
              </a:solidFill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IN" i="1" dirty="0">
              <a:solidFill>
                <a:srgbClr val="002060"/>
              </a:solidFill>
              <a:ea typeface="Cambria" panose="020405030504060302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834A44-0028-0FD1-10CF-D463E805B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8" y="2497575"/>
            <a:ext cx="9144001" cy="322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72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D33B91-AE3F-DAB0-C33D-3A55A04539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DB4B9B-DCF3-36D5-031E-F63BA7616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799" y="1031673"/>
            <a:ext cx="39556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K-Means Clustering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85F21-A266-9A42-785B-C5052D35A255}"/>
              </a:ext>
            </a:extLst>
          </p:cNvPr>
          <p:cNvSpPr txBox="1"/>
          <p:nvPr/>
        </p:nvSpPr>
        <p:spPr>
          <a:xfrm>
            <a:off x="1012815" y="1481001"/>
            <a:ext cx="1011238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K-means divides proteins into a predefined number (K) of clusters based on their embedding similarity.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‘K’ represents the number of groups or clusters we want to classify items into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 ‘Means’ refers to the mean or average position used to calculate the centre of each cluster.</a:t>
            </a:r>
            <a:endParaRPr lang="en-IN" i="1" dirty="0">
              <a:solidFill>
                <a:srgbClr val="002060"/>
              </a:solidFill>
              <a:ea typeface="Cambria" panose="020405030504060302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1AC2AF9-EDA2-ECC2-F864-574CFE4C6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4" y="2747803"/>
            <a:ext cx="10919012" cy="372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04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EDF41A-FD56-5C68-481C-4D1A82032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71D9DD-E768-6FAD-F2BA-6B914191D7BA}"/>
              </a:ext>
            </a:extLst>
          </p:cNvPr>
          <p:cNvSpPr txBox="1">
            <a:spLocks/>
          </p:cNvSpPr>
          <p:nvPr/>
        </p:nvSpPr>
        <p:spPr>
          <a:xfrm>
            <a:off x="720522" y="1247344"/>
            <a:ext cx="10446156" cy="55456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Choosing the number of clusters — How do we know K?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36B56-B0B7-9355-4BD3-0FB82B6A3C79}"/>
              </a:ext>
            </a:extLst>
          </p:cNvPr>
          <p:cNvSpPr txBox="1"/>
          <p:nvPr/>
        </p:nvSpPr>
        <p:spPr>
          <a:xfrm>
            <a:off x="720522" y="1694329"/>
            <a:ext cx="6892935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  <a:ea typeface="Cambria" panose="02040503050406030204" pitchFamily="18" charset="0"/>
              </a:rPr>
              <a:t>Why is K important?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K determines the number of clusters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Too few clusters → different groups may be combined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Too many clusters → meaningful groups may be unnecessarily split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rgbClr val="002060"/>
                </a:solidFill>
                <a:ea typeface="Cambria" panose="02040503050406030204" pitchFamily="18" charset="0"/>
              </a:rPr>
              <a:t>Elbow curve method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Run K-means with different values of K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Calculate within-cluster sum of squares (WCSS)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The elbow represents a point where increasing K gives diminishing improvement</a:t>
            </a:r>
            <a:endParaRPr lang="en-IN" i="1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i="1" dirty="0">
              <a:solidFill>
                <a:srgbClr val="002060"/>
              </a:solidFill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37B64-06CB-5A66-1C8C-55A7D1EE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5" t="5348" r="10968" b="3651"/>
          <a:stretch>
            <a:fillRect/>
          </a:stretch>
        </p:blipFill>
        <p:spPr>
          <a:xfrm>
            <a:off x="7638322" y="2088918"/>
            <a:ext cx="4294598" cy="359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36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F8D8CE-E024-3D2B-EAB4-9E11CC3F1B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F8E3A-D91F-3CC5-5305-ED1F61656DA4}"/>
              </a:ext>
            </a:extLst>
          </p:cNvPr>
          <p:cNvSpPr txBox="1"/>
          <p:nvPr/>
        </p:nvSpPr>
        <p:spPr>
          <a:xfrm>
            <a:off x="994400" y="1106404"/>
            <a:ext cx="108661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Dimensionality Reduction: Making high-dimensional data visible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BB90B-1106-58A0-7193-9B00A7C016B1}"/>
              </a:ext>
            </a:extLst>
          </p:cNvPr>
          <p:cNvSpPr txBox="1"/>
          <p:nvPr/>
        </p:nvSpPr>
        <p:spPr>
          <a:xfrm>
            <a:off x="950258" y="1511784"/>
            <a:ext cx="10551459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Protein embeddings may contain hundreds or thousands of dimensions, which cannot be visualized directly.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Dimensionality reduction transforms high-dimensional data into a smaller number of dimensions while retaining important patterns.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Approaches: PCA and UMAP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1A2B65-669B-8286-5539-8227C553F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045"/>
          <a:stretch>
            <a:fillRect/>
          </a:stretch>
        </p:blipFill>
        <p:spPr>
          <a:xfrm>
            <a:off x="2286000" y="3290982"/>
            <a:ext cx="8282922" cy="28353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86F895-1F98-8643-DE7F-AA3849622443}"/>
              </a:ext>
            </a:extLst>
          </p:cNvPr>
          <p:cNvSpPr txBox="1"/>
          <p:nvPr/>
        </p:nvSpPr>
        <p:spPr>
          <a:xfrm>
            <a:off x="2286000" y="6126338"/>
            <a:ext cx="9434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ea typeface="Cambria" panose="02040503050406030204" pitchFamily="18" charset="0"/>
              </a:rPr>
              <a:t>3D — Original data        →     2D — Reduced representation    →      1D — Further reduction</a:t>
            </a:r>
            <a:endParaRPr lang="en-IN" sz="1600" b="1" i="1" dirty="0">
              <a:solidFill>
                <a:schemeClr val="tx2">
                  <a:lumMod val="50000"/>
                </a:schemeClr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015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FBD84-E129-A8D4-8E46-396B7293C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6E1315-1741-3F81-ADFF-AA7FFAEC57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A11F3-FFC0-BA90-CB7A-3061F1C145B3}"/>
              </a:ext>
            </a:extLst>
          </p:cNvPr>
          <p:cNvSpPr txBox="1"/>
          <p:nvPr/>
        </p:nvSpPr>
        <p:spPr>
          <a:xfrm>
            <a:off x="950258" y="1160494"/>
            <a:ext cx="108661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Principal Component Analysis (PCA)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A38E6-7B8C-FCF6-3406-CDFABDF963C1}"/>
              </a:ext>
            </a:extLst>
          </p:cNvPr>
          <p:cNvSpPr txBox="1"/>
          <p:nvPr/>
        </p:nvSpPr>
        <p:spPr>
          <a:xfrm>
            <a:off x="851646" y="1896757"/>
            <a:ext cx="6355977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PCA (Principal Component Analysis) transforms high-dimensional data into a new set of variables called Principal Components (PCs).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PC1 captures the largest amount of variation in the data; PC2 captures the next largest variation.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PCA is a linear method that helps reveal major patterns and relationships in high-dimensional data.</a:t>
            </a:r>
            <a:endParaRPr lang="en-IN" i="1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6EA2B0-0DA3-0751-8D44-1E7AA59E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64" t="18955" r="13952" b="5600"/>
          <a:stretch>
            <a:fillRect/>
          </a:stretch>
        </p:blipFill>
        <p:spPr>
          <a:xfrm>
            <a:off x="7400661" y="2259106"/>
            <a:ext cx="4415718" cy="3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10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1729-0F2F-BD7D-6FDC-79328F2A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F00090-C290-6AED-22BB-867141BE4B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4E56B-E0CD-45F6-3963-0B24AADE816F}"/>
              </a:ext>
            </a:extLst>
          </p:cNvPr>
          <p:cNvSpPr txBox="1"/>
          <p:nvPr/>
        </p:nvSpPr>
        <p:spPr>
          <a:xfrm>
            <a:off x="950258" y="1160494"/>
            <a:ext cx="108661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Uniform Manifold Approximation and Projection (UMAP)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0899E-402F-D17D-B5D1-7B53BF2066D7}"/>
              </a:ext>
            </a:extLst>
          </p:cNvPr>
          <p:cNvSpPr txBox="1"/>
          <p:nvPr/>
        </p:nvSpPr>
        <p:spPr>
          <a:xfrm>
            <a:off x="833718" y="1855236"/>
            <a:ext cx="6571130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UMAP is a non-linear dimensionality reduction method.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It is designed to preserve the local neighborhood structure of high-dimensional data.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Proteins that are close in the original embedding space tend to remain close in the UMAP representation.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UMAP can reveal complex patterns and groups that may not be obvious with a linear method such as PCA.</a:t>
            </a:r>
            <a:endParaRPr lang="en-IN" i="1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EF4A0-23EA-695E-4B74-993418F5D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376" y="1938920"/>
            <a:ext cx="4662544" cy="417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9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7A4BE6-7C41-BB04-CF88-AC2AEE44BE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2DB733-23A8-AF87-9C7A-062051F5D2F1}"/>
              </a:ext>
            </a:extLst>
          </p:cNvPr>
          <p:cNvGrpSpPr/>
          <p:nvPr/>
        </p:nvGrpSpPr>
        <p:grpSpPr>
          <a:xfrm>
            <a:off x="310289" y="1894012"/>
            <a:ext cx="8470976" cy="3303058"/>
            <a:chOff x="2245994" y="1600763"/>
            <a:chExt cx="9339882" cy="36762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35ECFC5-B707-0C00-85FF-713FFE857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426" b="11382"/>
            <a:stretch>
              <a:fillRect/>
            </a:stretch>
          </p:blipFill>
          <p:spPr>
            <a:xfrm>
              <a:off x="6915935" y="1600763"/>
              <a:ext cx="4669941" cy="367620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921CE9-D941-EC25-E55E-53F94CFB9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5994" y="1600763"/>
              <a:ext cx="4669941" cy="36762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12EE936-05DF-1720-D6FB-6363FAAC10D6}"/>
              </a:ext>
            </a:extLst>
          </p:cNvPr>
          <p:cNvSpPr txBox="1"/>
          <p:nvPr/>
        </p:nvSpPr>
        <p:spPr>
          <a:xfrm>
            <a:off x="1121259" y="532908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Each point = one protein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Nearby points → similar embedding representations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Colour → K-means cluster</a:t>
            </a:r>
            <a:endParaRPr lang="en-IN" i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16837-9FEA-B371-2035-CBAAD51F5544}"/>
              </a:ext>
            </a:extLst>
          </p:cNvPr>
          <p:cNvSpPr txBox="1"/>
          <p:nvPr/>
        </p:nvSpPr>
        <p:spPr>
          <a:xfrm>
            <a:off x="941965" y="1241029"/>
            <a:ext cx="7583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protein clusters to biological meaning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4CB4D6-CA4B-F8D7-4629-C335F30A1FCD}"/>
              </a:ext>
            </a:extLst>
          </p:cNvPr>
          <p:cNvSpPr txBox="1"/>
          <p:nvPr/>
        </p:nvSpPr>
        <p:spPr>
          <a:xfrm>
            <a:off x="9393214" y="2944146"/>
            <a:ext cx="2641004" cy="12958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i="1" dirty="0">
                <a:solidFill>
                  <a:srgbClr val="002060"/>
                </a:solidFill>
              </a:rPr>
              <a:t>Biological interpretation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</a:rPr>
              <a:t>Protein domains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</a:rPr>
              <a:t>Conserved motifs</a:t>
            </a:r>
            <a:endParaRPr lang="en-IN" i="1" dirty="0">
              <a:solidFill>
                <a:srgbClr val="002060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9700BBC-2693-34A9-CF3D-1B70A6302FA6}"/>
              </a:ext>
            </a:extLst>
          </p:cNvPr>
          <p:cNvSpPr/>
          <p:nvPr/>
        </p:nvSpPr>
        <p:spPr>
          <a:xfrm>
            <a:off x="8916910" y="3429000"/>
            <a:ext cx="340659" cy="3261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677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D1F00-A26E-09AD-DA30-296CD98005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A6C12-18BD-4B7C-2099-6F070A470A9C}"/>
              </a:ext>
            </a:extLst>
          </p:cNvPr>
          <p:cNvSpPr txBox="1"/>
          <p:nvPr/>
        </p:nvSpPr>
        <p:spPr>
          <a:xfrm>
            <a:off x="1335742" y="1043954"/>
            <a:ext cx="4025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Takeaways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9EE27-DBE2-7613-4822-9D365452C786}"/>
              </a:ext>
            </a:extLst>
          </p:cNvPr>
          <p:cNvSpPr txBox="1"/>
          <p:nvPr/>
        </p:nvSpPr>
        <p:spPr>
          <a:xfrm>
            <a:off x="1335742" y="1885128"/>
            <a:ext cx="8014447" cy="2750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i="1" dirty="0">
                <a:solidFill>
                  <a:srgbClr val="002060"/>
                </a:solidFill>
              </a:rPr>
              <a:t>PLMs learn meaningful representations from protein sequences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i="1" dirty="0">
                <a:solidFill>
                  <a:srgbClr val="002060"/>
                </a:solidFill>
              </a:rPr>
              <a:t>Embeddings convert proteins into high-dimensional numerical vectors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i="1" dirty="0">
                <a:solidFill>
                  <a:srgbClr val="002060"/>
                </a:solidFill>
              </a:rPr>
              <a:t>K-means groups proteins based on similarity in their embeddings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i="1" dirty="0">
                <a:solidFill>
                  <a:srgbClr val="002060"/>
                </a:solidFill>
              </a:rPr>
              <a:t>PCA &amp; UMAP reduce dimensions and visualize protein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1892206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163272-0215-E7E2-AA6E-AF6C209068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58199-792F-AAD6-4FA3-63FCE3949610}"/>
              </a:ext>
            </a:extLst>
          </p:cNvPr>
          <p:cNvSpPr txBox="1"/>
          <p:nvPr/>
        </p:nvSpPr>
        <p:spPr>
          <a:xfrm>
            <a:off x="1210234" y="1930959"/>
            <a:ext cx="940397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i="1" dirty="0">
                <a:solidFill>
                  <a:srgbClr val="002060"/>
                </a:solidFill>
              </a:rPr>
              <a:t>YOUR TASK: </a:t>
            </a:r>
            <a:r>
              <a:rPr lang="en-US" sz="2000" b="1" i="1" dirty="0">
                <a:solidFill>
                  <a:srgbClr val="002060"/>
                </a:solidFill>
              </a:rPr>
              <a:t>Can PLM embeddings capture biological differences between proteins from different kingdoms?</a:t>
            </a:r>
          </a:p>
          <a:p>
            <a:pPr algn="ctr"/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0E1B9-A294-D031-D214-B159D1E2807B}"/>
              </a:ext>
            </a:extLst>
          </p:cNvPr>
          <p:cNvSpPr txBox="1"/>
          <p:nvPr/>
        </p:nvSpPr>
        <p:spPr>
          <a:xfrm>
            <a:off x="3290047" y="122564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HANDS-ON CHALLENGE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D8129-888B-DFEF-E568-6FC39E00905E}"/>
              </a:ext>
            </a:extLst>
          </p:cNvPr>
          <p:cNvSpPr txBox="1"/>
          <p:nvPr/>
        </p:nvSpPr>
        <p:spPr>
          <a:xfrm>
            <a:off x="2314013" y="2576846"/>
            <a:ext cx="7196418" cy="2750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① Explore Embeddings: Protein sequences → PLM → embeddings</a:t>
            </a:r>
          </a:p>
          <a:p>
            <a:pPr>
              <a:lnSpc>
                <a:spcPct val="2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② Cluster by K-means: Find groups of similar proteins</a:t>
            </a:r>
          </a:p>
          <a:p>
            <a:pPr>
              <a:lnSpc>
                <a:spcPct val="2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③ Visualize by PCA and UMAP: Explore the embedding space</a:t>
            </a:r>
          </a:p>
          <a:p>
            <a:pPr>
              <a:lnSpc>
                <a:spcPct val="2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④ Interpret the kingdom</a:t>
            </a:r>
          </a:p>
        </p:txBody>
      </p:sp>
    </p:spTree>
    <p:extLst>
      <p:ext uri="{BB962C8B-B14F-4D97-AF65-F5344CB8AC3E}">
        <p14:creationId xmlns:p14="http://schemas.microsoft.com/office/powerpoint/2010/main" val="516669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1391</Words>
  <Application>Microsoft Office PowerPoint</Application>
  <PresentationFormat>Widescreen</PresentationFormat>
  <Paragraphs>233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Arial</vt:lpstr>
      <vt:lpstr>Calibri</vt:lpstr>
      <vt:lpstr>Cambria</vt:lpstr>
      <vt:lpstr>Courier New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Aribam Geeta</cp:lastModifiedBy>
  <cp:revision>79</cp:revision>
  <dcterms:created xsi:type="dcterms:W3CDTF">2026-08-25T11:32:45Z</dcterms:created>
  <dcterms:modified xsi:type="dcterms:W3CDTF">2026-09-01T14:56:29Z</dcterms:modified>
</cp:coreProperties>
</file>