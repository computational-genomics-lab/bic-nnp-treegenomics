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97" r:id="rId3"/>
    <p:sldId id="298" r:id="rId4"/>
    <p:sldId id="270" r:id="rId5"/>
    <p:sldId id="269" r:id="rId6"/>
    <p:sldId id="271" r:id="rId7"/>
    <p:sldId id="272" r:id="rId8"/>
    <p:sldId id="273" r:id="rId9"/>
    <p:sldId id="300" r:id="rId10"/>
    <p:sldId id="301" r:id="rId11"/>
    <p:sldId id="274" r:id="rId12"/>
    <p:sldId id="282" r:id="rId13"/>
    <p:sldId id="285" r:id="rId14"/>
    <p:sldId id="302" r:id="rId15"/>
    <p:sldId id="303" r:id="rId16"/>
    <p:sldId id="304" r:id="rId17"/>
    <p:sldId id="306" r:id="rId18"/>
    <p:sldId id="276" r:id="rId19"/>
    <p:sldId id="307" r:id="rId20"/>
    <p:sldId id="278" r:id="rId21"/>
    <p:sldId id="275" r:id="rId22"/>
    <p:sldId id="289" r:id="rId23"/>
    <p:sldId id="279" r:id="rId24"/>
    <p:sldId id="281" r:id="rId25"/>
    <p:sldId id="277" r:id="rId26"/>
    <p:sldId id="29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0DC941-7606-4AA7-96FA-92A49100C804}" type="doc">
      <dgm:prSet loTypeId="urn:microsoft.com/office/officeart/2005/8/layout/bProcess4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285EAB83-4309-44B9-B0AB-7F4FD5081F25}">
      <dgm:prSet phldrT="[Text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en-IN" dirty="0"/>
            <a:t>DNA EXTRACTION</a:t>
          </a:r>
        </a:p>
      </dgm:t>
    </dgm:pt>
    <dgm:pt modelId="{E64DD62D-8D6C-4392-BD9A-1F3041B4E69C}" type="parTrans" cxnId="{29B868DF-5AE3-4B85-BD68-4D3F69DEF0D4}">
      <dgm:prSet/>
      <dgm:spPr/>
      <dgm:t>
        <a:bodyPr/>
        <a:lstStyle/>
        <a:p>
          <a:endParaRPr lang="en-IN"/>
        </a:p>
      </dgm:t>
    </dgm:pt>
    <dgm:pt modelId="{D15998D2-4154-40AF-A359-24DD169A3387}" type="sibTrans" cxnId="{29B868DF-5AE3-4B85-BD68-4D3F69DEF0D4}">
      <dgm:prSet/>
      <dgm:spPr/>
      <dgm:t>
        <a:bodyPr/>
        <a:lstStyle/>
        <a:p>
          <a:endParaRPr lang="en-IN"/>
        </a:p>
      </dgm:t>
    </dgm:pt>
    <dgm:pt modelId="{C6A37ED2-8DCF-4625-8758-3ABE649A5B08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dirty="0"/>
            <a:t>Sequencing </a:t>
          </a:r>
        </a:p>
        <a:p>
          <a:r>
            <a:rPr lang="en-IN" dirty="0"/>
            <a:t>(ILLUMINA , NANOPORE)</a:t>
          </a:r>
        </a:p>
      </dgm:t>
    </dgm:pt>
    <dgm:pt modelId="{3FFE2BF3-4C96-4425-8B19-CEA7FCA495A3}" type="parTrans" cxnId="{558EFC04-E356-4C6D-9916-45879A4C80D5}">
      <dgm:prSet/>
      <dgm:spPr/>
      <dgm:t>
        <a:bodyPr/>
        <a:lstStyle/>
        <a:p>
          <a:endParaRPr lang="en-IN"/>
        </a:p>
      </dgm:t>
    </dgm:pt>
    <dgm:pt modelId="{71B27C2A-9129-4AB6-8206-3CA9A5C9ADE2}" type="sibTrans" cxnId="{558EFC04-E356-4C6D-9916-45879A4C80D5}">
      <dgm:prSet/>
      <dgm:spPr/>
      <dgm:t>
        <a:bodyPr/>
        <a:lstStyle/>
        <a:p>
          <a:endParaRPr lang="en-IN"/>
        </a:p>
      </dgm:t>
    </dgm:pt>
    <dgm:pt modelId="{4169D247-9E7A-437F-B5AB-2FD1CCCED2D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IN" dirty="0"/>
            <a:t>Output (DATA)</a:t>
          </a:r>
        </a:p>
      </dgm:t>
    </dgm:pt>
    <dgm:pt modelId="{C0669BE7-64FE-41A9-B024-F1F5DDB73E8E}" type="parTrans" cxnId="{0B5A98FB-6062-4CE3-BBAD-1A276DA0FFFF}">
      <dgm:prSet/>
      <dgm:spPr/>
      <dgm:t>
        <a:bodyPr/>
        <a:lstStyle/>
        <a:p>
          <a:endParaRPr lang="en-IN"/>
        </a:p>
      </dgm:t>
    </dgm:pt>
    <dgm:pt modelId="{E877CA26-3502-47B6-B996-45CF05D1FEC6}" type="sibTrans" cxnId="{0B5A98FB-6062-4CE3-BBAD-1A276DA0FFFF}">
      <dgm:prSet/>
      <dgm:spPr/>
      <dgm:t>
        <a:bodyPr/>
        <a:lstStyle/>
        <a:p>
          <a:endParaRPr lang="en-IN"/>
        </a:p>
      </dgm:t>
    </dgm:pt>
    <dgm:pt modelId="{799D3866-F2BD-4D8B-A397-18CFCD8BCF0E}">
      <dgm:prSet phldrT="[Text]"/>
      <dgm:spPr>
        <a:solidFill>
          <a:srgbClr val="C00000"/>
        </a:solidFill>
      </dgm:spPr>
      <dgm:t>
        <a:bodyPr/>
        <a:lstStyle/>
        <a:p>
          <a:r>
            <a:rPr lang="en-IN" dirty="0"/>
            <a:t>QC of  raw data</a:t>
          </a:r>
        </a:p>
      </dgm:t>
    </dgm:pt>
    <dgm:pt modelId="{84B8D4DF-03C0-4450-AF68-395AF2B026B3}" type="parTrans" cxnId="{B868E02C-DDBA-4310-A7FF-727198767793}">
      <dgm:prSet/>
      <dgm:spPr/>
      <dgm:t>
        <a:bodyPr/>
        <a:lstStyle/>
        <a:p>
          <a:endParaRPr lang="en-IN"/>
        </a:p>
      </dgm:t>
    </dgm:pt>
    <dgm:pt modelId="{E2C9B008-5CB2-4914-8053-48DC2066870C}" type="sibTrans" cxnId="{B868E02C-DDBA-4310-A7FF-727198767793}">
      <dgm:prSet/>
      <dgm:spPr/>
      <dgm:t>
        <a:bodyPr/>
        <a:lstStyle/>
        <a:p>
          <a:endParaRPr lang="en-IN"/>
        </a:p>
      </dgm:t>
    </dgm:pt>
    <dgm:pt modelId="{CF9C4FAE-BAC5-42ED-AC0B-7246DF862441}">
      <dgm:prSet phldrT="[Text]"/>
      <dgm:spPr>
        <a:solidFill>
          <a:srgbClr val="00B0F0"/>
        </a:solidFill>
      </dgm:spPr>
      <dgm:t>
        <a:bodyPr/>
        <a:lstStyle/>
        <a:p>
          <a:r>
            <a:rPr lang="en-IN" dirty="0"/>
            <a:t>Cleaning of raw data</a:t>
          </a:r>
        </a:p>
      </dgm:t>
    </dgm:pt>
    <dgm:pt modelId="{2C2E9891-ECF1-430F-ACFC-DF5078AA072A}" type="parTrans" cxnId="{4B22C779-4190-4BDF-9533-67979C233A1F}">
      <dgm:prSet/>
      <dgm:spPr/>
      <dgm:t>
        <a:bodyPr/>
        <a:lstStyle/>
        <a:p>
          <a:endParaRPr lang="en-IN"/>
        </a:p>
      </dgm:t>
    </dgm:pt>
    <dgm:pt modelId="{EF05BC95-4B4F-4BE1-AA2A-93F893032EB8}" type="sibTrans" cxnId="{4B22C779-4190-4BDF-9533-67979C233A1F}">
      <dgm:prSet/>
      <dgm:spPr/>
      <dgm:t>
        <a:bodyPr/>
        <a:lstStyle/>
        <a:p>
          <a:endParaRPr lang="en-IN"/>
        </a:p>
      </dgm:t>
    </dgm:pt>
    <dgm:pt modelId="{F33C1024-1918-4500-9F82-AD4DDFD3CF9E}">
      <dgm:prSet phldrT="[Text]"/>
      <dgm:spPr>
        <a:solidFill>
          <a:srgbClr val="FFC000"/>
        </a:solidFill>
      </dgm:spPr>
      <dgm:t>
        <a:bodyPr/>
        <a:lstStyle/>
        <a:p>
          <a:r>
            <a:rPr lang="en-IN" dirty="0"/>
            <a:t>QC over cleaned data</a:t>
          </a:r>
        </a:p>
      </dgm:t>
    </dgm:pt>
    <dgm:pt modelId="{51E2B536-4B75-4ADD-B087-190D9AD95D52}" type="parTrans" cxnId="{B1770F7D-EEB0-4FDD-B3CE-551DE4F207F2}">
      <dgm:prSet/>
      <dgm:spPr/>
      <dgm:t>
        <a:bodyPr/>
        <a:lstStyle/>
        <a:p>
          <a:endParaRPr lang="en-IN"/>
        </a:p>
      </dgm:t>
    </dgm:pt>
    <dgm:pt modelId="{645F23BC-B489-44AE-B30F-DAAF798A4A06}" type="sibTrans" cxnId="{B1770F7D-EEB0-4FDD-B3CE-551DE4F207F2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65F262FD-3AA4-4F6D-9917-92BC5AEDA7E9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dirty="0"/>
            <a:t>Assembly of reads</a:t>
          </a:r>
        </a:p>
      </dgm:t>
    </dgm:pt>
    <dgm:pt modelId="{632F0FD5-57C3-4F76-977E-DFB2053376CE}" type="parTrans" cxnId="{4DB2FC5C-BD74-47BE-AD41-35BD35C24C93}">
      <dgm:prSet/>
      <dgm:spPr/>
      <dgm:t>
        <a:bodyPr/>
        <a:lstStyle/>
        <a:p>
          <a:endParaRPr lang="en-IN"/>
        </a:p>
      </dgm:t>
    </dgm:pt>
    <dgm:pt modelId="{3D0D1E82-56EE-424E-842C-CA3D4707FEBF}" type="sibTrans" cxnId="{4DB2FC5C-BD74-47BE-AD41-35BD35C24C93}">
      <dgm:prSet/>
      <dgm:spPr/>
      <dgm:t>
        <a:bodyPr/>
        <a:lstStyle/>
        <a:p>
          <a:endParaRPr lang="en-IN"/>
        </a:p>
      </dgm:t>
    </dgm:pt>
    <dgm:pt modelId="{C8356064-B9C8-44AD-8F55-395F6E02900A}">
      <dgm:prSet phldrT="[Text]"/>
      <dgm:spPr>
        <a:solidFill>
          <a:srgbClr val="002060"/>
        </a:solidFill>
      </dgm:spPr>
      <dgm:t>
        <a:bodyPr/>
        <a:lstStyle/>
        <a:p>
          <a:r>
            <a:rPr lang="en-IN" dirty="0"/>
            <a:t>Annotation </a:t>
          </a:r>
        </a:p>
      </dgm:t>
    </dgm:pt>
    <dgm:pt modelId="{C33F59B8-93CB-4B72-945D-636D360E6BBE}" type="parTrans" cxnId="{FFE44358-4CCE-4CCF-80E7-A8EB0FF8B31B}">
      <dgm:prSet/>
      <dgm:spPr/>
      <dgm:t>
        <a:bodyPr/>
        <a:lstStyle/>
        <a:p>
          <a:endParaRPr lang="en-IN"/>
        </a:p>
      </dgm:t>
    </dgm:pt>
    <dgm:pt modelId="{D4BF8771-EBDA-4F4B-8A0D-6591819AFB06}" type="sibTrans" cxnId="{FFE44358-4CCE-4CCF-80E7-A8EB0FF8B31B}">
      <dgm:prSet/>
      <dgm:spPr/>
      <dgm:t>
        <a:bodyPr/>
        <a:lstStyle/>
        <a:p>
          <a:endParaRPr lang="en-IN"/>
        </a:p>
      </dgm:t>
    </dgm:pt>
    <dgm:pt modelId="{921CC7DC-3644-4BF5-B75B-7EF37BCE73EB}">
      <dgm:prSet phldrT="[Text]"/>
      <dgm:spPr>
        <a:solidFill>
          <a:srgbClr val="92D050"/>
        </a:solidFill>
      </dgm:spPr>
      <dgm:t>
        <a:bodyPr/>
        <a:lstStyle/>
        <a:p>
          <a:r>
            <a:rPr lang="en-IN" dirty="0"/>
            <a:t>Downstream analysis </a:t>
          </a:r>
        </a:p>
      </dgm:t>
    </dgm:pt>
    <dgm:pt modelId="{858DE5DE-FA20-4EB3-BDE6-C36DF80C94BA}" type="parTrans" cxnId="{2B1BB8EE-585A-4800-B868-72475BBFD407}">
      <dgm:prSet/>
      <dgm:spPr/>
      <dgm:t>
        <a:bodyPr/>
        <a:lstStyle/>
        <a:p>
          <a:endParaRPr lang="en-IN"/>
        </a:p>
      </dgm:t>
    </dgm:pt>
    <dgm:pt modelId="{AC8644E8-515C-441B-8CBC-718D3D04500E}" type="sibTrans" cxnId="{2B1BB8EE-585A-4800-B868-72475BBFD407}">
      <dgm:prSet/>
      <dgm:spPr/>
      <dgm:t>
        <a:bodyPr/>
        <a:lstStyle/>
        <a:p>
          <a:endParaRPr lang="en-IN"/>
        </a:p>
      </dgm:t>
    </dgm:pt>
    <dgm:pt modelId="{72292C26-0BA0-44F1-A803-41AADA91DD62}" type="pres">
      <dgm:prSet presAssocID="{FD0DC941-7606-4AA7-96FA-92A49100C804}" presName="Name0" presStyleCnt="0">
        <dgm:presLayoutVars>
          <dgm:dir/>
          <dgm:resizeHandles/>
        </dgm:presLayoutVars>
      </dgm:prSet>
      <dgm:spPr/>
    </dgm:pt>
    <dgm:pt modelId="{9B61FF7A-DEED-4691-AC3D-7B4417342A07}" type="pres">
      <dgm:prSet presAssocID="{285EAB83-4309-44B9-B0AB-7F4FD5081F25}" presName="compNode" presStyleCnt="0"/>
      <dgm:spPr/>
    </dgm:pt>
    <dgm:pt modelId="{AE3C97AC-6E13-4FB4-9729-C5AF2E1B685D}" type="pres">
      <dgm:prSet presAssocID="{285EAB83-4309-44B9-B0AB-7F4FD5081F25}" presName="dummyConnPt" presStyleCnt="0"/>
      <dgm:spPr/>
    </dgm:pt>
    <dgm:pt modelId="{CFC0C94E-95A3-4900-9D14-A19C7D3BC4E4}" type="pres">
      <dgm:prSet presAssocID="{285EAB83-4309-44B9-B0AB-7F4FD5081F25}" presName="node" presStyleLbl="node1" presStyleIdx="0" presStyleCnt="9">
        <dgm:presLayoutVars>
          <dgm:bulletEnabled val="1"/>
        </dgm:presLayoutVars>
      </dgm:prSet>
      <dgm:spPr/>
    </dgm:pt>
    <dgm:pt modelId="{5735EF4E-8A17-4E0A-B4BD-237B2291ED8D}" type="pres">
      <dgm:prSet presAssocID="{D15998D2-4154-40AF-A359-24DD169A3387}" presName="sibTrans" presStyleLbl="bgSibTrans2D1" presStyleIdx="0" presStyleCnt="8"/>
      <dgm:spPr/>
    </dgm:pt>
    <dgm:pt modelId="{B66176FA-FAF9-4F80-ADD6-15A9AFDE9183}" type="pres">
      <dgm:prSet presAssocID="{C6A37ED2-8DCF-4625-8758-3ABE649A5B08}" presName="compNode" presStyleCnt="0"/>
      <dgm:spPr/>
    </dgm:pt>
    <dgm:pt modelId="{48AB3922-018F-494C-B145-D9EEF5795B15}" type="pres">
      <dgm:prSet presAssocID="{C6A37ED2-8DCF-4625-8758-3ABE649A5B08}" presName="dummyConnPt" presStyleCnt="0"/>
      <dgm:spPr/>
    </dgm:pt>
    <dgm:pt modelId="{49E3EF9C-2A1B-4243-9D80-094580DB958C}" type="pres">
      <dgm:prSet presAssocID="{C6A37ED2-8DCF-4625-8758-3ABE649A5B08}" presName="node" presStyleLbl="node1" presStyleIdx="1" presStyleCnt="9">
        <dgm:presLayoutVars>
          <dgm:bulletEnabled val="1"/>
        </dgm:presLayoutVars>
      </dgm:prSet>
      <dgm:spPr/>
    </dgm:pt>
    <dgm:pt modelId="{510329F3-79F8-4A4A-BA9F-61C194FD3165}" type="pres">
      <dgm:prSet presAssocID="{71B27C2A-9129-4AB6-8206-3CA9A5C9ADE2}" presName="sibTrans" presStyleLbl="bgSibTrans2D1" presStyleIdx="1" presStyleCnt="8"/>
      <dgm:spPr/>
    </dgm:pt>
    <dgm:pt modelId="{C950B217-8CB0-4082-B644-3566599A3506}" type="pres">
      <dgm:prSet presAssocID="{4169D247-9E7A-437F-B5AB-2FD1CCCED2D1}" presName="compNode" presStyleCnt="0"/>
      <dgm:spPr/>
    </dgm:pt>
    <dgm:pt modelId="{B95FD528-4942-4E26-8A87-8AC97F054019}" type="pres">
      <dgm:prSet presAssocID="{4169D247-9E7A-437F-B5AB-2FD1CCCED2D1}" presName="dummyConnPt" presStyleCnt="0"/>
      <dgm:spPr/>
    </dgm:pt>
    <dgm:pt modelId="{ED57879E-C9DD-4050-99BC-A5A18972FF5E}" type="pres">
      <dgm:prSet presAssocID="{4169D247-9E7A-437F-B5AB-2FD1CCCED2D1}" presName="node" presStyleLbl="node1" presStyleIdx="2" presStyleCnt="9">
        <dgm:presLayoutVars>
          <dgm:bulletEnabled val="1"/>
        </dgm:presLayoutVars>
      </dgm:prSet>
      <dgm:spPr/>
    </dgm:pt>
    <dgm:pt modelId="{6DD74ACD-CEA2-4127-A143-9B70B1CA5D96}" type="pres">
      <dgm:prSet presAssocID="{E877CA26-3502-47B6-B996-45CF05D1FEC6}" presName="sibTrans" presStyleLbl="bgSibTrans2D1" presStyleIdx="2" presStyleCnt="8"/>
      <dgm:spPr/>
    </dgm:pt>
    <dgm:pt modelId="{E489BB87-E11A-4C56-A2CD-82E20B1CA89F}" type="pres">
      <dgm:prSet presAssocID="{799D3866-F2BD-4D8B-A397-18CFCD8BCF0E}" presName="compNode" presStyleCnt="0"/>
      <dgm:spPr/>
    </dgm:pt>
    <dgm:pt modelId="{4C3B2E01-D6A2-47D9-B806-41C16799C874}" type="pres">
      <dgm:prSet presAssocID="{799D3866-F2BD-4D8B-A397-18CFCD8BCF0E}" presName="dummyConnPt" presStyleCnt="0"/>
      <dgm:spPr/>
    </dgm:pt>
    <dgm:pt modelId="{014B93CC-35AF-455B-8FDE-BC375D1304AE}" type="pres">
      <dgm:prSet presAssocID="{799D3866-F2BD-4D8B-A397-18CFCD8BCF0E}" presName="node" presStyleLbl="node1" presStyleIdx="3" presStyleCnt="9">
        <dgm:presLayoutVars>
          <dgm:bulletEnabled val="1"/>
        </dgm:presLayoutVars>
      </dgm:prSet>
      <dgm:spPr/>
    </dgm:pt>
    <dgm:pt modelId="{C4DACB5E-7429-43E7-8FC4-71852224417A}" type="pres">
      <dgm:prSet presAssocID="{E2C9B008-5CB2-4914-8053-48DC2066870C}" presName="sibTrans" presStyleLbl="bgSibTrans2D1" presStyleIdx="3" presStyleCnt="8"/>
      <dgm:spPr/>
    </dgm:pt>
    <dgm:pt modelId="{A7A00F1B-B2AE-4820-9E8A-EF223869B4BE}" type="pres">
      <dgm:prSet presAssocID="{CF9C4FAE-BAC5-42ED-AC0B-7246DF862441}" presName="compNode" presStyleCnt="0"/>
      <dgm:spPr/>
    </dgm:pt>
    <dgm:pt modelId="{302B1F67-4503-4ECA-A0B5-91DDF7D1EA25}" type="pres">
      <dgm:prSet presAssocID="{CF9C4FAE-BAC5-42ED-AC0B-7246DF862441}" presName="dummyConnPt" presStyleCnt="0"/>
      <dgm:spPr/>
    </dgm:pt>
    <dgm:pt modelId="{54EA1730-2629-4041-BC7A-901A5AC06281}" type="pres">
      <dgm:prSet presAssocID="{CF9C4FAE-BAC5-42ED-AC0B-7246DF862441}" presName="node" presStyleLbl="node1" presStyleIdx="4" presStyleCnt="9">
        <dgm:presLayoutVars>
          <dgm:bulletEnabled val="1"/>
        </dgm:presLayoutVars>
      </dgm:prSet>
      <dgm:spPr/>
    </dgm:pt>
    <dgm:pt modelId="{5866AB9A-44CE-42AE-8A49-C50F14C96E4C}" type="pres">
      <dgm:prSet presAssocID="{EF05BC95-4B4F-4BE1-AA2A-93F893032EB8}" presName="sibTrans" presStyleLbl="bgSibTrans2D1" presStyleIdx="4" presStyleCnt="8"/>
      <dgm:spPr/>
    </dgm:pt>
    <dgm:pt modelId="{6BB9CB6C-7E6C-437C-A8A0-5D5C2301B224}" type="pres">
      <dgm:prSet presAssocID="{F33C1024-1918-4500-9F82-AD4DDFD3CF9E}" presName="compNode" presStyleCnt="0"/>
      <dgm:spPr/>
    </dgm:pt>
    <dgm:pt modelId="{DE1515D3-2FD5-4D5A-B4A7-89F7290BDF5B}" type="pres">
      <dgm:prSet presAssocID="{F33C1024-1918-4500-9F82-AD4DDFD3CF9E}" presName="dummyConnPt" presStyleCnt="0"/>
      <dgm:spPr/>
    </dgm:pt>
    <dgm:pt modelId="{AA380FA1-A33E-4544-9E03-07656ADD52FD}" type="pres">
      <dgm:prSet presAssocID="{F33C1024-1918-4500-9F82-AD4DDFD3CF9E}" presName="node" presStyleLbl="node1" presStyleIdx="5" presStyleCnt="9">
        <dgm:presLayoutVars>
          <dgm:bulletEnabled val="1"/>
        </dgm:presLayoutVars>
      </dgm:prSet>
      <dgm:spPr/>
    </dgm:pt>
    <dgm:pt modelId="{74F03440-87D6-4068-AE3C-6F6A12FD14D7}" type="pres">
      <dgm:prSet presAssocID="{645F23BC-B489-44AE-B30F-DAAF798A4A06}" presName="sibTrans" presStyleLbl="bgSibTrans2D1" presStyleIdx="5" presStyleCnt="8"/>
      <dgm:spPr/>
    </dgm:pt>
    <dgm:pt modelId="{FB7E5E43-FDCE-4F12-874A-A1BA9C560CAB}" type="pres">
      <dgm:prSet presAssocID="{65F262FD-3AA4-4F6D-9917-92BC5AEDA7E9}" presName="compNode" presStyleCnt="0"/>
      <dgm:spPr/>
    </dgm:pt>
    <dgm:pt modelId="{86E74193-17F4-4264-B238-A230A0B5B1CC}" type="pres">
      <dgm:prSet presAssocID="{65F262FD-3AA4-4F6D-9917-92BC5AEDA7E9}" presName="dummyConnPt" presStyleCnt="0"/>
      <dgm:spPr/>
    </dgm:pt>
    <dgm:pt modelId="{161610FF-2FCB-4980-8630-FBE5A0ECF7D8}" type="pres">
      <dgm:prSet presAssocID="{65F262FD-3AA4-4F6D-9917-92BC5AEDA7E9}" presName="node" presStyleLbl="node1" presStyleIdx="6" presStyleCnt="9">
        <dgm:presLayoutVars>
          <dgm:bulletEnabled val="1"/>
        </dgm:presLayoutVars>
      </dgm:prSet>
      <dgm:spPr/>
    </dgm:pt>
    <dgm:pt modelId="{531B47D4-D955-4F8B-BCA2-E9393E5C4088}" type="pres">
      <dgm:prSet presAssocID="{3D0D1E82-56EE-424E-842C-CA3D4707FEBF}" presName="sibTrans" presStyleLbl="bgSibTrans2D1" presStyleIdx="6" presStyleCnt="8"/>
      <dgm:spPr/>
    </dgm:pt>
    <dgm:pt modelId="{4C53FD70-3428-4CA9-8DD7-8EA38FCDD1FF}" type="pres">
      <dgm:prSet presAssocID="{C8356064-B9C8-44AD-8F55-395F6E02900A}" presName="compNode" presStyleCnt="0"/>
      <dgm:spPr/>
    </dgm:pt>
    <dgm:pt modelId="{D0A52295-A8E7-4151-BC85-FD70668B4562}" type="pres">
      <dgm:prSet presAssocID="{C8356064-B9C8-44AD-8F55-395F6E02900A}" presName="dummyConnPt" presStyleCnt="0"/>
      <dgm:spPr/>
    </dgm:pt>
    <dgm:pt modelId="{702AA646-B166-474D-A672-6EE8466DCBD6}" type="pres">
      <dgm:prSet presAssocID="{C8356064-B9C8-44AD-8F55-395F6E02900A}" presName="node" presStyleLbl="node1" presStyleIdx="7" presStyleCnt="9">
        <dgm:presLayoutVars>
          <dgm:bulletEnabled val="1"/>
        </dgm:presLayoutVars>
      </dgm:prSet>
      <dgm:spPr/>
    </dgm:pt>
    <dgm:pt modelId="{ED5B9EFE-AA90-4933-8195-40C00B8843C7}" type="pres">
      <dgm:prSet presAssocID="{D4BF8771-EBDA-4F4B-8A0D-6591819AFB06}" presName="sibTrans" presStyleLbl="bgSibTrans2D1" presStyleIdx="7" presStyleCnt="8"/>
      <dgm:spPr/>
    </dgm:pt>
    <dgm:pt modelId="{FAA5A055-E612-49E5-9A4F-99B9BE131A00}" type="pres">
      <dgm:prSet presAssocID="{921CC7DC-3644-4BF5-B75B-7EF37BCE73EB}" presName="compNode" presStyleCnt="0"/>
      <dgm:spPr/>
    </dgm:pt>
    <dgm:pt modelId="{6B7B1D86-C910-4A0F-924D-66BE715705B3}" type="pres">
      <dgm:prSet presAssocID="{921CC7DC-3644-4BF5-B75B-7EF37BCE73EB}" presName="dummyConnPt" presStyleCnt="0"/>
      <dgm:spPr/>
    </dgm:pt>
    <dgm:pt modelId="{E97B1482-4105-48EC-8C5D-85F4B83645DF}" type="pres">
      <dgm:prSet presAssocID="{921CC7DC-3644-4BF5-B75B-7EF37BCE73EB}" presName="node" presStyleLbl="node1" presStyleIdx="8" presStyleCnt="9">
        <dgm:presLayoutVars>
          <dgm:bulletEnabled val="1"/>
        </dgm:presLayoutVars>
      </dgm:prSet>
      <dgm:spPr/>
    </dgm:pt>
  </dgm:ptLst>
  <dgm:cxnLst>
    <dgm:cxn modelId="{558EFC04-E356-4C6D-9916-45879A4C80D5}" srcId="{FD0DC941-7606-4AA7-96FA-92A49100C804}" destId="{C6A37ED2-8DCF-4625-8758-3ABE649A5B08}" srcOrd="1" destOrd="0" parTransId="{3FFE2BF3-4C96-4425-8B19-CEA7FCA495A3}" sibTransId="{71B27C2A-9129-4AB6-8206-3CA9A5C9ADE2}"/>
    <dgm:cxn modelId="{0B9D4305-A459-4E85-9872-BB57338F7E3D}" type="presOf" srcId="{CF9C4FAE-BAC5-42ED-AC0B-7246DF862441}" destId="{54EA1730-2629-4041-BC7A-901A5AC06281}" srcOrd="0" destOrd="0" presId="urn:microsoft.com/office/officeart/2005/8/layout/bProcess4"/>
    <dgm:cxn modelId="{B1851B0B-9F50-4873-A08C-D97C0EFDCB05}" type="presOf" srcId="{921CC7DC-3644-4BF5-B75B-7EF37BCE73EB}" destId="{E97B1482-4105-48EC-8C5D-85F4B83645DF}" srcOrd="0" destOrd="0" presId="urn:microsoft.com/office/officeart/2005/8/layout/bProcess4"/>
    <dgm:cxn modelId="{E1FED922-46B1-4271-A566-02E1F5C6C771}" type="presOf" srcId="{E2C9B008-5CB2-4914-8053-48DC2066870C}" destId="{C4DACB5E-7429-43E7-8FC4-71852224417A}" srcOrd="0" destOrd="0" presId="urn:microsoft.com/office/officeart/2005/8/layout/bProcess4"/>
    <dgm:cxn modelId="{FA355525-F3C4-4B96-8B6F-6E3CEA6ABA13}" type="presOf" srcId="{E877CA26-3502-47B6-B996-45CF05D1FEC6}" destId="{6DD74ACD-CEA2-4127-A143-9B70B1CA5D96}" srcOrd="0" destOrd="0" presId="urn:microsoft.com/office/officeart/2005/8/layout/bProcess4"/>
    <dgm:cxn modelId="{B9CB322B-7C80-49D7-B6D0-2D393EF5B766}" type="presOf" srcId="{799D3866-F2BD-4D8B-A397-18CFCD8BCF0E}" destId="{014B93CC-35AF-455B-8FDE-BC375D1304AE}" srcOrd="0" destOrd="0" presId="urn:microsoft.com/office/officeart/2005/8/layout/bProcess4"/>
    <dgm:cxn modelId="{B868E02C-DDBA-4310-A7FF-727198767793}" srcId="{FD0DC941-7606-4AA7-96FA-92A49100C804}" destId="{799D3866-F2BD-4D8B-A397-18CFCD8BCF0E}" srcOrd="3" destOrd="0" parTransId="{84B8D4DF-03C0-4450-AF68-395AF2B026B3}" sibTransId="{E2C9B008-5CB2-4914-8053-48DC2066870C}"/>
    <dgm:cxn modelId="{6E7FBA33-E089-40D9-99FE-7345BC3FD249}" type="presOf" srcId="{EF05BC95-4B4F-4BE1-AA2A-93F893032EB8}" destId="{5866AB9A-44CE-42AE-8A49-C50F14C96E4C}" srcOrd="0" destOrd="0" presId="urn:microsoft.com/office/officeart/2005/8/layout/bProcess4"/>
    <dgm:cxn modelId="{3256535C-F763-425A-B4A5-0DA3DD028133}" type="presOf" srcId="{65F262FD-3AA4-4F6D-9917-92BC5AEDA7E9}" destId="{161610FF-2FCB-4980-8630-FBE5A0ECF7D8}" srcOrd="0" destOrd="0" presId="urn:microsoft.com/office/officeart/2005/8/layout/bProcess4"/>
    <dgm:cxn modelId="{4DB2FC5C-BD74-47BE-AD41-35BD35C24C93}" srcId="{FD0DC941-7606-4AA7-96FA-92A49100C804}" destId="{65F262FD-3AA4-4F6D-9917-92BC5AEDA7E9}" srcOrd="6" destOrd="0" parTransId="{632F0FD5-57C3-4F76-977E-DFB2053376CE}" sibTransId="{3D0D1E82-56EE-424E-842C-CA3D4707FEBF}"/>
    <dgm:cxn modelId="{A0F6F243-0C92-413C-AFB6-E9B59BC5F1F3}" type="presOf" srcId="{F33C1024-1918-4500-9F82-AD4DDFD3CF9E}" destId="{AA380FA1-A33E-4544-9E03-07656ADD52FD}" srcOrd="0" destOrd="0" presId="urn:microsoft.com/office/officeart/2005/8/layout/bProcess4"/>
    <dgm:cxn modelId="{D12B4A4B-2B0D-492C-882C-63161EAF9F42}" type="presOf" srcId="{285EAB83-4309-44B9-B0AB-7F4FD5081F25}" destId="{CFC0C94E-95A3-4900-9D14-A19C7D3BC4E4}" srcOrd="0" destOrd="0" presId="urn:microsoft.com/office/officeart/2005/8/layout/bProcess4"/>
    <dgm:cxn modelId="{FFE44358-4CCE-4CCF-80E7-A8EB0FF8B31B}" srcId="{FD0DC941-7606-4AA7-96FA-92A49100C804}" destId="{C8356064-B9C8-44AD-8F55-395F6E02900A}" srcOrd="7" destOrd="0" parTransId="{C33F59B8-93CB-4B72-945D-636D360E6BBE}" sibTransId="{D4BF8771-EBDA-4F4B-8A0D-6591819AFB06}"/>
    <dgm:cxn modelId="{4B22C779-4190-4BDF-9533-67979C233A1F}" srcId="{FD0DC941-7606-4AA7-96FA-92A49100C804}" destId="{CF9C4FAE-BAC5-42ED-AC0B-7246DF862441}" srcOrd="4" destOrd="0" parTransId="{2C2E9891-ECF1-430F-ACFC-DF5078AA072A}" sibTransId="{EF05BC95-4B4F-4BE1-AA2A-93F893032EB8}"/>
    <dgm:cxn modelId="{B1770F7D-EEB0-4FDD-B3CE-551DE4F207F2}" srcId="{FD0DC941-7606-4AA7-96FA-92A49100C804}" destId="{F33C1024-1918-4500-9F82-AD4DDFD3CF9E}" srcOrd="5" destOrd="0" parTransId="{51E2B536-4B75-4ADD-B087-190D9AD95D52}" sibTransId="{645F23BC-B489-44AE-B30F-DAAF798A4A06}"/>
    <dgm:cxn modelId="{562FB09A-B9C5-443C-94E0-AFDE29235AD5}" type="presOf" srcId="{645F23BC-B489-44AE-B30F-DAAF798A4A06}" destId="{74F03440-87D6-4068-AE3C-6F6A12FD14D7}" srcOrd="0" destOrd="0" presId="urn:microsoft.com/office/officeart/2005/8/layout/bProcess4"/>
    <dgm:cxn modelId="{24B86BA3-28E3-42C7-B93F-D6CD199A9AB8}" type="presOf" srcId="{3D0D1E82-56EE-424E-842C-CA3D4707FEBF}" destId="{531B47D4-D955-4F8B-BCA2-E9393E5C4088}" srcOrd="0" destOrd="0" presId="urn:microsoft.com/office/officeart/2005/8/layout/bProcess4"/>
    <dgm:cxn modelId="{F553DAAA-4FA5-4027-BE55-361A37B34864}" type="presOf" srcId="{D15998D2-4154-40AF-A359-24DD169A3387}" destId="{5735EF4E-8A17-4E0A-B4BD-237B2291ED8D}" srcOrd="0" destOrd="0" presId="urn:microsoft.com/office/officeart/2005/8/layout/bProcess4"/>
    <dgm:cxn modelId="{BA41FBB3-410F-4D16-B3DB-CD06BC6FD4FA}" type="presOf" srcId="{C6A37ED2-8DCF-4625-8758-3ABE649A5B08}" destId="{49E3EF9C-2A1B-4243-9D80-094580DB958C}" srcOrd="0" destOrd="0" presId="urn:microsoft.com/office/officeart/2005/8/layout/bProcess4"/>
    <dgm:cxn modelId="{30205CBA-0A4E-4798-B55F-8E009F7EF489}" type="presOf" srcId="{C8356064-B9C8-44AD-8F55-395F6E02900A}" destId="{702AA646-B166-474D-A672-6EE8466DCBD6}" srcOrd="0" destOrd="0" presId="urn:microsoft.com/office/officeart/2005/8/layout/bProcess4"/>
    <dgm:cxn modelId="{81349CBA-6FDE-4D28-BBD3-3ED30C21401E}" type="presOf" srcId="{71B27C2A-9129-4AB6-8206-3CA9A5C9ADE2}" destId="{510329F3-79F8-4A4A-BA9F-61C194FD3165}" srcOrd="0" destOrd="0" presId="urn:microsoft.com/office/officeart/2005/8/layout/bProcess4"/>
    <dgm:cxn modelId="{85BC5DCA-4105-49E3-B788-C5F76CD82204}" type="presOf" srcId="{D4BF8771-EBDA-4F4B-8A0D-6591819AFB06}" destId="{ED5B9EFE-AA90-4933-8195-40C00B8843C7}" srcOrd="0" destOrd="0" presId="urn:microsoft.com/office/officeart/2005/8/layout/bProcess4"/>
    <dgm:cxn modelId="{A5689FCB-7C9A-44CF-8434-5E026786C8D8}" type="presOf" srcId="{4169D247-9E7A-437F-B5AB-2FD1CCCED2D1}" destId="{ED57879E-C9DD-4050-99BC-A5A18972FF5E}" srcOrd="0" destOrd="0" presId="urn:microsoft.com/office/officeart/2005/8/layout/bProcess4"/>
    <dgm:cxn modelId="{29B868DF-5AE3-4B85-BD68-4D3F69DEF0D4}" srcId="{FD0DC941-7606-4AA7-96FA-92A49100C804}" destId="{285EAB83-4309-44B9-B0AB-7F4FD5081F25}" srcOrd="0" destOrd="0" parTransId="{E64DD62D-8D6C-4392-BD9A-1F3041B4E69C}" sibTransId="{D15998D2-4154-40AF-A359-24DD169A3387}"/>
    <dgm:cxn modelId="{2B1BB8EE-585A-4800-B868-72475BBFD407}" srcId="{FD0DC941-7606-4AA7-96FA-92A49100C804}" destId="{921CC7DC-3644-4BF5-B75B-7EF37BCE73EB}" srcOrd="8" destOrd="0" parTransId="{858DE5DE-FA20-4EB3-BDE6-C36DF80C94BA}" sibTransId="{AC8644E8-515C-441B-8CBC-718D3D04500E}"/>
    <dgm:cxn modelId="{ED3730F6-4E1C-4F4F-95B2-611647074055}" type="presOf" srcId="{FD0DC941-7606-4AA7-96FA-92A49100C804}" destId="{72292C26-0BA0-44F1-A803-41AADA91DD62}" srcOrd="0" destOrd="0" presId="urn:microsoft.com/office/officeart/2005/8/layout/bProcess4"/>
    <dgm:cxn modelId="{0B5A98FB-6062-4CE3-BBAD-1A276DA0FFFF}" srcId="{FD0DC941-7606-4AA7-96FA-92A49100C804}" destId="{4169D247-9E7A-437F-B5AB-2FD1CCCED2D1}" srcOrd="2" destOrd="0" parTransId="{C0669BE7-64FE-41A9-B024-F1F5DDB73E8E}" sibTransId="{E877CA26-3502-47B6-B996-45CF05D1FEC6}"/>
    <dgm:cxn modelId="{AC11B21D-F1CA-4899-A95D-C2EDBF105DF9}" type="presParOf" srcId="{72292C26-0BA0-44F1-A803-41AADA91DD62}" destId="{9B61FF7A-DEED-4691-AC3D-7B4417342A07}" srcOrd="0" destOrd="0" presId="urn:microsoft.com/office/officeart/2005/8/layout/bProcess4"/>
    <dgm:cxn modelId="{AE59B272-2402-4DB3-969C-94DFF28C31A6}" type="presParOf" srcId="{9B61FF7A-DEED-4691-AC3D-7B4417342A07}" destId="{AE3C97AC-6E13-4FB4-9729-C5AF2E1B685D}" srcOrd="0" destOrd="0" presId="urn:microsoft.com/office/officeart/2005/8/layout/bProcess4"/>
    <dgm:cxn modelId="{6E0E8BFE-99D9-43EE-85B8-E05A8FD217CB}" type="presParOf" srcId="{9B61FF7A-DEED-4691-AC3D-7B4417342A07}" destId="{CFC0C94E-95A3-4900-9D14-A19C7D3BC4E4}" srcOrd="1" destOrd="0" presId="urn:microsoft.com/office/officeart/2005/8/layout/bProcess4"/>
    <dgm:cxn modelId="{7179E6E9-D55A-4E7A-AD15-C5DCDD814E41}" type="presParOf" srcId="{72292C26-0BA0-44F1-A803-41AADA91DD62}" destId="{5735EF4E-8A17-4E0A-B4BD-237B2291ED8D}" srcOrd="1" destOrd="0" presId="urn:microsoft.com/office/officeart/2005/8/layout/bProcess4"/>
    <dgm:cxn modelId="{0849F959-926E-4EA0-B868-21FD18031CB5}" type="presParOf" srcId="{72292C26-0BA0-44F1-A803-41AADA91DD62}" destId="{B66176FA-FAF9-4F80-ADD6-15A9AFDE9183}" srcOrd="2" destOrd="0" presId="urn:microsoft.com/office/officeart/2005/8/layout/bProcess4"/>
    <dgm:cxn modelId="{F3EBA4F0-EBBE-440E-9215-A7D70BF0322A}" type="presParOf" srcId="{B66176FA-FAF9-4F80-ADD6-15A9AFDE9183}" destId="{48AB3922-018F-494C-B145-D9EEF5795B15}" srcOrd="0" destOrd="0" presId="urn:microsoft.com/office/officeart/2005/8/layout/bProcess4"/>
    <dgm:cxn modelId="{D37CE893-F0AF-45DC-8A62-F44B598E5AC2}" type="presParOf" srcId="{B66176FA-FAF9-4F80-ADD6-15A9AFDE9183}" destId="{49E3EF9C-2A1B-4243-9D80-094580DB958C}" srcOrd="1" destOrd="0" presId="urn:microsoft.com/office/officeart/2005/8/layout/bProcess4"/>
    <dgm:cxn modelId="{EA846EBF-58FC-48A2-A3FE-A68F8F9CDCE9}" type="presParOf" srcId="{72292C26-0BA0-44F1-A803-41AADA91DD62}" destId="{510329F3-79F8-4A4A-BA9F-61C194FD3165}" srcOrd="3" destOrd="0" presId="urn:microsoft.com/office/officeart/2005/8/layout/bProcess4"/>
    <dgm:cxn modelId="{A312373E-9986-450D-9A5A-3EAEC67E2621}" type="presParOf" srcId="{72292C26-0BA0-44F1-A803-41AADA91DD62}" destId="{C950B217-8CB0-4082-B644-3566599A3506}" srcOrd="4" destOrd="0" presId="urn:microsoft.com/office/officeart/2005/8/layout/bProcess4"/>
    <dgm:cxn modelId="{0D9924FF-9A9D-4CA8-8FC0-60697BB5B1FB}" type="presParOf" srcId="{C950B217-8CB0-4082-B644-3566599A3506}" destId="{B95FD528-4942-4E26-8A87-8AC97F054019}" srcOrd="0" destOrd="0" presId="urn:microsoft.com/office/officeart/2005/8/layout/bProcess4"/>
    <dgm:cxn modelId="{CFB217C3-D7CD-46E8-8824-03D19DDFB29B}" type="presParOf" srcId="{C950B217-8CB0-4082-B644-3566599A3506}" destId="{ED57879E-C9DD-4050-99BC-A5A18972FF5E}" srcOrd="1" destOrd="0" presId="urn:microsoft.com/office/officeart/2005/8/layout/bProcess4"/>
    <dgm:cxn modelId="{16005FC0-74AA-4927-B597-50CCDBF7A094}" type="presParOf" srcId="{72292C26-0BA0-44F1-A803-41AADA91DD62}" destId="{6DD74ACD-CEA2-4127-A143-9B70B1CA5D96}" srcOrd="5" destOrd="0" presId="urn:microsoft.com/office/officeart/2005/8/layout/bProcess4"/>
    <dgm:cxn modelId="{9F1919B0-5AB0-4765-BB86-9E5B728BB3DD}" type="presParOf" srcId="{72292C26-0BA0-44F1-A803-41AADA91DD62}" destId="{E489BB87-E11A-4C56-A2CD-82E20B1CA89F}" srcOrd="6" destOrd="0" presId="urn:microsoft.com/office/officeart/2005/8/layout/bProcess4"/>
    <dgm:cxn modelId="{AE838428-D5A1-44EA-B7BA-9A6ED448B6DA}" type="presParOf" srcId="{E489BB87-E11A-4C56-A2CD-82E20B1CA89F}" destId="{4C3B2E01-D6A2-47D9-B806-41C16799C874}" srcOrd="0" destOrd="0" presId="urn:microsoft.com/office/officeart/2005/8/layout/bProcess4"/>
    <dgm:cxn modelId="{BE9E9456-122E-4ABB-974A-515E17D070D6}" type="presParOf" srcId="{E489BB87-E11A-4C56-A2CD-82E20B1CA89F}" destId="{014B93CC-35AF-455B-8FDE-BC375D1304AE}" srcOrd="1" destOrd="0" presId="urn:microsoft.com/office/officeart/2005/8/layout/bProcess4"/>
    <dgm:cxn modelId="{754D15BF-D682-4B42-A37C-A552F281144A}" type="presParOf" srcId="{72292C26-0BA0-44F1-A803-41AADA91DD62}" destId="{C4DACB5E-7429-43E7-8FC4-71852224417A}" srcOrd="7" destOrd="0" presId="urn:microsoft.com/office/officeart/2005/8/layout/bProcess4"/>
    <dgm:cxn modelId="{4825B030-FAF1-4F9B-BCF2-31B4D8E86593}" type="presParOf" srcId="{72292C26-0BA0-44F1-A803-41AADA91DD62}" destId="{A7A00F1B-B2AE-4820-9E8A-EF223869B4BE}" srcOrd="8" destOrd="0" presId="urn:microsoft.com/office/officeart/2005/8/layout/bProcess4"/>
    <dgm:cxn modelId="{A0DEA4A3-E20C-4022-BBA6-CC485CCBBCF5}" type="presParOf" srcId="{A7A00F1B-B2AE-4820-9E8A-EF223869B4BE}" destId="{302B1F67-4503-4ECA-A0B5-91DDF7D1EA25}" srcOrd="0" destOrd="0" presId="urn:microsoft.com/office/officeart/2005/8/layout/bProcess4"/>
    <dgm:cxn modelId="{B32F2D8B-36F0-48B7-A1B7-FD10CE085473}" type="presParOf" srcId="{A7A00F1B-B2AE-4820-9E8A-EF223869B4BE}" destId="{54EA1730-2629-4041-BC7A-901A5AC06281}" srcOrd="1" destOrd="0" presId="urn:microsoft.com/office/officeart/2005/8/layout/bProcess4"/>
    <dgm:cxn modelId="{340BFD22-6161-4A0F-AA12-619DE895467A}" type="presParOf" srcId="{72292C26-0BA0-44F1-A803-41AADA91DD62}" destId="{5866AB9A-44CE-42AE-8A49-C50F14C96E4C}" srcOrd="9" destOrd="0" presId="urn:microsoft.com/office/officeart/2005/8/layout/bProcess4"/>
    <dgm:cxn modelId="{06B9B3A5-B577-4724-AF64-E64524D4B402}" type="presParOf" srcId="{72292C26-0BA0-44F1-A803-41AADA91DD62}" destId="{6BB9CB6C-7E6C-437C-A8A0-5D5C2301B224}" srcOrd="10" destOrd="0" presId="urn:microsoft.com/office/officeart/2005/8/layout/bProcess4"/>
    <dgm:cxn modelId="{6CED1B95-2B36-46C2-8C38-31830355455C}" type="presParOf" srcId="{6BB9CB6C-7E6C-437C-A8A0-5D5C2301B224}" destId="{DE1515D3-2FD5-4D5A-B4A7-89F7290BDF5B}" srcOrd="0" destOrd="0" presId="urn:microsoft.com/office/officeart/2005/8/layout/bProcess4"/>
    <dgm:cxn modelId="{7F081F52-E50D-470B-93D8-029B6714844E}" type="presParOf" srcId="{6BB9CB6C-7E6C-437C-A8A0-5D5C2301B224}" destId="{AA380FA1-A33E-4544-9E03-07656ADD52FD}" srcOrd="1" destOrd="0" presId="urn:microsoft.com/office/officeart/2005/8/layout/bProcess4"/>
    <dgm:cxn modelId="{A8560333-D048-4416-B139-2FD8B0E157F7}" type="presParOf" srcId="{72292C26-0BA0-44F1-A803-41AADA91DD62}" destId="{74F03440-87D6-4068-AE3C-6F6A12FD14D7}" srcOrd="11" destOrd="0" presId="urn:microsoft.com/office/officeart/2005/8/layout/bProcess4"/>
    <dgm:cxn modelId="{5D3D6B8B-0DC0-43D7-8CB9-15C76180C862}" type="presParOf" srcId="{72292C26-0BA0-44F1-A803-41AADA91DD62}" destId="{FB7E5E43-FDCE-4F12-874A-A1BA9C560CAB}" srcOrd="12" destOrd="0" presId="urn:microsoft.com/office/officeart/2005/8/layout/bProcess4"/>
    <dgm:cxn modelId="{AE13CA9C-0685-43AF-99EC-8114A486E889}" type="presParOf" srcId="{FB7E5E43-FDCE-4F12-874A-A1BA9C560CAB}" destId="{86E74193-17F4-4264-B238-A230A0B5B1CC}" srcOrd="0" destOrd="0" presId="urn:microsoft.com/office/officeart/2005/8/layout/bProcess4"/>
    <dgm:cxn modelId="{0350D1EB-0EC4-48B4-9CDE-8D26E27F8092}" type="presParOf" srcId="{FB7E5E43-FDCE-4F12-874A-A1BA9C560CAB}" destId="{161610FF-2FCB-4980-8630-FBE5A0ECF7D8}" srcOrd="1" destOrd="0" presId="urn:microsoft.com/office/officeart/2005/8/layout/bProcess4"/>
    <dgm:cxn modelId="{92E79549-C2CC-46C9-848A-F73F950B8730}" type="presParOf" srcId="{72292C26-0BA0-44F1-A803-41AADA91DD62}" destId="{531B47D4-D955-4F8B-BCA2-E9393E5C4088}" srcOrd="13" destOrd="0" presId="urn:microsoft.com/office/officeart/2005/8/layout/bProcess4"/>
    <dgm:cxn modelId="{4DEA4297-B7B5-45A8-A2B9-527C1FD90D9D}" type="presParOf" srcId="{72292C26-0BA0-44F1-A803-41AADA91DD62}" destId="{4C53FD70-3428-4CA9-8DD7-8EA38FCDD1FF}" srcOrd="14" destOrd="0" presId="urn:microsoft.com/office/officeart/2005/8/layout/bProcess4"/>
    <dgm:cxn modelId="{C5FDFD72-A6DA-47DF-9F96-1846B0CB2508}" type="presParOf" srcId="{4C53FD70-3428-4CA9-8DD7-8EA38FCDD1FF}" destId="{D0A52295-A8E7-4151-BC85-FD70668B4562}" srcOrd="0" destOrd="0" presId="urn:microsoft.com/office/officeart/2005/8/layout/bProcess4"/>
    <dgm:cxn modelId="{448BD1FA-A7BB-4981-BEBD-55E8E5022CBF}" type="presParOf" srcId="{4C53FD70-3428-4CA9-8DD7-8EA38FCDD1FF}" destId="{702AA646-B166-474D-A672-6EE8466DCBD6}" srcOrd="1" destOrd="0" presId="urn:microsoft.com/office/officeart/2005/8/layout/bProcess4"/>
    <dgm:cxn modelId="{9C3997F0-1E57-4D2D-8482-A66BEAB9E0E6}" type="presParOf" srcId="{72292C26-0BA0-44F1-A803-41AADA91DD62}" destId="{ED5B9EFE-AA90-4933-8195-40C00B8843C7}" srcOrd="15" destOrd="0" presId="urn:microsoft.com/office/officeart/2005/8/layout/bProcess4"/>
    <dgm:cxn modelId="{3B68ABCF-7919-440E-9BC3-FFCEC7259BF4}" type="presParOf" srcId="{72292C26-0BA0-44F1-A803-41AADA91DD62}" destId="{FAA5A055-E612-49E5-9A4F-99B9BE131A00}" srcOrd="16" destOrd="0" presId="urn:microsoft.com/office/officeart/2005/8/layout/bProcess4"/>
    <dgm:cxn modelId="{3EFEA2D9-A2E6-4973-8138-8ABE3126E31F}" type="presParOf" srcId="{FAA5A055-E612-49E5-9A4F-99B9BE131A00}" destId="{6B7B1D86-C910-4A0F-924D-66BE715705B3}" srcOrd="0" destOrd="0" presId="urn:microsoft.com/office/officeart/2005/8/layout/bProcess4"/>
    <dgm:cxn modelId="{7AD11D8A-97AF-4EBD-8075-3AF6713ED964}" type="presParOf" srcId="{FAA5A055-E612-49E5-9A4F-99B9BE131A00}" destId="{E97B1482-4105-48EC-8C5D-85F4B83645D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5EF4E-8A17-4E0A-B4BD-237B2291ED8D}">
      <dsp:nvSpPr>
        <dsp:cNvPr id="0" name=""/>
        <dsp:cNvSpPr/>
      </dsp:nvSpPr>
      <dsp:spPr>
        <a:xfrm rot="5400000">
          <a:off x="-374328" y="1438591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0C94E-95A3-4900-9D14-A19C7D3BC4E4}">
      <dsp:nvSpPr>
        <dsp:cNvPr id="0" name=""/>
        <dsp:cNvSpPr/>
      </dsp:nvSpPr>
      <dsp:spPr>
        <a:xfrm>
          <a:off x="4087" y="379875"/>
          <a:ext cx="2218531" cy="1331118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DNA EXTRACTION</a:t>
          </a:r>
        </a:p>
      </dsp:txBody>
      <dsp:txXfrm>
        <a:off x="43074" y="418862"/>
        <a:ext cx="2140557" cy="1253144"/>
      </dsp:txXfrm>
    </dsp:sp>
    <dsp:sp modelId="{510329F3-79F8-4A4A-BA9F-61C194FD3165}">
      <dsp:nvSpPr>
        <dsp:cNvPr id="0" name=""/>
        <dsp:cNvSpPr/>
      </dsp:nvSpPr>
      <dsp:spPr>
        <a:xfrm rot="5400000">
          <a:off x="-374328" y="3102489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3EF9C-2A1B-4243-9D80-094580DB958C}">
      <dsp:nvSpPr>
        <dsp:cNvPr id="0" name=""/>
        <dsp:cNvSpPr/>
      </dsp:nvSpPr>
      <dsp:spPr>
        <a:xfrm>
          <a:off x="4087" y="2043774"/>
          <a:ext cx="2218531" cy="133111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Sequencing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(ILLUMINA , NANOPORE)</a:t>
          </a:r>
        </a:p>
      </dsp:txBody>
      <dsp:txXfrm>
        <a:off x="43074" y="2082761"/>
        <a:ext cx="2140557" cy="1253144"/>
      </dsp:txXfrm>
    </dsp:sp>
    <dsp:sp modelId="{6DD74ACD-CEA2-4127-A143-9B70B1CA5D96}">
      <dsp:nvSpPr>
        <dsp:cNvPr id="0" name=""/>
        <dsp:cNvSpPr/>
      </dsp:nvSpPr>
      <dsp:spPr>
        <a:xfrm>
          <a:off x="457620" y="3934438"/>
          <a:ext cx="2940820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7879E-C9DD-4050-99BC-A5A18972FF5E}">
      <dsp:nvSpPr>
        <dsp:cNvPr id="0" name=""/>
        <dsp:cNvSpPr/>
      </dsp:nvSpPr>
      <dsp:spPr>
        <a:xfrm>
          <a:off x="4087" y="3707672"/>
          <a:ext cx="2218531" cy="1331118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Output (DATA)</a:t>
          </a:r>
        </a:p>
      </dsp:txBody>
      <dsp:txXfrm>
        <a:off x="43074" y="3746659"/>
        <a:ext cx="2140557" cy="1253144"/>
      </dsp:txXfrm>
    </dsp:sp>
    <dsp:sp modelId="{C4DACB5E-7429-43E7-8FC4-71852224417A}">
      <dsp:nvSpPr>
        <dsp:cNvPr id="0" name=""/>
        <dsp:cNvSpPr/>
      </dsp:nvSpPr>
      <dsp:spPr>
        <a:xfrm rot="16200000">
          <a:off x="2576317" y="3102489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B93CC-35AF-455B-8FDE-BC375D1304AE}">
      <dsp:nvSpPr>
        <dsp:cNvPr id="0" name=""/>
        <dsp:cNvSpPr/>
      </dsp:nvSpPr>
      <dsp:spPr>
        <a:xfrm>
          <a:off x="2954734" y="3707672"/>
          <a:ext cx="2218531" cy="133111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QC of  raw data</a:t>
          </a:r>
        </a:p>
      </dsp:txBody>
      <dsp:txXfrm>
        <a:off x="2993721" y="3746659"/>
        <a:ext cx="2140557" cy="1253144"/>
      </dsp:txXfrm>
    </dsp:sp>
    <dsp:sp modelId="{5866AB9A-44CE-42AE-8A49-C50F14C96E4C}">
      <dsp:nvSpPr>
        <dsp:cNvPr id="0" name=""/>
        <dsp:cNvSpPr/>
      </dsp:nvSpPr>
      <dsp:spPr>
        <a:xfrm rot="16200000">
          <a:off x="2576317" y="1438591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A1730-2629-4041-BC7A-901A5AC06281}">
      <dsp:nvSpPr>
        <dsp:cNvPr id="0" name=""/>
        <dsp:cNvSpPr/>
      </dsp:nvSpPr>
      <dsp:spPr>
        <a:xfrm>
          <a:off x="2954734" y="2043774"/>
          <a:ext cx="2218531" cy="1331118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Cleaning of raw data</a:t>
          </a:r>
        </a:p>
      </dsp:txBody>
      <dsp:txXfrm>
        <a:off x="2993721" y="2082761"/>
        <a:ext cx="2140557" cy="1253144"/>
      </dsp:txXfrm>
    </dsp:sp>
    <dsp:sp modelId="{74F03440-87D6-4068-AE3C-6F6A12FD14D7}">
      <dsp:nvSpPr>
        <dsp:cNvPr id="0" name=""/>
        <dsp:cNvSpPr/>
      </dsp:nvSpPr>
      <dsp:spPr>
        <a:xfrm>
          <a:off x="3408266" y="606641"/>
          <a:ext cx="2940820" cy="199667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0FA1-A33E-4544-9E03-07656ADD52FD}">
      <dsp:nvSpPr>
        <dsp:cNvPr id="0" name=""/>
        <dsp:cNvSpPr/>
      </dsp:nvSpPr>
      <dsp:spPr>
        <a:xfrm>
          <a:off x="2954734" y="379875"/>
          <a:ext cx="2218531" cy="1331118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QC over cleaned data</a:t>
          </a:r>
        </a:p>
      </dsp:txBody>
      <dsp:txXfrm>
        <a:off x="2993721" y="418862"/>
        <a:ext cx="2140557" cy="1253144"/>
      </dsp:txXfrm>
    </dsp:sp>
    <dsp:sp modelId="{531B47D4-D955-4F8B-BCA2-E9393E5C4088}">
      <dsp:nvSpPr>
        <dsp:cNvPr id="0" name=""/>
        <dsp:cNvSpPr/>
      </dsp:nvSpPr>
      <dsp:spPr>
        <a:xfrm rot="5400000">
          <a:off x="5526964" y="1438591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610FF-2FCB-4980-8630-FBE5A0ECF7D8}">
      <dsp:nvSpPr>
        <dsp:cNvPr id="0" name=""/>
        <dsp:cNvSpPr/>
      </dsp:nvSpPr>
      <dsp:spPr>
        <a:xfrm>
          <a:off x="5905380" y="379875"/>
          <a:ext cx="2218531" cy="1331118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Assembly of reads</a:t>
          </a:r>
        </a:p>
      </dsp:txBody>
      <dsp:txXfrm>
        <a:off x="5944367" y="418862"/>
        <a:ext cx="2140557" cy="1253144"/>
      </dsp:txXfrm>
    </dsp:sp>
    <dsp:sp modelId="{ED5B9EFE-AA90-4933-8195-40C00B8843C7}">
      <dsp:nvSpPr>
        <dsp:cNvPr id="0" name=""/>
        <dsp:cNvSpPr/>
      </dsp:nvSpPr>
      <dsp:spPr>
        <a:xfrm rot="5400000">
          <a:off x="5526964" y="3102489"/>
          <a:ext cx="1654072" cy="19966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AA646-B166-474D-A672-6EE8466DCBD6}">
      <dsp:nvSpPr>
        <dsp:cNvPr id="0" name=""/>
        <dsp:cNvSpPr/>
      </dsp:nvSpPr>
      <dsp:spPr>
        <a:xfrm>
          <a:off x="5905380" y="2043774"/>
          <a:ext cx="2218531" cy="1331118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Annotation </a:t>
          </a:r>
        </a:p>
      </dsp:txBody>
      <dsp:txXfrm>
        <a:off x="5944367" y="2082761"/>
        <a:ext cx="2140557" cy="1253144"/>
      </dsp:txXfrm>
    </dsp:sp>
    <dsp:sp modelId="{E97B1482-4105-48EC-8C5D-85F4B83645DF}">
      <dsp:nvSpPr>
        <dsp:cNvPr id="0" name=""/>
        <dsp:cNvSpPr/>
      </dsp:nvSpPr>
      <dsp:spPr>
        <a:xfrm>
          <a:off x="5905380" y="3707672"/>
          <a:ext cx="2218531" cy="1331118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Downstream analysis </a:t>
          </a:r>
        </a:p>
      </dsp:txBody>
      <dsp:txXfrm>
        <a:off x="5944367" y="3746659"/>
        <a:ext cx="2140557" cy="1253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Dr. Asharani Prusty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Tree genome annotation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9040" y="650092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943" y="2076995"/>
            <a:ext cx="1199605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b="1" dirty="0"/>
              <a:t>From sequence to structure: Decoding the tree genome annotation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DBT-BIC-NNP-TREE Genome Informatics: Annotate, Innovate, Collaborate</a:t>
            </a:r>
            <a:endParaRPr lang="en-US" sz="1800" b="1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4 September 2026   |   Room 120, Guest Block, IICB TRUE Campus, Salt Lake</a:t>
            </a:r>
            <a:endParaRPr lang="en-US" sz="13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04;p3" descr="Related image">
            <a:extLst>
              <a:ext uri="{FF2B5EF4-FFF2-40B4-BE49-F238E27FC236}">
                <a16:creationId xmlns:a16="http://schemas.microsoft.com/office/drawing/2014/main" id="{E7E6A3A4-67EC-60A3-6AC3-937E2DCA84B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59" y="1441891"/>
            <a:ext cx="2841905" cy="159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Google Shape;105;p3">
            <a:extLst>
              <a:ext uri="{FF2B5EF4-FFF2-40B4-BE49-F238E27FC236}">
                <a16:creationId xmlns:a16="http://schemas.microsoft.com/office/drawing/2014/main" id="{FCC3BA93-1507-CFD9-B594-405C31DE3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384" y="1702588"/>
            <a:ext cx="3433969" cy="107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»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ts val="3200"/>
              <a:buFont typeface="Comic Sans MS" panose="030F0702030302020204" pitchFamily="66" charset="0"/>
              <a:buNone/>
            </a:pPr>
            <a:r>
              <a:rPr lang="en-US" altLang="en-US" sz="3200" dirty="0">
                <a:latin typeface="Comic Sans MS" panose="030F0702030302020204" pitchFamily="66" charset="0"/>
                <a:sym typeface="Comic Sans MS" panose="030F0702030302020204" pitchFamily="66" charset="0"/>
              </a:rPr>
              <a:t>Genetic not genomic!!</a:t>
            </a:r>
            <a:endParaRPr lang="en-US" altLang="en-US" dirty="0"/>
          </a:p>
        </p:txBody>
      </p:sp>
      <p:pic>
        <p:nvPicPr>
          <p:cNvPr id="8" name="Google Shape;106;p3" descr="Image result for genome similarity human and chimp">
            <a:extLst>
              <a:ext uri="{FF2B5EF4-FFF2-40B4-BE49-F238E27FC236}">
                <a16:creationId xmlns:a16="http://schemas.microsoft.com/office/drawing/2014/main" id="{6C7BAEF4-F500-2416-934B-20BA441779AB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976" y="3033113"/>
            <a:ext cx="5456853" cy="2782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13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2;p4" descr="Genome - Definition and Examples - Biology Online Dictionary">
            <a:extLst>
              <a:ext uri="{FF2B5EF4-FFF2-40B4-BE49-F238E27FC236}">
                <a16:creationId xmlns:a16="http://schemas.microsoft.com/office/drawing/2014/main" id="{FCDDF0DC-4EA3-D05D-6154-334756E2B4A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420" y="1799316"/>
            <a:ext cx="7430900" cy="4426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57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24D65-9A4E-89D3-9783-7FDB3D79D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" t="15216" r="1180" b="15918"/>
          <a:stretch>
            <a:fillRect/>
          </a:stretch>
        </p:blipFill>
        <p:spPr>
          <a:xfrm>
            <a:off x="3928189" y="2592418"/>
            <a:ext cx="7664164" cy="35751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3A180E-4BC3-4506-4D57-C9BB6FF0007B}"/>
              </a:ext>
            </a:extLst>
          </p:cNvPr>
          <p:cNvSpPr txBox="1"/>
          <p:nvPr/>
        </p:nvSpPr>
        <p:spPr>
          <a:xfrm>
            <a:off x="5607699" y="1651518"/>
            <a:ext cx="281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genome?</a:t>
            </a:r>
          </a:p>
        </p:txBody>
      </p:sp>
    </p:spTree>
    <p:extLst>
      <p:ext uri="{BB962C8B-B14F-4D97-AF65-F5344CB8AC3E}">
        <p14:creationId xmlns:p14="http://schemas.microsoft.com/office/powerpoint/2010/main" val="213228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5867B6C0-CB13-5ED0-8853-26552A74F44E}"/>
              </a:ext>
            </a:extLst>
          </p:cNvPr>
          <p:cNvGrpSpPr/>
          <p:nvPr/>
        </p:nvGrpSpPr>
        <p:grpSpPr>
          <a:xfrm>
            <a:off x="339562" y="1614362"/>
            <a:ext cx="10526527" cy="2267340"/>
            <a:chOff x="339562" y="1614362"/>
            <a:chExt cx="10526527" cy="22673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3BB6B5A-A304-5C53-A22A-0D768A21238C}"/>
                </a:ext>
              </a:extLst>
            </p:cNvPr>
            <p:cNvGrpSpPr/>
            <p:nvPr/>
          </p:nvGrpSpPr>
          <p:grpSpPr>
            <a:xfrm>
              <a:off x="339562" y="1614363"/>
              <a:ext cx="7958249" cy="2267339"/>
              <a:chOff x="-5144841" y="250049"/>
              <a:chExt cx="11902056" cy="324728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90153CD-7591-86B7-AB03-33EF0A7541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4945" y="250049"/>
                <a:ext cx="3832270" cy="324728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1DA1885-6ABC-A9B6-B418-C9B116116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09949" y="299208"/>
                <a:ext cx="3638398" cy="3198123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5D86CF9-3BCE-3D4D-C656-C87BDACF17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5144841" y="306180"/>
                <a:ext cx="3638396" cy="3191152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F27294A-8223-9715-8342-88A395CEC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294" y="1614362"/>
              <a:ext cx="2432795" cy="2253175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C5DC0B-5C62-894D-0622-E4A03168378A}"/>
              </a:ext>
            </a:extLst>
          </p:cNvPr>
          <p:cNvGrpSpPr/>
          <p:nvPr/>
        </p:nvGrpSpPr>
        <p:grpSpPr>
          <a:xfrm>
            <a:off x="339562" y="4088287"/>
            <a:ext cx="10548100" cy="2253175"/>
            <a:chOff x="339562" y="4088287"/>
            <a:chExt cx="10548100" cy="225317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BB52789-DBA4-3E9F-1AFD-AE394A6BEE2B}"/>
                </a:ext>
              </a:extLst>
            </p:cNvPr>
            <p:cNvGrpSpPr/>
            <p:nvPr/>
          </p:nvGrpSpPr>
          <p:grpSpPr>
            <a:xfrm>
              <a:off x="339562" y="4100803"/>
              <a:ext cx="5260338" cy="2228146"/>
              <a:chOff x="3749243" y="3398205"/>
              <a:chExt cx="7867163" cy="338747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EB5CB10-F39B-614D-AF55-03E3CDD42E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49243" y="3398205"/>
                <a:ext cx="3647694" cy="3387469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4772B94-E453-ACC2-404C-3FD312D23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84135" y="3398205"/>
                <a:ext cx="3832271" cy="3387471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C17307B-06D4-C308-364A-4E459F7D1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4490" y="4088287"/>
              <a:ext cx="2484214" cy="225317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2C17141-5A54-6342-1132-8CB22D2C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3294" y="4088287"/>
              <a:ext cx="2454368" cy="22281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E4D3F9-1D18-DC02-A91B-DD69F735B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450" y="1511762"/>
            <a:ext cx="4778600" cy="2442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AA5BEC-5D2B-CDF3-813B-5B475D06F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294" y="1511762"/>
            <a:ext cx="2608258" cy="2442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2E3386-D6ED-644A-6EC1-BA00F48EA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1511761"/>
            <a:ext cx="2608258" cy="2442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DE24D5-14B5-B975-C835-35838CAF1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295" y="4093574"/>
            <a:ext cx="2608257" cy="21769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F6D934-A937-764F-E324-0875B642D7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4189404"/>
            <a:ext cx="2608258" cy="20811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786208-B121-FDDA-A0A8-0B5A9715DF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11" y="4093574"/>
            <a:ext cx="2332973" cy="21769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C2A747-64A8-1F52-F7A1-D1B11232CA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184" y="4093574"/>
            <a:ext cx="2325865" cy="21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3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346810-EB81-581B-4A01-C811E1FD2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467" y="1439606"/>
            <a:ext cx="2761120" cy="2373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63D891-DFA8-24A7-DF6C-66CC2C6F7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51" y="1439607"/>
            <a:ext cx="2675506" cy="2373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026D1-7570-24A2-C750-5B66A22D7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912" y="1439604"/>
            <a:ext cx="3052142" cy="2373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C55A30-3A31-BA73-D2C7-42ACC2444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602" y="1439605"/>
            <a:ext cx="2896295" cy="23739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99FF59-C780-7B50-D8C9-DC7ED1DCBC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467" y="3972349"/>
            <a:ext cx="5798430" cy="219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6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>
            <a:extLst>
              <a:ext uri="{FF2B5EF4-FFF2-40B4-BE49-F238E27FC236}">
                <a16:creationId xmlns:a16="http://schemas.microsoft.com/office/drawing/2014/main" id="{52588850-7C21-B4C3-492B-71261366D871}"/>
              </a:ext>
            </a:extLst>
          </p:cNvPr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1200" dirty="0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B0E3C4BE-6B56-EEBE-DE96-F75BAFD4A2D7}"/>
              </a:ext>
            </a:extLst>
          </p:cNvPr>
          <p:cNvSpPr/>
          <p:nvPr/>
        </p:nvSpPr>
        <p:spPr>
          <a:xfrm>
            <a:off x="4541825" y="1600200"/>
            <a:ext cx="3108960" cy="5029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DCE6ADF9-90A3-8688-387A-5EC0C1859163}"/>
              </a:ext>
            </a:extLst>
          </p:cNvPr>
          <p:cNvSpPr/>
          <p:nvPr/>
        </p:nvSpPr>
        <p:spPr>
          <a:xfrm>
            <a:off x="4438122" y="1548765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GENOME ANNOTATION</a:t>
            </a:r>
            <a:endParaRPr lang="en-US" sz="1500" dirty="0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4DECC9D8-75B7-DCC8-A894-6B02819925FB}"/>
              </a:ext>
            </a:extLst>
          </p:cNvPr>
          <p:cNvSpPr/>
          <p:nvPr/>
        </p:nvSpPr>
        <p:spPr>
          <a:xfrm>
            <a:off x="1463040" y="233172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8741F38F-C62A-36AD-1FAC-9FDB341FF966}"/>
              </a:ext>
            </a:extLst>
          </p:cNvPr>
          <p:cNvSpPr/>
          <p:nvPr/>
        </p:nvSpPr>
        <p:spPr>
          <a:xfrm>
            <a:off x="1463040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ANNOTATION</a:t>
            </a:r>
            <a:endParaRPr lang="en-US" sz="1400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2188A7B0-40B1-AD3F-6838-B29D3A6F1D92}"/>
              </a:ext>
            </a:extLst>
          </p:cNvPr>
          <p:cNvSpPr/>
          <p:nvPr/>
        </p:nvSpPr>
        <p:spPr>
          <a:xfrm>
            <a:off x="7525512" y="233172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C97B3E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E30F6F8-55B2-5F89-BFF2-CBEB794ACAFD}"/>
              </a:ext>
            </a:extLst>
          </p:cNvPr>
          <p:cNvSpPr/>
          <p:nvPr/>
        </p:nvSpPr>
        <p:spPr>
          <a:xfrm>
            <a:off x="7525512" y="2331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ANNOTATION</a:t>
            </a:r>
            <a:endParaRPr lang="en-US" sz="1400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D32B3BCA-C501-DF2C-6E3A-CEDF1558115A}"/>
              </a:ext>
            </a:extLst>
          </p:cNvPr>
          <p:cNvSpPr/>
          <p:nvPr/>
        </p:nvSpPr>
        <p:spPr>
          <a:xfrm>
            <a:off x="6096305" y="2103120"/>
            <a:ext cx="0" cy="12573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</a:ln>
        </p:spPr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749A5EE9-25FF-1010-CB35-1B69B7D46E78}"/>
              </a:ext>
            </a:extLst>
          </p:cNvPr>
          <p:cNvSpPr/>
          <p:nvPr/>
        </p:nvSpPr>
        <p:spPr>
          <a:xfrm>
            <a:off x="3063240" y="2228850"/>
            <a:ext cx="6062472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</a:ln>
        </p:spPr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2410AFF6-4A05-9841-26BC-4182566E22A4}"/>
              </a:ext>
            </a:extLst>
          </p:cNvPr>
          <p:cNvSpPr/>
          <p:nvPr/>
        </p:nvSpPr>
        <p:spPr>
          <a:xfrm>
            <a:off x="3063240" y="2228850"/>
            <a:ext cx="0" cy="10287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9B5EAA66-4B4A-2692-CBE3-7BF63F7748F6}"/>
              </a:ext>
            </a:extLst>
          </p:cNvPr>
          <p:cNvSpPr/>
          <p:nvPr/>
        </p:nvSpPr>
        <p:spPr>
          <a:xfrm>
            <a:off x="9125712" y="2228850"/>
            <a:ext cx="0" cy="10287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6C47426F-2253-C061-4587-77E3506416A1}"/>
              </a:ext>
            </a:extLst>
          </p:cNvPr>
          <p:cNvSpPr/>
          <p:nvPr/>
        </p:nvSpPr>
        <p:spPr>
          <a:xfrm>
            <a:off x="1737360" y="30632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EDF3ED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B4D7E7EA-6014-4D5E-766E-53CECDADD593}"/>
              </a:ext>
            </a:extLst>
          </p:cNvPr>
          <p:cNvSpPr/>
          <p:nvPr/>
        </p:nvSpPr>
        <p:spPr>
          <a:xfrm>
            <a:off x="1737360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gene?”</a:t>
            </a:r>
            <a:endParaRPr lang="en-US" sz="1400" dirty="0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346CE7AD-6DA3-3837-9380-F5B993309878}"/>
              </a:ext>
            </a:extLst>
          </p:cNvPr>
          <p:cNvSpPr/>
          <p:nvPr/>
        </p:nvSpPr>
        <p:spPr>
          <a:xfrm>
            <a:off x="7799832" y="306324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F7E7D4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11C53033-42E1-ADCB-9F97-A3B2C4E11959}"/>
              </a:ext>
            </a:extLst>
          </p:cNvPr>
          <p:cNvSpPr/>
          <p:nvPr/>
        </p:nvSpPr>
        <p:spPr>
          <a:xfrm>
            <a:off x="7799832" y="3063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it do?”</a:t>
            </a:r>
            <a:endParaRPr lang="en-US" sz="1400" dirty="0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06E2662B-826D-C0B2-B6CA-128444B5917F}"/>
              </a:ext>
            </a:extLst>
          </p:cNvPr>
          <p:cNvSpPr/>
          <p:nvPr/>
        </p:nvSpPr>
        <p:spPr>
          <a:xfrm>
            <a:off x="3063240" y="2834640"/>
            <a:ext cx="0" cy="12573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</a:ln>
        </p:spPr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E26564C6-15E1-7125-8314-94B4FC99DAE8}"/>
              </a:ext>
            </a:extLst>
          </p:cNvPr>
          <p:cNvSpPr/>
          <p:nvPr/>
        </p:nvSpPr>
        <p:spPr>
          <a:xfrm>
            <a:off x="3063240" y="2960370"/>
            <a:ext cx="0" cy="10287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71" name="Shape 19">
            <a:extLst>
              <a:ext uri="{FF2B5EF4-FFF2-40B4-BE49-F238E27FC236}">
                <a16:creationId xmlns:a16="http://schemas.microsoft.com/office/drawing/2014/main" id="{5636ED18-256B-E0DA-3FD9-3CB523D69403}"/>
              </a:ext>
            </a:extLst>
          </p:cNvPr>
          <p:cNvSpPr/>
          <p:nvPr/>
        </p:nvSpPr>
        <p:spPr>
          <a:xfrm>
            <a:off x="9125712" y="2834640"/>
            <a:ext cx="0" cy="125730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</a:ln>
        </p:spPr>
      </p:sp>
      <p:sp>
        <p:nvSpPr>
          <p:cNvPr id="73" name="Shape 20">
            <a:extLst>
              <a:ext uri="{FF2B5EF4-FFF2-40B4-BE49-F238E27FC236}">
                <a16:creationId xmlns:a16="http://schemas.microsoft.com/office/drawing/2014/main" id="{C55639A8-5102-E5E5-E505-9383E2931D4D}"/>
              </a:ext>
            </a:extLst>
          </p:cNvPr>
          <p:cNvSpPr/>
          <p:nvPr/>
        </p:nvSpPr>
        <p:spPr>
          <a:xfrm>
            <a:off x="9125712" y="2960370"/>
            <a:ext cx="0" cy="102870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  <a:tailEnd type="triangle"/>
          </a:ln>
        </p:spPr>
      </p:sp>
      <p:sp>
        <p:nvSpPr>
          <p:cNvPr id="75" name="Shape 21">
            <a:extLst>
              <a:ext uri="{FF2B5EF4-FFF2-40B4-BE49-F238E27FC236}">
                <a16:creationId xmlns:a16="http://schemas.microsoft.com/office/drawing/2014/main" id="{4026B4C3-E097-2193-66B7-1E35F81E1CF5}"/>
              </a:ext>
            </a:extLst>
          </p:cNvPr>
          <p:cNvSpPr/>
          <p:nvPr/>
        </p:nvSpPr>
        <p:spPr>
          <a:xfrm>
            <a:off x="1257300" y="39776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77" name="Text 22">
            <a:extLst>
              <a:ext uri="{FF2B5EF4-FFF2-40B4-BE49-F238E27FC236}">
                <a16:creationId xmlns:a16="http://schemas.microsoft.com/office/drawing/2014/main" id="{1A8EA31F-2473-13E7-7A31-84274BAF133E}"/>
              </a:ext>
            </a:extLst>
          </p:cNvPr>
          <p:cNvSpPr/>
          <p:nvPr/>
        </p:nvSpPr>
        <p:spPr>
          <a:xfrm>
            <a:off x="1257300" y="3977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300" dirty="0"/>
          </a:p>
        </p:txBody>
      </p:sp>
      <p:sp>
        <p:nvSpPr>
          <p:cNvPr id="79" name="Shape 23">
            <a:extLst>
              <a:ext uri="{FF2B5EF4-FFF2-40B4-BE49-F238E27FC236}">
                <a16:creationId xmlns:a16="http://schemas.microsoft.com/office/drawing/2014/main" id="{EB68DD5A-D13A-BDF2-FF92-0AA9F9046C3B}"/>
              </a:ext>
            </a:extLst>
          </p:cNvPr>
          <p:cNvSpPr/>
          <p:nvPr/>
        </p:nvSpPr>
        <p:spPr>
          <a:xfrm>
            <a:off x="2537460" y="39776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EC79B139-3EF2-2E3A-AE62-08322C0BC961}"/>
              </a:ext>
            </a:extLst>
          </p:cNvPr>
          <p:cNvSpPr/>
          <p:nvPr/>
        </p:nvSpPr>
        <p:spPr>
          <a:xfrm>
            <a:off x="2537460" y="3977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Exons</a:t>
            </a:r>
            <a:endParaRPr lang="en-US" sz="1300" dirty="0"/>
          </a:p>
        </p:txBody>
      </p:sp>
      <p:sp>
        <p:nvSpPr>
          <p:cNvPr id="83" name="Shape 25">
            <a:extLst>
              <a:ext uri="{FF2B5EF4-FFF2-40B4-BE49-F238E27FC236}">
                <a16:creationId xmlns:a16="http://schemas.microsoft.com/office/drawing/2014/main" id="{FB863D97-D216-2AFC-3D6A-527A81EF43AD}"/>
              </a:ext>
            </a:extLst>
          </p:cNvPr>
          <p:cNvSpPr/>
          <p:nvPr/>
        </p:nvSpPr>
        <p:spPr>
          <a:xfrm>
            <a:off x="3817620" y="39776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87B74AC6-DC70-0911-050C-2E5A8AAFF684}"/>
              </a:ext>
            </a:extLst>
          </p:cNvPr>
          <p:cNvSpPr/>
          <p:nvPr/>
        </p:nvSpPr>
        <p:spPr>
          <a:xfrm>
            <a:off x="3817620" y="3977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1300" dirty="0"/>
          </a:p>
        </p:txBody>
      </p:sp>
      <p:sp>
        <p:nvSpPr>
          <p:cNvPr id="87" name="Shape 27">
            <a:extLst>
              <a:ext uri="{FF2B5EF4-FFF2-40B4-BE49-F238E27FC236}">
                <a16:creationId xmlns:a16="http://schemas.microsoft.com/office/drawing/2014/main" id="{6177753A-D0FC-3B31-FDFF-7E941848160A}"/>
              </a:ext>
            </a:extLst>
          </p:cNvPr>
          <p:cNvSpPr/>
          <p:nvPr/>
        </p:nvSpPr>
        <p:spPr>
          <a:xfrm>
            <a:off x="3063240" y="3566160"/>
            <a:ext cx="0" cy="226314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</a:ln>
        </p:spPr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CA43FAB8-7047-9179-2EEA-41DD46311A24}"/>
              </a:ext>
            </a:extLst>
          </p:cNvPr>
          <p:cNvSpPr/>
          <p:nvPr/>
        </p:nvSpPr>
        <p:spPr>
          <a:xfrm>
            <a:off x="1783080" y="3792474"/>
            <a:ext cx="2560320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</a:ln>
        </p:spPr>
      </p:sp>
      <p:sp>
        <p:nvSpPr>
          <p:cNvPr id="91" name="Shape 29">
            <a:extLst>
              <a:ext uri="{FF2B5EF4-FFF2-40B4-BE49-F238E27FC236}">
                <a16:creationId xmlns:a16="http://schemas.microsoft.com/office/drawing/2014/main" id="{57A2C001-A2E7-FE31-E71E-D339DDAFF3FF}"/>
              </a:ext>
            </a:extLst>
          </p:cNvPr>
          <p:cNvSpPr/>
          <p:nvPr/>
        </p:nvSpPr>
        <p:spPr>
          <a:xfrm>
            <a:off x="1783080" y="3792474"/>
            <a:ext cx="0" cy="185166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93" name="Shape 30">
            <a:extLst>
              <a:ext uri="{FF2B5EF4-FFF2-40B4-BE49-F238E27FC236}">
                <a16:creationId xmlns:a16="http://schemas.microsoft.com/office/drawing/2014/main" id="{32804FA5-B071-9354-AF30-10A657E6CFA2}"/>
              </a:ext>
            </a:extLst>
          </p:cNvPr>
          <p:cNvSpPr/>
          <p:nvPr/>
        </p:nvSpPr>
        <p:spPr>
          <a:xfrm>
            <a:off x="3063240" y="3792474"/>
            <a:ext cx="0" cy="185166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95" name="Shape 31">
            <a:extLst>
              <a:ext uri="{FF2B5EF4-FFF2-40B4-BE49-F238E27FC236}">
                <a16:creationId xmlns:a16="http://schemas.microsoft.com/office/drawing/2014/main" id="{BCCC510F-2B00-0683-306A-D531FDA82A67}"/>
              </a:ext>
            </a:extLst>
          </p:cNvPr>
          <p:cNvSpPr/>
          <p:nvPr/>
        </p:nvSpPr>
        <p:spPr>
          <a:xfrm>
            <a:off x="4343400" y="3792474"/>
            <a:ext cx="0" cy="185166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97" name="Shape 32">
            <a:extLst>
              <a:ext uri="{FF2B5EF4-FFF2-40B4-BE49-F238E27FC236}">
                <a16:creationId xmlns:a16="http://schemas.microsoft.com/office/drawing/2014/main" id="{B5E2DE86-BF0B-83AA-EC36-EF21C51C911C}"/>
              </a:ext>
            </a:extLst>
          </p:cNvPr>
          <p:cNvSpPr/>
          <p:nvPr/>
        </p:nvSpPr>
        <p:spPr>
          <a:xfrm>
            <a:off x="7114032" y="3977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99" name="Text 33">
            <a:extLst>
              <a:ext uri="{FF2B5EF4-FFF2-40B4-BE49-F238E27FC236}">
                <a16:creationId xmlns:a16="http://schemas.microsoft.com/office/drawing/2014/main" id="{AE2EE44E-1983-2BF9-10A0-B8923B560631}"/>
              </a:ext>
            </a:extLst>
          </p:cNvPr>
          <p:cNvSpPr/>
          <p:nvPr/>
        </p:nvSpPr>
        <p:spPr>
          <a:xfrm>
            <a:off x="7114032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101" name="Shape 34">
            <a:extLst>
              <a:ext uri="{FF2B5EF4-FFF2-40B4-BE49-F238E27FC236}">
                <a16:creationId xmlns:a16="http://schemas.microsoft.com/office/drawing/2014/main" id="{976B9843-9948-EE4B-19EB-4F6C13DA759D}"/>
              </a:ext>
            </a:extLst>
          </p:cNvPr>
          <p:cNvSpPr/>
          <p:nvPr/>
        </p:nvSpPr>
        <p:spPr>
          <a:xfrm>
            <a:off x="8531352" y="3977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103" name="Text 35">
            <a:extLst>
              <a:ext uri="{FF2B5EF4-FFF2-40B4-BE49-F238E27FC236}">
                <a16:creationId xmlns:a16="http://schemas.microsoft.com/office/drawing/2014/main" id="{EA394DD3-9E1C-1EDC-5F62-A42DD6CC4E2E}"/>
              </a:ext>
            </a:extLst>
          </p:cNvPr>
          <p:cNvSpPr/>
          <p:nvPr/>
        </p:nvSpPr>
        <p:spPr>
          <a:xfrm>
            <a:off x="8531352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300" dirty="0"/>
          </a:p>
        </p:txBody>
      </p:sp>
      <p:sp>
        <p:nvSpPr>
          <p:cNvPr id="105" name="Shape 36">
            <a:extLst>
              <a:ext uri="{FF2B5EF4-FFF2-40B4-BE49-F238E27FC236}">
                <a16:creationId xmlns:a16="http://schemas.microsoft.com/office/drawing/2014/main" id="{0F71D775-706B-9606-EC2D-8106EA16DD12}"/>
              </a:ext>
            </a:extLst>
          </p:cNvPr>
          <p:cNvSpPr/>
          <p:nvPr/>
        </p:nvSpPr>
        <p:spPr>
          <a:xfrm>
            <a:off x="9948672" y="3977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107" name="Text 37">
            <a:extLst>
              <a:ext uri="{FF2B5EF4-FFF2-40B4-BE49-F238E27FC236}">
                <a16:creationId xmlns:a16="http://schemas.microsoft.com/office/drawing/2014/main" id="{993474A4-89B0-9EE9-C060-B882657FE038}"/>
              </a:ext>
            </a:extLst>
          </p:cNvPr>
          <p:cNvSpPr/>
          <p:nvPr/>
        </p:nvSpPr>
        <p:spPr>
          <a:xfrm>
            <a:off x="9948672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terms</a:t>
            </a:r>
            <a:endParaRPr lang="en-US" sz="1300" dirty="0"/>
          </a:p>
        </p:txBody>
      </p:sp>
      <p:sp>
        <p:nvSpPr>
          <p:cNvPr id="109" name="Shape 38">
            <a:extLst>
              <a:ext uri="{FF2B5EF4-FFF2-40B4-BE49-F238E27FC236}">
                <a16:creationId xmlns:a16="http://schemas.microsoft.com/office/drawing/2014/main" id="{024AE17B-D6C5-4689-3E2C-7600F36E6BFD}"/>
              </a:ext>
            </a:extLst>
          </p:cNvPr>
          <p:cNvSpPr/>
          <p:nvPr/>
        </p:nvSpPr>
        <p:spPr>
          <a:xfrm>
            <a:off x="9125712" y="3566160"/>
            <a:ext cx="0" cy="226314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</a:ln>
        </p:spPr>
      </p:sp>
      <p:sp>
        <p:nvSpPr>
          <p:cNvPr id="111" name="Shape 39">
            <a:extLst>
              <a:ext uri="{FF2B5EF4-FFF2-40B4-BE49-F238E27FC236}">
                <a16:creationId xmlns:a16="http://schemas.microsoft.com/office/drawing/2014/main" id="{34F99F5A-B782-D697-73DE-ED51FC281C56}"/>
              </a:ext>
            </a:extLst>
          </p:cNvPr>
          <p:cNvSpPr/>
          <p:nvPr/>
        </p:nvSpPr>
        <p:spPr>
          <a:xfrm>
            <a:off x="7708392" y="3792474"/>
            <a:ext cx="2834640" cy="0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</a:ln>
        </p:spPr>
      </p:sp>
      <p:sp>
        <p:nvSpPr>
          <p:cNvPr id="113" name="Shape 40">
            <a:extLst>
              <a:ext uri="{FF2B5EF4-FFF2-40B4-BE49-F238E27FC236}">
                <a16:creationId xmlns:a16="http://schemas.microsoft.com/office/drawing/2014/main" id="{7B76861C-E217-5C31-A021-7C519F51EB55}"/>
              </a:ext>
            </a:extLst>
          </p:cNvPr>
          <p:cNvSpPr/>
          <p:nvPr/>
        </p:nvSpPr>
        <p:spPr>
          <a:xfrm>
            <a:off x="7708392" y="3792474"/>
            <a:ext cx="0" cy="185166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  <a:tailEnd type="triangle"/>
          </a:ln>
        </p:spPr>
      </p:sp>
      <p:sp>
        <p:nvSpPr>
          <p:cNvPr id="115" name="Shape 41">
            <a:extLst>
              <a:ext uri="{FF2B5EF4-FFF2-40B4-BE49-F238E27FC236}">
                <a16:creationId xmlns:a16="http://schemas.microsoft.com/office/drawing/2014/main" id="{18BE5F83-8200-45AD-45D9-C66CB96B1BEB}"/>
              </a:ext>
            </a:extLst>
          </p:cNvPr>
          <p:cNvSpPr/>
          <p:nvPr/>
        </p:nvSpPr>
        <p:spPr>
          <a:xfrm>
            <a:off x="9125712" y="3792474"/>
            <a:ext cx="0" cy="185166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  <a:tailEnd type="triangle"/>
          </a:ln>
        </p:spPr>
      </p:sp>
      <p:sp>
        <p:nvSpPr>
          <p:cNvPr id="117" name="Shape 42">
            <a:extLst>
              <a:ext uri="{FF2B5EF4-FFF2-40B4-BE49-F238E27FC236}">
                <a16:creationId xmlns:a16="http://schemas.microsoft.com/office/drawing/2014/main" id="{C7650D70-E895-25ED-C56D-F8B34FA75BBE}"/>
              </a:ext>
            </a:extLst>
          </p:cNvPr>
          <p:cNvSpPr/>
          <p:nvPr/>
        </p:nvSpPr>
        <p:spPr>
          <a:xfrm>
            <a:off x="10543032" y="3792474"/>
            <a:ext cx="0" cy="185166"/>
          </a:xfrm>
          <a:prstGeom prst="line">
            <a:avLst/>
          </a:prstGeom>
          <a:noFill/>
          <a:ln w="19050">
            <a:solidFill>
              <a:srgbClr val="C97B3E"/>
            </a:solidFill>
            <a:prstDash val="solid"/>
            <a:tailEnd type="triangle"/>
          </a:ln>
        </p:spPr>
      </p:sp>
      <p:sp>
        <p:nvSpPr>
          <p:cNvPr id="119" name="Shape 43">
            <a:extLst>
              <a:ext uri="{FF2B5EF4-FFF2-40B4-BE49-F238E27FC236}">
                <a16:creationId xmlns:a16="http://schemas.microsoft.com/office/drawing/2014/main" id="{04B6E1D8-4940-72F6-CA4B-952D9217EF18}"/>
              </a:ext>
            </a:extLst>
          </p:cNvPr>
          <p:cNvSpPr/>
          <p:nvPr/>
        </p:nvSpPr>
        <p:spPr>
          <a:xfrm>
            <a:off x="1737360" y="478917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EDF3ED"/>
          </a:solidFill>
          <a:ln/>
        </p:spPr>
      </p:sp>
      <p:sp>
        <p:nvSpPr>
          <p:cNvPr id="121" name="Text 44">
            <a:extLst>
              <a:ext uri="{FF2B5EF4-FFF2-40B4-BE49-F238E27FC236}">
                <a16:creationId xmlns:a16="http://schemas.microsoft.com/office/drawing/2014/main" id="{5A69A9FA-1BC2-2F54-D59A-68A213076CBB}"/>
              </a:ext>
            </a:extLst>
          </p:cNvPr>
          <p:cNvSpPr/>
          <p:nvPr/>
        </p:nvSpPr>
        <p:spPr>
          <a:xfrm>
            <a:off x="1969007" y="4847983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</a:t>
            </a: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gene and its parts — this is what your gene-prediction tool outputs as a GFF3.</a:t>
            </a:r>
            <a:endParaRPr lang="en-US" sz="1250" dirty="0"/>
          </a:p>
        </p:txBody>
      </p:sp>
      <p:sp>
        <p:nvSpPr>
          <p:cNvPr id="123" name="Shape 45">
            <a:extLst>
              <a:ext uri="{FF2B5EF4-FFF2-40B4-BE49-F238E27FC236}">
                <a16:creationId xmlns:a16="http://schemas.microsoft.com/office/drawing/2014/main" id="{3516DCDB-8EBD-393E-1F80-3E401EED2B99}"/>
              </a:ext>
            </a:extLst>
          </p:cNvPr>
          <p:cNvSpPr/>
          <p:nvPr/>
        </p:nvSpPr>
        <p:spPr>
          <a:xfrm>
            <a:off x="7641474" y="4818888"/>
            <a:ext cx="2572789" cy="777240"/>
          </a:xfrm>
          <a:prstGeom prst="roundRect">
            <a:avLst>
              <a:gd name="adj" fmla="val 11765"/>
            </a:avLst>
          </a:prstGeom>
          <a:solidFill>
            <a:srgbClr val="F7E7D4"/>
          </a:solidFill>
          <a:ln/>
        </p:spPr>
      </p:sp>
      <p:sp>
        <p:nvSpPr>
          <p:cNvPr id="125" name="Text 46">
            <a:extLst>
              <a:ext uri="{FF2B5EF4-FFF2-40B4-BE49-F238E27FC236}">
                <a16:creationId xmlns:a16="http://schemas.microsoft.com/office/drawing/2014/main" id="{D9B41AC8-5290-8548-823E-E8842AF81119}"/>
              </a:ext>
            </a:extLst>
          </p:cNvPr>
          <p:cNvSpPr/>
          <p:nvPr/>
        </p:nvSpPr>
        <p:spPr>
          <a:xfrm>
            <a:off x="7708392" y="4887468"/>
            <a:ext cx="251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</a:t>
            </a: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that gene — this needs a separate step your prediction tool does not run for you.</a:t>
            </a:r>
            <a:endParaRPr lang="en-US" sz="1250" dirty="0"/>
          </a:p>
        </p:txBody>
      </p:sp>
      <p:sp>
        <p:nvSpPr>
          <p:cNvPr id="127" name="Text 47">
            <a:extLst>
              <a:ext uri="{FF2B5EF4-FFF2-40B4-BE49-F238E27FC236}">
                <a16:creationId xmlns:a16="http://schemas.microsoft.com/office/drawing/2014/main" id="{248F54D9-C07A-89E1-90EC-97BA66884E6B}"/>
              </a:ext>
            </a:extLst>
          </p:cNvPr>
          <p:cNvSpPr/>
          <p:nvPr/>
        </p:nvSpPr>
        <p:spPr>
          <a:xfrm>
            <a:off x="4663440" y="4887468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annotation answers WHERE; functional annotation answers WHAT. Both are needed before a gene set is actually usable.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455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8956F9-D95C-A710-8D82-080C1AA7D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1915285"/>
              </p:ext>
            </p:extLst>
          </p:nvPr>
        </p:nvGraphicFramePr>
        <p:xfrm>
          <a:off x="1556139" y="102850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287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CE9345-C320-BFA4-3E97-E5807B5607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3" t="17240" r="19193" b="12258"/>
          <a:stretch/>
        </p:blipFill>
        <p:spPr>
          <a:xfrm>
            <a:off x="2983387" y="1230739"/>
            <a:ext cx="5641209" cy="342054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EB80F29-808C-3BB6-8316-A33001C0DBAF}"/>
              </a:ext>
            </a:extLst>
          </p:cNvPr>
          <p:cNvGrpSpPr/>
          <p:nvPr/>
        </p:nvGrpSpPr>
        <p:grpSpPr>
          <a:xfrm>
            <a:off x="2533539" y="4686146"/>
            <a:ext cx="6950803" cy="1539800"/>
            <a:chOff x="1691149" y="1113806"/>
            <a:chExt cx="6856289" cy="2017258"/>
          </a:xfrm>
        </p:grpSpPr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C5A56FD8-40FE-216B-416A-FD43EC49F6A7}"/>
                </a:ext>
              </a:extLst>
            </p:cNvPr>
            <p:cNvSpPr/>
            <p:nvPr/>
          </p:nvSpPr>
          <p:spPr>
            <a:xfrm>
              <a:off x="4710040" y="1113806"/>
              <a:ext cx="186811" cy="318402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EE87AF4E-A5B7-54FE-8657-1B4DEF10A0BA}"/>
                </a:ext>
              </a:extLst>
            </p:cNvPr>
            <p:cNvSpPr/>
            <p:nvPr/>
          </p:nvSpPr>
          <p:spPr>
            <a:xfrm>
              <a:off x="4710428" y="2168104"/>
              <a:ext cx="201560" cy="32133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46C6923-D519-00E0-862A-51E8BBC07030}"/>
                </a:ext>
              </a:extLst>
            </p:cNvPr>
            <p:cNvGrpSpPr/>
            <p:nvPr/>
          </p:nvGrpSpPr>
          <p:grpSpPr>
            <a:xfrm>
              <a:off x="1691149" y="2490372"/>
              <a:ext cx="6856289" cy="640692"/>
              <a:chOff x="1538749" y="5051823"/>
              <a:chExt cx="6700683" cy="536308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9B5F169-BEAB-C92E-DEC7-D36988B40071}"/>
                  </a:ext>
                </a:extLst>
              </p:cNvPr>
              <p:cNvSpPr/>
              <p:nvPr/>
            </p:nvSpPr>
            <p:spPr>
              <a:xfrm>
                <a:off x="7209503" y="5055568"/>
                <a:ext cx="1029929" cy="504574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REPEAT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AC0E9BF-C279-EC65-84D9-2B29A27E2CF3}"/>
                  </a:ext>
                </a:extLst>
              </p:cNvPr>
              <p:cNvSpPr/>
              <p:nvPr/>
            </p:nvSpPr>
            <p:spPr>
              <a:xfrm>
                <a:off x="3116826" y="5069170"/>
                <a:ext cx="2863645" cy="504574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NONCODING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B0DCAD5-2C21-1768-1E86-92960239E2DC}"/>
                  </a:ext>
                </a:extLst>
              </p:cNvPr>
              <p:cNvSpPr/>
              <p:nvPr/>
            </p:nvSpPr>
            <p:spPr>
              <a:xfrm>
                <a:off x="5980471" y="5083557"/>
                <a:ext cx="1229032" cy="504574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GENE2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A37B339-5876-F494-69C3-B9092764D15B}"/>
                  </a:ext>
                </a:extLst>
              </p:cNvPr>
              <p:cNvSpPr/>
              <p:nvPr/>
            </p:nvSpPr>
            <p:spPr>
              <a:xfrm>
                <a:off x="1538749" y="5051823"/>
                <a:ext cx="1578077" cy="504574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GENE1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3D642B4-FBBA-9410-3EFF-FDB1F8D02D92}"/>
                </a:ext>
              </a:extLst>
            </p:cNvPr>
            <p:cNvGrpSpPr/>
            <p:nvPr/>
          </p:nvGrpSpPr>
          <p:grpSpPr>
            <a:xfrm>
              <a:off x="1691149" y="1584608"/>
              <a:ext cx="6856289" cy="640692"/>
              <a:chOff x="1538749" y="5051823"/>
              <a:chExt cx="6700683" cy="53630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226D830-65E0-9B4D-9397-42733E504264}"/>
                  </a:ext>
                </a:extLst>
              </p:cNvPr>
              <p:cNvSpPr/>
              <p:nvPr/>
            </p:nvSpPr>
            <p:spPr>
              <a:xfrm>
                <a:off x="7209503" y="5055568"/>
                <a:ext cx="1029929" cy="504574"/>
              </a:xfrm>
              <a:prstGeom prst="round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ATTTGG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8D5DB259-E822-C4A0-A2A7-563FDD4E7631}"/>
                  </a:ext>
                </a:extLst>
              </p:cNvPr>
              <p:cNvSpPr/>
              <p:nvPr/>
            </p:nvSpPr>
            <p:spPr>
              <a:xfrm>
                <a:off x="3116826" y="5069170"/>
                <a:ext cx="2863645" cy="504574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AGGGTAAACCCGGTTAACCG</a:t>
                </a: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3DDB0A0-9DD4-486B-4BDC-4E9D7D5C887B}"/>
                  </a:ext>
                </a:extLst>
              </p:cNvPr>
              <p:cNvSpPr/>
              <p:nvPr/>
            </p:nvSpPr>
            <p:spPr>
              <a:xfrm>
                <a:off x="5980471" y="5083557"/>
                <a:ext cx="1229032" cy="504574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TACTAATT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A3EE558-1A43-8A80-0016-9DDDAE8D52AC}"/>
                  </a:ext>
                </a:extLst>
              </p:cNvPr>
              <p:cNvSpPr/>
              <p:nvPr/>
            </p:nvSpPr>
            <p:spPr>
              <a:xfrm>
                <a:off x="1538749" y="5051823"/>
                <a:ext cx="1578077" cy="504574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dirty="0">
                    <a:solidFill>
                      <a:schemeClr val="tx1"/>
                    </a:solidFill>
                  </a:rPr>
                  <a:t>AATTGTGCAG</a:t>
                </a: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D90201-52BD-5EA0-99A0-8C118DFCC27B}"/>
              </a:ext>
            </a:extLst>
          </p:cNvPr>
          <p:cNvSpPr txBox="1"/>
          <p:nvPr/>
        </p:nvSpPr>
        <p:spPr>
          <a:xfrm>
            <a:off x="6096000" y="4657522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Annotation</a:t>
            </a:r>
          </a:p>
        </p:txBody>
      </p:sp>
    </p:spTree>
    <p:extLst>
      <p:ext uri="{BB962C8B-B14F-4D97-AF65-F5344CB8AC3E}">
        <p14:creationId xmlns:p14="http://schemas.microsoft.com/office/powerpoint/2010/main" val="381857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2854FEF0-7F07-B1E4-4F1C-6E674A9F8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054263"/>
              </p:ext>
            </p:extLst>
          </p:nvPr>
        </p:nvGraphicFramePr>
        <p:xfrm>
          <a:off x="640080" y="1554480"/>
          <a:ext cx="10908792" cy="4434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230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Stage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230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Representative Tools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Control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FastQC, fastp, NanoPlot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Genome Assembly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hifiasm, Flye, Canu, NextDenovo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Assembly Evaluation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QUAST, BUSCO, Merqury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Masking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EDTA, RepeatModeler2, RepeatMasker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 Prediction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AUGUSTUS, GeneMark-ES/ET, SNAP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 Integration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BRAKER, MAKER2, PASA, EVM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Annotation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1F2A2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InterProScan, eggNOG-mapper, BLAST/DIAMOND</a:t>
                      </a:r>
                      <a:endParaRPr lang="en-US" sz="20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27000" marR="1270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384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5829C137-BA64-12A5-B62A-28A5EEF41928}"/>
              </a:ext>
            </a:extLst>
          </p:cNvPr>
          <p:cNvSpPr/>
          <p:nvPr/>
        </p:nvSpPr>
        <p:spPr>
          <a:xfrm>
            <a:off x="891540" y="1067562"/>
            <a:ext cx="67992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Tools Check Read Quality?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B32A295-52C7-F856-8FE2-9A7B0DA228BC}"/>
              </a:ext>
            </a:extLst>
          </p:cNvPr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66102ED-62D0-CC4F-D727-1C8E7CE4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1872234"/>
            <a:ext cx="507492" cy="5074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022A5056-0A38-DC9B-5F62-8367574571CC}"/>
              </a:ext>
            </a:extLst>
          </p:cNvPr>
          <p:cNvSpPr/>
          <p:nvPr/>
        </p:nvSpPr>
        <p:spPr>
          <a:xfrm>
            <a:off x="1508760" y="1728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6C84ACC-E12A-8275-BD6E-DF1988BDACC3}"/>
              </a:ext>
            </a:extLst>
          </p:cNvPr>
          <p:cNvSpPr/>
          <p:nvPr/>
        </p:nvSpPr>
        <p:spPr>
          <a:xfrm>
            <a:off x="1508760" y="209397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raw short reads for base quality, adapter content, and GC bias — the first sanity check before anything else runs.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F791C3A-1350-B402-3D07-0E4E44B47515}"/>
              </a:ext>
            </a:extLst>
          </p:cNvPr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28769346-3835-7A6A-CD66-8D92AB2A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3289554"/>
            <a:ext cx="507492" cy="50749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C1C60589-B9F5-2F4D-15F3-5546B5F5FBDB}"/>
              </a:ext>
            </a:extLst>
          </p:cNvPr>
          <p:cNvSpPr/>
          <p:nvPr/>
        </p:nvSpPr>
        <p:spPr>
          <a:xfrm>
            <a:off x="1508760" y="3145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</a:t>
            </a:r>
            <a:endParaRPr lang="en-US" sz="18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0B5E02F-0B47-D58E-1AE9-059359C02FA5}"/>
              </a:ext>
            </a:extLst>
          </p:cNvPr>
          <p:cNvSpPr/>
          <p:nvPr/>
        </p:nvSpPr>
        <p:spPr>
          <a:xfrm>
            <a:off x="1508760" y="35112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trimming of adapters and low-quality bases; produces the QC report in the same pass.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FC075D61-D597-3A16-27F7-D13F0EADBC51}"/>
              </a:ext>
            </a:extLst>
          </p:cNvPr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6865CCD3-2B05-74DD-4769-8A0071FD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4706874"/>
            <a:ext cx="507492" cy="50749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A3728D96-83DC-CE0B-EBF3-2D48D1354ED0}"/>
              </a:ext>
            </a:extLst>
          </p:cNvPr>
          <p:cNvSpPr/>
          <p:nvPr/>
        </p:nvSpPr>
        <p:spPr>
          <a:xfrm>
            <a:off x="150876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NanoPlot</a:t>
            </a:r>
            <a:endParaRPr lang="en-US" sz="18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717D097-3710-29DA-3A17-6C715C86612D}"/>
              </a:ext>
            </a:extLst>
          </p:cNvPr>
          <p:cNvSpPr/>
          <p:nvPr/>
        </p:nvSpPr>
        <p:spPr>
          <a:xfrm>
            <a:off x="1508760" y="49286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 for long-read (ONT) data — read length and quality drive assembly contiguity directly.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8718E3EE-0FF1-5BA7-5341-27AC429A0773}"/>
              </a:ext>
            </a:extLst>
          </p:cNvPr>
          <p:cNvSpPr/>
          <p:nvPr/>
        </p:nvSpPr>
        <p:spPr>
          <a:xfrm>
            <a:off x="7942326" y="20574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DF3ED"/>
          </a:solidFill>
          <a:ln/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55A5345-C057-FEAA-40CB-C62373560B38}"/>
              </a:ext>
            </a:extLst>
          </p:cNvPr>
          <p:cNvSpPr/>
          <p:nvPr/>
        </p:nvSpPr>
        <p:spPr>
          <a:xfrm>
            <a:off x="82753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38EA8F64-E6BA-DDD0-B921-0A06F5A37165}"/>
              </a:ext>
            </a:extLst>
          </p:cNvPr>
          <p:cNvSpPr/>
          <p:nvPr/>
        </p:nvSpPr>
        <p:spPr>
          <a:xfrm>
            <a:off x="827532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Poor-quality reads propagate downstream: they fragment assemblies and generate unreliable gene models. QC is the first bioinformatics step for a reason.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24911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E82FFADF-EBE9-8EB8-02E0-D0C0F18E8CDA}"/>
              </a:ext>
            </a:extLst>
          </p:cNvPr>
          <p:cNvSpPr/>
          <p:nvPr/>
        </p:nvSpPr>
        <p:spPr>
          <a:xfrm>
            <a:off x="891540" y="1049274"/>
            <a:ext cx="7289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Tools Build the Genome?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0888937-09D3-6C19-18AE-DF6746F34E2B}"/>
              </a:ext>
            </a:extLst>
          </p:cNvPr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75E252A-2423-FC4C-B78F-3E07F102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1872234"/>
            <a:ext cx="507492" cy="5074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8E605BCF-8686-02D0-BE7A-A9A7D960436A}"/>
              </a:ext>
            </a:extLst>
          </p:cNvPr>
          <p:cNvSpPr/>
          <p:nvPr/>
        </p:nvSpPr>
        <p:spPr>
          <a:xfrm>
            <a:off x="1508760" y="1728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hifiasm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6EE053F-ED3F-AF4B-71F3-27F4430DB932}"/>
              </a:ext>
            </a:extLst>
          </p:cNvPr>
          <p:cNvSpPr/>
          <p:nvPr/>
        </p:nvSpPr>
        <p:spPr>
          <a:xfrm>
            <a:off x="1508760" y="209397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default for PacBio HiFi reads; resolves haplotypes directly — critical for heterozygous plant genomes.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B103B4C-A381-3B29-D8B8-003AC494448B}"/>
              </a:ext>
            </a:extLst>
          </p:cNvPr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B9C2E485-AC0E-D52C-D33D-EB9A6C971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3289554"/>
            <a:ext cx="507492" cy="50749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089A392A-C954-1984-1BC6-BC80FB70BEE9}"/>
              </a:ext>
            </a:extLst>
          </p:cNvPr>
          <p:cNvSpPr/>
          <p:nvPr/>
        </p:nvSpPr>
        <p:spPr>
          <a:xfrm>
            <a:off x="1508760" y="3145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</a:t>
            </a:r>
            <a:endParaRPr lang="en-US" sz="18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9C1ACA89-CBC8-D7E8-EDCA-7B64FAFB0EAF}"/>
              </a:ext>
            </a:extLst>
          </p:cNvPr>
          <p:cNvSpPr/>
          <p:nvPr/>
        </p:nvSpPr>
        <p:spPr>
          <a:xfrm>
            <a:off x="1508760" y="35112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ONT long reads and hybrid data with higher per-read error rates.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CB82B759-AD5A-272A-A826-5E820ED24925}"/>
              </a:ext>
            </a:extLst>
          </p:cNvPr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F26B0E8C-019F-92A2-3CD1-C754D832E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4706874"/>
            <a:ext cx="507492" cy="50749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ADB77B8A-327E-6E20-6153-5363DD5E48B4}"/>
              </a:ext>
            </a:extLst>
          </p:cNvPr>
          <p:cNvSpPr/>
          <p:nvPr/>
        </p:nvSpPr>
        <p:spPr>
          <a:xfrm>
            <a:off x="150876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Canu / NextDenovo</a:t>
            </a:r>
            <a:endParaRPr lang="en-US" sz="18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27C5AC70-EC12-7168-163E-B47CE0858147}"/>
              </a:ext>
            </a:extLst>
          </p:cNvPr>
          <p:cNvSpPr/>
          <p:nvPr/>
        </p:nvSpPr>
        <p:spPr>
          <a:xfrm>
            <a:off x="1508760" y="49286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long-read assemblers, often run alongside the above for comparison on repetitive genomes.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C849DDF6-7509-931C-B7F3-4090A3392222}"/>
              </a:ext>
            </a:extLst>
          </p:cNvPr>
          <p:cNvSpPr/>
          <p:nvPr/>
        </p:nvSpPr>
        <p:spPr>
          <a:xfrm>
            <a:off x="795528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DF3ED"/>
          </a:solidFill>
          <a:ln/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1293A505-F53B-2171-F918-2FBEFD49E876}"/>
              </a:ext>
            </a:extLst>
          </p:cNvPr>
          <p:cNvSpPr/>
          <p:nvPr/>
        </p:nvSpPr>
        <p:spPr>
          <a:xfrm>
            <a:off x="82753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C02CED11-C242-2BE3-E93E-B05877923DB4}"/>
              </a:ext>
            </a:extLst>
          </p:cNvPr>
          <p:cNvSpPr/>
          <p:nvPr/>
        </p:nvSpPr>
        <p:spPr>
          <a:xfrm>
            <a:off x="827532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assembler wins on every genome. Plant genomics labs commonly run two assemblers and compare results before committing.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5978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BD433710-B5FB-BCA7-39B5-19D4B89CB3BE}"/>
              </a:ext>
            </a:extLst>
          </p:cNvPr>
          <p:cNvSpPr/>
          <p:nvPr/>
        </p:nvSpPr>
        <p:spPr>
          <a:xfrm>
            <a:off x="502920" y="10287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the Assembly Is Good?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055110A-9D0A-1D11-510E-21D3E99BFB8E}"/>
              </a:ext>
            </a:extLst>
          </p:cNvPr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F40C0B39-F8F5-94D9-58F9-94C59761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1872234"/>
            <a:ext cx="507492" cy="5074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1B91598F-3095-107D-AB78-AB2AC97EB9E5}"/>
              </a:ext>
            </a:extLst>
          </p:cNvPr>
          <p:cNvSpPr/>
          <p:nvPr/>
        </p:nvSpPr>
        <p:spPr>
          <a:xfrm>
            <a:off x="1508760" y="1728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QUAST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6BA3AA9-0F42-7EB4-8130-CD092C79F8BA}"/>
              </a:ext>
            </a:extLst>
          </p:cNvPr>
          <p:cNvSpPr/>
          <p:nvPr/>
        </p:nvSpPr>
        <p:spPr>
          <a:xfrm>
            <a:off x="1508760" y="209397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N50, contig counts, and total length — basic contiguity statistics.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82FD396-1E9D-258E-3A61-67D27C84E167}"/>
              </a:ext>
            </a:extLst>
          </p:cNvPr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91EB6445-C84A-EA38-B085-8E03023C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3289554"/>
            <a:ext cx="507492" cy="50749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82E6F115-0CA0-F356-6223-671E4610A96D}"/>
              </a:ext>
            </a:extLst>
          </p:cNvPr>
          <p:cNvSpPr/>
          <p:nvPr/>
        </p:nvSpPr>
        <p:spPr>
          <a:xfrm>
            <a:off x="1508760" y="3145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</a:t>
            </a:r>
            <a:endParaRPr lang="en-US" sz="18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7948EEC-5937-3B43-7EB4-6FE3C22CD28F}"/>
              </a:ext>
            </a:extLst>
          </p:cNvPr>
          <p:cNvSpPr/>
          <p:nvPr/>
        </p:nvSpPr>
        <p:spPr>
          <a:xfrm>
            <a:off x="1508760" y="35112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conserved single-copy orthologs to score completeness.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0E22957E-6B84-4129-C720-A651D7DB5944}"/>
              </a:ext>
            </a:extLst>
          </p:cNvPr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1A7C0972-1582-E900-2AEA-B375FB79B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4706874"/>
            <a:ext cx="507492" cy="50749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4F26C292-97F3-06A0-2465-C2CD1E93FD9A}"/>
              </a:ext>
            </a:extLst>
          </p:cNvPr>
          <p:cNvSpPr/>
          <p:nvPr/>
        </p:nvSpPr>
        <p:spPr>
          <a:xfrm>
            <a:off x="150876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Merqury</a:t>
            </a:r>
            <a:endParaRPr lang="en-US" sz="18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6BBE219-7780-0929-C64B-1D6593CC3296}"/>
              </a:ext>
            </a:extLst>
          </p:cNvPr>
          <p:cNvSpPr/>
          <p:nvPr/>
        </p:nvSpPr>
        <p:spPr>
          <a:xfrm>
            <a:off x="1508760" y="49286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Reference-free, k-mer based check for base accuracy and haplotype phasing.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EC811217-B334-8857-CC4F-E4B7D3531B7D}"/>
              </a:ext>
            </a:extLst>
          </p:cNvPr>
          <p:cNvSpPr/>
          <p:nvPr/>
        </p:nvSpPr>
        <p:spPr>
          <a:xfrm>
            <a:off x="795528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DF3ED"/>
          </a:solidFill>
          <a:ln/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6E9B627-B1E0-9551-77C4-7F0E65F2B4F0}"/>
              </a:ext>
            </a:extLst>
          </p:cNvPr>
          <p:cNvSpPr/>
          <p:nvPr/>
        </p:nvSpPr>
        <p:spPr>
          <a:xfrm>
            <a:off x="82753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81C38389-3D12-D78D-729D-F1AE067FEDC5}"/>
              </a:ext>
            </a:extLst>
          </p:cNvPr>
          <p:cNvSpPr/>
          <p:nvPr/>
        </p:nvSpPr>
        <p:spPr>
          <a:xfrm>
            <a:off x="827532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N50 alone does not prove a good assembly. Completeness and accuracy are separate questions and need separate tools to answer.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41046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4CC9D1CD-DC4C-36DF-158B-47A0E2A71831}"/>
              </a:ext>
            </a:extLst>
          </p:cNvPr>
          <p:cNvSpPr/>
          <p:nvPr/>
        </p:nvSpPr>
        <p:spPr>
          <a:xfrm>
            <a:off x="563880" y="1057065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Tools Find Repeats Before Gene Prediction?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5C5EC31-3D76-7182-EF3D-B742015DF128}"/>
              </a:ext>
            </a:extLst>
          </p:cNvPr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C0AED8E-DAE6-1E16-F9E8-83912E3A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1872234"/>
            <a:ext cx="507492" cy="5074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712122F9-4DD6-C804-163B-02D64D2F5BBB}"/>
              </a:ext>
            </a:extLst>
          </p:cNvPr>
          <p:cNvSpPr/>
          <p:nvPr/>
        </p:nvSpPr>
        <p:spPr>
          <a:xfrm>
            <a:off x="1508760" y="1728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7021351-46CA-8DFA-C4C8-709B7EFF55C3}"/>
              </a:ext>
            </a:extLst>
          </p:cNvPr>
          <p:cNvSpPr/>
          <p:nvPr/>
        </p:nvSpPr>
        <p:spPr>
          <a:xfrm>
            <a:off x="1508760" y="209397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plant transposable elements — today’s standard for building plant repeat libraries.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D3C3501-8C48-697B-BEB2-7F6C7310A6E4}"/>
              </a:ext>
            </a:extLst>
          </p:cNvPr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3CA2EBF6-E68F-B25C-0602-CF9F0B482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3289554"/>
            <a:ext cx="507492" cy="50749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059E298A-76B8-26A7-D2D7-E8B50EE127C4}"/>
              </a:ext>
            </a:extLst>
          </p:cNvPr>
          <p:cNvSpPr/>
          <p:nvPr/>
        </p:nvSpPr>
        <p:spPr>
          <a:xfrm>
            <a:off x="1508760" y="3145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RepeatModeler2</a:t>
            </a:r>
            <a:endParaRPr lang="en-US" sz="18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39A85E3-6E0E-04E5-07ED-2C445614FED8}"/>
              </a:ext>
            </a:extLst>
          </p:cNvPr>
          <p:cNvSpPr/>
          <p:nvPr/>
        </p:nvSpPr>
        <p:spPr>
          <a:xfrm>
            <a:off x="1508760" y="35112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discovery of repeat families not already known or classified.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993CBA95-93EC-81B2-48A1-FA734969A4E5}"/>
              </a:ext>
            </a:extLst>
          </p:cNvPr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F4544DB0-4DDB-DC9E-0FB4-87FD90CF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4706874"/>
            <a:ext cx="507492" cy="50749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535609B0-0007-4038-F6AC-4579A9B41235}"/>
              </a:ext>
            </a:extLst>
          </p:cNvPr>
          <p:cNvSpPr/>
          <p:nvPr/>
        </p:nvSpPr>
        <p:spPr>
          <a:xfrm>
            <a:off x="150876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RepeatMasker</a:t>
            </a:r>
            <a:endParaRPr lang="en-US" sz="18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1F9E55B-37E3-D6B8-82AC-33D0DF45D5B0}"/>
              </a:ext>
            </a:extLst>
          </p:cNvPr>
          <p:cNvSpPr/>
          <p:nvPr/>
        </p:nvSpPr>
        <p:spPr>
          <a:xfrm>
            <a:off x="1508760" y="49286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repeat library to soft-mask the genome before gene prediction runs.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522E8880-A05E-A955-745B-C7EBD3CA8E01}"/>
              </a:ext>
            </a:extLst>
          </p:cNvPr>
          <p:cNvSpPr/>
          <p:nvPr/>
        </p:nvSpPr>
        <p:spPr>
          <a:xfrm>
            <a:off x="795528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DF3ED"/>
          </a:solidFill>
          <a:ln/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7DA570CE-FC31-BE84-FE5D-A4566C27814D}"/>
              </a:ext>
            </a:extLst>
          </p:cNvPr>
          <p:cNvSpPr/>
          <p:nvPr/>
        </p:nvSpPr>
        <p:spPr>
          <a:xfrm>
            <a:off x="82753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C1A0F009-51A5-EA39-000D-612C792C30A0}"/>
              </a:ext>
            </a:extLst>
          </p:cNvPr>
          <p:cNvSpPr/>
          <p:nvPr/>
        </p:nvSpPr>
        <p:spPr>
          <a:xfrm>
            <a:off x="827532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this step is the single biggest cause of false “genes” in plant annotation — many are just unmasked transposons.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46760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05FAA367-26A9-0F6A-E8BB-3F5BFA2139E6}"/>
              </a:ext>
            </a:extLst>
          </p:cNvPr>
          <p:cNvSpPr/>
          <p:nvPr/>
        </p:nvSpPr>
        <p:spPr>
          <a:xfrm>
            <a:off x="563880" y="107747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Tools Predict Gene Structure?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0879B2B-2ED9-1CB7-2CB7-24D8917A8758}"/>
              </a:ext>
            </a:extLst>
          </p:cNvPr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C0F330AB-B212-F398-0D65-A969D5D15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1872234"/>
            <a:ext cx="507492" cy="5074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3BAB5461-34CD-4FAF-689D-29D2257DEBDC}"/>
              </a:ext>
            </a:extLst>
          </p:cNvPr>
          <p:cNvSpPr/>
          <p:nvPr/>
        </p:nvSpPr>
        <p:spPr>
          <a:xfrm>
            <a:off x="1508760" y="1728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AUGUSTUS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1A4BC07-EB3B-E6C8-7317-29ACEB72B1C8}"/>
              </a:ext>
            </a:extLst>
          </p:cNvPr>
          <p:cNvSpPr/>
          <p:nvPr/>
        </p:nvSpPr>
        <p:spPr>
          <a:xfrm>
            <a:off x="1508760" y="209397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initio, HMM-based structural predictor; needs species-specific training parameters.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7FD84BE1-A9C1-CABD-E257-5C79A69C908E}"/>
              </a:ext>
            </a:extLst>
          </p:cNvPr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ABF2BFB3-703A-4DAA-FE79-3C604C46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3289554"/>
            <a:ext cx="507492" cy="50749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ADC5D79A-4D27-B8C9-988B-6B8ABFDF9599}"/>
              </a:ext>
            </a:extLst>
          </p:cNvPr>
          <p:cNvSpPr/>
          <p:nvPr/>
        </p:nvSpPr>
        <p:spPr>
          <a:xfrm>
            <a:off x="1508760" y="3145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GeneMark-ES/ET</a:t>
            </a:r>
            <a:endParaRPr lang="en-US" sz="18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7AEF4CF-A4C9-9C64-48A0-F682395230FC}"/>
              </a:ext>
            </a:extLst>
          </p:cNvPr>
          <p:cNvSpPr/>
          <p:nvPr/>
        </p:nvSpPr>
        <p:spPr>
          <a:xfrm>
            <a:off x="1508760" y="35112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Self-trains without a reference gene set; often paired with AUGUSTUS.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472852FD-77A3-F755-21A9-2528B49DFFFE}"/>
              </a:ext>
            </a:extLst>
          </p:cNvPr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4DF648DC-0FDB-4224-89DB-6BB462BD7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4706874"/>
            <a:ext cx="507492" cy="50749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93273466-40A5-5E86-BEAE-E4979748CC2A}"/>
              </a:ext>
            </a:extLst>
          </p:cNvPr>
          <p:cNvSpPr/>
          <p:nvPr/>
        </p:nvSpPr>
        <p:spPr>
          <a:xfrm>
            <a:off x="150876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18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4D2ACF44-C93A-E2D4-3441-4D77D1670472}"/>
              </a:ext>
            </a:extLst>
          </p:cNvPr>
          <p:cNvSpPr/>
          <p:nvPr/>
        </p:nvSpPr>
        <p:spPr>
          <a:xfrm>
            <a:off x="1508760" y="49286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ab initio predictor, commonly combined with others for a consensus call.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94E18334-AA2E-2176-98B7-2EA80A9D4ABB}"/>
              </a:ext>
            </a:extLst>
          </p:cNvPr>
          <p:cNvSpPr/>
          <p:nvPr/>
        </p:nvSpPr>
        <p:spPr>
          <a:xfrm>
            <a:off x="795528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DF3ED"/>
          </a:solidFill>
          <a:ln/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E50E9317-5D19-3AC9-2B14-8BCA42B743B1}"/>
              </a:ext>
            </a:extLst>
          </p:cNvPr>
          <p:cNvSpPr/>
          <p:nvPr/>
        </p:nvSpPr>
        <p:spPr>
          <a:xfrm>
            <a:off x="82753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85D9E44F-7165-4674-3CE9-BF46A678FBBB}"/>
              </a:ext>
            </a:extLst>
          </p:cNvPr>
          <p:cNvSpPr/>
          <p:nvPr/>
        </p:nvSpPr>
        <p:spPr>
          <a:xfrm>
            <a:off x="827532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initio prediction alone has a real accuracy ceiling. Training-parameter mismatch — e.g. Arabidopsis parameters on a distantly related species — measurably lowers accuracy.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92576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E7D011DF-0708-F1DC-981F-0EF2405B65AA}"/>
              </a:ext>
            </a:extLst>
          </p:cNvPr>
          <p:cNvSpPr/>
          <p:nvPr/>
        </p:nvSpPr>
        <p:spPr>
          <a:xfrm>
            <a:off x="489966" y="1125925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Tools Say What a Gene Does?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D968191-D676-6F23-9C5A-A1F722235D74}"/>
              </a:ext>
            </a:extLst>
          </p:cNvPr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3FB09A53-73CB-062A-D8B2-F6BA771D4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1872234"/>
            <a:ext cx="507492" cy="50749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E4935212-737B-5F69-97BC-BC602F87DFDB}"/>
              </a:ext>
            </a:extLst>
          </p:cNvPr>
          <p:cNvSpPr/>
          <p:nvPr/>
        </p:nvSpPr>
        <p:spPr>
          <a:xfrm>
            <a:off x="1508760" y="17282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InterProScan</a:t>
            </a:r>
            <a:endParaRPr lang="en-US" sz="18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F441714-0D31-ED4A-D06E-FE8FE66B956C}"/>
              </a:ext>
            </a:extLst>
          </p:cNvPr>
          <p:cNvSpPr/>
          <p:nvPr/>
        </p:nvSpPr>
        <p:spPr>
          <a:xfrm>
            <a:off x="1508760" y="209397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protein domains, motifs, and GO terms — the functional baseline layer.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937056E-1F3A-18B6-4DDC-021CF603F69B}"/>
              </a:ext>
            </a:extLst>
          </p:cNvPr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3803CA84-9D77-8721-EC58-4DEC28247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3289554"/>
            <a:ext cx="507492" cy="507492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43D80C67-2EF9-097A-9B17-0B6895E8ECC3}"/>
              </a:ext>
            </a:extLst>
          </p:cNvPr>
          <p:cNvSpPr/>
          <p:nvPr/>
        </p:nvSpPr>
        <p:spPr>
          <a:xfrm>
            <a:off x="1508760" y="3145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eggNOG-mapper</a:t>
            </a:r>
            <a:endParaRPr lang="en-US" sz="18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4B0270-5943-3ACD-EBA4-72E0860057DC}"/>
              </a:ext>
            </a:extLst>
          </p:cNvPr>
          <p:cNvSpPr/>
          <p:nvPr/>
        </p:nvSpPr>
        <p:spPr>
          <a:xfrm>
            <a:off x="1508760" y="35112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orthology-based functional and pathway category assignment.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B78CE754-AED3-C567-E35E-E322835B3C15}"/>
              </a:ext>
            </a:extLst>
          </p:cNvPr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5084D18F-FEDD-8953-EDBB-D43BDA419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" y="4706874"/>
            <a:ext cx="507492" cy="50749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34538DA1-3A8B-A5CF-996C-CFCD5436C5DA}"/>
              </a:ext>
            </a:extLst>
          </p:cNvPr>
          <p:cNvSpPr/>
          <p:nvPr/>
        </p:nvSpPr>
        <p:spPr>
          <a:xfrm>
            <a:off x="1508760" y="45628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/ DIAMOND</a:t>
            </a:r>
            <a:endParaRPr lang="en-US" sz="18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DCA362BA-E8E4-F241-D341-10CD6AAA43BF}"/>
              </a:ext>
            </a:extLst>
          </p:cNvPr>
          <p:cNvSpPr/>
          <p:nvPr/>
        </p:nvSpPr>
        <p:spPr>
          <a:xfrm>
            <a:off x="1508760" y="49286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Homology search against UniProt/Swiss-Prot for descriptive gene names.</a:t>
            </a:r>
            <a:endParaRPr lang="en-US" sz="1350" b="1" dirty="0">
              <a:solidFill>
                <a:srgbClr val="002060"/>
              </a:solidFill>
            </a:endParaRP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B59835A3-057D-1B6D-CD93-D862AB1417BB}"/>
              </a:ext>
            </a:extLst>
          </p:cNvPr>
          <p:cNvSpPr/>
          <p:nvPr/>
        </p:nvSpPr>
        <p:spPr>
          <a:xfrm>
            <a:off x="795528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DF3ED"/>
          </a:solidFill>
          <a:ln/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1FC1F598-9CF8-3A7E-1CAB-6DDDCDDFB061}"/>
              </a:ext>
            </a:extLst>
          </p:cNvPr>
          <p:cNvSpPr/>
          <p:nvPr/>
        </p:nvSpPr>
        <p:spPr>
          <a:xfrm>
            <a:off x="827532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7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1BCBB1AE-E20E-692C-3F37-AD437C52052A}"/>
              </a:ext>
            </a:extLst>
          </p:cNvPr>
          <p:cNvSpPr/>
          <p:nvPr/>
        </p:nvSpPr>
        <p:spPr>
          <a:xfrm>
            <a:off x="8275320" y="25146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prediction alone — e.g. raw AUGUSTUS output — is not annotation. Functional labels require this separate step.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6655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8240E1-5F7F-5547-ECE5-87A0CAA1F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08" y="1455504"/>
            <a:ext cx="11217612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21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E9A5C0-E8E4-9A81-D73C-6478544F36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904B0B-40C9-056D-2C58-9FED64CA4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236" y="1451436"/>
            <a:ext cx="7888722" cy="465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0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roup 217">
            <a:extLst>
              <a:ext uri="{FF2B5EF4-FFF2-40B4-BE49-F238E27FC236}">
                <a16:creationId xmlns:a16="http://schemas.microsoft.com/office/drawing/2014/main" id="{5AA1B5A4-C524-12D2-9412-5C9791F68423}"/>
              </a:ext>
            </a:extLst>
          </p:cNvPr>
          <p:cNvGrpSpPr/>
          <p:nvPr/>
        </p:nvGrpSpPr>
        <p:grpSpPr>
          <a:xfrm>
            <a:off x="733312" y="1175047"/>
            <a:ext cx="11272375" cy="5103894"/>
            <a:chOff x="660545" y="1222101"/>
            <a:chExt cx="11272375" cy="5103894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E6B19DE8-830A-E54F-DC91-78E0E18D88AE}"/>
                </a:ext>
              </a:extLst>
            </p:cNvPr>
            <p:cNvSpPr/>
            <p:nvPr/>
          </p:nvSpPr>
          <p:spPr>
            <a:xfrm>
              <a:off x="2875263" y="1222101"/>
              <a:ext cx="5917212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AUGUSTUS: From Training &amp; Input to a Consensus Gene Model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68B05900-1B63-8F3F-89BA-999BF8BC6A20}"/>
                </a:ext>
              </a:extLst>
            </p:cNvPr>
            <p:cNvSpPr/>
            <p:nvPr/>
          </p:nvSpPr>
          <p:spPr>
            <a:xfrm>
              <a:off x="6929937" y="1675651"/>
              <a:ext cx="5002983" cy="303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spc="12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· PARAMETER ESTIMATION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4" name="Shape 55">
              <a:extLst>
                <a:ext uri="{FF2B5EF4-FFF2-40B4-BE49-F238E27FC236}">
                  <a16:creationId xmlns:a16="http://schemas.microsoft.com/office/drawing/2014/main" id="{1805EF15-C563-17E8-3F7F-F3A5190F49D2}"/>
                </a:ext>
              </a:extLst>
            </p:cNvPr>
            <p:cNvSpPr/>
            <p:nvPr/>
          </p:nvSpPr>
          <p:spPr>
            <a:xfrm>
              <a:off x="4375112" y="5296923"/>
              <a:ext cx="2531857" cy="464202"/>
            </a:xfrm>
            <a:prstGeom prst="roundRect">
              <a:avLst>
                <a:gd name="adj" fmla="val 10714"/>
              </a:avLst>
            </a:prstGeom>
            <a:solidFill>
              <a:srgbClr val="C97B3E"/>
            </a:solidFill>
            <a:ln w="16510">
              <a:solidFill>
                <a:srgbClr val="C97B3E"/>
              </a:solidFill>
              <a:prstDash val="solid"/>
            </a:ln>
          </p:spPr>
        </p:sp>
        <p:sp>
          <p:nvSpPr>
            <p:cNvPr id="116" name="Text 56">
              <a:extLst>
                <a:ext uri="{FF2B5EF4-FFF2-40B4-BE49-F238E27FC236}">
                  <a16:creationId xmlns:a16="http://schemas.microsoft.com/office/drawing/2014/main" id="{9A559DAA-99EA-3D0D-03F3-101594BF3AC8}"/>
                </a:ext>
              </a:extLst>
            </p:cNvPr>
            <p:cNvSpPr/>
            <p:nvPr/>
          </p:nvSpPr>
          <p:spPr>
            <a:xfrm>
              <a:off x="4810655" y="5280288"/>
              <a:ext cx="2046429" cy="2746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EVIDENCE INTEGRATION</a:t>
              </a:r>
              <a:endParaRPr lang="en-US" sz="1500" dirty="0"/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2836E543-561E-0698-DC83-1FC8D1CD6BF8}"/>
                </a:ext>
              </a:extLst>
            </p:cNvPr>
            <p:cNvGrpSpPr/>
            <p:nvPr/>
          </p:nvGrpSpPr>
          <p:grpSpPr>
            <a:xfrm>
              <a:off x="660545" y="1724061"/>
              <a:ext cx="10069949" cy="4601934"/>
              <a:chOff x="660545" y="1724061"/>
              <a:chExt cx="10069949" cy="4601934"/>
            </a:xfrm>
          </p:grpSpPr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518894C8-5465-0F26-F03B-08CEB6D9F9F2}"/>
                  </a:ext>
                </a:extLst>
              </p:cNvPr>
              <p:cNvGrpSpPr/>
              <p:nvPr/>
            </p:nvGrpSpPr>
            <p:grpSpPr>
              <a:xfrm>
                <a:off x="703988" y="1724061"/>
                <a:ext cx="3296994" cy="1555986"/>
                <a:chOff x="6872581" y="1660203"/>
                <a:chExt cx="4420917" cy="1815433"/>
              </a:xfrm>
            </p:grpSpPr>
            <p:sp>
              <p:nvSpPr>
                <p:cNvPr id="10" name="Text 3">
                  <a:extLst>
                    <a:ext uri="{FF2B5EF4-FFF2-40B4-BE49-F238E27FC236}">
                      <a16:creationId xmlns:a16="http://schemas.microsoft.com/office/drawing/2014/main" id="{EC07C2E2-D3D4-885A-1BF3-D71ABFBD851D}"/>
                    </a:ext>
                  </a:extLst>
                </p:cNvPr>
                <p:cNvSpPr/>
                <p:nvPr/>
              </p:nvSpPr>
              <p:spPr>
                <a:xfrm>
                  <a:off x="6872581" y="1660203"/>
                  <a:ext cx="402336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kern="0" spc="12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INPUT · GENOME PREPARATION</a:t>
                  </a:r>
                  <a:endParaRPr lang="en-US" sz="1000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1AA18B4F-8525-3A5F-70B5-CD5A95333A3C}"/>
                    </a:ext>
                  </a:extLst>
                </p:cNvPr>
                <p:cNvGrpSpPr/>
                <p:nvPr/>
              </p:nvGrpSpPr>
              <p:grpSpPr>
                <a:xfrm>
                  <a:off x="6994501" y="1908310"/>
                  <a:ext cx="4298997" cy="1567326"/>
                  <a:chOff x="7574280" y="2081130"/>
                  <a:chExt cx="4298997" cy="1567326"/>
                </a:xfrm>
              </p:grpSpPr>
              <p:sp>
                <p:nvSpPr>
                  <p:cNvPr id="46" name="Shape 21">
                    <a:extLst>
                      <a:ext uri="{FF2B5EF4-FFF2-40B4-BE49-F238E27FC236}">
                        <a16:creationId xmlns:a16="http://schemas.microsoft.com/office/drawing/2014/main" id="{929BA1B6-0C4A-C46F-57A0-C0EBBD33235C}"/>
                      </a:ext>
                    </a:extLst>
                  </p:cNvPr>
                  <p:cNvSpPr/>
                  <p:nvPr/>
                </p:nvSpPr>
                <p:spPr>
                  <a:xfrm>
                    <a:off x="7899129" y="2087468"/>
                    <a:ext cx="3383280" cy="384048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EDF3ED"/>
                  </a:solidFill>
                  <a:ln w="16510">
                    <a:solidFill>
                      <a:srgbClr val="1B4332"/>
                    </a:solidFill>
                    <a:prstDash val="solid"/>
                  </a:ln>
                </p:spPr>
              </p:sp>
              <p:sp>
                <p:nvSpPr>
                  <p:cNvPr id="48" name="Text 22">
                    <a:extLst>
                      <a:ext uri="{FF2B5EF4-FFF2-40B4-BE49-F238E27FC236}">
                        <a16:creationId xmlns:a16="http://schemas.microsoft.com/office/drawing/2014/main" id="{F331529E-A1EA-BAD4-707B-732B5E6D0490}"/>
                      </a:ext>
                    </a:extLst>
                  </p:cNvPr>
                  <p:cNvSpPr/>
                  <p:nvPr/>
                </p:nvSpPr>
                <p:spPr>
                  <a:xfrm>
                    <a:off x="7574280" y="2081130"/>
                    <a:ext cx="3383280" cy="1920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250" b="1" dirty="0">
                        <a:solidFill>
                          <a:srgbClr val="1F2A24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Genome FASTA</a:t>
                    </a:r>
                    <a:endParaRPr lang="en-US" sz="1250" dirty="0"/>
                  </a:p>
                </p:txBody>
              </p:sp>
              <p:sp>
                <p:nvSpPr>
                  <p:cNvPr id="50" name="Text 23">
                    <a:extLst>
                      <a:ext uri="{FF2B5EF4-FFF2-40B4-BE49-F238E27FC236}">
                        <a16:creationId xmlns:a16="http://schemas.microsoft.com/office/drawing/2014/main" id="{92BDAB9F-5ACD-3773-C24C-EF1AAE56AA41}"/>
                      </a:ext>
                    </a:extLst>
                  </p:cNvPr>
                  <p:cNvSpPr/>
                  <p:nvPr/>
                </p:nvSpPr>
                <p:spPr>
                  <a:xfrm>
                    <a:off x="8281851" y="2220381"/>
                    <a:ext cx="2622674" cy="17930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950" i="1" dirty="0">
                        <a:solidFill>
                          <a:srgbClr val="5B6B6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(downloaded / new assembly)</a:t>
                    </a:r>
                    <a:endParaRPr lang="en-US" sz="950" dirty="0"/>
                  </a:p>
                </p:txBody>
              </p:sp>
              <p:sp>
                <p:nvSpPr>
                  <p:cNvPr id="52" name="Shape 24">
                    <a:extLst>
                      <a:ext uri="{FF2B5EF4-FFF2-40B4-BE49-F238E27FC236}">
                        <a16:creationId xmlns:a16="http://schemas.microsoft.com/office/drawing/2014/main" id="{ECA4E02F-992F-D795-7CDD-0D169A898D14}"/>
                      </a:ext>
                    </a:extLst>
                  </p:cNvPr>
                  <p:cNvSpPr/>
                  <p:nvPr/>
                </p:nvSpPr>
                <p:spPr>
                  <a:xfrm>
                    <a:off x="9413965" y="2486960"/>
                    <a:ext cx="0" cy="138489"/>
                  </a:xfrm>
                  <a:prstGeom prst="line">
                    <a:avLst/>
                  </a:prstGeom>
                  <a:noFill/>
                  <a:ln w="17780">
                    <a:solidFill>
                      <a:srgbClr val="1B4332"/>
                    </a:solidFill>
                    <a:prstDash val="solid"/>
                    <a:tailEnd type="triangle"/>
                  </a:ln>
                </p:spPr>
              </p:sp>
              <p:sp>
                <p:nvSpPr>
                  <p:cNvPr id="54" name="Text 25">
                    <a:extLst>
                      <a:ext uri="{FF2B5EF4-FFF2-40B4-BE49-F238E27FC236}">
                        <a16:creationId xmlns:a16="http://schemas.microsoft.com/office/drawing/2014/main" id="{C3C03088-AEC7-9F5A-EE68-9A76FC392362}"/>
                      </a:ext>
                    </a:extLst>
                  </p:cNvPr>
                  <p:cNvSpPr/>
                  <p:nvPr/>
                </p:nvSpPr>
                <p:spPr>
                  <a:xfrm>
                    <a:off x="8183172" y="2433633"/>
                    <a:ext cx="3657600" cy="2011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i="1" dirty="0"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raw assembly</a:t>
                    </a:r>
                    <a:endParaRPr lang="en-US" sz="1000" dirty="0"/>
                  </a:p>
                </p:txBody>
              </p:sp>
              <p:sp>
                <p:nvSpPr>
                  <p:cNvPr id="56" name="Shape 26">
                    <a:extLst>
                      <a:ext uri="{FF2B5EF4-FFF2-40B4-BE49-F238E27FC236}">
                        <a16:creationId xmlns:a16="http://schemas.microsoft.com/office/drawing/2014/main" id="{9A75FD8E-D560-B9EF-430F-722BB1EAAC36}"/>
                      </a:ext>
                    </a:extLst>
                  </p:cNvPr>
                  <p:cNvSpPr/>
                  <p:nvPr/>
                </p:nvSpPr>
                <p:spPr>
                  <a:xfrm>
                    <a:off x="7899129" y="2656289"/>
                    <a:ext cx="3383280" cy="384048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EDF3ED"/>
                  </a:solidFill>
                  <a:ln w="16510">
                    <a:solidFill>
                      <a:srgbClr val="1B4332"/>
                    </a:solidFill>
                    <a:prstDash val="solid"/>
                  </a:ln>
                </p:spPr>
              </p:sp>
              <p:sp>
                <p:nvSpPr>
                  <p:cNvPr id="58" name="Text 27">
                    <a:extLst>
                      <a:ext uri="{FF2B5EF4-FFF2-40B4-BE49-F238E27FC236}">
                        <a16:creationId xmlns:a16="http://schemas.microsoft.com/office/drawing/2014/main" id="{7BC1FDC9-0C86-E5FC-00A3-FA6440DE4864}"/>
                      </a:ext>
                    </a:extLst>
                  </p:cNvPr>
                  <p:cNvSpPr/>
                  <p:nvPr/>
                </p:nvSpPr>
                <p:spPr>
                  <a:xfrm>
                    <a:off x="7772400" y="2663822"/>
                    <a:ext cx="3383280" cy="1920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250" b="1" dirty="0">
                        <a:solidFill>
                          <a:srgbClr val="1F2A24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Repeat masking</a:t>
                    </a:r>
                    <a:endParaRPr lang="en-US" sz="1250" dirty="0"/>
                  </a:p>
                </p:txBody>
              </p:sp>
              <p:sp>
                <p:nvSpPr>
                  <p:cNvPr id="60" name="Text 28">
                    <a:extLst>
                      <a:ext uri="{FF2B5EF4-FFF2-40B4-BE49-F238E27FC236}">
                        <a16:creationId xmlns:a16="http://schemas.microsoft.com/office/drawing/2014/main" id="{2204C44E-4CF2-7E33-6C9C-DBCE8096CFB2}"/>
                      </a:ext>
                    </a:extLst>
                  </p:cNvPr>
                  <p:cNvSpPr/>
                  <p:nvPr/>
                </p:nvSpPr>
                <p:spPr>
                  <a:xfrm>
                    <a:off x="7772400" y="2848312"/>
                    <a:ext cx="3383280" cy="19202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950" i="1" dirty="0">
                        <a:solidFill>
                          <a:srgbClr val="5B6B6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(EDTA / RepeatMasker)</a:t>
                    </a:r>
                    <a:endParaRPr lang="en-US" sz="950" dirty="0"/>
                  </a:p>
                </p:txBody>
              </p:sp>
              <p:sp>
                <p:nvSpPr>
                  <p:cNvPr id="62" name="Shape 29">
                    <a:extLst>
                      <a:ext uri="{FF2B5EF4-FFF2-40B4-BE49-F238E27FC236}">
                        <a16:creationId xmlns:a16="http://schemas.microsoft.com/office/drawing/2014/main" id="{53122667-9DA8-C921-C6CA-1B043BFBD4AB}"/>
                      </a:ext>
                    </a:extLst>
                  </p:cNvPr>
                  <p:cNvSpPr/>
                  <p:nvPr/>
                </p:nvSpPr>
                <p:spPr>
                  <a:xfrm>
                    <a:off x="9413965" y="3031235"/>
                    <a:ext cx="0" cy="200449"/>
                  </a:xfrm>
                  <a:prstGeom prst="line">
                    <a:avLst/>
                  </a:prstGeom>
                  <a:noFill/>
                  <a:ln w="17780">
                    <a:solidFill>
                      <a:srgbClr val="1B4332"/>
                    </a:solidFill>
                    <a:prstDash val="solid"/>
                    <a:tailEnd type="triangle"/>
                  </a:ln>
                </p:spPr>
              </p:sp>
              <p:sp>
                <p:nvSpPr>
                  <p:cNvPr id="64" name="Text 30">
                    <a:extLst>
                      <a:ext uri="{FF2B5EF4-FFF2-40B4-BE49-F238E27FC236}">
                        <a16:creationId xmlns:a16="http://schemas.microsoft.com/office/drawing/2014/main" id="{D0686785-4DA8-2491-DD10-DAB5BE1D3A34}"/>
                      </a:ext>
                    </a:extLst>
                  </p:cNvPr>
                  <p:cNvSpPr/>
                  <p:nvPr/>
                </p:nvSpPr>
                <p:spPr>
                  <a:xfrm>
                    <a:off x="8215677" y="3035764"/>
                    <a:ext cx="3657600" cy="20116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i="1" dirty="0"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soft-mask TEs</a:t>
                    </a:r>
                    <a:endParaRPr lang="en-US" sz="1000" dirty="0"/>
                  </a:p>
                </p:txBody>
              </p:sp>
              <p:sp>
                <p:nvSpPr>
                  <p:cNvPr id="66" name="Shape 31">
                    <a:extLst>
                      <a:ext uri="{FF2B5EF4-FFF2-40B4-BE49-F238E27FC236}">
                        <a16:creationId xmlns:a16="http://schemas.microsoft.com/office/drawing/2014/main" id="{1FE6FDE6-E223-CC26-9782-70A6DC65822C}"/>
                      </a:ext>
                    </a:extLst>
                  </p:cNvPr>
                  <p:cNvSpPr/>
                  <p:nvPr/>
                </p:nvSpPr>
                <p:spPr>
                  <a:xfrm>
                    <a:off x="7902016" y="3241723"/>
                    <a:ext cx="3383280" cy="384048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EDF3ED"/>
                  </a:solidFill>
                  <a:ln w="16510">
                    <a:solidFill>
                      <a:srgbClr val="1B4332"/>
                    </a:solidFill>
                    <a:prstDash val="solid"/>
                  </a:ln>
                </p:spPr>
              </p:sp>
              <p:sp>
                <p:nvSpPr>
                  <p:cNvPr id="68" name="Text 32">
                    <a:extLst>
                      <a:ext uri="{FF2B5EF4-FFF2-40B4-BE49-F238E27FC236}">
                        <a16:creationId xmlns:a16="http://schemas.microsoft.com/office/drawing/2014/main" id="{5FE41CC0-936D-03AF-847A-C5A092D1C5DF}"/>
                      </a:ext>
                    </a:extLst>
                  </p:cNvPr>
                  <p:cNvSpPr/>
                  <p:nvPr/>
                </p:nvSpPr>
                <p:spPr>
                  <a:xfrm>
                    <a:off x="7871841" y="3264408"/>
                    <a:ext cx="3383280" cy="384048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250" b="1" dirty="0">
                        <a:solidFill>
                          <a:srgbClr val="1F2A24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Masked genome</a:t>
                    </a:r>
                    <a:endParaRPr lang="en-US" sz="1250" dirty="0"/>
                  </a:p>
                </p:txBody>
              </p:sp>
            </p:grp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001E947-552B-0290-5E70-63DB5A9850C9}"/>
                  </a:ext>
                </a:extLst>
              </p:cNvPr>
              <p:cNvGrpSpPr/>
              <p:nvPr/>
            </p:nvGrpSpPr>
            <p:grpSpPr>
              <a:xfrm>
                <a:off x="7675320" y="1951901"/>
                <a:ext cx="3013567" cy="1908479"/>
                <a:chOff x="5445815" y="1881446"/>
                <a:chExt cx="3013567" cy="1908479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0BB896AD-1E77-B993-F4DA-B24061232FB2}"/>
                    </a:ext>
                  </a:extLst>
                </p:cNvPr>
                <p:cNvGrpSpPr/>
                <p:nvPr/>
              </p:nvGrpSpPr>
              <p:grpSpPr>
                <a:xfrm>
                  <a:off x="5445815" y="1881446"/>
                  <a:ext cx="3013567" cy="1908479"/>
                  <a:chOff x="9178433" y="2027315"/>
                  <a:chExt cx="3013567" cy="1908479"/>
                </a:xfrm>
              </p:grpSpPr>
              <p:sp>
                <p:nvSpPr>
                  <p:cNvPr id="36" name="Shape 16">
                    <a:extLst>
                      <a:ext uri="{FF2B5EF4-FFF2-40B4-BE49-F238E27FC236}">
                        <a16:creationId xmlns:a16="http://schemas.microsoft.com/office/drawing/2014/main" id="{1914F8B6-1668-790E-56E1-08E48CCC14F9}"/>
                      </a:ext>
                    </a:extLst>
                  </p:cNvPr>
                  <p:cNvSpPr/>
                  <p:nvPr/>
                </p:nvSpPr>
                <p:spPr>
                  <a:xfrm>
                    <a:off x="10777724" y="3424102"/>
                    <a:ext cx="0" cy="161044"/>
                  </a:xfrm>
                  <a:prstGeom prst="line">
                    <a:avLst/>
                  </a:prstGeom>
                  <a:noFill/>
                  <a:ln w="17780">
                    <a:solidFill>
                      <a:srgbClr val="C97B3E"/>
                    </a:solidFill>
                    <a:prstDash val="solid"/>
                    <a:tailEnd type="triangle"/>
                  </a:ln>
                </p:spPr>
              </p:sp>
              <p:sp>
                <p:nvSpPr>
                  <p:cNvPr id="26" name="Shape 11">
                    <a:extLst>
                      <a:ext uri="{FF2B5EF4-FFF2-40B4-BE49-F238E27FC236}">
                        <a16:creationId xmlns:a16="http://schemas.microsoft.com/office/drawing/2014/main" id="{81471754-7A4E-790A-085A-FD4924A2EA42}"/>
                      </a:ext>
                    </a:extLst>
                  </p:cNvPr>
                  <p:cNvSpPr/>
                  <p:nvPr/>
                </p:nvSpPr>
                <p:spPr>
                  <a:xfrm>
                    <a:off x="10777725" y="2885576"/>
                    <a:ext cx="0" cy="204597"/>
                  </a:xfrm>
                  <a:prstGeom prst="line">
                    <a:avLst/>
                  </a:prstGeom>
                  <a:noFill/>
                  <a:ln w="17780">
                    <a:solidFill>
                      <a:srgbClr val="1B4332"/>
                    </a:solidFill>
                    <a:prstDash val="solid"/>
                    <a:tailEnd type="triangle"/>
                  </a:ln>
                </p:spPr>
              </p:sp>
              <p:grpSp>
                <p:nvGrpSpPr>
                  <p:cNvPr id="195" name="Group 194">
                    <a:extLst>
                      <a:ext uri="{FF2B5EF4-FFF2-40B4-BE49-F238E27FC236}">
                        <a16:creationId xmlns:a16="http://schemas.microsoft.com/office/drawing/2014/main" id="{E8DFE46F-EA40-A217-A381-EE7E08E864AA}"/>
                      </a:ext>
                    </a:extLst>
                  </p:cNvPr>
                  <p:cNvGrpSpPr/>
                  <p:nvPr/>
                </p:nvGrpSpPr>
                <p:grpSpPr>
                  <a:xfrm>
                    <a:off x="9178433" y="2027315"/>
                    <a:ext cx="3013567" cy="1908479"/>
                    <a:chOff x="7559346" y="1972273"/>
                    <a:chExt cx="3295392" cy="2076317"/>
                  </a:xfrm>
                </p:grpSpPr>
                <p:sp>
                  <p:nvSpPr>
                    <p:cNvPr id="28" name="Text 12">
                      <a:extLst>
                        <a:ext uri="{FF2B5EF4-FFF2-40B4-BE49-F238E27FC236}">
                          <a16:creationId xmlns:a16="http://schemas.microsoft.com/office/drawing/2014/main" id="{8311B7FE-524B-E78D-7B25-486E580011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1370" y="2908862"/>
                      <a:ext cx="1949955" cy="1835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B6B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to AUGUSTUS</a:t>
                      </a:r>
                      <a:endParaRPr lang="en-US" sz="1000" dirty="0"/>
                    </a:p>
                  </p:txBody>
                </p:sp>
                <p:grpSp>
                  <p:nvGrpSpPr>
                    <p:cNvPr id="194" name="Group 193">
                      <a:extLst>
                        <a:ext uri="{FF2B5EF4-FFF2-40B4-BE49-F238E27FC236}">
                          <a16:creationId xmlns:a16="http://schemas.microsoft.com/office/drawing/2014/main" id="{5CDAA011-6186-AE93-F734-29030439C7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59346" y="1972273"/>
                      <a:ext cx="3295392" cy="2076317"/>
                      <a:chOff x="7559346" y="1972273"/>
                      <a:chExt cx="3295392" cy="2076317"/>
                    </a:xfrm>
                  </p:grpSpPr>
                  <p:grpSp>
                    <p:nvGrpSpPr>
                      <p:cNvPr id="188" name="Group 187">
                        <a:extLst>
                          <a:ext uri="{FF2B5EF4-FFF2-40B4-BE49-F238E27FC236}">
                            <a16:creationId xmlns:a16="http://schemas.microsoft.com/office/drawing/2014/main" id="{7A0804E8-221C-10D5-6F16-ADF55CEBCC9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59346" y="1972273"/>
                        <a:ext cx="3295392" cy="2076317"/>
                        <a:chOff x="5318287" y="2051147"/>
                        <a:chExt cx="4663951" cy="3143777"/>
                      </a:xfrm>
                    </p:grpSpPr>
                    <p:grpSp>
                      <p:nvGrpSpPr>
                        <p:cNvPr id="184" name="Group 183">
                          <a:extLst>
                            <a:ext uri="{FF2B5EF4-FFF2-40B4-BE49-F238E27FC236}">
                              <a16:creationId xmlns:a16="http://schemas.microsoft.com/office/drawing/2014/main" id="{1089328F-317F-46DD-7D4D-74F783C0915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318287" y="2051147"/>
                          <a:ext cx="4663951" cy="851506"/>
                          <a:chOff x="5318287" y="2051147"/>
                          <a:chExt cx="4663951" cy="851506"/>
                        </a:xfrm>
                      </p:grpSpPr>
                      <p:sp>
                        <p:nvSpPr>
                          <p:cNvPr id="18" name="Shape 7">
                            <a:extLst>
                              <a:ext uri="{FF2B5EF4-FFF2-40B4-BE49-F238E27FC236}">
                                <a16:creationId xmlns:a16="http://schemas.microsoft.com/office/drawing/2014/main" id="{DC610C3B-46A2-DF9E-118C-0EFC20D846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793433" y="2626662"/>
                            <a:ext cx="0" cy="275991"/>
                          </a:xfrm>
                          <a:prstGeom prst="line">
                            <a:avLst/>
                          </a:prstGeom>
                          <a:noFill/>
                          <a:ln w="17780">
                            <a:solidFill>
                              <a:srgbClr val="1B4332"/>
                            </a:solidFill>
                            <a:prstDash val="solid"/>
                            <a:tailEnd type="triangle"/>
                          </a:ln>
                        </p:spPr>
                      </p:sp>
                      <p:grpSp>
                        <p:nvGrpSpPr>
                          <p:cNvPr id="183" name="Group 182">
                            <a:extLst>
                              <a:ext uri="{FF2B5EF4-FFF2-40B4-BE49-F238E27FC236}">
                                <a16:creationId xmlns:a16="http://schemas.microsoft.com/office/drawing/2014/main" id="{03D6A01F-4F92-BFDC-832A-7CE678F8EF8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318287" y="2051147"/>
                            <a:ext cx="4663951" cy="751765"/>
                            <a:chOff x="5318287" y="2051147"/>
                            <a:chExt cx="4663951" cy="751765"/>
                          </a:xfrm>
                        </p:grpSpPr>
                        <p:sp>
                          <p:nvSpPr>
                            <p:cNvPr id="12" name="Shape 4">
                              <a:extLst>
                                <a:ext uri="{FF2B5EF4-FFF2-40B4-BE49-F238E27FC236}">
                                  <a16:creationId xmlns:a16="http://schemas.microsoft.com/office/drawing/2014/main" id="{E44BA92A-D7B7-C3AE-3C41-71B07A5AE3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75184" y="2051147"/>
                              <a:ext cx="4207054" cy="579723"/>
                            </a:xfrm>
                            <a:prstGeom prst="roundRect">
                              <a:avLst>
                                <a:gd name="adj" fmla="val 14286"/>
                              </a:avLst>
                            </a:prstGeom>
                            <a:solidFill>
                              <a:srgbClr val="EDF3ED"/>
                            </a:solidFill>
                            <a:ln w="16510">
                              <a:solidFill>
                                <a:srgbClr val="1B4332"/>
                              </a:solidFill>
                              <a:prstDash val="solid"/>
                            </a:ln>
                          </p:spPr>
                        </p:sp>
                        <p:sp>
                          <p:nvSpPr>
                            <p:cNvPr id="14" name="Text 5">
                              <a:extLst>
                                <a:ext uri="{FF2B5EF4-FFF2-40B4-BE49-F238E27FC236}">
                                  <a16:creationId xmlns:a16="http://schemas.microsoft.com/office/drawing/2014/main" id="{2A803B29-BDB9-11DC-FC61-BD7FD7B493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727807" y="2091043"/>
                              <a:ext cx="4207054" cy="289862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buNone/>
                              </a:pPr>
                              <a:r>
                                <a:rPr lang="en-US" sz="1250" b="1" dirty="0">
                                  <a:solidFill>
                                    <a:srgbClr val="1F2A24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  <a:t>Known training genes</a:t>
                              </a:r>
                              <a:endParaRPr lang="en-US" sz="1250" dirty="0"/>
                            </a:p>
                          </p:txBody>
                        </p:sp>
                        <p:sp>
                          <p:nvSpPr>
                            <p:cNvPr id="20" name="Text 8">
                              <a:extLst>
                                <a:ext uri="{FF2B5EF4-FFF2-40B4-BE49-F238E27FC236}">
                                  <a16:creationId xmlns:a16="http://schemas.microsoft.com/office/drawing/2014/main" id="{B8C76C3C-A052-9641-21FC-F1CF2D57C4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318287" y="2691027"/>
                              <a:ext cx="2875850" cy="111885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buNone/>
                              </a:pPr>
                              <a:r>
                                <a:rPr lang="en-US" sz="1000" i="1" dirty="0">
                                  <a:solidFill>
                                    <a:srgbClr val="5B6B61"/>
                                  </a:solidFill>
                                  <a:latin typeface="Calibri" pitchFamily="34" charset="0"/>
                                  <a:ea typeface="Calibri" pitchFamily="34" charset="-122"/>
                                  <a:cs typeface="Calibri" pitchFamily="34" charset="-120"/>
                                </a:rPr>
                                <a:t>curate gene models</a:t>
                              </a:r>
                              <a:endParaRPr lang="en-US" sz="1000" dirty="0"/>
                            </a:p>
                          </p:txBody>
                        </p:sp>
                      </p:grpSp>
                    </p:grpSp>
                    <p:grpSp>
                      <p:nvGrpSpPr>
                        <p:cNvPr id="185" name="Group 184">
                          <a:extLst>
                            <a:ext uri="{FF2B5EF4-FFF2-40B4-BE49-F238E27FC236}">
                              <a16:creationId xmlns:a16="http://schemas.microsoft.com/office/drawing/2014/main" id="{79CD658E-29DF-715F-101F-C917A2E923A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775184" y="2826178"/>
                          <a:ext cx="4207054" cy="633656"/>
                          <a:chOff x="5775184" y="2826178"/>
                          <a:chExt cx="4207054" cy="633656"/>
                        </a:xfrm>
                      </p:grpSpPr>
                      <p:sp>
                        <p:nvSpPr>
                          <p:cNvPr id="22" name="Shape 9">
                            <a:extLst>
                              <a:ext uri="{FF2B5EF4-FFF2-40B4-BE49-F238E27FC236}">
                                <a16:creationId xmlns:a16="http://schemas.microsoft.com/office/drawing/2014/main" id="{47608D48-7628-CD34-C6F5-43EEDCDB13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75184" y="2880111"/>
                            <a:ext cx="4207054" cy="579723"/>
                          </a:xfrm>
                          <a:prstGeom prst="roundRect">
                            <a:avLst>
                              <a:gd name="adj" fmla="val 14286"/>
                            </a:avLst>
                          </a:prstGeom>
                          <a:solidFill>
                            <a:srgbClr val="EDF3ED"/>
                          </a:solidFill>
                          <a:ln w="16510">
                            <a:solidFill>
                              <a:srgbClr val="1B4332"/>
                            </a:solidFill>
                            <a:prstDash val="solid"/>
                          </a:ln>
                        </p:spPr>
                      </p:sp>
                      <p:sp>
                        <p:nvSpPr>
                          <p:cNvPr id="24" name="Text 10">
                            <a:extLst>
                              <a:ext uri="{FF2B5EF4-FFF2-40B4-BE49-F238E27FC236}">
                                <a16:creationId xmlns:a16="http://schemas.microsoft.com/office/drawing/2014/main" id="{A35F8C28-787E-5A7F-59FD-C55FAEEEB0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278098" y="2826178"/>
                            <a:ext cx="3243175" cy="574735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buNone/>
                            </a:pPr>
                            <a:r>
                              <a:rPr lang="en-US" sz="1250" b="1" dirty="0">
                                <a:solidFill>
                                  <a:srgbClr val="1F2A24"/>
                                </a:solidFill>
                                <a:latin typeface="Calibri" pitchFamily="34" charset="0"/>
                                <a:ea typeface="Calibri" pitchFamily="34" charset="-122"/>
                                <a:cs typeface="Calibri" pitchFamily="34" charset="-120"/>
                              </a:rPr>
                              <a:t>Training gene set</a:t>
                            </a:r>
                            <a:endParaRPr lang="en-US" sz="1250" dirty="0"/>
                          </a:p>
                        </p:txBody>
                      </p:sp>
                    </p:grpSp>
                    <p:grpSp>
                      <p:nvGrpSpPr>
                        <p:cNvPr id="186" name="Group 185">
                          <a:extLst>
                            <a:ext uri="{FF2B5EF4-FFF2-40B4-BE49-F238E27FC236}">
                              <a16:creationId xmlns:a16="http://schemas.microsoft.com/office/drawing/2014/main" id="{3B18B6AB-AF24-833D-53F4-45845C1EFC1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89906" y="3772307"/>
                          <a:ext cx="4207054" cy="579723"/>
                          <a:chOff x="5689906" y="3772307"/>
                          <a:chExt cx="4207054" cy="579723"/>
                        </a:xfrm>
                      </p:grpSpPr>
                      <p:sp>
                        <p:nvSpPr>
                          <p:cNvPr id="30" name="Shape 13">
                            <a:extLst>
                              <a:ext uri="{FF2B5EF4-FFF2-40B4-BE49-F238E27FC236}">
                                <a16:creationId xmlns:a16="http://schemas.microsoft.com/office/drawing/2014/main" id="{025789D5-D33C-C0AE-8D36-18AF01D581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89906" y="3772307"/>
                            <a:ext cx="4207054" cy="579723"/>
                          </a:xfrm>
                          <a:prstGeom prst="roundRect">
                            <a:avLst>
                              <a:gd name="adj" fmla="val 14286"/>
                            </a:avLst>
                          </a:prstGeom>
                          <a:solidFill>
                            <a:srgbClr val="EDF3ED"/>
                          </a:solidFill>
                          <a:ln w="16510">
                            <a:solidFill>
                              <a:srgbClr val="1B4332"/>
                            </a:solidFill>
                            <a:prstDash val="solid"/>
                          </a:ln>
                        </p:spPr>
                      </p:sp>
                      <p:sp>
                        <p:nvSpPr>
                          <p:cNvPr id="32" name="Text 14">
                            <a:extLst>
                              <a:ext uri="{FF2B5EF4-FFF2-40B4-BE49-F238E27FC236}">
                                <a16:creationId xmlns:a16="http://schemas.microsoft.com/office/drawing/2014/main" id="{1C832243-62FF-3AFD-6CA9-6F63751D30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89906" y="3772307"/>
                            <a:ext cx="4207054" cy="289862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buNone/>
                            </a:pPr>
                            <a:r>
                              <a:rPr lang="en-US" sz="1250" b="1" dirty="0">
                                <a:solidFill>
                                  <a:srgbClr val="1F2A24"/>
                                </a:solidFill>
                                <a:latin typeface="Calibri" pitchFamily="34" charset="0"/>
                                <a:ea typeface="Calibri" pitchFamily="34" charset="-122"/>
                                <a:cs typeface="Calibri" pitchFamily="34" charset="-120"/>
                              </a:rPr>
                              <a:t>AUGUSTUS training</a:t>
                            </a:r>
                            <a:endParaRPr lang="en-US" sz="1250" dirty="0"/>
                          </a:p>
                        </p:txBody>
                      </p:sp>
                      <p:sp>
                        <p:nvSpPr>
                          <p:cNvPr id="34" name="Text 15">
                            <a:extLst>
                              <a:ext uri="{FF2B5EF4-FFF2-40B4-BE49-F238E27FC236}">
                                <a16:creationId xmlns:a16="http://schemas.microsoft.com/office/drawing/2014/main" id="{E09FF634-F67A-83F6-0101-5E3FBF0AAE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278098" y="4027153"/>
                            <a:ext cx="3088334" cy="211808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buNone/>
                            </a:pPr>
                            <a:r>
                              <a:rPr lang="en-US" sz="950" i="1" dirty="0">
                                <a:solidFill>
                                  <a:srgbClr val="5B6B61"/>
                                </a:solidFill>
                                <a:latin typeface="Calibri" pitchFamily="34" charset="0"/>
                                <a:ea typeface="Calibri" pitchFamily="34" charset="-122"/>
                                <a:cs typeface="Calibri" pitchFamily="34" charset="-120"/>
                              </a:rPr>
                              <a:t>(etraining)</a:t>
                            </a:r>
                            <a:endParaRPr lang="en-US" sz="950" dirty="0"/>
                          </a:p>
                        </p:txBody>
                      </p:sp>
                    </p:grpSp>
                    <p:grpSp>
                      <p:nvGrpSpPr>
                        <p:cNvPr id="187" name="Group 186">
                          <a:extLst>
                            <a:ext uri="{FF2B5EF4-FFF2-40B4-BE49-F238E27FC236}">
                              <a16:creationId xmlns:a16="http://schemas.microsoft.com/office/drawing/2014/main" id="{F3064C34-E190-DA52-F38C-70BE4C0F24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89906" y="4615201"/>
                          <a:ext cx="4292332" cy="579723"/>
                          <a:chOff x="5689906" y="4615201"/>
                          <a:chExt cx="4292332" cy="579723"/>
                        </a:xfrm>
                      </p:grpSpPr>
                      <p:sp>
                        <p:nvSpPr>
                          <p:cNvPr id="40" name="Shape 18">
                            <a:extLst>
                              <a:ext uri="{FF2B5EF4-FFF2-40B4-BE49-F238E27FC236}">
                                <a16:creationId xmlns:a16="http://schemas.microsoft.com/office/drawing/2014/main" id="{9BE26514-929F-1EFB-2CF7-8EF9EF7968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689906" y="4615201"/>
                            <a:ext cx="4207054" cy="579723"/>
                          </a:xfrm>
                          <a:prstGeom prst="roundRect">
                            <a:avLst>
                              <a:gd name="adj" fmla="val 14286"/>
                            </a:avLst>
                          </a:prstGeom>
                          <a:solidFill>
                            <a:srgbClr val="F7E7D4"/>
                          </a:solidFill>
                          <a:ln w="16510">
                            <a:solidFill>
                              <a:srgbClr val="C97B3E"/>
                            </a:solidFill>
                            <a:prstDash val="solid"/>
                          </a:ln>
                        </p:spPr>
                      </p:sp>
                      <p:sp>
                        <p:nvSpPr>
                          <p:cNvPr id="42" name="Text 19">
                            <a:extLst>
                              <a:ext uri="{FF2B5EF4-FFF2-40B4-BE49-F238E27FC236}">
                                <a16:creationId xmlns:a16="http://schemas.microsoft.com/office/drawing/2014/main" id="{0BC0C052-3D34-1014-172C-120EFF9609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775184" y="4692898"/>
                            <a:ext cx="4207054" cy="289862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buNone/>
                            </a:pPr>
                            <a:r>
                              <a:rPr lang="en-US" sz="1200" b="1" dirty="0">
                                <a:solidFill>
                                  <a:srgbClr val="1F2A24"/>
                                </a:solidFill>
                                <a:latin typeface="Calibri" pitchFamily="34" charset="0"/>
                                <a:ea typeface="Calibri" pitchFamily="34" charset="-122"/>
                                <a:cs typeface="Calibri" pitchFamily="34" charset="-120"/>
                              </a:rPr>
                              <a:t>Species-specific parameters</a:t>
                            </a:r>
                            <a:endParaRPr lang="en-US" sz="1200" dirty="0"/>
                          </a:p>
                        </p:txBody>
                      </p:sp>
                    </p:grpSp>
                  </p:grpSp>
                  <p:sp>
                    <p:nvSpPr>
                      <p:cNvPr id="38" name="Text 17">
                        <a:extLst>
                          <a:ext uri="{FF2B5EF4-FFF2-40B4-BE49-F238E27FC236}">
                            <a16:creationId xmlns:a16="http://schemas.microsoft.com/office/drawing/2014/main" id="{30F6CE29-483A-6788-B818-A584B82C29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61664" y="3425028"/>
                        <a:ext cx="1710976" cy="303665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buNone/>
                        </a:pPr>
                        <a:r>
                          <a:rPr lang="en-US" sz="1000" i="1" dirty="0">
                            <a:solidFill>
                              <a:srgbClr val="5B6B61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fit HMM parameters</a:t>
                        </a:r>
                        <a:endParaRPr lang="en-US" sz="1000" dirty="0"/>
                      </a:p>
                    </p:txBody>
                  </p:sp>
                </p:grpSp>
                <p:sp>
                  <p:nvSpPr>
                    <p:cNvPr id="193" name="Text 20">
                      <a:extLst>
                        <a:ext uri="{FF2B5EF4-FFF2-40B4-BE49-F238E27FC236}">
                          <a16:creationId xmlns:a16="http://schemas.microsoft.com/office/drawing/2014/main" id="{A21792B3-AAA3-91CF-AB02-8EF024F13A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7517" y="3873258"/>
                      <a:ext cx="2291519" cy="12096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(intron / exon / splice-site model)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16" name="Text 6">
                  <a:extLst>
                    <a:ext uri="{FF2B5EF4-FFF2-40B4-BE49-F238E27FC236}">
                      <a16:creationId xmlns:a16="http://schemas.microsoft.com/office/drawing/2014/main" id="{1DC71CD6-A538-F57E-2E69-8509C61A2D1D}"/>
                    </a:ext>
                  </a:extLst>
                </p:cNvPr>
                <p:cNvSpPr/>
                <p:nvPr/>
              </p:nvSpPr>
              <p:spPr>
                <a:xfrm>
                  <a:off x="5966110" y="2054658"/>
                  <a:ext cx="2026715" cy="1394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50" i="1" dirty="0">
                      <a:solidFill>
                        <a:srgbClr val="5B6B6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(reference or close relative)</a:t>
                  </a:r>
                  <a:endParaRPr lang="en-US" sz="950" dirty="0"/>
                </a:p>
              </p:txBody>
            </p:sp>
          </p:grp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1EEF416E-91D4-F3EB-4ABF-6E8931C14E0F}"/>
                  </a:ext>
                </a:extLst>
              </p:cNvPr>
              <p:cNvGrpSpPr/>
              <p:nvPr/>
            </p:nvGrpSpPr>
            <p:grpSpPr>
              <a:xfrm>
                <a:off x="660545" y="3911694"/>
                <a:ext cx="10069949" cy="2414301"/>
                <a:chOff x="1061025" y="3932360"/>
                <a:chExt cx="10069949" cy="2414301"/>
              </a:xfrm>
            </p:grpSpPr>
            <p:grpSp>
              <p:nvGrpSpPr>
                <p:cNvPr id="199" name="Group 198">
                  <a:extLst>
                    <a:ext uri="{FF2B5EF4-FFF2-40B4-BE49-F238E27FC236}">
                      <a16:creationId xmlns:a16="http://schemas.microsoft.com/office/drawing/2014/main" id="{60764B66-E759-5D4E-A516-886D10BF767A}"/>
                    </a:ext>
                  </a:extLst>
                </p:cNvPr>
                <p:cNvGrpSpPr/>
                <p:nvPr/>
              </p:nvGrpSpPr>
              <p:grpSpPr>
                <a:xfrm>
                  <a:off x="1061025" y="3932360"/>
                  <a:ext cx="10069949" cy="1164092"/>
                  <a:chOff x="1039328" y="3869652"/>
                  <a:chExt cx="10069949" cy="1164092"/>
                </a:xfrm>
              </p:grpSpPr>
              <p:grpSp>
                <p:nvGrpSpPr>
                  <p:cNvPr id="181" name="Group 180">
                    <a:extLst>
                      <a:ext uri="{FF2B5EF4-FFF2-40B4-BE49-F238E27FC236}">
                        <a16:creationId xmlns:a16="http://schemas.microsoft.com/office/drawing/2014/main" id="{496ACD3C-7627-683F-8C86-2DCE379699CA}"/>
                      </a:ext>
                    </a:extLst>
                  </p:cNvPr>
                  <p:cNvGrpSpPr/>
                  <p:nvPr/>
                </p:nvGrpSpPr>
                <p:grpSpPr>
                  <a:xfrm>
                    <a:off x="4297469" y="3869652"/>
                    <a:ext cx="3091046" cy="376792"/>
                    <a:chOff x="3615679" y="4415747"/>
                    <a:chExt cx="4067133" cy="519836"/>
                  </a:xfrm>
                </p:grpSpPr>
                <p:sp>
                  <p:nvSpPr>
                    <p:cNvPr id="74" name="Shape 35">
                      <a:extLst>
                        <a:ext uri="{FF2B5EF4-FFF2-40B4-BE49-F238E27FC236}">
                          <a16:creationId xmlns:a16="http://schemas.microsoft.com/office/drawing/2014/main" id="{00B251E5-6763-FCEB-6863-1ACB34B03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5679" y="4415747"/>
                      <a:ext cx="3931920" cy="512064"/>
                    </a:xfrm>
                    <a:prstGeom prst="roundRect">
                      <a:avLst>
                        <a:gd name="adj" fmla="val 10714"/>
                      </a:avLst>
                    </a:prstGeom>
                    <a:solidFill>
                      <a:srgbClr val="1B4332"/>
                    </a:solidFill>
                    <a:ln w="16510">
                      <a:solidFill>
                        <a:srgbClr val="1B4332"/>
                      </a:solidFill>
                      <a:prstDash val="solid"/>
                    </a:ln>
                  </p:spPr>
                </p:sp>
                <p:sp>
                  <p:nvSpPr>
                    <p:cNvPr id="76" name="Text 36">
                      <a:extLst>
                        <a:ext uri="{FF2B5EF4-FFF2-40B4-BE49-F238E27FC236}">
                          <a16:creationId xmlns:a16="http://schemas.microsoft.com/office/drawing/2014/main" id="{9677CB55-6F9A-E796-62E9-0B1C400AD1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0892" y="4452081"/>
                      <a:ext cx="3931920" cy="2560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AUGUSTUS MODEL</a:t>
                      </a:r>
                      <a:endParaRPr lang="en-US" sz="1500" dirty="0"/>
                    </a:p>
                  </p:txBody>
                </p:sp>
                <p:sp>
                  <p:nvSpPr>
                    <p:cNvPr id="78" name="Text 37">
                      <a:extLst>
                        <a:ext uri="{FF2B5EF4-FFF2-40B4-BE49-F238E27FC236}">
                          <a16:creationId xmlns:a16="http://schemas.microsoft.com/office/drawing/2014/main" id="{138037F8-7149-995B-2F58-56E916FEE9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5679" y="4679551"/>
                      <a:ext cx="3931920" cy="25603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D7E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parameter-optimized gene predictor</a:t>
                      </a:r>
                      <a:endParaRPr lang="en-US" sz="1050" dirty="0"/>
                    </a:p>
                  </p:txBody>
                </p:sp>
              </p:grpSp>
              <p:sp>
                <p:nvSpPr>
                  <p:cNvPr id="84" name="Shape 40">
                    <a:extLst>
                      <a:ext uri="{FF2B5EF4-FFF2-40B4-BE49-F238E27FC236}">
                        <a16:creationId xmlns:a16="http://schemas.microsoft.com/office/drawing/2014/main" id="{1A973154-8452-0B66-16EE-6278BD785023}"/>
                      </a:ext>
                    </a:extLst>
                  </p:cNvPr>
                  <p:cNvSpPr/>
                  <p:nvPr/>
                </p:nvSpPr>
                <p:spPr>
                  <a:xfrm flipH="1">
                    <a:off x="3789591" y="4272780"/>
                    <a:ext cx="1923552" cy="464201"/>
                  </a:xfrm>
                  <a:prstGeom prst="line">
                    <a:avLst/>
                  </a:prstGeom>
                  <a:noFill/>
                  <a:ln w="17780">
                    <a:solidFill>
                      <a:srgbClr val="1B4332"/>
                    </a:solidFill>
                    <a:prstDash val="solid"/>
                    <a:tailEnd type="triangle"/>
                  </a:ln>
                </p:spPr>
                <p:txBody>
                  <a:bodyPr/>
                  <a:lstStyle/>
                  <a:p>
                    <a:endParaRPr lang="en-IN" dirty="0"/>
                  </a:p>
                </p:txBody>
              </p:sp>
              <p:sp>
                <p:nvSpPr>
                  <p:cNvPr id="88" name="Shape 42">
                    <a:extLst>
                      <a:ext uri="{FF2B5EF4-FFF2-40B4-BE49-F238E27FC236}">
                        <a16:creationId xmlns:a16="http://schemas.microsoft.com/office/drawing/2014/main" id="{D132D299-A3F0-E7B9-1A06-EFF46FD9F078}"/>
                      </a:ext>
                    </a:extLst>
                  </p:cNvPr>
                  <p:cNvSpPr/>
                  <p:nvPr/>
                </p:nvSpPr>
                <p:spPr>
                  <a:xfrm>
                    <a:off x="5713143" y="4272781"/>
                    <a:ext cx="1962178" cy="487974"/>
                  </a:xfrm>
                  <a:prstGeom prst="line">
                    <a:avLst/>
                  </a:prstGeom>
                  <a:noFill/>
                  <a:ln w="17780">
                    <a:solidFill>
                      <a:srgbClr val="1B4332"/>
                    </a:solidFill>
                    <a:prstDash val="solid"/>
                    <a:tailEnd type="triangle"/>
                  </a:ln>
                </p:spPr>
                <p:txBody>
                  <a:bodyPr/>
                  <a:lstStyle/>
                  <a:p>
                    <a:endParaRPr lang="en-IN" dirty="0"/>
                  </a:p>
                </p:txBody>
              </p:sp>
              <p:grpSp>
                <p:nvGrpSpPr>
                  <p:cNvPr id="182" name="Group 181">
                    <a:extLst>
                      <a:ext uri="{FF2B5EF4-FFF2-40B4-BE49-F238E27FC236}">
                        <a16:creationId xmlns:a16="http://schemas.microsoft.com/office/drawing/2014/main" id="{14B6CD98-E5C6-CF01-8E75-0D78D6723FDE}"/>
                      </a:ext>
                    </a:extLst>
                  </p:cNvPr>
                  <p:cNvGrpSpPr/>
                  <p:nvPr/>
                </p:nvGrpSpPr>
                <p:grpSpPr>
                  <a:xfrm>
                    <a:off x="1039328" y="4499416"/>
                    <a:ext cx="2770720" cy="510925"/>
                    <a:chOff x="705165" y="4959332"/>
                    <a:chExt cx="2770720" cy="510925"/>
                  </a:xfrm>
                </p:grpSpPr>
                <p:sp>
                  <p:nvSpPr>
                    <p:cNvPr id="90" name="Shape 43">
                      <a:extLst>
                        <a:ext uri="{FF2B5EF4-FFF2-40B4-BE49-F238E27FC236}">
                          <a16:creationId xmlns:a16="http://schemas.microsoft.com/office/drawing/2014/main" id="{657D2441-45CB-0B5B-40A3-CE58FE1230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165" y="4959332"/>
                      <a:ext cx="2770720" cy="510925"/>
                    </a:xfrm>
                    <a:prstGeom prst="roundRect">
                      <a:avLst>
                        <a:gd name="adj" fmla="val 14286"/>
                      </a:avLst>
                    </a:prstGeom>
                    <a:solidFill>
                      <a:srgbClr val="EDF3ED"/>
                    </a:solidFill>
                    <a:ln w="16510">
                      <a:solidFill>
                        <a:srgbClr val="1B4332"/>
                      </a:solidFill>
                      <a:prstDash val="solid"/>
                    </a:ln>
                  </p:spPr>
                </p:sp>
                <p:sp>
                  <p:nvSpPr>
                    <p:cNvPr id="92" name="Text 44">
                      <a:extLst>
                        <a:ext uri="{FF2B5EF4-FFF2-40B4-BE49-F238E27FC236}">
                          <a16:creationId xmlns:a16="http://schemas.microsoft.com/office/drawing/2014/main" id="{62CAF0DB-90D9-59AC-112D-BFAD8F6502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473" y="5150680"/>
                      <a:ext cx="2269117" cy="2318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patterns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45">
                      <a:extLst>
                        <a:ext uri="{FF2B5EF4-FFF2-40B4-BE49-F238E27FC236}">
                          <a16:creationId xmlns:a16="http://schemas.microsoft.com/office/drawing/2014/main" id="{63987428-8156-8654-51E9-027D992F51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0473" y="5011789"/>
                      <a:ext cx="2454957" cy="21183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initio — statistical model</a:t>
                      </a:r>
                      <a:endParaRPr lang="en-US" sz="110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p:txBody>
                </p:sp>
              </p:grpSp>
              <p:grpSp>
                <p:nvGrpSpPr>
                  <p:cNvPr id="198" name="Group 197">
                    <a:extLst>
                      <a:ext uri="{FF2B5EF4-FFF2-40B4-BE49-F238E27FC236}">
                        <a16:creationId xmlns:a16="http://schemas.microsoft.com/office/drawing/2014/main" id="{BB1FD810-B2B8-8802-99DE-2028DCA8431D}"/>
                      </a:ext>
                    </a:extLst>
                  </p:cNvPr>
                  <p:cNvGrpSpPr/>
                  <p:nvPr/>
                </p:nvGrpSpPr>
                <p:grpSpPr>
                  <a:xfrm>
                    <a:off x="7683105" y="4472721"/>
                    <a:ext cx="3426172" cy="561023"/>
                    <a:chOff x="7718214" y="4315661"/>
                    <a:chExt cx="3426172" cy="561023"/>
                  </a:xfrm>
                </p:grpSpPr>
                <p:sp>
                  <p:nvSpPr>
                    <p:cNvPr id="102" name="Shape 49">
                      <a:extLst>
                        <a:ext uri="{FF2B5EF4-FFF2-40B4-BE49-F238E27FC236}">
                          <a16:creationId xmlns:a16="http://schemas.microsoft.com/office/drawing/2014/main" id="{55ADBEC3-9645-CE76-8941-41554609EC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8214" y="4315661"/>
                      <a:ext cx="3383279" cy="561023"/>
                    </a:xfrm>
                    <a:prstGeom prst="roundRect">
                      <a:avLst>
                        <a:gd name="adj" fmla="val 14286"/>
                      </a:avLst>
                    </a:prstGeom>
                    <a:solidFill>
                      <a:srgbClr val="EDF3ED"/>
                    </a:solidFill>
                    <a:ln w="16510">
                      <a:solidFill>
                        <a:srgbClr val="1B4332"/>
                      </a:solidFill>
                      <a:prstDash val="solid"/>
                    </a:ln>
                  </p:spPr>
                </p:sp>
                <p:sp>
                  <p:nvSpPr>
                    <p:cNvPr id="104" name="Text 50">
                      <a:extLst>
                        <a:ext uri="{FF2B5EF4-FFF2-40B4-BE49-F238E27FC236}">
                          <a16:creationId xmlns:a16="http://schemas.microsoft.com/office/drawing/2014/main" id="{B4534BF2-4392-61A7-AB15-873198ADF8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52546" y="4331201"/>
                      <a:ext cx="3291840" cy="457055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based model </a:t>
                      </a:r>
                    </a:p>
                    <a:p>
                      <a:pPr algn="ctr"/>
                      <a:r>
                        <a:rPr lang="en-US" sz="9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RNA-seq evidence </a:t>
                      </a: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(Splish site, Exon hints )</a:t>
                      </a:r>
                      <a:endParaRPr lang="en-US" sz="900" dirty="0"/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evidence </a:t>
                      </a:r>
                      <a:r>
                        <a:rPr lang="en-US" sz="9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(Homology hints)</a:t>
                      </a:r>
                      <a:endParaRPr lang="en-US" sz="900" dirty="0"/>
                    </a:p>
                  </p:txBody>
                </p:sp>
              </p:grpSp>
            </p:grpSp>
            <p:grpSp>
              <p:nvGrpSpPr>
                <p:cNvPr id="211" name="Group 210">
                  <a:extLst>
                    <a:ext uri="{FF2B5EF4-FFF2-40B4-BE49-F238E27FC236}">
                      <a16:creationId xmlns:a16="http://schemas.microsoft.com/office/drawing/2014/main" id="{14919C6E-7ABA-85DE-58ED-C26753E9F4F8}"/>
                    </a:ext>
                  </a:extLst>
                </p:cNvPr>
                <p:cNvGrpSpPr/>
                <p:nvPr/>
              </p:nvGrpSpPr>
              <p:grpSpPr>
                <a:xfrm>
                  <a:off x="3839529" y="4840098"/>
                  <a:ext cx="3822380" cy="1506563"/>
                  <a:chOff x="3839529" y="4840098"/>
                  <a:chExt cx="3822380" cy="1506563"/>
                </a:xfrm>
              </p:grpSpPr>
              <p:sp>
                <p:nvSpPr>
                  <p:cNvPr id="120" name="Shape 58">
                    <a:extLst>
                      <a:ext uri="{FF2B5EF4-FFF2-40B4-BE49-F238E27FC236}">
                        <a16:creationId xmlns:a16="http://schemas.microsoft.com/office/drawing/2014/main" id="{FDB05E93-49AE-B065-7B84-58EFA91DE67F}"/>
                      </a:ext>
                    </a:extLst>
                  </p:cNvPr>
                  <p:cNvSpPr/>
                  <p:nvPr/>
                </p:nvSpPr>
                <p:spPr>
                  <a:xfrm>
                    <a:off x="5866945" y="5761125"/>
                    <a:ext cx="0" cy="156711"/>
                  </a:xfrm>
                  <a:prstGeom prst="line">
                    <a:avLst/>
                  </a:prstGeom>
                  <a:noFill/>
                  <a:ln w="17780">
                    <a:solidFill>
                      <a:srgbClr val="1B4332"/>
                    </a:solidFill>
                    <a:prstDash val="solid"/>
                    <a:tailEnd type="triangle"/>
                  </a:ln>
                </p:spPr>
              </p:sp>
              <p:sp>
                <p:nvSpPr>
                  <p:cNvPr id="124" name="Shape 60">
                    <a:extLst>
                      <a:ext uri="{FF2B5EF4-FFF2-40B4-BE49-F238E27FC236}">
                        <a16:creationId xmlns:a16="http://schemas.microsoft.com/office/drawing/2014/main" id="{25F592F1-5EF3-B0C0-7BE4-B004AB74863F}"/>
                      </a:ext>
                    </a:extLst>
                  </p:cNvPr>
                  <p:cNvSpPr/>
                  <p:nvPr/>
                </p:nvSpPr>
                <p:spPr>
                  <a:xfrm>
                    <a:off x="4855387" y="5980901"/>
                    <a:ext cx="2554825" cy="365760"/>
                  </a:xfrm>
                  <a:prstGeom prst="roundRect">
                    <a:avLst>
                      <a:gd name="adj" fmla="val 15000"/>
                    </a:avLst>
                  </a:prstGeom>
                  <a:solidFill>
                    <a:srgbClr val="EDF3ED"/>
                  </a:solidFill>
                  <a:ln w="16510">
                    <a:solidFill>
                      <a:srgbClr val="1B4332"/>
                    </a:solidFill>
                    <a:prstDash val="solid"/>
                  </a:ln>
                </p:spPr>
              </p:sp>
              <p:sp>
                <p:nvSpPr>
                  <p:cNvPr id="108" name="Shape 52">
                    <a:extLst>
                      <a:ext uri="{FF2B5EF4-FFF2-40B4-BE49-F238E27FC236}">
                        <a16:creationId xmlns:a16="http://schemas.microsoft.com/office/drawing/2014/main" id="{13DD263B-A021-F96E-2DC3-45DF17FC30D8}"/>
                      </a:ext>
                    </a:extLst>
                  </p:cNvPr>
                  <p:cNvSpPr/>
                  <p:nvPr/>
                </p:nvSpPr>
                <p:spPr>
                  <a:xfrm>
                    <a:off x="3839529" y="4840098"/>
                    <a:ext cx="1994340" cy="421326"/>
                  </a:xfrm>
                  <a:prstGeom prst="line">
                    <a:avLst/>
                  </a:prstGeom>
                  <a:noFill/>
                  <a:ln w="17780">
                    <a:solidFill>
                      <a:srgbClr val="C97B3E"/>
                    </a:solidFill>
                    <a:prstDash val="solid"/>
                    <a:tailEnd type="triangle"/>
                  </a:ln>
                </p:spPr>
              </p:sp>
              <p:sp>
                <p:nvSpPr>
                  <p:cNvPr id="112" name="Shape 54">
                    <a:extLst>
                      <a:ext uri="{FF2B5EF4-FFF2-40B4-BE49-F238E27FC236}">
                        <a16:creationId xmlns:a16="http://schemas.microsoft.com/office/drawing/2014/main" id="{98EF27C1-528A-BBCC-A2CB-91D2F6228428}"/>
                      </a:ext>
                    </a:extLst>
                  </p:cNvPr>
                  <p:cNvSpPr/>
                  <p:nvPr/>
                </p:nvSpPr>
                <p:spPr>
                  <a:xfrm flipH="1">
                    <a:off x="5833870" y="4858962"/>
                    <a:ext cx="1828039" cy="394581"/>
                  </a:xfrm>
                  <a:prstGeom prst="line">
                    <a:avLst/>
                  </a:prstGeom>
                  <a:noFill/>
                  <a:ln w="17780">
                    <a:solidFill>
                      <a:srgbClr val="C97B3E"/>
                    </a:solidFill>
                    <a:prstDash val="solid"/>
                    <a:tailEnd type="triangle"/>
                  </a:ln>
                </p:spPr>
              </p:sp>
              <p:sp>
                <p:nvSpPr>
                  <p:cNvPr id="118" name="Text 57">
                    <a:extLst>
                      <a:ext uri="{FF2B5EF4-FFF2-40B4-BE49-F238E27FC236}">
                        <a16:creationId xmlns:a16="http://schemas.microsoft.com/office/drawing/2014/main" id="{993ED2E4-6A2E-9594-A7A1-C576C547F2E9}"/>
                      </a:ext>
                    </a:extLst>
                  </p:cNvPr>
                  <p:cNvSpPr/>
                  <p:nvPr/>
                </p:nvSpPr>
                <p:spPr>
                  <a:xfrm>
                    <a:off x="4910880" y="5508779"/>
                    <a:ext cx="2613421" cy="31008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50" i="1" dirty="0">
                        <a:solidFill>
                          <a:srgbClr val="FBEBD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reconciles ab initio + extrinsic hints</a:t>
                    </a:r>
                    <a:endParaRPr lang="en-US" sz="1050" dirty="0"/>
                  </a:p>
                </p:txBody>
              </p:sp>
              <p:sp>
                <p:nvSpPr>
                  <p:cNvPr id="122" name="Text 59">
                    <a:extLst>
                      <a:ext uri="{FF2B5EF4-FFF2-40B4-BE49-F238E27FC236}">
                        <a16:creationId xmlns:a16="http://schemas.microsoft.com/office/drawing/2014/main" id="{B2BB9687-BF01-0DBC-4E66-7289D8AF6187}"/>
                      </a:ext>
                    </a:extLst>
                  </p:cNvPr>
                  <p:cNvSpPr/>
                  <p:nvPr/>
                </p:nvSpPr>
                <p:spPr>
                  <a:xfrm>
                    <a:off x="5780571" y="5737596"/>
                    <a:ext cx="1360708" cy="221559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i="1" dirty="0">
                        <a:solidFill>
                          <a:srgbClr val="5B6B6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consensus model</a:t>
                    </a:r>
                    <a:endParaRPr lang="en-US" sz="1000" dirty="0"/>
                  </a:p>
                </p:txBody>
              </p:sp>
              <p:sp>
                <p:nvSpPr>
                  <p:cNvPr id="205" name="Text 61">
                    <a:extLst>
                      <a:ext uri="{FF2B5EF4-FFF2-40B4-BE49-F238E27FC236}">
                        <a16:creationId xmlns:a16="http://schemas.microsoft.com/office/drawing/2014/main" id="{B7361E53-F5FE-6917-3633-4AADB91D6704}"/>
                      </a:ext>
                    </a:extLst>
                  </p:cNvPr>
                  <p:cNvSpPr/>
                  <p:nvPr/>
                </p:nvSpPr>
                <p:spPr>
                  <a:xfrm>
                    <a:off x="5096567" y="5976754"/>
                    <a:ext cx="2072464" cy="3657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250" b="1" dirty="0">
                        <a:solidFill>
                          <a:srgbClr val="1F2A24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Final gene models</a:t>
                    </a:r>
                    <a:endParaRPr lang="en-US" sz="1250" dirty="0"/>
                  </a:p>
                </p:txBody>
              </p:sp>
            </p:grpSp>
          </p:grp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BFECC70C-9891-92E2-0E10-75B397E2F0D1}"/>
                  </a:ext>
                </a:extLst>
              </p:cNvPr>
              <p:cNvCxnSpPr>
                <a:cxnSpLocks/>
                <a:stCxn id="68" idx="2"/>
                <a:endCxn id="78" idx="1"/>
              </p:cNvCxnSpPr>
              <p:nvPr/>
            </p:nvCxnSpPr>
            <p:spPr>
              <a:xfrm>
                <a:off x="2278402" y="3280047"/>
                <a:ext cx="1640284" cy="91565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EC4EC5A5-71A6-3BC4-E32B-79CCC57851B2}"/>
                  </a:ext>
                </a:extLst>
              </p:cNvPr>
              <p:cNvCxnSpPr>
                <a:cxnSpLocks/>
                <a:stCxn id="40" idx="1"/>
                <a:endCxn id="78" idx="3"/>
              </p:cNvCxnSpPr>
              <p:nvPr/>
            </p:nvCxnSpPr>
            <p:spPr>
              <a:xfrm flipH="1">
                <a:off x="6906969" y="3684415"/>
                <a:ext cx="1008469" cy="51128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79806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C07E34B7-9F98-62CC-2793-6983129E9C1C}"/>
              </a:ext>
            </a:extLst>
          </p:cNvPr>
          <p:cNvSpPr/>
          <p:nvPr/>
        </p:nvSpPr>
        <p:spPr>
          <a:xfrm>
            <a:off x="2676378" y="1109669"/>
            <a:ext cx="68425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AUGUSTUS’s Core Engine: The GHMM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B189A49-F503-2B8F-34C8-A29E8591DB17}"/>
              </a:ext>
            </a:extLst>
          </p:cNvPr>
          <p:cNvSpPr/>
          <p:nvPr/>
        </p:nvSpPr>
        <p:spPr>
          <a:xfrm>
            <a:off x="2448717" y="155022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Hidden Markov Model — the statistical engine behind every AUGUSTUS prediction</a:t>
            </a:r>
            <a:endParaRPr lang="en-US" sz="14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DCEF340-F7AD-E71E-225A-E6D84DCFE423}"/>
              </a:ext>
            </a:extLst>
          </p:cNvPr>
          <p:cNvSpPr/>
          <p:nvPr/>
        </p:nvSpPr>
        <p:spPr>
          <a:xfrm>
            <a:off x="1195364" y="1984248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C0800A4-23EE-E2CC-D549-82DE7D8E0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065" y="2043608"/>
            <a:ext cx="419527" cy="419527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3BE9B253-FF91-23F5-77E1-7FFAC43A1587}"/>
              </a:ext>
            </a:extLst>
          </p:cNvPr>
          <p:cNvSpPr/>
          <p:nvPr/>
        </p:nvSpPr>
        <p:spPr>
          <a:xfrm>
            <a:off x="921827" y="2542207"/>
            <a:ext cx="1346982" cy="43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states</a:t>
            </a:r>
            <a:endParaRPr lang="en-US" sz="16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93AB560-E3EA-046B-5521-6EBE710907F4}"/>
              </a:ext>
            </a:extLst>
          </p:cNvPr>
          <p:cNvSpPr/>
          <p:nvPr/>
        </p:nvSpPr>
        <p:spPr>
          <a:xfrm>
            <a:off x="548640" y="2878854"/>
            <a:ext cx="259314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base is assigned to a biological state — intergenic, UTR, exon, intron — and AUGUSTUS finds the single most probable path through them.</a:t>
            </a:r>
            <a:endParaRPr lang="en-US" sz="1250" b="1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0EF0F996-6ACE-9412-68E4-83B9A74EFF00}"/>
              </a:ext>
            </a:extLst>
          </p:cNvPr>
          <p:cNvSpPr/>
          <p:nvPr/>
        </p:nvSpPr>
        <p:spPr>
          <a:xfrm>
            <a:off x="5085471" y="1887143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8743A640-2B6E-1FC9-8F94-C482F07A2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1950682"/>
            <a:ext cx="419527" cy="419527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423BAC37-ACBE-EF4C-0EAB-CAB35F329658}"/>
              </a:ext>
            </a:extLst>
          </p:cNvPr>
          <p:cNvSpPr/>
          <p:nvPr/>
        </p:nvSpPr>
        <p:spPr>
          <a:xfrm>
            <a:off x="434340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duration modeling</a:t>
            </a:r>
            <a:endParaRPr lang="en-US" sz="165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A955B010-7304-C211-F891-0CF43C9B0EDF}"/>
              </a:ext>
            </a:extLst>
          </p:cNvPr>
          <p:cNvSpPr/>
          <p:nvPr/>
        </p:nvSpPr>
        <p:spPr>
          <a:xfrm>
            <a:off x="4343400" y="2876509"/>
            <a:ext cx="2725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“generalized” part: exon and intron lengths follow their own trained distributions. </a:t>
            </a:r>
            <a:endParaRPr lang="en-US" sz="1250" b="1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74FCA99-F7A1-F80C-4A35-FCFC26C17D4F}"/>
              </a:ext>
            </a:extLst>
          </p:cNvPr>
          <p:cNvSpPr/>
          <p:nvPr/>
        </p:nvSpPr>
        <p:spPr>
          <a:xfrm>
            <a:off x="9518904" y="1804575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B5DBAF0B-0D71-5194-A481-07795CB70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757" y="1878276"/>
            <a:ext cx="419527" cy="419527"/>
          </a:xfrm>
          <a:prstGeom prst="rect">
            <a:avLst/>
          </a:prstGeom>
        </p:spPr>
      </p:pic>
      <p:sp>
        <p:nvSpPr>
          <p:cNvPr id="30" name="Text 10">
            <a:extLst>
              <a:ext uri="{FF2B5EF4-FFF2-40B4-BE49-F238E27FC236}">
                <a16:creationId xmlns:a16="http://schemas.microsoft.com/office/drawing/2014/main" id="{46FE4B1D-A87C-4EEE-5FB0-EE7632F7AA28}"/>
              </a:ext>
            </a:extLst>
          </p:cNvPr>
          <p:cNvSpPr/>
          <p:nvPr/>
        </p:nvSpPr>
        <p:spPr>
          <a:xfrm>
            <a:off x="8822395" y="2353252"/>
            <a:ext cx="2447778" cy="432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signal sensors</a:t>
            </a:r>
            <a:endParaRPr lang="en-US" sz="16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60378848-DF6D-D074-FDFB-619F82F03CFD}"/>
              </a:ext>
            </a:extLst>
          </p:cNvPr>
          <p:cNvSpPr/>
          <p:nvPr/>
        </p:nvSpPr>
        <p:spPr>
          <a:xfrm>
            <a:off x="8587933" y="2852928"/>
            <a:ext cx="291670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carries its own trained sequence model — codon usage in exons, donor/acceptor consensus at boundaries.</a:t>
            </a:r>
            <a:endParaRPr lang="en-US" sz="1250" b="1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EB289B15-EA35-3891-4C74-CA176907D67D}"/>
              </a:ext>
            </a:extLst>
          </p:cNvPr>
          <p:cNvSpPr/>
          <p:nvPr/>
        </p:nvSpPr>
        <p:spPr>
          <a:xfrm>
            <a:off x="548640" y="4343400"/>
            <a:ext cx="3547872" cy="234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STATE PATH AUGUSTUS DECODES</a:t>
            </a:r>
            <a:endParaRPr lang="en-US" sz="12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735E4311-090D-27C2-75F9-66B8D64E1755}"/>
              </a:ext>
            </a:extLst>
          </p:cNvPr>
          <p:cNvSpPr/>
          <p:nvPr/>
        </p:nvSpPr>
        <p:spPr>
          <a:xfrm>
            <a:off x="548640" y="4709160"/>
            <a:ext cx="960120" cy="566928"/>
          </a:xfrm>
          <a:prstGeom prst="roundRect">
            <a:avLst>
              <a:gd name="adj" fmla="val 11290"/>
            </a:avLst>
          </a:prstGeom>
          <a:solidFill>
            <a:srgbClr val="EDF3ED"/>
          </a:solidFill>
          <a:ln w="19050">
            <a:solidFill>
              <a:srgbClr val="5B6B61"/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C1F6CF05-13D3-5493-9173-F05AC74D2638}"/>
              </a:ext>
            </a:extLst>
          </p:cNvPr>
          <p:cNvSpPr/>
          <p:nvPr/>
        </p:nvSpPr>
        <p:spPr>
          <a:xfrm>
            <a:off x="548640" y="4709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intergenic</a:t>
            </a:r>
            <a:endParaRPr lang="en-US" sz="95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7DECA7C4-C5AC-6157-F693-2EFDBFD97CFB}"/>
              </a:ext>
            </a:extLst>
          </p:cNvPr>
          <p:cNvSpPr/>
          <p:nvPr/>
        </p:nvSpPr>
        <p:spPr>
          <a:xfrm>
            <a:off x="1508760" y="4992624"/>
            <a:ext cx="109728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A7E835FB-7CC4-8FA2-47AF-89D94704A07C}"/>
              </a:ext>
            </a:extLst>
          </p:cNvPr>
          <p:cNvSpPr/>
          <p:nvPr/>
        </p:nvSpPr>
        <p:spPr>
          <a:xfrm>
            <a:off x="1618488" y="4709160"/>
            <a:ext cx="868680" cy="566928"/>
          </a:xfrm>
          <a:prstGeom prst="roundRect">
            <a:avLst>
              <a:gd name="adj" fmla="val 11290"/>
            </a:avLst>
          </a:prstGeom>
          <a:solidFill>
            <a:srgbClr val="F7E7D4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16F5B76C-0B09-5747-6E43-9413FE1214D8}"/>
              </a:ext>
            </a:extLst>
          </p:cNvPr>
          <p:cNvSpPr/>
          <p:nvPr/>
        </p:nvSpPr>
        <p:spPr>
          <a:xfrm>
            <a:off x="1618488" y="47091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 UTR</a:t>
            </a:r>
            <a:endParaRPr lang="en-US" sz="950" dirty="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D5582644-1DD9-7F64-A1A2-C915A298B479}"/>
              </a:ext>
            </a:extLst>
          </p:cNvPr>
          <p:cNvSpPr/>
          <p:nvPr/>
        </p:nvSpPr>
        <p:spPr>
          <a:xfrm>
            <a:off x="2487168" y="4992624"/>
            <a:ext cx="109728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42977440-F085-3DAF-2636-758544E5312F}"/>
              </a:ext>
            </a:extLst>
          </p:cNvPr>
          <p:cNvSpPr/>
          <p:nvPr/>
        </p:nvSpPr>
        <p:spPr>
          <a:xfrm>
            <a:off x="2596896" y="4709160"/>
            <a:ext cx="868680" cy="566928"/>
          </a:xfrm>
          <a:prstGeom prst="roundRect">
            <a:avLst>
              <a:gd name="adj" fmla="val 11290"/>
            </a:avLst>
          </a:prstGeom>
          <a:solidFill>
            <a:srgbClr val="1B4332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1E652B4F-A233-3771-D30B-63A3C9AD829C}"/>
              </a:ext>
            </a:extLst>
          </p:cNvPr>
          <p:cNvSpPr/>
          <p:nvPr/>
        </p:nvSpPr>
        <p:spPr>
          <a:xfrm>
            <a:off x="2596896" y="47091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</a:t>
            </a:r>
            <a:endParaRPr lang="en-US" sz="950" dirty="0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F16083D7-8CD8-D04B-F1D5-DD388CDCB668}"/>
              </a:ext>
            </a:extLst>
          </p:cNvPr>
          <p:cNvSpPr/>
          <p:nvPr/>
        </p:nvSpPr>
        <p:spPr>
          <a:xfrm>
            <a:off x="3465576" y="4992624"/>
            <a:ext cx="777240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14E290E0-8AF7-D2EB-CE9F-04BBD1FC8F7D}"/>
              </a:ext>
            </a:extLst>
          </p:cNvPr>
          <p:cNvSpPr/>
          <p:nvPr/>
        </p:nvSpPr>
        <p:spPr>
          <a:xfrm>
            <a:off x="3465576" y="4626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donor site</a:t>
            </a:r>
            <a:endParaRPr lang="en-US" sz="800" b="1" dirty="0"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F2FC76A9-B4CD-3FCE-C807-B97350178D79}"/>
              </a:ext>
            </a:extLst>
          </p:cNvPr>
          <p:cNvSpPr/>
          <p:nvPr/>
        </p:nvSpPr>
        <p:spPr>
          <a:xfrm>
            <a:off x="4242816" y="470916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6B61"/>
            </a:solidFill>
            <a:prstDash val="solid"/>
          </a:ln>
        </p:spPr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7714796B-D3F0-3B39-F8A6-FF1E90E3F552}"/>
              </a:ext>
            </a:extLst>
          </p:cNvPr>
          <p:cNvSpPr/>
          <p:nvPr/>
        </p:nvSpPr>
        <p:spPr>
          <a:xfrm>
            <a:off x="4242816" y="47091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intron</a:t>
            </a:r>
            <a:endParaRPr lang="en-US" sz="95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8515112D-6B55-EC17-32DE-913FA0E131F2}"/>
              </a:ext>
            </a:extLst>
          </p:cNvPr>
          <p:cNvSpPr/>
          <p:nvPr/>
        </p:nvSpPr>
        <p:spPr>
          <a:xfrm>
            <a:off x="4791456" y="4992624"/>
            <a:ext cx="777240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E1AD745E-169C-E674-ED3D-FD2181063DFA}"/>
              </a:ext>
            </a:extLst>
          </p:cNvPr>
          <p:cNvSpPr/>
          <p:nvPr/>
        </p:nvSpPr>
        <p:spPr>
          <a:xfrm>
            <a:off x="4791456" y="4626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acceptor site</a:t>
            </a:r>
            <a:endParaRPr lang="en-US" sz="800" b="1" dirty="0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12D344F9-291D-9842-C4FC-F15AB45FF4D1}"/>
              </a:ext>
            </a:extLst>
          </p:cNvPr>
          <p:cNvSpPr/>
          <p:nvPr/>
        </p:nvSpPr>
        <p:spPr>
          <a:xfrm>
            <a:off x="5568696" y="4709160"/>
            <a:ext cx="868680" cy="566928"/>
          </a:xfrm>
          <a:prstGeom prst="roundRect">
            <a:avLst>
              <a:gd name="adj" fmla="val 11290"/>
            </a:avLst>
          </a:prstGeom>
          <a:solidFill>
            <a:srgbClr val="1B4332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9D7A1F15-FE34-5290-7181-4A519FA249B6}"/>
              </a:ext>
            </a:extLst>
          </p:cNvPr>
          <p:cNvSpPr/>
          <p:nvPr/>
        </p:nvSpPr>
        <p:spPr>
          <a:xfrm>
            <a:off x="5568696" y="47091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</a:t>
            </a:r>
            <a:endParaRPr lang="en-US" sz="950" dirty="0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5A0F0353-4A84-ACB3-13EC-4CED8F893895}"/>
              </a:ext>
            </a:extLst>
          </p:cNvPr>
          <p:cNvSpPr/>
          <p:nvPr/>
        </p:nvSpPr>
        <p:spPr>
          <a:xfrm>
            <a:off x="6437376" y="4992624"/>
            <a:ext cx="777240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8F710B26-9659-E7F4-D61C-629E13995EDB}"/>
              </a:ext>
            </a:extLst>
          </p:cNvPr>
          <p:cNvSpPr/>
          <p:nvPr/>
        </p:nvSpPr>
        <p:spPr>
          <a:xfrm>
            <a:off x="6437376" y="4626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donor site</a:t>
            </a:r>
            <a:endParaRPr lang="en-US" sz="800" b="1" dirty="0"/>
          </a:p>
        </p:txBody>
      </p:sp>
      <p:sp>
        <p:nvSpPr>
          <p:cNvPr id="72" name="Shape 31">
            <a:extLst>
              <a:ext uri="{FF2B5EF4-FFF2-40B4-BE49-F238E27FC236}">
                <a16:creationId xmlns:a16="http://schemas.microsoft.com/office/drawing/2014/main" id="{3DD9847D-D9C6-D839-E981-2A8CFFB6F8DC}"/>
              </a:ext>
            </a:extLst>
          </p:cNvPr>
          <p:cNvSpPr/>
          <p:nvPr/>
        </p:nvSpPr>
        <p:spPr>
          <a:xfrm>
            <a:off x="7214616" y="4709160"/>
            <a:ext cx="548640" cy="566928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5B6B61"/>
            </a:solidFill>
            <a:prstDash val="solid"/>
          </a:ln>
        </p:spPr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8C831FC5-EC10-D100-E703-278B12AA2F98}"/>
              </a:ext>
            </a:extLst>
          </p:cNvPr>
          <p:cNvSpPr/>
          <p:nvPr/>
        </p:nvSpPr>
        <p:spPr>
          <a:xfrm>
            <a:off x="7214616" y="470916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intron</a:t>
            </a:r>
            <a:endParaRPr lang="en-US" sz="950" dirty="0"/>
          </a:p>
        </p:txBody>
      </p:sp>
      <p:sp>
        <p:nvSpPr>
          <p:cNvPr id="76" name="Shape 33">
            <a:extLst>
              <a:ext uri="{FF2B5EF4-FFF2-40B4-BE49-F238E27FC236}">
                <a16:creationId xmlns:a16="http://schemas.microsoft.com/office/drawing/2014/main" id="{C6314005-43AE-8AD1-07CD-F0D64E1321BD}"/>
              </a:ext>
            </a:extLst>
          </p:cNvPr>
          <p:cNvSpPr/>
          <p:nvPr/>
        </p:nvSpPr>
        <p:spPr>
          <a:xfrm>
            <a:off x="7763256" y="4992624"/>
            <a:ext cx="777240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25A41292-3F26-87D4-3BD9-9F66CEF0388C}"/>
              </a:ext>
            </a:extLst>
          </p:cNvPr>
          <p:cNvSpPr/>
          <p:nvPr/>
        </p:nvSpPr>
        <p:spPr>
          <a:xfrm>
            <a:off x="7763256" y="4626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acceptor site</a:t>
            </a:r>
            <a:endParaRPr lang="en-US" sz="800" b="1" dirty="0"/>
          </a:p>
        </p:txBody>
      </p:sp>
      <p:sp>
        <p:nvSpPr>
          <p:cNvPr id="80" name="Shape 35">
            <a:extLst>
              <a:ext uri="{FF2B5EF4-FFF2-40B4-BE49-F238E27FC236}">
                <a16:creationId xmlns:a16="http://schemas.microsoft.com/office/drawing/2014/main" id="{ACB3944B-345A-2162-92E8-4C8D5245E485}"/>
              </a:ext>
            </a:extLst>
          </p:cNvPr>
          <p:cNvSpPr/>
          <p:nvPr/>
        </p:nvSpPr>
        <p:spPr>
          <a:xfrm>
            <a:off x="8540496" y="4709160"/>
            <a:ext cx="868680" cy="566928"/>
          </a:xfrm>
          <a:prstGeom prst="roundRect">
            <a:avLst>
              <a:gd name="adj" fmla="val 11290"/>
            </a:avLst>
          </a:prstGeom>
          <a:solidFill>
            <a:srgbClr val="1B4332"/>
          </a:solidFill>
          <a:ln w="19050">
            <a:solidFill>
              <a:srgbClr val="1B4332"/>
            </a:solidFill>
            <a:prstDash val="solid"/>
          </a:ln>
        </p:spPr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B7AAC118-755C-6371-562C-B6720F86281D}"/>
              </a:ext>
            </a:extLst>
          </p:cNvPr>
          <p:cNvSpPr/>
          <p:nvPr/>
        </p:nvSpPr>
        <p:spPr>
          <a:xfrm>
            <a:off x="8540496" y="47091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</a:t>
            </a:r>
            <a:endParaRPr lang="en-US" sz="950" dirty="0"/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55EFD194-0C65-5C7E-A3BB-281DF353A095}"/>
              </a:ext>
            </a:extLst>
          </p:cNvPr>
          <p:cNvSpPr/>
          <p:nvPr/>
        </p:nvSpPr>
        <p:spPr>
          <a:xfrm>
            <a:off x="9409176" y="4992624"/>
            <a:ext cx="109728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161D8BF9-9AE9-1E00-2D5D-A8CF5ED9AE9C}"/>
              </a:ext>
            </a:extLst>
          </p:cNvPr>
          <p:cNvSpPr/>
          <p:nvPr/>
        </p:nvSpPr>
        <p:spPr>
          <a:xfrm>
            <a:off x="9518904" y="4709160"/>
            <a:ext cx="868680" cy="566928"/>
          </a:xfrm>
          <a:prstGeom prst="roundRect">
            <a:avLst>
              <a:gd name="adj" fmla="val 11290"/>
            </a:avLst>
          </a:prstGeom>
          <a:solidFill>
            <a:srgbClr val="F7E7D4"/>
          </a:solidFill>
          <a:ln w="19050">
            <a:solidFill>
              <a:srgbClr val="C97B3E"/>
            </a:solidFill>
            <a:prstDash val="solid"/>
          </a:ln>
        </p:spPr>
      </p:sp>
      <p:sp>
        <p:nvSpPr>
          <p:cNvPr id="88" name="Text 39">
            <a:extLst>
              <a:ext uri="{FF2B5EF4-FFF2-40B4-BE49-F238E27FC236}">
                <a16:creationId xmlns:a16="http://schemas.microsoft.com/office/drawing/2014/main" id="{14CEF547-43FD-C3A6-AC45-4F06037E8248}"/>
              </a:ext>
            </a:extLst>
          </p:cNvPr>
          <p:cNvSpPr/>
          <p:nvPr/>
        </p:nvSpPr>
        <p:spPr>
          <a:xfrm>
            <a:off x="9518904" y="47091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 UTR</a:t>
            </a:r>
            <a:endParaRPr lang="en-US" sz="950" dirty="0"/>
          </a:p>
        </p:txBody>
      </p:sp>
      <p:sp>
        <p:nvSpPr>
          <p:cNvPr id="90" name="Shape 40">
            <a:extLst>
              <a:ext uri="{FF2B5EF4-FFF2-40B4-BE49-F238E27FC236}">
                <a16:creationId xmlns:a16="http://schemas.microsoft.com/office/drawing/2014/main" id="{DBF66026-936A-C3F7-16EF-D1D211530040}"/>
              </a:ext>
            </a:extLst>
          </p:cNvPr>
          <p:cNvSpPr/>
          <p:nvPr/>
        </p:nvSpPr>
        <p:spPr>
          <a:xfrm>
            <a:off x="10387584" y="4992624"/>
            <a:ext cx="109728" cy="0"/>
          </a:xfrm>
          <a:prstGeom prst="line">
            <a:avLst/>
          </a:prstGeom>
          <a:noFill/>
          <a:ln w="19050">
            <a:solidFill>
              <a:srgbClr val="1B4332"/>
            </a:solidFill>
            <a:prstDash val="solid"/>
            <a:tailEnd type="triangle"/>
          </a:ln>
        </p:spPr>
      </p:sp>
      <p:sp>
        <p:nvSpPr>
          <p:cNvPr id="92" name="Shape 41">
            <a:extLst>
              <a:ext uri="{FF2B5EF4-FFF2-40B4-BE49-F238E27FC236}">
                <a16:creationId xmlns:a16="http://schemas.microsoft.com/office/drawing/2014/main" id="{5E3FA0CA-957D-6FF9-0CB9-18D2EC66C0C9}"/>
              </a:ext>
            </a:extLst>
          </p:cNvPr>
          <p:cNvSpPr/>
          <p:nvPr/>
        </p:nvSpPr>
        <p:spPr>
          <a:xfrm>
            <a:off x="10497312" y="4709160"/>
            <a:ext cx="960120" cy="566928"/>
          </a:xfrm>
          <a:prstGeom prst="roundRect">
            <a:avLst>
              <a:gd name="adj" fmla="val 11290"/>
            </a:avLst>
          </a:prstGeom>
          <a:solidFill>
            <a:srgbClr val="EDF3ED"/>
          </a:solidFill>
          <a:ln w="19050">
            <a:solidFill>
              <a:srgbClr val="5B6B61"/>
            </a:solidFill>
            <a:prstDash val="solid"/>
          </a:ln>
        </p:spPr>
      </p:sp>
      <p:sp>
        <p:nvSpPr>
          <p:cNvPr id="94" name="Text 42">
            <a:extLst>
              <a:ext uri="{FF2B5EF4-FFF2-40B4-BE49-F238E27FC236}">
                <a16:creationId xmlns:a16="http://schemas.microsoft.com/office/drawing/2014/main" id="{AE4214CC-1396-DA21-AEFA-5FF2840CA8DD}"/>
              </a:ext>
            </a:extLst>
          </p:cNvPr>
          <p:cNvSpPr/>
          <p:nvPr/>
        </p:nvSpPr>
        <p:spPr>
          <a:xfrm>
            <a:off x="10497312" y="4709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intergenic</a:t>
            </a:r>
            <a:endParaRPr lang="en-US" sz="950" dirty="0"/>
          </a:p>
        </p:txBody>
      </p:sp>
      <p:sp>
        <p:nvSpPr>
          <p:cNvPr id="96" name="Text 43">
            <a:extLst>
              <a:ext uri="{FF2B5EF4-FFF2-40B4-BE49-F238E27FC236}">
                <a16:creationId xmlns:a16="http://schemas.microsoft.com/office/drawing/2014/main" id="{4E44F11F-23D9-8FC2-3CBA-973AFEA55F35}"/>
              </a:ext>
            </a:extLst>
          </p:cNvPr>
          <p:cNvSpPr/>
          <p:nvPr/>
        </p:nvSpPr>
        <p:spPr>
          <a:xfrm>
            <a:off x="234462" y="5474011"/>
            <a:ext cx="116058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AUGUSTUS scores every possible path through this chain using trained length and content models, then reports the single highest-scoring path as the predicted gene structure.</a:t>
            </a:r>
            <a:endParaRPr lang="en-US" sz="1250" b="1" dirty="0"/>
          </a:p>
        </p:txBody>
      </p:sp>
    </p:spTree>
    <p:extLst>
      <p:ext uri="{BB962C8B-B14F-4D97-AF65-F5344CB8AC3E}">
        <p14:creationId xmlns:p14="http://schemas.microsoft.com/office/powerpoint/2010/main" val="376338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F1B4F4-7F50-B6DE-4AFE-4C9EA1971E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CEA2E0A-06EF-7222-568A-B4E00A47AC84}"/>
              </a:ext>
            </a:extLst>
          </p:cNvPr>
          <p:cNvSpPr txBox="1"/>
          <p:nvPr/>
        </p:nvSpPr>
        <p:spPr>
          <a:xfrm>
            <a:off x="1780281" y="8869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AUGUSTUS: the simplest workflow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3B537E29-96CD-0E13-0D88-11A0B56ED021}"/>
              </a:ext>
            </a:extLst>
          </p:cNvPr>
          <p:cNvSpPr/>
          <p:nvPr/>
        </p:nvSpPr>
        <p:spPr>
          <a:xfrm>
            <a:off x="548640" y="14447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D564224-C217-9EF6-E5C7-F240363CC7C6}"/>
              </a:ext>
            </a:extLst>
          </p:cNvPr>
          <p:cNvSpPr txBox="1"/>
          <p:nvPr/>
        </p:nvSpPr>
        <p:spPr>
          <a:xfrm>
            <a:off x="548640" y="1444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474C1A3-630F-D482-1661-A75ECC2757EE}"/>
              </a:ext>
            </a:extLst>
          </p:cNvPr>
          <p:cNvSpPr/>
          <p:nvPr/>
        </p:nvSpPr>
        <p:spPr>
          <a:xfrm>
            <a:off x="804672" y="1965960"/>
            <a:ext cx="0" cy="886968"/>
          </a:xfrm>
          <a:prstGeom prst="line">
            <a:avLst/>
          </a:prstGeom>
          <a:noFill/>
          <a:ln w="19050">
            <a:solidFill>
              <a:srgbClr val="D3DADD"/>
            </a:solidFill>
            <a:prstDash val="solid"/>
          </a:ln>
        </p:spPr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61E3FFA-DBC3-BBC4-8695-4A69BB25E8BC}"/>
              </a:ext>
            </a:extLst>
          </p:cNvPr>
          <p:cNvSpPr txBox="1"/>
          <p:nvPr/>
        </p:nvSpPr>
        <p:spPr>
          <a:xfrm>
            <a:off x="1325880" y="1389888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the genome</a:t>
            </a:r>
            <a:endParaRPr lang="en-US" sz="145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F1E17A5-0E31-3B51-4328-D718F3F87DB7}"/>
              </a:ext>
            </a:extLst>
          </p:cNvPr>
          <p:cNvSpPr txBox="1"/>
          <p:nvPr/>
        </p:nvSpPr>
        <p:spPr>
          <a:xfrm>
            <a:off x="1325880" y="1664208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the assembled genome as a single FASTA file (one entry per chromosome/contig/scaffold).</a:t>
            </a:r>
            <a:endParaRPr lang="en-US" sz="11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742112A0-FF28-9B9E-830A-9D1861A1AC92}"/>
              </a:ext>
            </a:extLst>
          </p:cNvPr>
          <p:cNvSpPr/>
          <p:nvPr/>
        </p:nvSpPr>
        <p:spPr>
          <a:xfrm>
            <a:off x="548640" y="2377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AE0CA9B4-9C77-3AE3-BC96-291A5BCBBAF7}"/>
              </a:ext>
            </a:extLst>
          </p:cNvPr>
          <p:cNvSpPr txBox="1"/>
          <p:nvPr/>
        </p:nvSpPr>
        <p:spPr>
          <a:xfrm>
            <a:off x="548640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AD299911-E11A-82F7-05DF-0F7ABC3EA6B6}"/>
              </a:ext>
            </a:extLst>
          </p:cNvPr>
          <p:cNvSpPr/>
          <p:nvPr/>
        </p:nvSpPr>
        <p:spPr>
          <a:xfrm>
            <a:off x="804672" y="2898648"/>
            <a:ext cx="0" cy="886968"/>
          </a:xfrm>
          <a:prstGeom prst="line">
            <a:avLst/>
          </a:prstGeom>
          <a:noFill/>
          <a:ln w="19050">
            <a:solidFill>
              <a:srgbClr val="D3DADD"/>
            </a:solidFill>
            <a:prstDash val="solid"/>
          </a:ln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BCA41BE-496A-E2F2-3455-D2491381490D}"/>
              </a:ext>
            </a:extLst>
          </p:cNvPr>
          <p:cNvSpPr txBox="1"/>
          <p:nvPr/>
        </p:nvSpPr>
        <p:spPr>
          <a:xfrm>
            <a:off x="1325880" y="2322576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trained species model</a:t>
            </a:r>
            <a:endParaRPr lang="en-US" sz="145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AFD39F0-7264-B264-4243-06174656FA5E}"/>
              </a:ext>
            </a:extLst>
          </p:cNvPr>
          <p:cNvSpPr txBox="1"/>
          <p:nvPr/>
        </p:nvSpPr>
        <p:spPr>
          <a:xfrm>
            <a:off x="1325880" y="2596896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AUGUSTUS ships with pre-trained parameter sets (e.g. human, fly, arabidopsis) that encode the GHMM's transition/emission probabilities. Train your own only if none fit.</a:t>
            </a:r>
            <a:endParaRPr lang="en-US" sz="11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67FA6879-90CB-7018-68EE-344CE10C13C7}"/>
              </a:ext>
            </a:extLst>
          </p:cNvPr>
          <p:cNvSpPr/>
          <p:nvPr/>
        </p:nvSpPr>
        <p:spPr>
          <a:xfrm>
            <a:off x="548640" y="33101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E96C4AEA-E897-FFD0-16EC-CE96D099DA3B}"/>
              </a:ext>
            </a:extLst>
          </p:cNvPr>
          <p:cNvSpPr txBox="1"/>
          <p:nvPr/>
        </p:nvSpPr>
        <p:spPr>
          <a:xfrm>
            <a:off x="548640" y="33101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CE4FE6CD-EEC4-560D-69C2-B6D38200983A}"/>
              </a:ext>
            </a:extLst>
          </p:cNvPr>
          <p:cNvSpPr/>
          <p:nvPr/>
        </p:nvSpPr>
        <p:spPr>
          <a:xfrm>
            <a:off x="804672" y="3831336"/>
            <a:ext cx="0" cy="886968"/>
          </a:xfrm>
          <a:prstGeom prst="line">
            <a:avLst/>
          </a:prstGeom>
          <a:noFill/>
          <a:ln w="19050">
            <a:solidFill>
              <a:srgbClr val="D3DADD"/>
            </a:solidFill>
            <a:prstDash val="solid"/>
          </a:ln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D948EEC7-4A06-C6FA-EA46-D781A0F1236D}"/>
              </a:ext>
            </a:extLst>
          </p:cNvPr>
          <p:cNvSpPr txBox="1"/>
          <p:nvPr/>
        </p:nvSpPr>
        <p:spPr>
          <a:xfrm>
            <a:off x="1325880" y="3255264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hints (optional but recommended)</a:t>
            </a:r>
            <a:endParaRPr lang="en-US" sz="145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615883C-CD84-4F99-EF56-FA4E33E2CD7A}"/>
              </a:ext>
            </a:extLst>
          </p:cNvPr>
          <p:cNvSpPr txBox="1"/>
          <p:nvPr/>
        </p:nvSpPr>
        <p:spPr>
          <a:xfrm>
            <a:off x="1325880" y="3529584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evidence — RNA-seq alignments or protein alignments — can be fed in to bias the GHMM toward biologically supported exon boundaries.</a:t>
            </a:r>
            <a:endParaRPr lang="en-US" sz="115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4FAC7B28-4E1E-308D-5068-EA67F4464C33}"/>
              </a:ext>
            </a:extLst>
          </p:cNvPr>
          <p:cNvSpPr/>
          <p:nvPr/>
        </p:nvSpPr>
        <p:spPr>
          <a:xfrm>
            <a:off x="548640" y="424281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391ABF20-6415-0495-D0B5-ADA5B089B024}"/>
              </a:ext>
            </a:extLst>
          </p:cNvPr>
          <p:cNvSpPr txBox="1"/>
          <p:nvPr/>
        </p:nvSpPr>
        <p:spPr>
          <a:xfrm>
            <a:off x="548640" y="42428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A2F3BB5B-0E99-325D-B77F-C35A7692E43A}"/>
              </a:ext>
            </a:extLst>
          </p:cNvPr>
          <p:cNvSpPr/>
          <p:nvPr/>
        </p:nvSpPr>
        <p:spPr>
          <a:xfrm>
            <a:off x="804672" y="4764024"/>
            <a:ext cx="0" cy="886968"/>
          </a:xfrm>
          <a:prstGeom prst="line">
            <a:avLst/>
          </a:prstGeom>
          <a:noFill/>
          <a:ln w="19050">
            <a:solidFill>
              <a:srgbClr val="D3DADD"/>
            </a:solidFill>
            <a:prstDash val="solid"/>
          </a:ln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ED0300D4-F4E5-2FBA-DA33-69AEEEB21365}"/>
              </a:ext>
            </a:extLst>
          </p:cNvPr>
          <p:cNvSpPr txBox="1"/>
          <p:nvPr/>
        </p:nvSpPr>
        <p:spPr>
          <a:xfrm>
            <a:off x="1325880" y="4187952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augustus</a:t>
            </a:r>
            <a:endParaRPr lang="en-US" sz="145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73CA5763-1713-16F3-C4BD-6E24D9819E62}"/>
              </a:ext>
            </a:extLst>
          </p:cNvPr>
          <p:cNvSpPr txBox="1"/>
          <p:nvPr/>
        </p:nvSpPr>
        <p:spPr>
          <a:xfrm>
            <a:off x="1325880" y="4462272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augustus --species=&lt;model&gt; genome.fasta  &gt;  output.gff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GHMM decodes the most probable gene-structure path (Viterbi algorithm) for each sequence.</a:t>
            </a:r>
            <a:endParaRPr lang="en-US" sz="110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04857B2E-2392-CE6D-3E36-ABCC6F53B3BF}"/>
              </a:ext>
            </a:extLst>
          </p:cNvPr>
          <p:cNvSpPr/>
          <p:nvPr/>
        </p:nvSpPr>
        <p:spPr>
          <a:xfrm>
            <a:off x="548640" y="517550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C1D7505C-AB5E-0A76-B048-D85DEF06BDDC}"/>
              </a:ext>
            </a:extLst>
          </p:cNvPr>
          <p:cNvSpPr txBox="1"/>
          <p:nvPr/>
        </p:nvSpPr>
        <p:spPr>
          <a:xfrm>
            <a:off x="548640" y="51755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9ED93628-FD99-95B6-3EB5-F9737FC79117}"/>
              </a:ext>
            </a:extLst>
          </p:cNvPr>
          <p:cNvSpPr txBox="1"/>
          <p:nvPr/>
        </p:nvSpPr>
        <p:spPr>
          <a:xfrm>
            <a:off x="1325880" y="5120640"/>
            <a:ext cx="10287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gene models</a:t>
            </a:r>
            <a:endParaRPr lang="en-US" sz="145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ABB48BB6-F9FD-122B-CEA3-57D630859B98}"/>
              </a:ext>
            </a:extLst>
          </p:cNvPr>
          <p:cNvSpPr txBox="1"/>
          <p:nvPr/>
        </p:nvSpPr>
        <p:spPr>
          <a:xfrm>
            <a:off x="1325880" y="5394960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GFF3/GTF file: coordinates for genes, transcripts, exons, CDS and UTRs — the structural blueprint, with no biological function attached yet.</a:t>
            </a:r>
            <a:endParaRPr lang="en-US" sz="115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5A055C4E-FF6A-58AD-A3E5-EFAC9197B32F}"/>
              </a:ext>
            </a:extLst>
          </p:cNvPr>
          <p:cNvSpPr txBox="1"/>
          <p:nvPr/>
        </p:nvSpPr>
        <p:spPr>
          <a:xfrm>
            <a:off x="116586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9309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938753D5-3601-27EB-9150-2692F7F7F5B9}"/>
              </a:ext>
            </a:extLst>
          </p:cNvPr>
          <p:cNvSpPr/>
          <p:nvPr/>
        </p:nvSpPr>
        <p:spPr>
          <a:xfrm>
            <a:off x="502920" y="27889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A805D8A-BAE4-C1E4-ADDF-CAE8A434F2C8}"/>
              </a:ext>
            </a:extLst>
          </p:cNvPr>
          <p:cNvSpPr txBox="1"/>
          <p:nvPr/>
        </p:nvSpPr>
        <p:spPr>
          <a:xfrm>
            <a:off x="594360" y="295351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Genome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</a:t>
            </a:r>
            <a:endParaRPr lang="en-US" sz="16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4CB1ABA-9562-1941-1AB3-59C5AAE75F0C}"/>
              </a:ext>
            </a:extLst>
          </p:cNvPr>
          <p:cNvSpPr txBox="1"/>
          <p:nvPr/>
        </p:nvSpPr>
        <p:spPr>
          <a:xfrm>
            <a:off x="594360" y="36301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assembled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</a:t>
            </a:r>
            <a:endParaRPr lang="en-US" sz="11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2BABA218-EF1B-E047-B82D-E01AAB3F7036}"/>
              </a:ext>
            </a:extLst>
          </p:cNvPr>
          <p:cNvSpPr/>
          <p:nvPr/>
        </p:nvSpPr>
        <p:spPr>
          <a:xfrm>
            <a:off x="2862072" y="3355848"/>
            <a:ext cx="320040" cy="237744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40F7B2AE-6CD6-70DD-13E9-547BEF95DCEE}"/>
              </a:ext>
            </a:extLst>
          </p:cNvPr>
          <p:cNvSpPr/>
          <p:nvPr/>
        </p:nvSpPr>
        <p:spPr>
          <a:xfrm>
            <a:off x="3246120" y="27889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87962FD-3608-C239-4DA7-0C80136B1C37}"/>
              </a:ext>
            </a:extLst>
          </p:cNvPr>
          <p:cNvSpPr txBox="1"/>
          <p:nvPr/>
        </p:nvSpPr>
        <p:spPr>
          <a:xfrm>
            <a:off x="3337560" y="295351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AUGUSTUS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(GHMM)</a:t>
            </a:r>
            <a:endParaRPr lang="en-US" sz="16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EE16559-ACB7-F2AF-4ED1-9A67FC8540BA}"/>
              </a:ext>
            </a:extLst>
          </p:cNvPr>
          <p:cNvSpPr txBox="1"/>
          <p:nvPr/>
        </p:nvSpPr>
        <p:spPr>
          <a:xfrm>
            <a:off x="3337560" y="36301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gene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53C6CF53-2617-C5C6-85F0-4928BF594FD9}"/>
              </a:ext>
            </a:extLst>
          </p:cNvPr>
          <p:cNvSpPr/>
          <p:nvPr/>
        </p:nvSpPr>
        <p:spPr>
          <a:xfrm>
            <a:off x="5605272" y="3355848"/>
            <a:ext cx="320040" cy="237744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65BDAD16-E588-676D-584E-5D30BC136213}"/>
              </a:ext>
            </a:extLst>
          </p:cNvPr>
          <p:cNvSpPr/>
          <p:nvPr/>
        </p:nvSpPr>
        <p:spPr>
          <a:xfrm>
            <a:off x="5989320" y="27889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FF5F7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5FF3D610-DA54-4EFB-12ED-0ECFE48BEC05}"/>
              </a:ext>
            </a:extLst>
          </p:cNvPr>
          <p:cNvSpPr txBox="1"/>
          <p:nvPr/>
        </p:nvSpPr>
        <p:spPr>
          <a:xfrm>
            <a:off x="6080760" y="295351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Models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(GFF3/GTF)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9E13009-94A3-94C5-857D-DC71197B781F}"/>
              </a:ext>
            </a:extLst>
          </p:cNvPr>
          <p:cNvSpPr txBox="1"/>
          <p:nvPr/>
        </p:nvSpPr>
        <p:spPr>
          <a:xfrm>
            <a:off x="6080760" y="36301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Exons, introns,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coordinates</a:t>
            </a:r>
            <a:endParaRPr lang="en-US" sz="11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1DE12F78-3E92-1E83-9E56-FF84D7C3D564}"/>
              </a:ext>
            </a:extLst>
          </p:cNvPr>
          <p:cNvSpPr/>
          <p:nvPr/>
        </p:nvSpPr>
        <p:spPr>
          <a:xfrm>
            <a:off x="8348472" y="3355848"/>
            <a:ext cx="320040" cy="237744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731A7950-DCF1-8EA2-CD54-61461FA83792}"/>
              </a:ext>
            </a:extLst>
          </p:cNvPr>
          <p:cNvSpPr/>
          <p:nvPr/>
        </p:nvSpPr>
        <p:spPr>
          <a:xfrm>
            <a:off x="8732520" y="27889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C5B3FE41-3025-3DE4-4BB9-C47707486FEA}"/>
              </a:ext>
            </a:extLst>
          </p:cNvPr>
          <p:cNvSpPr txBox="1"/>
          <p:nvPr/>
        </p:nvSpPr>
        <p:spPr>
          <a:xfrm>
            <a:off x="8823960" y="2953512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EggNOG-mapper</a:t>
            </a:r>
            <a:endParaRPr lang="en-US" sz="16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6C63AEC-AE37-9037-94F4-CC942596029D}"/>
              </a:ext>
            </a:extLst>
          </p:cNvPr>
          <p:cNvSpPr txBox="1"/>
          <p:nvPr/>
        </p:nvSpPr>
        <p:spPr>
          <a:xfrm>
            <a:off x="8823960" y="36301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1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1A66A34A-885E-E135-4767-2249386D33EC}"/>
              </a:ext>
            </a:extLst>
          </p:cNvPr>
          <p:cNvSpPr/>
          <p:nvPr/>
        </p:nvSpPr>
        <p:spPr>
          <a:xfrm>
            <a:off x="3246120" y="443484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FF5F7"/>
          </a:solidFill>
          <a:ln/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9BE109A-A663-072F-8AB5-00BC22E57910}"/>
              </a:ext>
            </a:extLst>
          </p:cNvPr>
          <p:cNvSpPr txBox="1"/>
          <p:nvPr/>
        </p:nvSpPr>
        <p:spPr>
          <a:xfrm>
            <a:off x="324612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Where are the genes?</a:t>
            </a:r>
            <a:endParaRPr lang="en-US" sz="95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384102EB-938D-C93F-6989-2D027AA8226C}"/>
              </a:ext>
            </a:extLst>
          </p:cNvPr>
          <p:cNvSpPr/>
          <p:nvPr/>
        </p:nvSpPr>
        <p:spPr>
          <a:xfrm>
            <a:off x="8732520" y="443484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EFF5F7"/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5F5B98F-67AD-6D7C-0214-86FB879FE855}"/>
              </a:ext>
            </a:extLst>
          </p:cNvPr>
          <p:cNvSpPr txBox="1"/>
          <p:nvPr/>
        </p:nvSpPr>
        <p:spPr>
          <a:xfrm>
            <a:off x="873252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What do genes do?</a:t>
            </a:r>
            <a:endParaRPr lang="en-US" sz="95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07D26629-52B1-9250-ECA7-412BFF7DE5E1}"/>
              </a:ext>
            </a:extLst>
          </p:cNvPr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AUGUSTUS finds the location and structure of genes using a probabilistic model (GHMM). It does not know what those genes do. EggNOG-mapper takes the predicted protein sequences and matches them to known, well-studied genes to transfer functional labels (GO, KEGG, COG, Pfam).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2628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1F206515-A2DA-0E60-EDC4-8CABAA89ED04}"/>
              </a:ext>
            </a:extLst>
          </p:cNvPr>
          <p:cNvSpPr txBox="1"/>
          <p:nvPr/>
        </p:nvSpPr>
        <p:spPr>
          <a:xfrm>
            <a:off x="2312125" y="994177"/>
            <a:ext cx="79515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EggNOG-mapper assigns gene function</a:t>
            </a:r>
            <a:endParaRPr lang="en-US" sz="24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59D3C9F-4E0C-A5C8-536C-62DEA5390E45}"/>
              </a:ext>
            </a:extLst>
          </p:cNvPr>
          <p:cNvSpPr/>
          <p:nvPr/>
        </p:nvSpPr>
        <p:spPr>
          <a:xfrm>
            <a:off x="548640" y="1554480"/>
            <a:ext cx="2029968" cy="3200400"/>
          </a:xfrm>
          <a:prstGeom prst="roundRect">
            <a:avLst>
              <a:gd name="adj" fmla="val 4505"/>
            </a:avLst>
          </a:prstGeom>
          <a:solidFill>
            <a:srgbClr val="065A82"/>
          </a:solidFill>
          <a:ln/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225B1DF-1787-F09D-C411-2DF56DCA05F2}"/>
              </a:ext>
            </a:extLst>
          </p:cNvPr>
          <p:cNvSpPr/>
          <p:nvPr/>
        </p:nvSpPr>
        <p:spPr>
          <a:xfrm>
            <a:off x="1307592" y="1783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8BC3FEB-0978-CF1E-2B4C-8BB8C855B5B2}"/>
              </a:ext>
            </a:extLst>
          </p:cNvPr>
          <p:cNvSpPr txBox="1"/>
          <p:nvPr/>
        </p:nvSpPr>
        <p:spPr>
          <a:xfrm>
            <a:off x="1307592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51D22716-E649-17E8-17CF-7B9C16E01D6F}"/>
              </a:ext>
            </a:extLst>
          </p:cNvPr>
          <p:cNvSpPr txBox="1"/>
          <p:nvPr/>
        </p:nvSpPr>
        <p:spPr>
          <a:xfrm>
            <a:off x="658368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5857D71-E914-F98B-2922-3EF37047B0F1}"/>
              </a:ext>
            </a:extLst>
          </p:cNvPr>
          <p:cNvSpPr txBox="1"/>
          <p:nvPr/>
        </p:nvSpPr>
        <p:spPr>
          <a:xfrm>
            <a:off x="676656" y="2926080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protein sequences (FASTA) from AUGUSTUS's gene models.</a:t>
            </a:r>
            <a:endParaRPr lang="en-US" sz="98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CE3FB4F8-FF06-212C-1806-75BF03BD7D86}"/>
              </a:ext>
            </a:extLst>
          </p:cNvPr>
          <p:cNvSpPr/>
          <p:nvPr/>
        </p:nvSpPr>
        <p:spPr>
          <a:xfrm>
            <a:off x="2596896" y="3054096"/>
            <a:ext cx="192024" cy="201168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D866AB8-797D-D50D-EB36-58A8DB82AD59}"/>
              </a:ext>
            </a:extLst>
          </p:cNvPr>
          <p:cNvSpPr/>
          <p:nvPr/>
        </p:nvSpPr>
        <p:spPr>
          <a:xfrm>
            <a:off x="2807208" y="1554480"/>
            <a:ext cx="2029968" cy="3200400"/>
          </a:xfrm>
          <a:prstGeom prst="roundRect">
            <a:avLst>
              <a:gd name="adj" fmla="val 4505"/>
            </a:avLst>
          </a:prstGeom>
          <a:solidFill>
            <a:srgbClr val="1C7293"/>
          </a:solidFill>
          <a:ln/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D1FB4C39-25EF-0194-0A09-0CE77E8B7A17}"/>
              </a:ext>
            </a:extLst>
          </p:cNvPr>
          <p:cNvSpPr/>
          <p:nvPr/>
        </p:nvSpPr>
        <p:spPr>
          <a:xfrm>
            <a:off x="3566160" y="1783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25FC284-39DF-2B7E-A12F-45D69A7F85C8}"/>
              </a:ext>
            </a:extLst>
          </p:cNvPr>
          <p:cNvSpPr txBox="1"/>
          <p:nvPr/>
        </p:nvSpPr>
        <p:spPr>
          <a:xfrm>
            <a:off x="3566160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9F77133-B5BD-E164-B023-619F7D64777A}"/>
              </a:ext>
            </a:extLst>
          </p:cNvPr>
          <p:cNvSpPr txBox="1"/>
          <p:nvPr/>
        </p:nvSpPr>
        <p:spPr>
          <a:xfrm>
            <a:off x="2916936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Homology search</a:t>
            </a:r>
            <a:endParaRPr lang="en-US" sz="13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DD108F2E-30B6-A5A4-4E5F-B67B6518E777}"/>
              </a:ext>
            </a:extLst>
          </p:cNvPr>
          <p:cNvSpPr txBox="1"/>
          <p:nvPr/>
        </p:nvSpPr>
        <p:spPr>
          <a:xfrm>
            <a:off x="2935224" y="2926080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sequence search (DIAMOND / HMMER / MMseqs2) against the precomputed eggNOG orthology database.</a:t>
            </a:r>
            <a:endParaRPr lang="en-US" sz="98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1A2C1076-5ACC-C6C6-AED9-3DC0B201409C}"/>
              </a:ext>
            </a:extLst>
          </p:cNvPr>
          <p:cNvSpPr/>
          <p:nvPr/>
        </p:nvSpPr>
        <p:spPr>
          <a:xfrm>
            <a:off x="4855464" y="3054096"/>
            <a:ext cx="192024" cy="201168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D4558278-32F7-F239-CB22-10A53B1A8409}"/>
              </a:ext>
            </a:extLst>
          </p:cNvPr>
          <p:cNvSpPr/>
          <p:nvPr/>
        </p:nvSpPr>
        <p:spPr>
          <a:xfrm>
            <a:off x="5065776" y="1554480"/>
            <a:ext cx="2029968" cy="3200400"/>
          </a:xfrm>
          <a:prstGeom prst="roundRect">
            <a:avLst>
              <a:gd name="adj" fmla="val 4505"/>
            </a:avLst>
          </a:prstGeom>
          <a:solidFill>
            <a:srgbClr val="065A82"/>
          </a:solidFill>
          <a:ln/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0D677D10-A7B0-A3C0-099B-3664AEC9C82B}"/>
              </a:ext>
            </a:extLst>
          </p:cNvPr>
          <p:cNvSpPr/>
          <p:nvPr/>
        </p:nvSpPr>
        <p:spPr>
          <a:xfrm>
            <a:off x="5824728" y="1783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7545F3E-4515-F8EB-BFE8-04A213AFCCF8}"/>
              </a:ext>
            </a:extLst>
          </p:cNvPr>
          <p:cNvSpPr txBox="1"/>
          <p:nvPr/>
        </p:nvSpPr>
        <p:spPr>
          <a:xfrm>
            <a:off x="5824728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893BE13B-A96D-C626-2713-0E4D26630928}"/>
              </a:ext>
            </a:extLst>
          </p:cNvPr>
          <p:cNvSpPr txBox="1"/>
          <p:nvPr/>
        </p:nvSpPr>
        <p:spPr>
          <a:xfrm>
            <a:off x="5175504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Orthologous group assignment</a:t>
            </a:r>
            <a:endParaRPr lang="en-US" sz="13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41F13860-7744-5A0C-F2F1-7C79542B617F}"/>
              </a:ext>
            </a:extLst>
          </p:cNvPr>
          <p:cNvSpPr txBox="1"/>
          <p:nvPr/>
        </p:nvSpPr>
        <p:spPr>
          <a:xfrm>
            <a:off x="5193792" y="2926080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protein is placed into its best-matching orthologous group (OG) from eggNOG.</a:t>
            </a:r>
            <a:endParaRPr lang="en-US" sz="98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1DC04336-1FAF-D214-5C01-710CA4C2CCA0}"/>
              </a:ext>
            </a:extLst>
          </p:cNvPr>
          <p:cNvSpPr/>
          <p:nvPr/>
        </p:nvSpPr>
        <p:spPr>
          <a:xfrm>
            <a:off x="7114032" y="3054096"/>
            <a:ext cx="192024" cy="201168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43D8C2B3-074E-53BA-3E41-09D0BDB463BC}"/>
              </a:ext>
            </a:extLst>
          </p:cNvPr>
          <p:cNvSpPr/>
          <p:nvPr/>
        </p:nvSpPr>
        <p:spPr>
          <a:xfrm>
            <a:off x="7324344" y="1554480"/>
            <a:ext cx="2029968" cy="3200400"/>
          </a:xfrm>
          <a:prstGeom prst="roundRect">
            <a:avLst>
              <a:gd name="adj" fmla="val 4505"/>
            </a:avLst>
          </a:prstGeom>
          <a:solidFill>
            <a:srgbClr val="1C7293"/>
          </a:solidFill>
          <a:ln/>
        </p:spPr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470D5920-C1D9-A046-05EC-C151F4ED2038}"/>
              </a:ext>
            </a:extLst>
          </p:cNvPr>
          <p:cNvSpPr/>
          <p:nvPr/>
        </p:nvSpPr>
        <p:spPr>
          <a:xfrm>
            <a:off x="8083296" y="1783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FD2035C3-1556-471F-B33F-88BAFB175C5A}"/>
              </a:ext>
            </a:extLst>
          </p:cNvPr>
          <p:cNvSpPr txBox="1"/>
          <p:nvPr/>
        </p:nvSpPr>
        <p:spPr>
          <a:xfrm>
            <a:off x="8083296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69A8DF28-D90C-2D4A-9B28-FCA27EDCC32B}"/>
              </a:ext>
            </a:extLst>
          </p:cNvPr>
          <p:cNvSpPr txBox="1"/>
          <p:nvPr/>
        </p:nvSpPr>
        <p:spPr>
          <a:xfrm>
            <a:off x="7434072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transfer</a:t>
            </a:r>
            <a:endParaRPr lang="en-US" sz="13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9153E17A-2DF8-38C9-6B19-EFA913C16843}"/>
              </a:ext>
            </a:extLst>
          </p:cNvPr>
          <p:cNvSpPr txBox="1"/>
          <p:nvPr/>
        </p:nvSpPr>
        <p:spPr>
          <a:xfrm>
            <a:off x="7452360" y="2926080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labels already known for that OG — GO terms, KEGG pathways, COG category, Pfam domains, gene description — are transferred to the query.</a:t>
            </a:r>
            <a:endParaRPr lang="en-US" sz="980" dirty="0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7D55568A-8CB4-DDE8-1BEA-26FF210C3546}"/>
              </a:ext>
            </a:extLst>
          </p:cNvPr>
          <p:cNvSpPr/>
          <p:nvPr/>
        </p:nvSpPr>
        <p:spPr>
          <a:xfrm>
            <a:off x="9372600" y="3054096"/>
            <a:ext cx="192024" cy="201168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4413F111-6A47-219E-FF5E-FDC48A994E5A}"/>
              </a:ext>
            </a:extLst>
          </p:cNvPr>
          <p:cNvSpPr/>
          <p:nvPr/>
        </p:nvSpPr>
        <p:spPr>
          <a:xfrm>
            <a:off x="9582912" y="1554480"/>
            <a:ext cx="2029968" cy="3200400"/>
          </a:xfrm>
          <a:prstGeom prst="roundRect">
            <a:avLst>
              <a:gd name="adj" fmla="val 4505"/>
            </a:avLst>
          </a:prstGeom>
          <a:solidFill>
            <a:srgbClr val="065A82"/>
          </a:solidFill>
          <a:ln/>
        </p:spPr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473B5480-69FE-02A7-E8E5-24104613C05B}"/>
              </a:ext>
            </a:extLst>
          </p:cNvPr>
          <p:cNvSpPr/>
          <p:nvPr/>
        </p:nvSpPr>
        <p:spPr>
          <a:xfrm>
            <a:off x="10341864" y="17830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6248C7EE-CB41-1DB3-87D7-C2066C595930}"/>
              </a:ext>
            </a:extLst>
          </p:cNvPr>
          <p:cNvSpPr txBox="1"/>
          <p:nvPr/>
        </p:nvSpPr>
        <p:spPr>
          <a:xfrm>
            <a:off x="10341864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FD169ED9-1CB8-F088-DDAD-3A5880087073}"/>
              </a:ext>
            </a:extLst>
          </p:cNvPr>
          <p:cNvSpPr txBox="1"/>
          <p:nvPr/>
        </p:nvSpPr>
        <p:spPr>
          <a:xfrm>
            <a:off x="9692640" y="24231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59C3F64F-5DF7-D772-021C-5D05B27FA2FE}"/>
              </a:ext>
            </a:extLst>
          </p:cNvPr>
          <p:cNvSpPr txBox="1"/>
          <p:nvPr/>
        </p:nvSpPr>
        <p:spPr>
          <a:xfrm>
            <a:off x="9710928" y="2926080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AA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annotation table: one row per gene, columns for description, GO/KEGG/COG/Pfam and more.</a:t>
            </a:r>
            <a:endParaRPr lang="en-US" sz="980" dirty="0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E181C7A7-421A-E095-C0D8-8DD77E741B9D}"/>
              </a:ext>
            </a:extLst>
          </p:cNvPr>
          <p:cNvSpPr txBox="1"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solidFill>
            <a:srgbClr val="EFF5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line: emapper.py -i proteins.fasta --itype proteins -o output_prefix</a:t>
            </a:r>
            <a:endParaRPr lang="en-US" sz="1200" dirty="0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C91482E0-EEB5-5035-BB2F-4E3F0A43AFA0}"/>
              </a:ext>
            </a:extLst>
          </p:cNvPr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predicted genes now carry putative functions, pathways, and protein domains — turning a structural gene model into a biologically meaningful annotation.</a:t>
            </a:r>
            <a:endParaRPr lang="en-US" sz="1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477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0A275F99-F262-90E8-E0C0-CC56C043BD3F}"/>
              </a:ext>
            </a:extLst>
          </p:cNvPr>
          <p:cNvSpPr/>
          <p:nvPr/>
        </p:nvSpPr>
        <p:spPr>
          <a:xfrm>
            <a:off x="502920" y="2377440"/>
            <a:ext cx="960120" cy="960120"/>
          </a:xfrm>
          <a:prstGeom prst="ellipse">
            <a:avLst/>
          </a:prstGeom>
          <a:solidFill>
            <a:srgbClr val="9AA7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2AD5065-E10A-709B-2137-DF5188EFB6AE}"/>
              </a:ext>
            </a:extLst>
          </p:cNvPr>
          <p:cNvSpPr txBox="1"/>
          <p:nvPr/>
        </p:nvSpPr>
        <p:spPr>
          <a:xfrm>
            <a:off x="502920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Intergenic</a:t>
            </a:r>
            <a:endParaRPr lang="en-US" sz="105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70DA141-18F9-51C9-8367-B815C99B6C95}"/>
              </a:ext>
            </a:extLst>
          </p:cNvPr>
          <p:cNvSpPr/>
          <p:nvPr/>
        </p:nvSpPr>
        <p:spPr>
          <a:xfrm>
            <a:off x="1638291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84D863B6-220B-87E4-4B7B-9888E8C11338}"/>
              </a:ext>
            </a:extLst>
          </p:cNvPr>
          <p:cNvSpPr/>
          <p:nvPr/>
        </p:nvSpPr>
        <p:spPr>
          <a:xfrm>
            <a:off x="1963347" y="2377440"/>
            <a:ext cx="960120" cy="960120"/>
          </a:xfrm>
          <a:prstGeom prst="ellipse">
            <a:avLst/>
          </a:prstGeom>
          <a:solidFill>
            <a:srgbClr val="6C8E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9D78BB4-CE52-788A-5477-06AB1F51F3BE}"/>
              </a:ext>
            </a:extLst>
          </p:cNvPr>
          <p:cNvSpPr txBox="1"/>
          <p:nvPr/>
        </p:nvSpPr>
        <p:spPr>
          <a:xfrm>
            <a:off x="1963347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 UTR</a:t>
            </a:r>
            <a:endParaRPr lang="en-US" sz="10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C1CB422-1685-8EBE-683A-1CC549D14FA4}"/>
              </a:ext>
            </a:extLst>
          </p:cNvPr>
          <p:cNvSpPr/>
          <p:nvPr/>
        </p:nvSpPr>
        <p:spPr>
          <a:xfrm>
            <a:off x="3098719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3FABD8F9-2B1F-D379-1A38-6B781C4DB9CC}"/>
              </a:ext>
            </a:extLst>
          </p:cNvPr>
          <p:cNvSpPr/>
          <p:nvPr/>
        </p:nvSpPr>
        <p:spPr>
          <a:xfrm>
            <a:off x="3423775" y="2377440"/>
            <a:ext cx="960120" cy="960120"/>
          </a:xfrm>
          <a:prstGeom prst="ellipse">
            <a:avLst/>
          </a:prstGeom>
          <a:solidFill>
            <a:srgbClr val="3FBF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CC122E7-81C7-4331-A784-DA06D7DB83D8}"/>
              </a:ext>
            </a:extLst>
          </p:cNvPr>
          <p:cNvSpPr txBox="1"/>
          <p:nvPr/>
        </p:nvSpPr>
        <p:spPr>
          <a:xfrm>
            <a:off x="3423775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</a:t>
            </a:r>
            <a:endParaRPr lang="en-US" sz="105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EFC6E128-119A-17DB-8425-8D7440492EB9}"/>
              </a:ext>
            </a:extLst>
          </p:cNvPr>
          <p:cNvSpPr/>
          <p:nvPr/>
        </p:nvSpPr>
        <p:spPr>
          <a:xfrm>
            <a:off x="4559146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65DEB283-3F66-0B10-7426-29488981BFDF}"/>
              </a:ext>
            </a:extLst>
          </p:cNvPr>
          <p:cNvSpPr/>
          <p:nvPr/>
        </p:nvSpPr>
        <p:spPr>
          <a:xfrm>
            <a:off x="4884202" y="2377440"/>
            <a:ext cx="960120" cy="9601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D13FACA2-7F70-C5F7-F0B1-46957B3168D2}"/>
              </a:ext>
            </a:extLst>
          </p:cNvPr>
          <p:cNvSpPr txBox="1"/>
          <p:nvPr/>
        </p:nvSpPr>
        <p:spPr>
          <a:xfrm>
            <a:off x="4884202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</a:t>
            </a:r>
            <a:endParaRPr lang="en-US" sz="105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C341A1A5-2F91-2866-E805-9E07B6BD4E56}"/>
              </a:ext>
            </a:extLst>
          </p:cNvPr>
          <p:cNvSpPr/>
          <p:nvPr/>
        </p:nvSpPr>
        <p:spPr>
          <a:xfrm>
            <a:off x="6019574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DC92E02A-CF09-38FE-B9EB-05000044E385}"/>
              </a:ext>
            </a:extLst>
          </p:cNvPr>
          <p:cNvSpPr/>
          <p:nvPr/>
        </p:nvSpPr>
        <p:spPr>
          <a:xfrm>
            <a:off x="6344630" y="2377440"/>
            <a:ext cx="960120" cy="96012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8EAF0F48-0FE0-F2A5-7B76-9AFF2204FD2B}"/>
              </a:ext>
            </a:extLst>
          </p:cNvPr>
          <p:cNvSpPr txBox="1"/>
          <p:nvPr/>
        </p:nvSpPr>
        <p:spPr>
          <a:xfrm>
            <a:off x="6344630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Intron</a:t>
            </a:r>
            <a:endParaRPr lang="en-US" sz="105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FEF5D2B4-274C-0C66-B215-7794A020BBFF}"/>
              </a:ext>
            </a:extLst>
          </p:cNvPr>
          <p:cNvSpPr/>
          <p:nvPr/>
        </p:nvSpPr>
        <p:spPr>
          <a:xfrm>
            <a:off x="7480001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E4403042-4281-1B94-23C1-1E329BA656E0}"/>
              </a:ext>
            </a:extLst>
          </p:cNvPr>
          <p:cNvSpPr/>
          <p:nvPr/>
        </p:nvSpPr>
        <p:spPr>
          <a:xfrm>
            <a:off x="7805057" y="2377440"/>
            <a:ext cx="960120" cy="960120"/>
          </a:xfrm>
          <a:prstGeom prst="ellipse">
            <a:avLst/>
          </a:prstGeom>
          <a:solidFill>
            <a:srgbClr val="3FBF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131231C0-671D-71D9-7B1A-B812E82E04B4}"/>
              </a:ext>
            </a:extLst>
          </p:cNvPr>
          <p:cNvSpPr txBox="1"/>
          <p:nvPr/>
        </p:nvSpPr>
        <p:spPr>
          <a:xfrm>
            <a:off x="7805057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</a:t>
            </a:r>
            <a:endParaRPr lang="en-US" sz="105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A6761845-006F-78BA-629C-4C3B5778E435}"/>
              </a:ext>
            </a:extLst>
          </p:cNvPr>
          <p:cNvSpPr/>
          <p:nvPr/>
        </p:nvSpPr>
        <p:spPr>
          <a:xfrm>
            <a:off x="8940428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73E93CD2-A437-F850-1392-E001A2886FCC}"/>
              </a:ext>
            </a:extLst>
          </p:cNvPr>
          <p:cNvSpPr/>
          <p:nvPr/>
        </p:nvSpPr>
        <p:spPr>
          <a:xfrm>
            <a:off x="9265485" y="2377440"/>
            <a:ext cx="960120" cy="960120"/>
          </a:xfrm>
          <a:prstGeom prst="ellipse">
            <a:avLst/>
          </a:prstGeom>
          <a:solidFill>
            <a:srgbClr val="6C8E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E7B40A5-0622-FDA3-9685-0824DAFD80B6}"/>
              </a:ext>
            </a:extLst>
          </p:cNvPr>
          <p:cNvSpPr txBox="1"/>
          <p:nvPr/>
        </p:nvSpPr>
        <p:spPr>
          <a:xfrm>
            <a:off x="9265485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 UTR</a:t>
            </a:r>
            <a:endParaRPr lang="en-US" sz="105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E150CA0D-8B27-74F4-3D40-85C6DD6E0B00}"/>
              </a:ext>
            </a:extLst>
          </p:cNvPr>
          <p:cNvSpPr/>
          <p:nvPr/>
        </p:nvSpPr>
        <p:spPr>
          <a:xfrm>
            <a:off x="10400856" y="2775204"/>
            <a:ext cx="963882" cy="164592"/>
          </a:xfrm>
          <a:prstGeom prst="rightArrow">
            <a:avLst/>
          </a:prstGeom>
          <a:solidFill>
            <a:srgbClr val="C9D3D8"/>
          </a:solidFill>
          <a:ln/>
        </p:spPr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F15995C3-B030-93CB-A5EC-EF1913DA07BD}"/>
              </a:ext>
            </a:extLst>
          </p:cNvPr>
          <p:cNvSpPr/>
          <p:nvPr/>
        </p:nvSpPr>
        <p:spPr>
          <a:xfrm>
            <a:off x="10725912" y="2377440"/>
            <a:ext cx="960120" cy="960120"/>
          </a:xfrm>
          <a:prstGeom prst="ellipse">
            <a:avLst/>
          </a:prstGeom>
          <a:solidFill>
            <a:srgbClr val="9AA7A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D8F0D41E-F444-A932-48C6-2F0F8C8706F1}"/>
              </a:ext>
            </a:extLst>
          </p:cNvPr>
          <p:cNvSpPr txBox="1"/>
          <p:nvPr/>
        </p:nvSpPr>
        <p:spPr>
          <a:xfrm>
            <a:off x="10725912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Intergenic</a:t>
            </a:r>
            <a:endParaRPr lang="en-US" sz="105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6222914C-0CDD-9EAC-F35A-591C08D870BC}"/>
              </a:ext>
            </a:extLst>
          </p:cNvPr>
          <p:cNvSpPr txBox="1"/>
          <p:nvPr/>
        </p:nvSpPr>
        <p:spPr>
          <a:xfrm>
            <a:off x="4518442" y="3474720"/>
            <a:ext cx="33602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for every additional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 / intron pair</a:t>
            </a:r>
            <a:endParaRPr lang="en-US" sz="1000" dirty="0"/>
          </a:p>
        </p:txBody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7B530390-F0DF-7DCB-4425-18A83C1D06E4}"/>
              </a:ext>
            </a:extLst>
          </p:cNvPr>
          <p:cNvSpPr/>
          <p:nvPr/>
        </p:nvSpPr>
        <p:spPr>
          <a:xfrm>
            <a:off x="5364262" y="3429000"/>
            <a:ext cx="1460427" cy="0"/>
          </a:xfrm>
          <a:prstGeom prst="line">
            <a:avLst/>
          </a:prstGeom>
          <a:noFill/>
          <a:ln w="12700">
            <a:solidFill>
              <a:srgbClr val="C9D3D8"/>
            </a:solidFill>
            <a:prstDash val="dash"/>
            <a:headEnd type="triangle"/>
            <a:tailEnd type="triangle"/>
          </a:ln>
        </p:spPr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37BCB5D6-3032-68E3-DC5B-773D44E5D784}"/>
              </a:ext>
            </a:extLst>
          </p:cNvPr>
          <p:cNvSpPr/>
          <p:nvPr/>
        </p:nvSpPr>
        <p:spPr>
          <a:xfrm>
            <a:off x="640080" y="42976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EFF5F7"/>
          </a:solidFill>
          <a:ln/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FA283D92-428B-35E5-56E6-1DAF3694DAC6}"/>
              </a:ext>
            </a:extLst>
          </p:cNvPr>
          <p:cNvSpPr txBox="1"/>
          <p:nvPr/>
        </p:nvSpPr>
        <p:spPr>
          <a:xfrm>
            <a:off x="86868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Splice-site signals</a:t>
            </a:r>
            <a:endParaRPr lang="en-US" sz="1400" dirty="0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8F46355A-F6DB-7CE4-A550-884B5A1CB8B0}"/>
              </a:ext>
            </a:extLst>
          </p:cNvPr>
          <p:cNvSpPr txBox="1"/>
          <p:nvPr/>
        </p:nvSpPr>
        <p:spPr>
          <a:xfrm>
            <a:off x="868680" y="475488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 → Intron transitions require a donor site (usually GT); Intron → Exon transitions require an acceptor site (usually AG). AUGUSTUS scores these motifs to decide where introns most likely begin and end.</a:t>
            </a:r>
            <a:endParaRPr lang="en-US" sz="1150" dirty="0"/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41D6E5F7-D861-0A77-14B8-89120BD2D39E}"/>
              </a:ext>
            </a:extLst>
          </p:cNvPr>
          <p:cNvSpPr/>
          <p:nvPr/>
        </p:nvSpPr>
        <p:spPr>
          <a:xfrm>
            <a:off x="6309360" y="42976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EFF5F7"/>
          </a:solidFill>
          <a:ln/>
        </p:spPr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53AB3664-D834-F4B0-2CFC-D7561CDFA546}"/>
              </a:ext>
            </a:extLst>
          </p:cNvPr>
          <p:cNvSpPr txBox="1"/>
          <p:nvPr/>
        </p:nvSpPr>
        <p:spPr>
          <a:xfrm>
            <a:off x="653796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frame consistency</a:t>
            </a:r>
            <a:endParaRPr lang="en-US" sz="1400" dirty="0"/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365829F7-D9F2-FDB9-1A3D-CD14089F5A39}"/>
              </a:ext>
            </a:extLst>
          </p:cNvPr>
          <p:cNvSpPr txBox="1"/>
          <p:nvPr/>
        </p:nvSpPr>
        <p:spPr>
          <a:xfrm>
            <a:off x="6537960" y="475488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GHMM tracks reading-frame phase across exon boundaries, so joined exons still translate into one continuous, in-frame protein sequence.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764985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03A83BD8-6E89-8C67-C4BE-128D09F57C25}"/>
              </a:ext>
            </a:extLst>
          </p:cNvPr>
          <p:cNvSpPr/>
          <p:nvPr/>
        </p:nvSpPr>
        <p:spPr>
          <a:xfrm>
            <a:off x="306044" y="123901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600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R E E</a:t>
            </a:r>
            <a:endParaRPr lang="en-US" sz="42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8B78BAE-3DC2-74FE-351E-FF010E335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234440"/>
            <a:ext cx="3200400" cy="4089400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C8951242-74F0-55F3-D75E-A7EEB75986A2}"/>
              </a:ext>
            </a:extLst>
          </p:cNvPr>
          <p:cNvSpPr/>
          <p:nvPr/>
        </p:nvSpPr>
        <p:spPr>
          <a:xfrm>
            <a:off x="640080" y="1481328"/>
            <a:ext cx="658368" cy="65836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57FBEA1B-2492-4C4B-C52D-0AEC25DAA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" y="1566916"/>
            <a:ext cx="487192" cy="487192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C79398A4-1F87-F544-3AEC-92BED00F4F02}"/>
              </a:ext>
            </a:extLst>
          </p:cNvPr>
          <p:cNvSpPr/>
          <p:nvPr/>
        </p:nvSpPr>
        <p:spPr>
          <a:xfrm>
            <a:off x="1481328" y="1426464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7E4099E-36DD-42AD-4752-50453B20B766}"/>
              </a:ext>
            </a:extLst>
          </p:cNvPr>
          <p:cNvSpPr/>
          <p:nvPr/>
        </p:nvSpPr>
        <p:spPr>
          <a:xfrm>
            <a:off x="2331720" y="1463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17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45977E0-A446-7DF0-787E-735DF7BE63CA}"/>
              </a:ext>
            </a:extLst>
          </p:cNvPr>
          <p:cNvSpPr/>
          <p:nvPr/>
        </p:nvSpPr>
        <p:spPr>
          <a:xfrm>
            <a:off x="2331720" y="1828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that buffer trees against drought, heat, and cold</a:t>
            </a:r>
            <a:endParaRPr lang="en-US" sz="12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243F768-FB51-C78B-A221-BA8275E0F852}"/>
              </a:ext>
            </a:extLst>
          </p:cNvPr>
          <p:cNvSpPr/>
          <p:nvPr/>
        </p:nvSpPr>
        <p:spPr>
          <a:xfrm>
            <a:off x="640080" y="2450592"/>
            <a:ext cx="658368" cy="658368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7C18E431-0D15-7304-7CED-4525BDD28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68" y="2536180"/>
            <a:ext cx="487192" cy="487192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9036287E-BE10-0845-B553-2F128B78EF3C}"/>
              </a:ext>
            </a:extLst>
          </p:cNvPr>
          <p:cNvSpPr/>
          <p:nvPr/>
        </p:nvSpPr>
        <p:spPr>
          <a:xfrm>
            <a:off x="1481328" y="2395728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B071481C-D739-32FF-00D2-06E4BAA1901C}"/>
              </a:ext>
            </a:extLst>
          </p:cNvPr>
          <p:cNvSpPr/>
          <p:nvPr/>
        </p:nvSpPr>
        <p:spPr>
          <a:xfrm>
            <a:off x="2331720" y="24323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7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DE9A3B72-2EF1-3116-5DA3-4AD4012F3A24}"/>
              </a:ext>
            </a:extLst>
          </p:cNvPr>
          <p:cNvSpPr/>
          <p:nvPr/>
        </p:nvSpPr>
        <p:spPr>
          <a:xfrm>
            <a:off x="2331720" y="279806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that let a tree recover after disturbance</a:t>
            </a:r>
            <a:endParaRPr lang="en-US" sz="1250" b="1" dirty="0">
              <a:solidFill>
                <a:srgbClr val="002060"/>
              </a:solidFill>
            </a:endParaRPr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05898498-7501-8FB2-F888-E8231BCEF51F}"/>
              </a:ext>
            </a:extLst>
          </p:cNvPr>
          <p:cNvSpPr/>
          <p:nvPr/>
        </p:nvSpPr>
        <p:spPr>
          <a:xfrm>
            <a:off x="640080" y="3419856"/>
            <a:ext cx="658368" cy="658368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E012C3F1-467A-8CF8-4642-4B7D4FF15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8" y="3505444"/>
            <a:ext cx="487192" cy="487192"/>
          </a:xfrm>
          <a:prstGeom prst="rect">
            <a:avLst/>
          </a:prstGeom>
        </p:spPr>
      </p:pic>
      <p:sp>
        <p:nvSpPr>
          <p:cNvPr id="34" name="Text 11">
            <a:extLst>
              <a:ext uri="{FF2B5EF4-FFF2-40B4-BE49-F238E27FC236}">
                <a16:creationId xmlns:a16="http://schemas.microsoft.com/office/drawing/2014/main" id="{472E2C8B-79A4-C185-BB98-70F176329188}"/>
              </a:ext>
            </a:extLst>
          </p:cNvPr>
          <p:cNvSpPr/>
          <p:nvPr/>
        </p:nvSpPr>
        <p:spPr>
          <a:xfrm>
            <a:off x="1481328" y="3364992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0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EEED9C0E-33DA-DC94-7BB0-DC98E8DD2C37}"/>
              </a:ext>
            </a:extLst>
          </p:cNvPr>
          <p:cNvSpPr/>
          <p:nvPr/>
        </p:nvSpPr>
        <p:spPr>
          <a:xfrm>
            <a:off x="2331720" y="34015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7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0B82CA21-1A56-7FA8-437F-68A26EF5DEAE}"/>
              </a:ext>
            </a:extLst>
          </p:cNvPr>
          <p:cNvSpPr/>
          <p:nvPr/>
        </p:nvSpPr>
        <p:spPr>
          <a:xfrm>
            <a:off x="2331720" y="37673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of selection carried across generations</a:t>
            </a:r>
            <a:endParaRPr lang="en-US" sz="1250" b="1" dirty="0">
              <a:solidFill>
                <a:srgbClr val="002060"/>
              </a:solidFill>
            </a:endParaRPr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E9BA2960-6B21-043F-D0DA-EBCF2B76AF3D}"/>
              </a:ext>
            </a:extLst>
          </p:cNvPr>
          <p:cNvSpPr/>
          <p:nvPr/>
        </p:nvSpPr>
        <p:spPr>
          <a:xfrm>
            <a:off x="640080" y="4389120"/>
            <a:ext cx="658368" cy="658368"/>
          </a:xfrm>
          <a:prstGeom prst="ellipse">
            <a:avLst/>
          </a:prstGeom>
          <a:solidFill>
            <a:srgbClr val="E08A1E"/>
          </a:solidFill>
          <a:ln/>
        </p:spPr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9F023416-CB88-0CAA-ACCD-CED292D03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68" y="4474708"/>
            <a:ext cx="487192" cy="487192"/>
          </a:xfrm>
          <a:prstGeom prst="rect">
            <a:avLst/>
          </a:prstGeom>
        </p:spPr>
      </p:pic>
      <p:sp>
        <p:nvSpPr>
          <p:cNvPr id="44" name="Text 15">
            <a:extLst>
              <a:ext uri="{FF2B5EF4-FFF2-40B4-BE49-F238E27FC236}">
                <a16:creationId xmlns:a16="http://schemas.microsoft.com/office/drawing/2014/main" id="{B2A1466F-68C1-0791-F3C9-A681AA6022C3}"/>
              </a:ext>
            </a:extLst>
          </p:cNvPr>
          <p:cNvSpPr/>
          <p:nvPr/>
        </p:nvSpPr>
        <p:spPr>
          <a:xfrm>
            <a:off x="1481328" y="4334256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0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D39A2C18-E7DD-CD98-6BE8-DDB4EC1DDCDB}"/>
              </a:ext>
            </a:extLst>
          </p:cNvPr>
          <p:cNvSpPr/>
          <p:nvPr/>
        </p:nvSpPr>
        <p:spPr>
          <a:xfrm>
            <a:off x="2331720" y="4370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Adaptation</a:t>
            </a:r>
            <a:endParaRPr lang="en-US" sz="170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CADABEAB-6715-0F27-FD78-A2D743DFA9FE}"/>
              </a:ext>
            </a:extLst>
          </p:cNvPr>
          <p:cNvSpPr/>
          <p:nvPr/>
        </p:nvSpPr>
        <p:spPr>
          <a:xfrm>
            <a:off x="2331720" y="47365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adaptation to soil, climate, and biotic pressure</a:t>
            </a:r>
            <a:endParaRPr lang="en-US" sz="1250" b="1" dirty="0">
              <a:solidFill>
                <a:srgbClr val="002060"/>
              </a:solidFill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92002BE1-137D-3CBB-1B41-1202073781D4}"/>
              </a:ext>
            </a:extLst>
          </p:cNvPr>
          <p:cNvSpPr/>
          <p:nvPr/>
        </p:nvSpPr>
        <p:spPr>
          <a:xfrm>
            <a:off x="548640" y="5559552"/>
            <a:ext cx="11091672" cy="0"/>
          </a:xfrm>
          <a:prstGeom prst="line">
            <a:avLst/>
          </a:prstGeom>
          <a:noFill/>
          <a:ln w="12700">
            <a:solidFill>
              <a:srgbClr val="B9D4E3"/>
            </a:solidFill>
            <a:prstDash val="solid"/>
          </a:ln>
        </p:spPr>
      </p:sp>
      <p:sp>
        <p:nvSpPr>
          <p:cNvPr id="52" name="Shape 19">
            <a:extLst>
              <a:ext uri="{FF2B5EF4-FFF2-40B4-BE49-F238E27FC236}">
                <a16:creationId xmlns:a16="http://schemas.microsoft.com/office/drawing/2014/main" id="{D76010BD-C5A7-47EC-0AA1-EBCA6002B0E2}"/>
              </a:ext>
            </a:extLst>
          </p:cNvPr>
          <p:cNvSpPr/>
          <p:nvPr/>
        </p:nvSpPr>
        <p:spPr>
          <a:xfrm>
            <a:off x="1203808" y="577900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98F0A123-A515-A390-E1DF-434121740CF3}"/>
              </a:ext>
            </a:extLst>
          </p:cNvPr>
          <p:cNvSpPr/>
          <p:nvPr/>
        </p:nvSpPr>
        <p:spPr>
          <a:xfrm>
            <a:off x="1203808" y="5779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</a:t>
            </a:r>
            <a:endParaRPr lang="en-US" sz="135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E54DEF45-4D2D-B5B9-9101-02090A08724D}"/>
              </a:ext>
            </a:extLst>
          </p:cNvPr>
          <p:cNvSpPr/>
          <p:nvPr/>
        </p:nvSpPr>
        <p:spPr>
          <a:xfrm>
            <a:off x="3169768" y="6007608"/>
            <a:ext cx="640080" cy="0"/>
          </a:xfrm>
          <a:prstGeom prst="line">
            <a:avLst/>
          </a:prstGeom>
          <a:noFill/>
          <a:ln w="22860">
            <a:solidFill>
              <a:srgbClr val="5B7286"/>
            </a:solidFill>
            <a:prstDash val="solid"/>
            <a:tailEnd type="triangle"/>
          </a:ln>
        </p:spPr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4EB961D5-EE79-DDFE-60BE-189F0C64B4D6}"/>
              </a:ext>
            </a:extLst>
          </p:cNvPr>
          <p:cNvSpPr/>
          <p:nvPr/>
        </p:nvSpPr>
        <p:spPr>
          <a:xfrm>
            <a:off x="3809848" y="577900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4AE02F4D-6EE0-93D9-D750-2274A885CF87}"/>
              </a:ext>
            </a:extLst>
          </p:cNvPr>
          <p:cNvSpPr/>
          <p:nvPr/>
        </p:nvSpPr>
        <p:spPr>
          <a:xfrm>
            <a:off x="3809848" y="5779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</a:t>
            </a:r>
            <a:endParaRPr lang="en-US" sz="1350" dirty="0"/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3A35BEB3-53D0-2CE3-A488-8DF625A6911C}"/>
              </a:ext>
            </a:extLst>
          </p:cNvPr>
          <p:cNvSpPr/>
          <p:nvPr/>
        </p:nvSpPr>
        <p:spPr>
          <a:xfrm>
            <a:off x="5775808" y="6007608"/>
            <a:ext cx="640080" cy="0"/>
          </a:xfrm>
          <a:prstGeom prst="line">
            <a:avLst/>
          </a:prstGeom>
          <a:noFill/>
          <a:ln w="22860">
            <a:solidFill>
              <a:srgbClr val="5B7286"/>
            </a:solidFill>
            <a:prstDash val="solid"/>
            <a:tailEnd type="triangle"/>
          </a:ln>
        </p:spPr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B3800986-5C3E-1C61-1490-7DCDA339B065}"/>
              </a:ext>
            </a:extLst>
          </p:cNvPr>
          <p:cNvSpPr/>
          <p:nvPr/>
        </p:nvSpPr>
        <p:spPr>
          <a:xfrm>
            <a:off x="6415888" y="577900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0461BD1B-1E4A-8CD8-E06B-08473D286741}"/>
              </a:ext>
            </a:extLst>
          </p:cNvPr>
          <p:cNvSpPr/>
          <p:nvPr/>
        </p:nvSpPr>
        <p:spPr>
          <a:xfrm>
            <a:off x="6415888" y="5779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50" dirty="0"/>
          </a:p>
        </p:txBody>
      </p:sp>
      <p:sp>
        <p:nvSpPr>
          <p:cNvPr id="68" name="Shape 27">
            <a:extLst>
              <a:ext uri="{FF2B5EF4-FFF2-40B4-BE49-F238E27FC236}">
                <a16:creationId xmlns:a16="http://schemas.microsoft.com/office/drawing/2014/main" id="{D8795D3D-0FAB-561C-7C4A-CE35ADC242DA}"/>
              </a:ext>
            </a:extLst>
          </p:cNvPr>
          <p:cNvSpPr/>
          <p:nvPr/>
        </p:nvSpPr>
        <p:spPr>
          <a:xfrm>
            <a:off x="8381848" y="6007608"/>
            <a:ext cx="640080" cy="0"/>
          </a:xfrm>
          <a:prstGeom prst="line">
            <a:avLst/>
          </a:prstGeom>
          <a:noFill/>
          <a:ln w="22860">
            <a:solidFill>
              <a:srgbClr val="5B7286"/>
            </a:solidFill>
            <a:prstDash val="solid"/>
            <a:tailEnd type="triangle"/>
          </a:ln>
        </p:spPr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4839238F-B441-E065-EA04-71C5C64F2CB6}"/>
              </a:ext>
            </a:extLst>
          </p:cNvPr>
          <p:cNvSpPr/>
          <p:nvPr/>
        </p:nvSpPr>
        <p:spPr>
          <a:xfrm>
            <a:off x="9021928" y="5779008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/>
        </p:spPr>
      </p:sp>
      <p:sp>
        <p:nvSpPr>
          <p:cNvPr id="72" name="Text 29">
            <a:extLst>
              <a:ext uri="{FF2B5EF4-FFF2-40B4-BE49-F238E27FC236}">
                <a16:creationId xmlns:a16="http://schemas.microsoft.com/office/drawing/2014/main" id="{9C105E2E-A65E-C0AD-9430-DD0334D25B32}"/>
              </a:ext>
            </a:extLst>
          </p:cNvPr>
          <p:cNvSpPr/>
          <p:nvPr/>
        </p:nvSpPr>
        <p:spPr>
          <a:xfrm>
            <a:off x="9021928" y="5779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12509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1541</Words>
  <Application>Microsoft Office PowerPoint</Application>
  <PresentationFormat>Widescreen</PresentationFormat>
  <Paragraphs>253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Calibri</vt:lpstr>
      <vt:lpstr>Cambria</vt:lpstr>
      <vt:lpstr>Comic Sans MS</vt:lpstr>
      <vt:lpstr>Courier New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Asharani Prusty</cp:lastModifiedBy>
  <cp:revision>21</cp:revision>
  <dcterms:created xsi:type="dcterms:W3CDTF">2026-08-25T11:32:45Z</dcterms:created>
  <dcterms:modified xsi:type="dcterms:W3CDTF">2026-09-01T07:47:50Z</dcterms:modified>
</cp:coreProperties>
</file>