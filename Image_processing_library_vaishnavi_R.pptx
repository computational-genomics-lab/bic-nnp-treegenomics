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eg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70" r:id="rId3"/>
    <p:sldId id="269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306" r:id="rId21"/>
    <p:sldId id="271" r:id="rId22"/>
    <p:sldId id="290" r:id="rId23"/>
    <p:sldId id="272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Vaishnavi R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Python Image processing Libraries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B2552C-5B87-A436-D551-0C318BF4398D}"/>
              </a:ext>
            </a:extLst>
          </p:cNvPr>
          <p:cNvSpPr/>
          <p:nvPr/>
        </p:nvSpPr>
        <p:spPr>
          <a:xfrm>
            <a:off x="1554480" y="1315145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Python Image Processing Libraries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8AEF9FA-46F3-22B8-A843-55ABEDCECDF2}"/>
              </a:ext>
            </a:extLst>
          </p:cNvPr>
          <p:cNvSpPr/>
          <p:nvPr/>
        </p:nvSpPr>
        <p:spPr>
          <a:xfrm>
            <a:off x="700038" y="2732709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2242C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83CC621-8F9A-350B-0243-5D61FFD40859}"/>
              </a:ext>
            </a:extLst>
          </p:cNvPr>
          <p:cNvSpPr/>
          <p:nvPr/>
        </p:nvSpPr>
        <p:spPr>
          <a:xfrm>
            <a:off x="640080" y="273270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Libraries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0548D0A9-EDD9-170B-3B52-245575719B13}"/>
              </a:ext>
            </a:extLst>
          </p:cNvPr>
          <p:cNvSpPr/>
          <p:nvPr/>
        </p:nvSpPr>
        <p:spPr>
          <a:xfrm>
            <a:off x="2971799" y="2732708"/>
            <a:ext cx="2331719" cy="216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C48F12E-3E03-4968-734C-B3433FCBD6C3}"/>
              </a:ext>
            </a:extLst>
          </p:cNvPr>
          <p:cNvSpPr/>
          <p:nvPr/>
        </p:nvSpPr>
        <p:spPr>
          <a:xfrm>
            <a:off x="3520440" y="2732709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2242C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C161007D-D37F-C015-72BC-5A322EE6B3BC}"/>
              </a:ext>
            </a:extLst>
          </p:cNvPr>
          <p:cNvSpPr/>
          <p:nvPr/>
        </p:nvSpPr>
        <p:spPr>
          <a:xfrm>
            <a:off x="3520440" y="273270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Basics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FCFDDA91-C07B-D176-67DE-B31A615E4121}"/>
              </a:ext>
            </a:extLst>
          </p:cNvPr>
          <p:cNvSpPr/>
          <p:nvPr/>
        </p:nvSpPr>
        <p:spPr>
          <a:xfrm>
            <a:off x="6400800" y="2732709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2242C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9171DA11-DD58-999E-F685-482D9F1468B5}"/>
              </a:ext>
            </a:extLst>
          </p:cNvPr>
          <p:cNvSpPr/>
          <p:nvPr/>
        </p:nvSpPr>
        <p:spPr>
          <a:xfrm>
            <a:off x="6400800" y="273270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Scientific Viz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02E580C0-1BA4-4495-29B4-750327BC5BAB}"/>
              </a:ext>
            </a:extLst>
          </p:cNvPr>
          <p:cNvSpPr/>
          <p:nvPr/>
        </p:nvSpPr>
        <p:spPr>
          <a:xfrm>
            <a:off x="9281160" y="2732709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2242C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B74CE0C4-BE5F-9491-2D36-460B8C9CB3C9}"/>
              </a:ext>
            </a:extLst>
          </p:cNvPr>
          <p:cNvSpPr/>
          <p:nvPr/>
        </p:nvSpPr>
        <p:spPr>
          <a:xfrm>
            <a:off x="9281160" y="2732709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Hands-On : Cnsplot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EEC04F-B0BC-2314-EF42-60EB0621778D}"/>
              </a:ext>
            </a:extLst>
          </p:cNvPr>
          <p:cNvCxnSpPr>
            <a:cxnSpLocks/>
          </p:cNvCxnSpPr>
          <p:nvPr/>
        </p:nvCxnSpPr>
        <p:spPr>
          <a:xfrm>
            <a:off x="3091719" y="3007029"/>
            <a:ext cx="37100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789632-9F7B-D8C1-1AE8-B7E5FEA039F4}"/>
              </a:ext>
            </a:extLst>
          </p:cNvPr>
          <p:cNvCxnSpPr>
            <a:cxnSpLocks/>
          </p:cNvCxnSpPr>
          <p:nvPr/>
        </p:nvCxnSpPr>
        <p:spPr>
          <a:xfrm flipV="1">
            <a:off x="5927349" y="3007029"/>
            <a:ext cx="383509" cy="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840E9B-EA95-E6EC-9303-B1B7C48277CC}"/>
              </a:ext>
            </a:extLst>
          </p:cNvPr>
          <p:cNvCxnSpPr>
            <a:cxnSpLocks/>
          </p:cNvCxnSpPr>
          <p:nvPr/>
        </p:nvCxnSpPr>
        <p:spPr>
          <a:xfrm flipV="1">
            <a:off x="8807711" y="3004529"/>
            <a:ext cx="383509" cy="2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21EBEC0-21E1-416A-47A7-EB75E243E5A7}"/>
              </a:ext>
            </a:extLst>
          </p:cNvPr>
          <p:cNvSpPr txBox="1"/>
          <p:nvPr/>
        </p:nvSpPr>
        <p:spPr>
          <a:xfrm>
            <a:off x="9191220" y="4721901"/>
            <a:ext cx="28308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Vaishnavi R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Associate – 1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 Lab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CSIR IICB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77E60F-5B9D-9289-2416-84708C26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28125" y="6584792"/>
            <a:ext cx="457200" cy="292608"/>
          </a:xfrm>
        </p:spPr>
        <p:txBody>
          <a:bodyPr/>
          <a:lstStyle/>
          <a:p>
            <a:pPr algn="r"/>
            <a:fld id="{715C7C3F-DEDB-4C71-B82C-F512B4DC8CBB}" type="slidenum">
              <a:rPr lang="en-US" b="0"/>
              <a:t>2</a:t>
            </a:fld>
            <a:endParaRPr lang="en-US" b="0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43FA1FF-E9E5-8ADF-403E-8916A03E3502}"/>
              </a:ext>
            </a:extLst>
          </p:cNvPr>
          <p:cNvSpPr/>
          <p:nvPr/>
        </p:nvSpPr>
        <p:spPr>
          <a:xfrm>
            <a:off x="563885" y="143548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Going</a:t>
            </a:r>
            <a:endParaRPr lang="en-US" sz="30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58CA9EE8-16D3-A702-A70F-5D220DAD3B12}"/>
              </a:ext>
            </a:extLst>
          </p:cNvPr>
          <p:cNvSpPr/>
          <p:nvPr/>
        </p:nvSpPr>
        <p:spPr>
          <a:xfrm>
            <a:off x="536175" y="2100911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6F5F1"/>
          </a:solidFill>
          <a:ln w="12700">
            <a:solidFill>
              <a:srgbClr val="E4E2D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2FAC9A86-B29A-9CC3-95B6-10B8F4E1BB4A}"/>
              </a:ext>
            </a:extLst>
          </p:cNvPr>
          <p:cNvSpPr/>
          <p:nvPr/>
        </p:nvSpPr>
        <p:spPr>
          <a:xfrm>
            <a:off x="764775" y="2260931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23222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Today we will first understand the major Python libraries used for image processing. We will then use Python to perform common image-processing operations such as resizing, cropping and flipping. Finally, we will move from image processing to scientific visualization and use cnsplots to create publication-ready figures from a biological dataset.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650846B-35A2-B32D-E155-7CA7B58D4118}"/>
              </a:ext>
            </a:extLst>
          </p:cNvPr>
          <p:cNvSpPr/>
          <p:nvPr/>
        </p:nvSpPr>
        <p:spPr>
          <a:xfrm>
            <a:off x="804672" y="3920567"/>
            <a:ext cx="502920" cy="502920"/>
          </a:xfrm>
          <a:prstGeom prst="ellipse">
            <a:avLst/>
          </a:prstGeom>
          <a:solidFill>
            <a:srgbClr val="3457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DAB67AC-B3BD-2106-70C3-1C4DCBF74572}"/>
              </a:ext>
            </a:extLst>
          </p:cNvPr>
          <p:cNvSpPr/>
          <p:nvPr/>
        </p:nvSpPr>
        <p:spPr>
          <a:xfrm>
            <a:off x="804672" y="39205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C3ADCA4-E141-81B8-FEAE-28AE9929DBB5}"/>
              </a:ext>
            </a:extLst>
          </p:cNvPr>
          <p:cNvSpPr/>
          <p:nvPr/>
        </p:nvSpPr>
        <p:spPr>
          <a:xfrm>
            <a:off x="804672" y="4578935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8CABB52C-182D-7E7E-EC3C-33AB01ACF3F3}"/>
              </a:ext>
            </a:extLst>
          </p:cNvPr>
          <p:cNvSpPr/>
          <p:nvPr/>
        </p:nvSpPr>
        <p:spPr>
          <a:xfrm>
            <a:off x="804672" y="5036135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image processing means, and what the 10 major libraries are each for.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56373D7-DC56-83F8-0B73-700EED4F540A}"/>
              </a:ext>
            </a:extLst>
          </p:cNvPr>
          <p:cNvSpPr/>
          <p:nvPr/>
        </p:nvSpPr>
        <p:spPr>
          <a:xfrm>
            <a:off x="3666744" y="3920567"/>
            <a:ext cx="502920" cy="502920"/>
          </a:xfrm>
          <a:prstGeom prst="ellipse">
            <a:avLst/>
          </a:prstGeom>
          <a:solidFill>
            <a:srgbClr val="E259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6EB22EA-0DA5-CA9D-E282-6F97765B73CE}"/>
              </a:ext>
            </a:extLst>
          </p:cNvPr>
          <p:cNvSpPr/>
          <p:nvPr/>
        </p:nvSpPr>
        <p:spPr>
          <a:xfrm>
            <a:off x="3666744" y="39205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86466085-BFAC-D2EE-B23D-A6F9E9D2AF24}"/>
              </a:ext>
            </a:extLst>
          </p:cNvPr>
          <p:cNvSpPr/>
          <p:nvPr/>
        </p:nvSpPr>
        <p:spPr>
          <a:xfrm>
            <a:off x="3666744" y="4578935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Basics</a:t>
            </a:r>
            <a:endParaRPr lang="en-US" sz="16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D0409599-5B0B-D3CC-1590-1A5B4C20D38A}"/>
              </a:ext>
            </a:extLst>
          </p:cNvPr>
          <p:cNvSpPr/>
          <p:nvPr/>
        </p:nvSpPr>
        <p:spPr>
          <a:xfrm>
            <a:off x="3666744" y="5036135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Load, resize, crop, flip, rotate and convert a real image with Pillow + NumPy.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0EC11FB6-E624-1EB5-8D21-A8ECCD085CF5}"/>
              </a:ext>
            </a:extLst>
          </p:cNvPr>
          <p:cNvSpPr/>
          <p:nvPr/>
        </p:nvSpPr>
        <p:spPr>
          <a:xfrm>
            <a:off x="6528816" y="3920567"/>
            <a:ext cx="502920" cy="50292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30325B9-1DA2-A176-A5C6-93161D1C0692}"/>
              </a:ext>
            </a:extLst>
          </p:cNvPr>
          <p:cNvSpPr/>
          <p:nvPr/>
        </p:nvSpPr>
        <p:spPr>
          <a:xfrm>
            <a:off x="6528816" y="39205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53AD031-512B-09EF-CFD7-DD92F7C44167}"/>
              </a:ext>
            </a:extLst>
          </p:cNvPr>
          <p:cNvSpPr/>
          <p:nvPr/>
        </p:nvSpPr>
        <p:spPr>
          <a:xfrm>
            <a:off x="6528816" y="4578935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Viz</a:t>
            </a:r>
            <a:endParaRPr lang="en-US" sz="16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BE53769C-62C8-6FE0-AA11-B2081E4EBFFB}"/>
              </a:ext>
            </a:extLst>
          </p:cNvPr>
          <p:cNvSpPr/>
          <p:nvPr/>
        </p:nvSpPr>
        <p:spPr>
          <a:xfrm>
            <a:off x="6528816" y="4925299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raw plots aren't enough for publication, and where cnsplots fits in.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15AD7ABF-E013-EE96-551F-4342FBC7AD21}"/>
              </a:ext>
            </a:extLst>
          </p:cNvPr>
          <p:cNvSpPr/>
          <p:nvPr/>
        </p:nvSpPr>
        <p:spPr>
          <a:xfrm>
            <a:off x="9390888" y="3920567"/>
            <a:ext cx="502920" cy="502920"/>
          </a:xfrm>
          <a:prstGeom prst="ellipse">
            <a:avLst/>
          </a:prstGeom>
          <a:solidFill>
            <a:srgbClr val="2F9E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DADB98F1-641F-CC15-59EC-B05545FD0D4C}"/>
              </a:ext>
            </a:extLst>
          </p:cNvPr>
          <p:cNvSpPr/>
          <p:nvPr/>
        </p:nvSpPr>
        <p:spPr>
          <a:xfrm>
            <a:off x="9390888" y="392056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B6694F9-21CE-836C-2D9C-B75E823EB6FD}"/>
              </a:ext>
            </a:extLst>
          </p:cNvPr>
          <p:cNvSpPr/>
          <p:nvPr/>
        </p:nvSpPr>
        <p:spPr>
          <a:xfrm>
            <a:off x="9390888" y="4578935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cnsplots Hands-On</a:t>
            </a:r>
            <a:endParaRPr lang="en-US" sz="1600" dirty="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206560B-E128-5755-9380-6553A12A8591}"/>
              </a:ext>
            </a:extLst>
          </p:cNvPr>
          <p:cNvSpPr/>
          <p:nvPr/>
        </p:nvSpPr>
        <p:spPr>
          <a:xfrm>
            <a:off x="9414999" y="5001506"/>
            <a:ext cx="21854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real differential-expression dataset, ending in a publication-ready volcano plot.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5D96CC12-8B00-3379-74FC-0DAE68108822}"/>
              </a:ext>
            </a:extLst>
          </p:cNvPr>
          <p:cNvSpPr/>
          <p:nvPr/>
        </p:nvSpPr>
        <p:spPr>
          <a:xfrm>
            <a:off x="1695519" y="1138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A · INTRODUCTION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282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B28341C0-DF9D-4A19-9AE0-2BA2D0B28CB4}" type="slidenum">
              <a:rPr lang="en-US" b="0"/>
              <a:t>3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017F072-AF9A-41A7-78F2-164E27C2BFBB}"/>
              </a:ext>
            </a:extLst>
          </p:cNvPr>
          <p:cNvSpPr/>
          <p:nvPr/>
        </p:nvSpPr>
        <p:spPr>
          <a:xfrm>
            <a:off x="474784" y="1569977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17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Image Processing Pipeline</a:t>
            </a:r>
          </a:p>
        </p:txBody>
      </p:sp>
      <p:sp>
        <p:nvSpPr>
          <p:cNvPr id="6" name="Text 23">
            <a:extLst>
              <a:ext uri="{FF2B5EF4-FFF2-40B4-BE49-F238E27FC236}">
                <a16:creationId xmlns:a16="http://schemas.microsoft.com/office/drawing/2014/main" id="{12921C1B-49B5-8B1E-30EF-F4E8710D9591}"/>
              </a:ext>
            </a:extLst>
          </p:cNvPr>
          <p:cNvSpPr/>
          <p:nvPr/>
        </p:nvSpPr>
        <p:spPr>
          <a:xfrm>
            <a:off x="548640" y="1372967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A · INTRODUCTION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46373D0-772C-6B86-845D-4F83ADE53531}"/>
              </a:ext>
            </a:extLst>
          </p:cNvPr>
          <p:cNvSpPr/>
          <p:nvPr/>
        </p:nvSpPr>
        <p:spPr>
          <a:xfrm>
            <a:off x="517733" y="2335651"/>
            <a:ext cx="114884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image starts as a grid of pixel values. Once loaded as an array, the same math tools apply — whether you're transforming, analyzing, or visualizing the result.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E5E8EAE-6879-839C-B10E-BA8C7DB79A09}"/>
              </a:ext>
            </a:extLst>
          </p:cNvPr>
          <p:cNvSpPr/>
          <p:nvPr/>
        </p:nvSpPr>
        <p:spPr>
          <a:xfrm>
            <a:off x="445210" y="3338509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3B4FE4">
              <a:alpha val="12000"/>
            </a:srgbClr>
          </a:solidFill>
          <a:ln w="12700">
            <a:solidFill>
              <a:srgbClr val="3B4FE4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DD1DC01-119F-3FBB-1475-CA06B96D34D1}"/>
              </a:ext>
            </a:extLst>
          </p:cNvPr>
          <p:cNvSpPr/>
          <p:nvPr/>
        </p:nvSpPr>
        <p:spPr>
          <a:xfrm>
            <a:off x="445210" y="3466525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8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CEE57D9-3AE0-0D40-8707-00FBF539F988}"/>
              </a:ext>
            </a:extLst>
          </p:cNvPr>
          <p:cNvSpPr/>
          <p:nvPr/>
        </p:nvSpPr>
        <p:spPr>
          <a:xfrm>
            <a:off x="445210" y="3813997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A8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you see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2002820F-A046-1D2C-6C7F-42CB7597C191}"/>
              </a:ext>
            </a:extLst>
          </p:cNvPr>
          <p:cNvSpPr/>
          <p:nvPr/>
        </p:nvSpPr>
        <p:spPr>
          <a:xfrm>
            <a:off x="2374594" y="3521389"/>
            <a:ext cx="393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B2A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04CD8D5-8C94-61C5-F2BC-ACE70C38A88C}"/>
              </a:ext>
            </a:extLst>
          </p:cNvPr>
          <p:cNvSpPr/>
          <p:nvPr/>
        </p:nvSpPr>
        <p:spPr>
          <a:xfrm>
            <a:off x="2822650" y="3338509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3B4FE4">
              <a:alpha val="12000"/>
            </a:srgbClr>
          </a:solidFill>
          <a:ln w="12700">
            <a:solidFill>
              <a:srgbClr val="3B4FE4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EEEC72-8B09-7DEE-79B0-D53F0B08A8EF}"/>
              </a:ext>
            </a:extLst>
          </p:cNvPr>
          <p:cNvSpPr/>
          <p:nvPr/>
        </p:nvSpPr>
        <p:spPr>
          <a:xfrm>
            <a:off x="2822650" y="3466525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8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Pixel grid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1B7426A-19DD-1D34-F3B0-7E8FB917AB8A}"/>
              </a:ext>
            </a:extLst>
          </p:cNvPr>
          <p:cNvSpPr/>
          <p:nvPr/>
        </p:nvSpPr>
        <p:spPr>
          <a:xfrm>
            <a:off x="2822650" y="3813997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A8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Rows × columns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F9CB0C1-66CE-D34E-D1F2-6B7C515D0173}"/>
              </a:ext>
            </a:extLst>
          </p:cNvPr>
          <p:cNvSpPr/>
          <p:nvPr/>
        </p:nvSpPr>
        <p:spPr>
          <a:xfrm>
            <a:off x="4752034" y="3521389"/>
            <a:ext cx="393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B2A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78F544C6-C561-F0B3-2F21-ACEB87ECD708}"/>
              </a:ext>
            </a:extLst>
          </p:cNvPr>
          <p:cNvSpPr/>
          <p:nvPr/>
        </p:nvSpPr>
        <p:spPr>
          <a:xfrm>
            <a:off x="5200090" y="3338509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D85A30">
              <a:alpha val="12000"/>
            </a:srgbClr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3AD8AE3-712F-77DC-E131-EAE92839AB41}"/>
              </a:ext>
            </a:extLst>
          </p:cNvPr>
          <p:cNvSpPr/>
          <p:nvPr/>
        </p:nvSpPr>
        <p:spPr>
          <a:xfrm>
            <a:off x="5200090" y="3466525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2B1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NumPy array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F3F24CF-2BFC-8008-8293-E50EA24279BD}"/>
              </a:ext>
            </a:extLst>
          </p:cNvPr>
          <p:cNvSpPr/>
          <p:nvPr/>
        </p:nvSpPr>
        <p:spPr>
          <a:xfrm>
            <a:off x="5200090" y="3813997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2B1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Numbers, not magic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F39E91B2-E938-64CE-1290-2F6C3C0E3CAA}"/>
              </a:ext>
            </a:extLst>
          </p:cNvPr>
          <p:cNvSpPr/>
          <p:nvPr/>
        </p:nvSpPr>
        <p:spPr>
          <a:xfrm>
            <a:off x="7129474" y="3521389"/>
            <a:ext cx="393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B2A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DCF1A1F5-0665-92DA-6E21-76C79DB250F5}"/>
              </a:ext>
            </a:extLst>
          </p:cNvPr>
          <p:cNvSpPr/>
          <p:nvPr/>
        </p:nvSpPr>
        <p:spPr>
          <a:xfrm>
            <a:off x="7577530" y="3338509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D85A30">
              <a:alpha val="12000"/>
            </a:srgbClr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FE0EC25F-69A4-7D81-B893-98BB229182D1}"/>
              </a:ext>
            </a:extLst>
          </p:cNvPr>
          <p:cNvSpPr/>
          <p:nvPr/>
        </p:nvSpPr>
        <p:spPr>
          <a:xfrm>
            <a:off x="7577530" y="3466525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12B1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Algorithm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12E3C356-2949-D282-653E-405B68DB7B0A}"/>
              </a:ext>
            </a:extLst>
          </p:cNvPr>
          <p:cNvSpPr/>
          <p:nvPr/>
        </p:nvSpPr>
        <p:spPr>
          <a:xfrm>
            <a:off x="7577530" y="3813997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2B13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Math on the array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0F46C73-DABE-7691-6189-0DC600F1FF87}"/>
              </a:ext>
            </a:extLst>
          </p:cNvPr>
          <p:cNvSpPr/>
          <p:nvPr/>
        </p:nvSpPr>
        <p:spPr>
          <a:xfrm>
            <a:off x="9506914" y="3521389"/>
            <a:ext cx="393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4B2A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→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E2FABB1D-1373-8024-A66D-F2DBAA67D5A1}"/>
              </a:ext>
            </a:extLst>
          </p:cNvPr>
          <p:cNvSpPr/>
          <p:nvPr/>
        </p:nvSpPr>
        <p:spPr>
          <a:xfrm>
            <a:off x="9900106" y="3338509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1D9E75">
              <a:alpha val="12000"/>
            </a:srgbClr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CFB9D802-6BDB-AE3F-CEDA-DB951398D0C4}"/>
              </a:ext>
            </a:extLst>
          </p:cNvPr>
          <p:cNvSpPr/>
          <p:nvPr/>
        </p:nvSpPr>
        <p:spPr>
          <a:xfrm>
            <a:off x="9900106" y="344156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504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05F384D2-28D8-5313-D631-061588072ADD}"/>
              </a:ext>
            </a:extLst>
          </p:cNvPr>
          <p:cNvSpPr/>
          <p:nvPr/>
        </p:nvSpPr>
        <p:spPr>
          <a:xfrm>
            <a:off x="9872270" y="3841429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8504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Insight or output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3B7E7529-C3AE-54FC-22DF-1E8993F0A335}"/>
              </a:ext>
            </a:extLst>
          </p:cNvPr>
          <p:cNvSpPr/>
          <p:nvPr/>
        </p:nvSpPr>
        <p:spPr>
          <a:xfrm>
            <a:off x="640080" y="4590189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Transform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69E19130-504A-1D5A-DDBF-27EB9EEFCF81}"/>
              </a:ext>
            </a:extLst>
          </p:cNvPr>
          <p:cNvSpPr/>
          <p:nvPr/>
        </p:nvSpPr>
        <p:spPr>
          <a:xfrm>
            <a:off x="445210" y="502306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Resize, crop, rotate, adjust color — reshaping the array without changing what it represents.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F1AF99C0-3393-4648-A263-46FA8AFE97AC}"/>
              </a:ext>
            </a:extLst>
          </p:cNvPr>
          <p:cNvSpPr/>
          <p:nvPr/>
        </p:nvSpPr>
        <p:spPr>
          <a:xfrm>
            <a:off x="4480560" y="4590189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Analyze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D21DCCBF-0070-B8A7-84A1-03F44B991DC3}"/>
              </a:ext>
            </a:extLst>
          </p:cNvPr>
          <p:cNvSpPr/>
          <p:nvPr/>
        </p:nvSpPr>
        <p:spPr>
          <a:xfrm>
            <a:off x="4194250" y="49850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Segment regions, detect edges, count objects — extracting structure from the numbers.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3671A8D8-D438-56BB-EAB5-1DF941AB028A}"/>
              </a:ext>
            </a:extLst>
          </p:cNvPr>
          <p:cNvSpPr/>
          <p:nvPr/>
        </p:nvSpPr>
        <p:spPr>
          <a:xfrm>
            <a:off x="8321040" y="4590189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Visualize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A4D82245-D69F-9B67-1634-3E2CB4CD8B12}"/>
              </a:ext>
            </a:extLst>
          </p:cNvPr>
          <p:cNvSpPr/>
          <p:nvPr/>
        </p:nvSpPr>
        <p:spPr>
          <a:xfrm>
            <a:off x="8208466" y="4980529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Plot, annotate, and present results — turning array output back into something readable.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4ADC2D-1CD5-0969-A030-9B49C9F84B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FE7A6A3-48FB-75E6-9566-F5FB98FDDAD5}"/>
              </a:ext>
            </a:extLst>
          </p:cNvPr>
          <p:cNvSpPr/>
          <p:nvPr/>
        </p:nvSpPr>
        <p:spPr>
          <a:xfrm>
            <a:off x="1281955" y="1074421"/>
            <a:ext cx="6852185" cy="24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B  · 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089A3A4C-3850-9613-8B18-39F08E43A9C1}"/>
              </a:ext>
            </a:extLst>
          </p:cNvPr>
          <p:cNvSpPr/>
          <p:nvPr/>
        </p:nvSpPr>
        <p:spPr>
          <a:xfrm>
            <a:off x="631767" y="1281901"/>
            <a:ext cx="10278278" cy="565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Python Libraries for Image processing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B81D2B-4FE4-28D1-5E2C-4C24748A86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8" t="17321" r="3480" b="6861"/>
          <a:stretch>
            <a:fillRect/>
          </a:stretch>
        </p:blipFill>
        <p:spPr>
          <a:xfrm>
            <a:off x="2126785" y="2020031"/>
            <a:ext cx="7737651" cy="445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4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C49C-F2E4-371B-FE3D-8713BC1BEE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E28EC-CF0C-A65F-37AF-14944004A9C6}"/>
              </a:ext>
            </a:extLst>
          </p:cNvPr>
          <p:cNvSpPr txBox="1"/>
          <p:nvPr/>
        </p:nvSpPr>
        <p:spPr>
          <a:xfrm>
            <a:off x="1066800" y="1167122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CF8A8858-C269-9599-2B10-981081583292}"/>
              </a:ext>
            </a:extLst>
          </p:cNvPr>
          <p:cNvCxnSpPr/>
          <p:nvPr/>
        </p:nvCxnSpPr>
        <p:spPr>
          <a:xfrm>
            <a:off x="1817256" y="1428295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C2D387-31AB-F288-1053-EFCD0823B8ED}"/>
              </a:ext>
            </a:extLst>
          </p:cNvPr>
          <p:cNvSpPr txBox="1"/>
          <p:nvPr/>
        </p:nvSpPr>
        <p:spPr>
          <a:xfrm>
            <a:off x="372687" y="1724023"/>
            <a:ext cx="4297680" cy="65836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 i="0" dirty="0">
                <a:solidFill>
                  <a:srgbClr val="19191B"/>
                </a:solidFill>
                <a:latin typeface="Georgia"/>
              </a:rPr>
              <a:t>OpenCV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4314A-0663-2423-FAF0-518383B12D92}"/>
              </a:ext>
            </a:extLst>
          </p:cNvPr>
          <p:cNvSpPr txBox="1"/>
          <p:nvPr/>
        </p:nvSpPr>
        <p:spPr>
          <a:xfrm>
            <a:off x="505618" y="2623847"/>
            <a:ext cx="4033220" cy="960263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for speed and computer vision —
the library to reach for when Pillow
isn't enough.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6E020A74-EB0E-FA5B-6DA7-7099AAF21C77}"/>
              </a:ext>
            </a:extLst>
          </p:cNvPr>
          <p:cNvSpPr/>
          <p:nvPr/>
        </p:nvSpPr>
        <p:spPr>
          <a:xfrm>
            <a:off x="384048" y="3753203"/>
            <a:ext cx="4370832" cy="1307592"/>
          </a:xfrm>
          <a:prstGeom prst="roundRect">
            <a:avLst/>
          </a:prstGeom>
          <a:solidFill>
            <a:srgbClr val="EFF2FF"/>
          </a:solidFill>
          <a:ln w="10160"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3B0802-8DC1-DE94-FB8E-DB04DA5FFE99}"/>
              </a:ext>
            </a:extLst>
          </p:cNvPr>
          <p:cNvSpPr txBox="1"/>
          <p:nvPr/>
        </p:nvSpPr>
        <p:spPr>
          <a:xfrm>
            <a:off x="505618" y="3954371"/>
            <a:ext cx="4212375" cy="8987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 loads images as BGR
(not RGB) by default — convert with
cv2.cvtColor(</a:t>
            </a:r>
            <a:r>
              <a:rPr sz="14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4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cv2.COLOR_BGR2RGB)
before displaying with Matplotlib.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C70AFD-278D-5FB6-0101-24E6846FCA75}"/>
              </a:ext>
            </a:extLst>
          </p:cNvPr>
          <p:cNvSpPr txBox="1"/>
          <p:nvPr/>
        </p:nvSpPr>
        <p:spPr>
          <a:xfrm>
            <a:off x="384048" y="5544871"/>
            <a:ext cx="290208" cy="62170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chemeClr val="bg1"/>
                </a:solidFill>
                <a:latin typeface="Georgia"/>
              </a:rPr>
              <a:t>“</a:t>
            </a:r>
          </a:p>
        </p:txBody>
      </p:sp>
      <p:cxnSp>
        <p:nvCxnSpPr>
          <p:cNvPr id="15" name="Connector 13">
            <a:extLst>
              <a:ext uri="{FF2B5EF4-FFF2-40B4-BE49-F238E27FC236}">
                <a16:creationId xmlns:a16="http://schemas.microsoft.com/office/drawing/2014/main" id="{9BAF9A12-7845-7D51-1266-186FF2D90324}"/>
              </a:ext>
            </a:extLst>
          </p:cNvPr>
          <p:cNvCxnSpPr/>
          <p:nvPr/>
        </p:nvCxnSpPr>
        <p:spPr>
          <a:xfrm>
            <a:off x="841248" y="5636311"/>
            <a:ext cx="0" cy="621792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AAC8CF-CF06-318C-9B8B-CF9110D12270}"/>
              </a:ext>
            </a:extLst>
          </p:cNvPr>
          <p:cNvSpPr txBox="1"/>
          <p:nvPr/>
        </p:nvSpPr>
        <p:spPr>
          <a:xfrm>
            <a:off x="987552" y="5608879"/>
            <a:ext cx="3967496" cy="644022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 dirty="0">
                <a:solidFill>
                  <a:schemeClr val="bg1"/>
                </a:solidFill>
                <a:latin typeface="Georgia"/>
              </a:rPr>
              <a:t>OpenCV still returns a NumPy array — same
rules apply, just faster, and built for vision tasks.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47334B05-7964-9355-2E4E-14885F2D2833}"/>
              </a:ext>
            </a:extLst>
          </p:cNvPr>
          <p:cNvSpPr/>
          <p:nvPr/>
        </p:nvSpPr>
        <p:spPr>
          <a:xfrm>
            <a:off x="5527870" y="1079580"/>
            <a:ext cx="5315712" cy="3687954"/>
          </a:xfrm>
          <a:prstGeom prst="roundRect">
            <a:avLst/>
          </a:prstGeom>
          <a:solidFill>
            <a:srgbClr val="F3F9F6"/>
          </a:solidFill>
          <a:ln w="10160">
            <a:solidFill>
              <a:srgbClr val="F3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549F41-C7D7-15FC-C63B-A19852B73C6B}"/>
              </a:ext>
            </a:extLst>
          </p:cNvPr>
          <p:cNvSpPr txBox="1"/>
          <p:nvPr/>
        </p:nvSpPr>
        <p:spPr>
          <a:xfrm>
            <a:off x="6446519" y="1274671"/>
            <a:ext cx="320040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1B9E70"/>
                </a:solidFill>
                <a:latin typeface="Aptos"/>
              </a:rPr>
              <a:t>WHAT IT 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F30C2-473B-2F69-98B9-4B3F3A8EC436}"/>
              </a:ext>
            </a:extLst>
          </p:cNvPr>
          <p:cNvSpPr txBox="1"/>
          <p:nvPr/>
        </p:nvSpPr>
        <p:spPr>
          <a:xfrm>
            <a:off x="6096000" y="1700463"/>
            <a:ext cx="4983480" cy="10756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Reads, writes, and displays images and video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Real-time processing — built in optimized C++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Detects edges, faces, contours, and objects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Powers tracking, filtering, and transformations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AD221-A3B7-4074-BABE-D2F5D0FEE211}"/>
              </a:ext>
            </a:extLst>
          </p:cNvPr>
          <p:cNvSpPr txBox="1"/>
          <p:nvPr/>
        </p:nvSpPr>
        <p:spPr>
          <a:xfrm>
            <a:off x="6369378" y="2899586"/>
            <a:ext cx="34747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EE5623"/>
                </a:solidFill>
                <a:latin typeface="Aptos"/>
              </a:rPr>
              <a:t>WHY IT'S USEFUL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40C985-6DA7-28B3-0E09-570A682BAEAE}"/>
              </a:ext>
            </a:extLst>
          </p:cNvPr>
          <p:cNvSpPr txBox="1"/>
          <p:nvPr/>
        </p:nvSpPr>
        <p:spPr>
          <a:xfrm>
            <a:off x="6064382" y="3267637"/>
            <a:ext cx="4579440" cy="1306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Much faster than pure Python or Pillow at scale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Industry standard for computer vision and CV research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Handles video streams and webcams natively</a:t>
            </a:r>
          </a:p>
          <a:p>
            <a:pPr>
              <a:spcAft>
                <a:spcPts val="300"/>
              </a:spcAft>
              <a:defRPr sz="1250">
                <a:solidFill>
                  <a:srgbClr val="19191B"/>
                </a:solidFill>
                <a:latin typeface="Aptos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Huge ecosystem — face detection, tracking, ML integration</a:t>
            </a: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A9CA7AC6-B1C4-ABCF-3AF5-A6DF11B8563C}"/>
              </a:ext>
            </a:extLst>
          </p:cNvPr>
          <p:cNvSpPr/>
          <p:nvPr/>
        </p:nvSpPr>
        <p:spPr>
          <a:xfrm>
            <a:off x="5591375" y="4856039"/>
            <a:ext cx="5105401" cy="1627632"/>
          </a:xfrm>
          <a:prstGeom prst="roundRect">
            <a:avLst/>
          </a:prstGeom>
          <a:solidFill>
            <a:srgbClr val="191A1E"/>
          </a:solidFill>
          <a:ln w="10160"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6C71B-52C1-E27D-8FF5-385407CBBA51}"/>
              </a:ext>
            </a:extLst>
          </p:cNvPr>
          <p:cNvSpPr txBox="1"/>
          <p:nvPr/>
        </p:nvSpPr>
        <p:spPr>
          <a:xfrm>
            <a:off x="6263640" y="5042507"/>
            <a:ext cx="1567737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 dirty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IMPORT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732BC5E-874F-F605-8B41-F4DA25C28A11}"/>
              </a:ext>
            </a:extLst>
          </p:cNvPr>
          <p:cNvSpPr txBox="1"/>
          <p:nvPr/>
        </p:nvSpPr>
        <p:spPr>
          <a:xfrm>
            <a:off x="6263639" y="5371691"/>
            <a:ext cx="2506287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pip install </a:t>
            </a:r>
            <a:r>
              <a:rPr sz="1400" b="0" i="0" dirty="0" err="1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sz="1400" b="0" i="0" dirty="0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-python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16D0BB-9D04-48AA-7541-2AA357F1D00A}"/>
              </a:ext>
            </a:extLst>
          </p:cNvPr>
          <p:cNvSpPr txBox="1"/>
          <p:nvPr/>
        </p:nvSpPr>
        <p:spPr>
          <a:xfrm>
            <a:off x="6263640" y="5646011"/>
            <a:ext cx="819199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cv2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89A223-CE3D-F618-34EC-3915A1C4B68C}"/>
              </a:ext>
            </a:extLst>
          </p:cNvPr>
          <p:cNvSpPr txBox="1"/>
          <p:nvPr/>
        </p:nvSpPr>
        <p:spPr>
          <a:xfrm>
            <a:off x="6263640" y="5929475"/>
            <a:ext cx="2180149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cv2.imread("cells.jpg")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4B3C03-D46E-4CB7-C8B0-949C772F582C}"/>
              </a:ext>
            </a:extLst>
          </p:cNvPr>
          <p:cNvSpPr txBox="1"/>
          <p:nvPr/>
        </p:nvSpPr>
        <p:spPr>
          <a:xfrm>
            <a:off x="6263640" y="6212939"/>
            <a:ext cx="1227965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img.shape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6C444963-850C-771B-91D0-86A01986057E}"/>
              </a:ext>
            </a:extLst>
          </p:cNvPr>
          <p:cNvSpPr/>
          <p:nvPr/>
        </p:nvSpPr>
        <p:spPr>
          <a:xfrm>
            <a:off x="445656" y="142829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01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 22">
            <a:extLst>
              <a:ext uri="{FF2B5EF4-FFF2-40B4-BE49-F238E27FC236}">
                <a16:creationId xmlns:a16="http://schemas.microsoft.com/office/drawing/2014/main" id="{2323BB71-CA80-12A9-103D-E5BF498EFDB3}"/>
              </a:ext>
            </a:extLst>
          </p:cNvPr>
          <p:cNvCxnSpPr>
            <a:cxnSpLocks/>
          </p:cNvCxnSpPr>
          <p:nvPr/>
        </p:nvCxnSpPr>
        <p:spPr>
          <a:xfrm>
            <a:off x="5591375" y="1522173"/>
            <a:ext cx="0" cy="2834220"/>
          </a:xfrm>
          <a:prstGeom prst="line">
            <a:avLst/>
          </a:prstGeom>
          <a:ln w="50800">
            <a:solidFill>
              <a:srgbClr val="EE5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86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8550DF-B80E-6453-6359-CC4974CA5B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646EF-83AD-1F28-6EC5-A70BAB45A1E9}"/>
              </a:ext>
            </a:extLst>
          </p:cNvPr>
          <p:cNvSpPr txBox="1"/>
          <p:nvPr/>
        </p:nvSpPr>
        <p:spPr>
          <a:xfrm>
            <a:off x="1856829" y="1066484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353E6D0-DB6E-AFB2-4D8F-6AD79C59E68E}"/>
              </a:ext>
            </a:extLst>
          </p:cNvPr>
          <p:cNvCxnSpPr/>
          <p:nvPr/>
        </p:nvCxnSpPr>
        <p:spPr>
          <a:xfrm>
            <a:off x="2535702" y="1318861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0">
            <a:extLst>
              <a:ext uri="{FF2B5EF4-FFF2-40B4-BE49-F238E27FC236}">
                <a16:creationId xmlns:a16="http://schemas.microsoft.com/office/drawing/2014/main" id="{7251A662-66E9-49F3-7E1E-65B33E97E6F5}"/>
              </a:ext>
            </a:extLst>
          </p:cNvPr>
          <p:cNvSpPr/>
          <p:nvPr/>
        </p:nvSpPr>
        <p:spPr>
          <a:xfrm>
            <a:off x="1164102" y="1180529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02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2BC062E-1252-1FD5-B030-09623A7A9229}"/>
              </a:ext>
            </a:extLst>
          </p:cNvPr>
          <p:cNvSpPr/>
          <p:nvPr/>
        </p:nvSpPr>
        <p:spPr>
          <a:xfrm>
            <a:off x="505618" y="141944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scikit-image</a:t>
            </a:r>
            <a:endParaRPr lang="en-US" sz="3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AA7552C-C5B2-10FA-3785-1DCB44463724}"/>
              </a:ext>
            </a:extLst>
          </p:cNvPr>
          <p:cNvSpPr/>
          <p:nvPr/>
        </p:nvSpPr>
        <p:spPr>
          <a:xfrm>
            <a:off x="481072" y="1973887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comprehensive, NumPy-native toolkit for image analysis and processing.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43CBD32-DB1A-77B4-FCE4-DFBA87801280}"/>
              </a:ext>
            </a:extLst>
          </p:cNvPr>
          <p:cNvSpPr/>
          <p:nvPr/>
        </p:nvSpPr>
        <p:spPr>
          <a:xfrm>
            <a:off x="383750" y="2555599"/>
            <a:ext cx="7589520" cy="2529601"/>
          </a:xfrm>
          <a:prstGeom prst="roundRect">
            <a:avLst>
              <a:gd name="adj" fmla="val 3137"/>
            </a:avLst>
          </a:prstGeom>
          <a:solidFill>
            <a:srgbClr val="F7F6F1"/>
          </a:solidFill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F6B2CA9-9238-A0D0-8C02-C33C3027663E}"/>
              </a:ext>
            </a:extLst>
          </p:cNvPr>
          <p:cNvSpPr/>
          <p:nvPr/>
        </p:nvSpPr>
        <p:spPr>
          <a:xfrm>
            <a:off x="658070" y="2756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D9E7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68D00F7-0D0B-E837-DC70-B09B1ACE9C1F}"/>
              </a:ext>
            </a:extLst>
          </p:cNvPr>
          <p:cNvSpPr/>
          <p:nvPr/>
        </p:nvSpPr>
        <p:spPr>
          <a:xfrm>
            <a:off x="658070" y="305740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Filtering: edge detection, denoising, sharpening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Segmentation: separating objects from background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Feature extraction: corners, blobs, texture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Morphological operations: erosion, dilation, skeletonization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AB1529D-87B3-48CE-222B-6D27D88206C1}"/>
              </a:ext>
            </a:extLst>
          </p:cNvPr>
          <p:cNvSpPr/>
          <p:nvPr/>
        </p:nvSpPr>
        <p:spPr>
          <a:xfrm>
            <a:off x="4589990" y="2756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D85A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E72B1C2-3E0F-DF36-A41F-7F9B432B1B53}"/>
              </a:ext>
            </a:extLst>
          </p:cNvPr>
          <p:cNvSpPr/>
          <p:nvPr/>
        </p:nvSpPr>
        <p:spPr>
          <a:xfrm>
            <a:off x="4437089" y="2982081"/>
            <a:ext cx="353618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Built on SciPy, NumPy, and Cython — fast and array-native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Clean, well-documented, beginner-friendly API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Purpose-built for scientific image analysis (vs. general CV)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Strong fit for biology, microscopy, and research imaging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6CE2D84-1D57-3B61-94D9-3ADA4A175F84}"/>
              </a:ext>
            </a:extLst>
          </p:cNvPr>
          <p:cNvSpPr/>
          <p:nvPr/>
        </p:nvSpPr>
        <p:spPr>
          <a:xfrm>
            <a:off x="8247590" y="2555599"/>
            <a:ext cx="3286340" cy="2529599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7C94FC7-CAC9-293A-3AEE-AC04264464CB}"/>
              </a:ext>
            </a:extLst>
          </p:cNvPr>
          <p:cNvSpPr/>
          <p:nvPr/>
        </p:nvSpPr>
        <p:spPr>
          <a:xfrm>
            <a:off x="8503622" y="275676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E8A93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HOW TO IMPORT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B29C844-E407-42AF-3C88-8E621523DE61}"/>
              </a:ext>
            </a:extLst>
          </p:cNvPr>
          <p:cNvSpPr/>
          <p:nvPr/>
        </p:nvSpPr>
        <p:spPr>
          <a:xfrm>
            <a:off x="8503622" y="3213968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8A8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 pip install scikit-image
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skimage import io, filters
img = io.imread("cells.jpg")
edges = filters.sobel(img)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AA7FCE89-10FB-BEDA-D3B9-EE8877AC6BEE}"/>
              </a:ext>
            </a:extLst>
          </p:cNvPr>
          <p:cNvSpPr/>
          <p:nvPr/>
        </p:nvSpPr>
        <p:spPr>
          <a:xfrm>
            <a:off x="383750" y="5187791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8908C23-433A-91D4-4BE6-9FC7B4CC06EF}"/>
              </a:ext>
            </a:extLst>
          </p:cNvPr>
          <p:cNvSpPr/>
          <p:nvPr/>
        </p:nvSpPr>
        <p:spPr>
          <a:xfrm>
            <a:off x="505618" y="5119409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Imported as </a:t>
            </a: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skimage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, not 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scikit-image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a common first-time import error.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871EFF1-82F1-7DA3-1EDC-CD2563BFF3ED}"/>
              </a:ext>
            </a:extLst>
          </p:cNvPr>
          <p:cNvSpPr/>
          <p:nvPr/>
        </p:nvSpPr>
        <p:spPr>
          <a:xfrm>
            <a:off x="469690" y="597888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library the deep hands-on segment builds on — today's real dataset work happens here.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247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119DB-ED19-5C0D-A6E9-511EF5CC25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0BA7E8-E4DC-4624-212A-3A9F1237395F}"/>
              </a:ext>
            </a:extLst>
          </p:cNvPr>
          <p:cNvSpPr txBox="1"/>
          <p:nvPr/>
        </p:nvSpPr>
        <p:spPr>
          <a:xfrm>
            <a:off x="1035775" y="1183867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CA7A3946-598C-FF81-6B7C-73A15952B472}"/>
              </a:ext>
            </a:extLst>
          </p:cNvPr>
          <p:cNvCxnSpPr/>
          <p:nvPr/>
        </p:nvCxnSpPr>
        <p:spPr>
          <a:xfrm>
            <a:off x="1737360" y="1436244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4327826-40EA-EEF7-2399-A5282AA36947}"/>
              </a:ext>
            </a:extLst>
          </p:cNvPr>
          <p:cNvSpPr txBox="1"/>
          <p:nvPr/>
        </p:nvSpPr>
        <p:spPr>
          <a:xfrm>
            <a:off x="301453" y="1738477"/>
            <a:ext cx="1399486" cy="62170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en-IN" sz="3800" b="1" i="0" dirty="0">
                <a:solidFill>
                  <a:srgbClr val="19191B"/>
                </a:solidFill>
                <a:latin typeface="Georgia"/>
              </a:rPr>
              <a:t>SciPy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5FEDE-97B5-DAAC-AD20-1C17480B4CD0}"/>
              </a:ext>
            </a:extLst>
          </p:cNvPr>
          <p:cNvSpPr txBox="1"/>
          <p:nvPr/>
        </p:nvSpPr>
        <p:spPr>
          <a:xfrm>
            <a:off x="384049" y="2625444"/>
            <a:ext cx="4306824" cy="96026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 library with a dedicated image-processing submodule: </a:t>
            </a:r>
            <a:r>
              <a:rPr lang="en-US" sz="20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scipy.ndimage</a:t>
            </a:r>
            <a:r>
              <a:rPr lang="en-US"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C86910B-6492-147C-0A01-0E859EDB4A8C}"/>
              </a:ext>
            </a:extLst>
          </p:cNvPr>
          <p:cNvSpPr/>
          <p:nvPr/>
        </p:nvSpPr>
        <p:spPr>
          <a:xfrm>
            <a:off x="384048" y="3905605"/>
            <a:ext cx="4370832" cy="1307592"/>
          </a:xfrm>
          <a:prstGeom prst="roundRect">
            <a:avLst/>
          </a:prstGeom>
          <a:solidFill>
            <a:srgbClr val="EFF2FF"/>
          </a:solidFill>
          <a:ln w="10160"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8845F8-66BB-02D8-CB0D-4475A2EB267E}"/>
              </a:ext>
            </a:extLst>
          </p:cNvPr>
          <p:cNvSpPr txBox="1"/>
          <p:nvPr/>
        </p:nvSpPr>
        <p:spPr>
          <a:xfrm>
            <a:off x="525923" y="4106773"/>
            <a:ext cx="4100941" cy="729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5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 is general scientific computing — image tools live specifically inside the scipy.ndimage submodule, not the top-level package</a:t>
            </a:r>
            <a:endParaRPr sz="1500" b="0" i="0" dirty="0">
              <a:solidFill>
                <a:srgbClr val="19191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DDFC66-54C5-D35F-A9FF-F46AAC5D2F59}"/>
              </a:ext>
            </a:extLst>
          </p:cNvPr>
          <p:cNvSpPr txBox="1"/>
          <p:nvPr/>
        </p:nvSpPr>
        <p:spPr>
          <a:xfrm>
            <a:off x="384048" y="5406326"/>
            <a:ext cx="290208" cy="62170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 i="0">
                <a:solidFill>
                  <a:schemeClr val="bg1"/>
                </a:solidFill>
                <a:latin typeface="Georgia"/>
              </a:rPr>
              <a:t>“</a:t>
            </a:r>
          </a:p>
        </p:txBody>
      </p:sp>
      <p:cxnSp>
        <p:nvCxnSpPr>
          <p:cNvPr id="15" name="Connector 13">
            <a:extLst>
              <a:ext uri="{FF2B5EF4-FFF2-40B4-BE49-F238E27FC236}">
                <a16:creationId xmlns:a16="http://schemas.microsoft.com/office/drawing/2014/main" id="{88FE7A76-677D-0024-70DC-3364AF8B5F86}"/>
              </a:ext>
            </a:extLst>
          </p:cNvPr>
          <p:cNvCxnSpPr/>
          <p:nvPr/>
        </p:nvCxnSpPr>
        <p:spPr>
          <a:xfrm>
            <a:off x="841248" y="5497766"/>
            <a:ext cx="0" cy="621792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3E65731-5196-2D9E-7DC2-98B8388C44D6}"/>
              </a:ext>
            </a:extLst>
          </p:cNvPr>
          <p:cNvSpPr txBox="1"/>
          <p:nvPr/>
        </p:nvSpPr>
        <p:spPr>
          <a:xfrm>
            <a:off x="1000574" y="5525340"/>
            <a:ext cx="3754306" cy="6832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1400" b="0" i="1" dirty="0">
                <a:solidFill>
                  <a:schemeClr val="bg1"/>
                </a:solidFill>
                <a:latin typeface="Georgia"/>
              </a:rPr>
              <a:t>Think of SciPy as NumPy's mathematical toolbox — it processes the array, it doesn't manage image files.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D981B8D4-8E8A-3B57-DCEA-69D5A4E672CA}"/>
              </a:ext>
            </a:extLst>
          </p:cNvPr>
          <p:cNvSpPr/>
          <p:nvPr/>
        </p:nvSpPr>
        <p:spPr>
          <a:xfrm>
            <a:off x="5366142" y="1051568"/>
            <a:ext cx="5452866" cy="3409803"/>
          </a:xfrm>
          <a:prstGeom prst="roundRect">
            <a:avLst/>
          </a:prstGeom>
          <a:solidFill>
            <a:srgbClr val="F3F9F6"/>
          </a:solidFill>
          <a:ln w="10160">
            <a:solidFill>
              <a:srgbClr val="F3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cxnSp>
        <p:nvCxnSpPr>
          <p:cNvPr id="18" name="Connector 16">
            <a:extLst>
              <a:ext uri="{FF2B5EF4-FFF2-40B4-BE49-F238E27FC236}">
                <a16:creationId xmlns:a16="http://schemas.microsoft.com/office/drawing/2014/main" id="{70EB672D-2BA6-DD36-0331-870E824A6CDF}"/>
              </a:ext>
            </a:extLst>
          </p:cNvPr>
          <p:cNvCxnSpPr>
            <a:cxnSpLocks/>
          </p:cNvCxnSpPr>
          <p:nvPr/>
        </p:nvCxnSpPr>
        <p:spPr>
          <a:xfrm>
            <a:off x="5421562" y="1533623"/>
            <a:ext cx="0" cy="2469361"/>
          </a:xfrm>
          <a:prstGeom prst="line">
            <a:avLst/>
          </a:prstGeom>
          <a:ln w="50800">
            <a:solidFill>
              <a:srgbClr val="1B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7681DA-26A4-F8D2-2850-C884EB9F1462}"/>
              </a:ext>
            </a:extLst>
          </p:cNvPr>
          <p:cNvSpPr txBox="1"/>
          <p:nvPr/>
        </p:nvSpPr>
        <p:spPr>
          <a:xfrm>
            <a:off x="6125094" y="1265857"/>
            <a:ext cx="27835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1B9E70"/>
                </a:solidFill>
                <a:latin typeface="Aptos"/>
              </a:rPr>
              <a:t>WHAT IT 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AE34D-D6EE-517D-A3A4-FFA08737A224}"/>
              </a:ext>
            </a:extLst>
          </p:cNvPr>
          <p:cNvSpPr txBox="1"/>
          <p:nvPr/>
        </p:nvSpPr>
        <p:spPr>
          <a:xfrm>
            <a:off x="6014149" y="1566743"/>
            <a:ext cx="4556759" cy="13065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scipy.ndimage handles multi-dimensional array operations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filtering: Gaussian, median, uniform blur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geometric transforms: rotate, shift, zoom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interpolation and morphological operations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412B52-C292-5D92-033C-2183FE3EDE5E}"/>
              </a:ext>
            </a:extLst>
          </p:cNvPr>
          <p:cNvSpPr txBox="1"/>
          <p:nvPr/>
        </p:nvSpPr>
        <p:spPr>
          <a:xfrm>
            <a:off x="6125094" y="2911658"/>
            <a:ext cx="296861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EE5623"/>
                </a:solidFill>
                <a:latin typeface="Aptos"/>
              </a:rPr>
              <a:t>WHY IT'S USEFUL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75ADFD-48EB-9468-5EBD-FD5978C2E20C}"/>
              </a:ext>
            </a:extLst>
          </p:cNvPr>
          <p:cNvSpPr txBox="1"/>
          <p:nvPr/>
        </p:nvSpPr>
        <p:spPr>
          <a:xfrm>
            <a:off x="6014149" y="3224424"/>
            <a:ext cx="4804859" cy="10756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directly on NumPy — seamless array integration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for scientific, medical, and engineering imaging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alternative to OpenCV for simple filtering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for batch numerical processing of image stacks</a:t>
            </a: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2EFD8BAB-D608-1F4B-10E0-DFD93DDFF0E9}"/>
              </a:ext>
            </a:extLst>
          </p:cNvPr>
          <p:cNvSpPr/>
          <p:nvPr/>
        </p:nvSpPr>
        <p:spPr>
          <a:xfrm>
            <a:off x="5366142" y="4619385"/>
            <a:ext cx="5452866" cy="1783079"/>
          </a:xfrm>
          <a:prstGeom prst="roundRect">
            <a:avLst/>
          </a:prstGeom>
          <a:solidFill>
            <a:srgbClr val="191A1E"/>
          </a:solidFill>
          <a:ln w="10160"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01C18517-137B-D875-F7A0-02901D587D6C}"/>
              </a:ext>
            </a:extLst>
          </p:cNvPr>
          <p:cNvSpPr/>
          <p:nvPr/>
        </p:nvSpPr>
        <p:spPr>
          <a:xfrm>
            <a:off x="5576453" y="4719970"/>
            <a:ext cx="402336" cy="402336"/>
          </a:xfrm>
          <a:prstGeom prst="roundRect">
            <a:avLst/>
          </a:prstGeom>
          <a:solidFill>
            <a:srgbClr val="191A1E"/>
          </a:solidFill>
          <a:ln w="12700">
            <a:solidFill>
              <a:srgbClr val="F0A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0C42CD-5A72-1E21-01FD-DEB8E8B41037}"/>
              </a:ext>
            </a:extLst>
          </p:cNvPr>
          <p:cNvSpPr txBox="1"/>
          <p:nvPr/>
        </p:nvSpPr>
        <p:spPr>
          <a:xfrm>
            <a:off x="5681441" y="4790556"/>
            <a:ext cx="19236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&gt;_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4A9D8D-A736-0000-9764-7A4816388E79}"/>
              </a:ext>
            </a:extLst>
          </p:cNvPr>
          <p:cNvSpPr txBox="1"/>
          <p:nvPr/>
        </p:nvSpPr>
        <p:spPr>
          <a:xfrm>
            <a:off x="6125093" y="4793122"/>
            <a:ext cx="1567737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IMPORT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DE97E-3DF7-2644-29A2-85718FC5BA6C}"/>
              </a:ext>
            </a:extLst>
          </p:cNvPr>
          <p:cNvSpPr txBox="1"/>
          <p:nvPr/>
        </p:nvSpPr>
        <p:spPr>
          <a:xfrm>
            <a:off x="6125093" y="5122306"/>
            <a:ext cx="130971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en-IN" sz="1400" b="0" i="0" dirty="0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pip install </a:t>
            </a:r>
            <a:r>
              <a:rPr lang="en-IN" sz="1400" b="0" i="0" dirty="0" err="1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endParaRPr sz="1400" b="0" i="0" dirty="0">
              <a:solidFill>
                <a:srgbClr val="9191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B987BE-7472-18AA-B02C-0EBEF55DA605}"/>
              </a:ext>
            </a:extLst>
          </p:cNvPr>
          <p:cNvSpPr txBox="1"/>
          <p:nvPr/>
        </p:nvSpPr>
        <p:spPr>
          <a:xfrm>
            <a:off x="6125093" y="5374683"/>
            <a:ext cx="3487430" cy="898708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scipy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import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ndimage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
blurred =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ndimage.gaussian_filter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sigma=3)
rotated =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ndimage.rotate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45)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7E6BFFB7-174A-3434-40D4-9144C10F247D}"/>
              </a:ext>
            </a:extLst>
          </p:cNvPr>
          <p:cNvSpPr/>
          <p:nvPr/>
        </p:nvSpPr>
        <p:spPr>
          <a:xfrm>
            <a:off x="363902" y="14001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03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57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E9424E-666F-74CC-B3DD-5CB8058334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7F2F1379-B1E2-75BD-CAF2-3F60217E837D}"/>
              </a:ext>
            </a:extLst>
          </p:cNvPr>
          <p:cNvSpPr/>
          <p:nvPr/>
        </p:nvSpPr>
        <p:spPr>
          <a:xfrm>
            <a:off x="548640" y="5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FE9B58B-FCBA-3A4F-9E9D-D39D74288F90}"/>
              </a:ext>
            </a:extLst>
          </p:cNvPr>
          <p:cNvSpPr/>
          <p:nvPr/>
        </p:nvSpPr>
        <p:spPr>
          <a:xfrm>
            <a:off x="444008" y="157078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Mahotas</a:t>
            </a:r>
            <a:endParaRPr lang="en-US" sz="3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A17DE10-76E5-E7DC-337C-C41C39B0632F}"/>
              </a:ext>
            </a:extLst>
          </p:cNvPr>
          <p:cNvSpPr/>
          <p:nvPr/>
        </p:nvSpPr>
        <p:spPr>
          <a:xfrm>
            <a:off x="444008" y="2175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fast, C++-backed computer vision library focused on speed and texture analysis.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F1EEF85-6803-155A-9D4C-A9C82A4D7C2D}"/>
              </a:ext>
            </a:extLst>
          </p:cNvPr>
          <p:cNvSpPr/>
          <p:nvPr/>
        </p:nvSpPr>
        <p:spPr>
          <a:xfrm>
            <a:off x="413730" y="2695280"/>
            <a:ext cx="7705034" cy="2331720"/>
          </a:xfrm>
          <a:prstGeom prst="roundRect">
            <a:avLst>
              <a:gd name="adj" fmla="val 3137"/>
            </a:avLst>
          </a:prstGeom>
          <a:solidFill>
            <a:srgbClr val="F7F6F1"/>
          </a:solidFill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47368B-37FF-BD80-EF5C-F3D4A54AC4FA}"/>
              </a:ext>
            </a:extLst>
          </p:cNvPr>
          <p:cNvSpPr/>
          <p:nvPr/>
        </p:nvSpPr>
        <p:spPr>
          <a:xfrm>
            <a:off x="688050" y="2896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D9E7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2711328-C41C-9E7D-06C1-9F6675EE42FF}"/>
              </a:ext>
            </a:extLst>
          </p:cNvPr>
          <p:cNvSpPr/>
          <p:nvPr/>
        </p:nvSpPr>
        <p:spPr>
          <a:xfrm>
            <a:off x="568129" y="3198200"/>
            <a:ext cx="341176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Feature detection: Haralick, Zernike, SURF features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Image segmentation: watershed, thresholding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Texture analysis: local binary patterns, GLCM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Morphological processing and filtering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3FF8701-B61F-04E9-C420-6EA7BCAEC9DE}"/>
              </a:ext>
            </a:extLst>
          </p:cNvPr>
          <p:cNvSpPr/>
          <p:nvPr/>
        </p:nvSpPr>
        <p:spPr>
          <a:xfrm>
            <a:off x="4619970" y="2896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D85A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C00DEA4-6D0D-0CDD-16B8-D5C7F62FFC3A}"/>
              </a:ext>
            </a:extLst>
          </p:cNvPr>
          <p:cNvSpPr/>
          <p:nvPr/>
        </p:nvSpPr>
        <p:spPr>
          <a:xfrm>
            <a:off x="4482810" y="3282894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Optimized for speed — core algorithms written in C++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Well-suited to large-scale image datasets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Strong texture and feature-analysis toolkit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Integrates smoothly with NumPy arrays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BA6E45E-5F8E-E5BF-F4EB-0D24DA6B3AD7}"/>
              </a:ext>
            </a:extLst>
          </p:cNvPr>
          <p:cNvSpPr/>
          <p:nvPr/>
        </p:nvSpPr>
        <p:spPr>
          <a:xfrm>
            <a:off x="8277570" y="2695280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4E12B6B-985B-CFD6-AFF9-6D1BAC373D60}"/>
              </a:ext>
            </a:extLst>
          </p:cNvPr>
          <p:cNvSpPr/>
          <p:nvPr/>
        </p:nvSpPr>
        <p:spPr>
          <a:xfrm>
            <a:off x="8533602" y="28964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E8A93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HOW TO IMPORT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CA900EE2-2FEC-C146-F05C-5F81BAF37793}"/>
              </a:ext>
            </a:extLst>
          </p:cNvPr>
          <p:cNvSpPr/>
          <p:nvPr/>
        </p:nvSpPr>
        <p:spPr>
          <a:xfrm>
            <a:off x="8533602" y="3353648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8A8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 pip install mahotas
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import mahotas as mh
img = mh.imread("cells.jpg")
mean = img.mean()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AB030BA-F7DA-43AE-1029-4C7B7105799E}"/>
              </a:ext>
            </a:extLst>
          </p:cNvPr>
          <p:cNvSpPr/>
          <p:nvPr/>
        </p:nvSpPr>
        <p:spPr>
          <a:xfrm>
            <a:off x="413730" y="516277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1CB0445-5891-D1A0-F1FF-9CAFB7B5DFC9}"/>
              </a:ext>
            </a:extLst>
          </p:cNvPr>
          <p:cNvSpPr/>
          <p:nvPr/>
        </p:nvSpPr>
        <p:spPr>
          <a:xfrm>
            <a:off x="688050" y="516277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Mahotas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shines at </a:t>
            </a: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texture and feature analysis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less commonly used for basic editing tasks like resize/crop.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8EE4085-E8D5-1CC4-6E48-087090DC947F}"/>
              </a:ext>
            </a:extLst>
          </p:cNvPr>
          <p:cNvSpPr/>
          <p:nvPr/>
        </p:nvSpPr>
        <p:spPr>
          <a:xfrm>
            <a:off x="548640" y="591856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Georgia" panose="02040502050405020303" pitchFamily="18" charset="0"/>
                <a:ea typeface="Georgia" pitchFamily="34" charset="-122"/>
                <a:cs typeface="Times New Roman" panose="02020603050405020304" pitchFamily="18" charset="0"/>
              </a:rPr>
              <a:t>Reach for Mahotas when the question is "what texture or feature is in this image," not "how do I edit it."</a:t>
            </a:r>
            <a:endParaRPr lang="en-US" sz="16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FA8253-F236-A5AE-2278-A26F37AB86E3}"/>
              </a:ext>
            </a:extLst>
          </p:cNvPr>
          <p:cNvSpPr txBox="1"/>
          <p:nvPr/>
        </p:nvSpPr>
        <p:spPr>
          <a:xfrm>
            <a:off x="1607790" y="1033115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Connector 3">
            <a:extLst>
              <a:ext uri="{FF2B5EF4-FFF2-40B4-BE49-F238E27FC236}">
                <a16:creationId xmlns:a16="http://schemas.microsoft.com/office/drawing/2014/main" id="{01A24F6E-8F03-FE54-1B2A-A4E3CDADB808}"/>
              </a:ext>
            </a:extLst>
          </p:cNvPr>
          <p:cNvCxnSpPr/>
          <p:nvPr/>
        </p:nvCxnSpPr>
        <p:spPr>
          <a:xfrm>
            <a:off x="2361992" y="1285492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0">
            <a:extLst>
              <a:ext uri="{FF2B5EF4-FFF2-40B4-BE49-F238E27FC236}">
                <a16:creationId xmlns:a16="http://schemas.microsoft.com/office/drawing/2014/main" id="{6F8A5F23-EEF6-353A-4CE1-2A55E60A40DB}"/>
              </a:ext>
            </a:extLst>
          </p:cNvPr>
          <p:cNvSpPr/>
          <p:nvPr/>
        </p:nvSpPr>
        <p:spPr>
          <a:xfrm>
            <a:off x="990392" y="125795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04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506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3F592-8347-A272-9B87-EFA7B628C0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08BDB-2217-9707-6D46-6B171ED23BDD}"/>
              </a:ext>
            </a:extLst>
          </p:cNvPr>
          <p:cNvSpPr txBox="1"/>
          <p:nvPr/>
        </p:nvSpPr>
        <p:spPr>
          <a:xfrm>
            <a:off x="384048" y="1391279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A59EC5B4-49FC-1E74-EF77-BDFADD9E917C}"/>
              </a:ext>
            </a:extLst>
          </p:cNvPr>
          <p:cNvCxnSpPr/>
          <p:nvPr/>
        </p:nvCxnSpPr>
        <p:spPr>
          <a:xfrm>
            <a:off x="505618" y="1714019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B470702-2598-EBAC-3F49-D663667BBF74}"/>
              </a:ext>
            </a:extLst>
          </p:cNvPr>
          <p:cNvSpPr txBox="1"/>
          <p:nvPr/>
        </p:nvSpPr>
        <p:spPr>
          <a:xfrm>
            <a:off x="301453" y="2223383"/>
            <a:ext cx="3610980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4000" b="1" dirty="0" err="1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SimpleITK</a:t>
            </a:r>
            <a:endParaRPr lang="en-US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E5024-2FBD-9295-9F76-572B9BE2F193}"/>
              </a:ext>
            </a:extLst>
          </p:cNvPr>
          <p:cNvSpPr txBox="1"/>
          <p:nvPr/>
        </p:nvSpPr>
        <p:spPr>
          <a:xfrm>
            <a:off x="384049" y="3110350"/>
            <a:ext cx="4306824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go-to toolkit for medical image analysis, registration, and segmentation.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CC78675B-2FAE-3887-1B7D-C68F78BB6F8D}"/>
              </a:ext>
            </a:extLst>
          </p:cNvPr>
          <p:cNvSpPr/>
          <p:nvPr/>
        </p:nvSpPr>
        <p:spPr>
          <a:xfrm>
            <a:off x="328628" y="3988737"/>
            <a:ext cx="4370832" cy="1307592"/>
          </a:xfrm>
          <a:prstGeom prst="roundRect">
            <a:avLst/>
          </a:prstGeom>
          <a:solidFill>
            <a:srgbClr val="EFF2FF"/>
          </a:solidFill>
          <a:ln w="10160"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2F236-C769-9F11-881A-B661DE51BB34}"/>
              </a:ext>
            </a:extLst>
          </p:cNvPr>
          <p:cNvSpPr txBox="1"/>
          <p:nvPr/>
        </p:nvSpPr>
        <p:spPr>
          <a:xfrm>
            <a:off x="674256" y="4189905"/>
            <a:ext cx="3897188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for medical/volumetric data — overkill for everyday 2D photo editing tasks.</a:t>
            </a:r>
            <a:endParaRPr b="0" i="0" dirty="0">
              <a:solidFill>
                <a:srgbClr val="19191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5A32C-AD56-9DBA-6246-F3F18B5AE30E}"/>
              </a:ext>
            </a:extLst>
          </p:cNvPr>
          <p:cNvSpPr txBox="1"/>
          <p:nvPr/>
        </p:nvSpPr>
        <p:spPr>
          <a:xfrm>
            <a:off x="384048" y="5392471"/>
            <a:ext cx="290208" cy="62170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3800" b="1" i="0" dirty="0">
                <a:solidFill>
                  <a:schemeClr val="bg1"/>
                </a:solidFill>
                <a:latin typeface="Georgia"/>
              </a:rPr>
              <a:t>“</a:t>
            </a:r>
          </a:p>
        </p:txBody>
      </p:sp>
      <p:cxnSp>
        <p:nvCxnSpPr>
          <p:cNvPr id="15" name="Connector 13">
            <a:extLst>
              <a:ext uri="{FF2B5EF4-FFF2-40B4-BE49-F238E27FC236}">
                <a16:creationId xmlns:a16="http://schemas.microsoft.com/office/drawing/2014/main" id="{B88C1171-3574-B03A-2461-1CBF47455DC7}"/>
              </a:ext>
            </a:extLst>
          </p:cNvPr>
          <p:cNvCxnSpPr/>
          <p:nvPr/>
        </p:nvCxnSpPr>
        <p:spPr>
          <a:xfrm>
            <a:off x="841248" y="5483911"/>
            <a:ext cx="0" cy="621792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974083C-F21B-0C59-7E43-F74787617E7F}"/>
              </a:ext>
            </a:extLst>
          </p:cNvPr>
          <p:cNvSpPr txBox="1"/>
          <p:nvPr/>
        </p:nvSpPr>
        <p:spPr>
          <a:xfrm>
            <a:off x="1000574" y="5511485"/>
            <a:ext cx="3754306" cy="6440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1400" b="0" i="1" dirty="0">
                <a:solidFill>
                  <a:schemeClr val="bg1"/>
                </a:solidFill>
                <a:latin typeface="Georgia"/>
              </a:rPr>
              <a:t>If your dataset is scans, not photos, </a:t>
            </a:r>
            <a:r>
              <a:rPr lang="en-US" sz="1400" b="0" i="1" dirty="0" err="1">
                <a:solidFill>
                  <a:schemeClr val="bg1"/>
                </a:solidFill>
                <a:latin typeface="Georgia"/>
              </a:rPr>
              <a:t>SimpleITK</a:t>
            </a:r>
            <a:r>
              <a:rPr lang="en-US" sz="1400" b="0" i="1" dirty="0">
                <a:solidFill>
                  <a:schemeClr val="bg1"/>
                </a:solidFill>
                <a:latin typeface="Georgia"/>
              </a:rPr>
              <a:t> is usually the right starting point.</a:t>
            </a:r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3D013E55-EB96-B710-2113-8551547629FF}"/>
              </a:ext>
            </a:extLst>
          </p:cNvPr>
          <p:cNvSpPr/>
          <p:nvPr/>
        </p:nvSpPr>
        <p:spPr>
          <a:xfrm>
            <a:off x="5476978" y="1008739"/>
            <a:ext cx="5426549" cy="3495097"/>
          </a:xfrm>
          <a:prstGeom prst="roundRect">
            <a:avLst/>
          </a:prstGeom>
          <a:solidFill>
            <a:srgbClr val="F3F9F6"/>
          </a:solidFill>
          <a:ln w="10160">
            <a:solidFill>
              <a:srgbClr val="F3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6">
            <a:extLst>
              <a:ext uri="{FF2B5EF4-FFF2-40B4-BE49-F238E27FC236}">
                <a16:creationId xmlns:a16="http://schemas.microsoft.com/office/drawing/2014/main" id="{CF1C1925-159C-6FF7-A9A4-3CB608ABDB6C}"/>
              </a:ext>
            </a:extLst>
          </p:cNvPr>
          <p:cNvCxnSpPr>
            <a:cxnSpLocks/>
          </p:cNvCxnSpPr>
          <p:nvPr/>
        </p:nvCxnSpPr>
        <p:spPr>
          <a:xfrm>
            <a:off x="5518544" y="1391279"/>
            <a:ext cx="0" cy="2798626"/>
          </a:xfrm>
          <a:prstGeom prst="line">
            <a:avLst/>
          </a:prstGeom>
          <a:ln w="50800">
            <a:solidFill>
              <a:srgbClr val="1B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4B0A85-1599-97C7-2034-16D84B4D3159}"/>
              </a:ext>
            </a:extLst>
          </p:cNvPr>
          <p:cNvSpPr txBox="1"/>
          <p:nvPr/>
        </p:nvSpPr>
        <p:spPr>
          <a:xfrm>
            <a:off x="6354802" y="1237340"/>
            <a:ext cx="2936410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9E70"/>
                </a:solidFill>
                <a:latin typeface="Aptos"/>
              </a:rPr>
              <a:t>WHAT IT DOES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A277B-B847-6B43-3533-9F7D014BE960}"/>
              </a:ext>
            </a:extLst>
          </p:cNvPr>
          <p:cNvSpPr txBox="1"/>
          <p:nvPr/>
        </p:nvSpPr>
        <p:spPr>
          <a:xfrm>
            <a:off x="6012349" y="1519349"/>
            <a:ext cx="4803057" cy="15373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medical imaging formats (DICOM,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NIfTI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MetaImage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registration — aligning scans across time or modality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segmentation for anatomical structures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N-dimensional image support (2D, 3D, 4D volumes)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C6817E-D2C5-EA2A-40B6-6044F90B2212}"/>
              </a:ext>
            </a:extLst>
          </p:cNvPr>
          <p:cNvSpPr txBox="1"/>
          <p:nvPr/>
        </p:nvSpPr>
        <p:spPr>
          <a:xfrm>
            <a:off x="6382512" y="3049119"/>
            <a:ext cx="3474720" cy="320040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500" b="1" i="0" dirty="0">
                <a:solidFill>
                  <a:srgbClr val="EE5623"/>
                </a:solidFill>
                <a:latin typeface="Aptos"/>
              </a:rPr>
              <a:t>WHY IT'S USEFUL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99BB56-A7B5-CD2D-D70A-7E97156C98C4}"/>
              </a:ext>
            </a:extLst>
          </p:cNvPr>
          <p:cNvSpPr txBox="1"/>
          <p:nvPr/>
        </p:nvSpPr>
        <p:spPr>
          <a:xfrm>
            <a:off x="5920047" y="3315394"/>
            <a:ext cx="4983480" cy="10756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ITK — decades of medical imaging research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standard for radiology and biomedical research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3D/4D volumetric data other libraries don't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19191B"/>
                </a:solidFill>
                <a:latin typeface="Aptos"/>
              </a:defRPr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ITK's complex C++ API into clean Python</a:t>
            </a:r>
          </a:p>
        </p:txBody>
      </p:sp>
      <p:sp>
        <p:nvSpPr>
          <p:cNvPr id="29" name="Rounded Rectangle 27">
            <a:extLst>
              <a:ext uri="{FF2B5EF4-FFF2-40B4-BE49-F238E27FC236}">
                <a16:creationId xmlns:a16="http://schemas.microsoft.com/office/drawing/2014/main" id="{95D20A29-A0A2-5C9A-0EFB-76DB0717E7C9}"/>
              </a:ext>
            </a:extLst>
          </p:cNvPr>
          <p:cNvSpPr/>
          <p:nvPr/>
        </p:nvSpPr>
        <p:spPr>
          <a:xfrm>
            <a:off x="5504689" y="4660950"/>
            <a:ext cx="5163312" cy="1783079"/>
          </a:xfrm>
          <a:prstGeom prst="roundRect">
            <a:avLst/>
          </a:prstGeom>
          <a:solidFill>
            <a:srgbClr val="191A1E"/>
          </a:solidFill>
          <a:ln w="10160"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ounded Rectangle 28">
            <a:extLst>
              <a:ext uri="{FF2B5EF4-FFF2-40B4-BE49-F238E27FC236}">
                <a16:creationId xmlns:a16="http://schemas.microsoft.com/office/drawing/2014/main" id="{F9499B71-9AB5-EF19-282F-018B7C261166}"/>
              </a:ext>
            </a:extLst>
          </p:cNvPr>
          <p:cNvSpPr/>
          <p:nvPr/>
        </p:nvSpPr>
        <p:spPr>
          <a:xfrm>
            <a:off x="5715000" y="4761535"/>
            <a:ext cx="402336" cy="402336"/>
          </a:xfrm>
          <a:prstGeom prst="roundRect">
            <a:avLst/>
          </a:prstGeom>
          <a:solidFill>
            <a:srgbClr val="191A1E"/>
          </a:solidFill>
          <a:ln w="12700">
            <a:solidFill>
              <a:srgbClr val="F0A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671EDE-1FF8-41DC-2050-1F95AFC57024}"/>
              </a:ext>
            </a:extLst>
          </p:cNvPr>
          <p:cNvSpPr txBox="1"/>
          <p:nvPr/>
        </p:nvSpPr>
        <p:spPr>
          <a:xfrm>
            <a:off x="5819988" y="4832121"/>
            <a:ext cx="19236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&gt;_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643DEC-75C4-971B-312E-40E5D1B16079}"/>
              </a:ext>
            </a:extLst>
          </p:cNvPr>
          <p:cNvSpPr txBox="1"/>
          <p:nvPr/>
        </p:nvSpPr>
        <p:spPr>
          <a:xfrm>
            <a:off x="6263640" y="4834687"/>
            <a:ext cx="1567737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IMPORT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DDA008-F04F-24DC-32DA-93453B547892}"/>
              </a:ext>
            </a:extLst>
          </p:cNvPr>
          <p:cNvSpPr txBox="1"/>
          <p:nvPr/>
        </p:nvSpPr>
        <p:spPr>
          <a:xfrm>
            <a:off x="6263640" y="5163871"/>
            <a:ext cx="1736116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en-IN" sz="1400" b="0" i="0" dirty="0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pip install </a:t>
            </a:r>
            <a:r>
              <a:rPr lang="en-IN" sz="1400" b="0" i="0" dirty="0" err="1">
                <a:solidFill>
                  <a:srgbClr val="9191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SimpleITK</a:t>
            </a:r>
            <a:endParaRPr sz="1400" b="0" i="0" dirty="0">
              <a:solidFill>
                <a:srgbClr val="91919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DE831B-E9F5-601A-6521-BE7CAA7D550D}"/>
              </a:ext>
            </a:extLst>
          </p:cNvPr>
          <p:cNvSpPr txBox="1"/>
          <p:nvPr/>
        </p:nvSpPr>
        <p:spPr>
          <a:xfrm>
            <a:off x="6294815" y="5416248"/>
            <a:ext cx="4927786" cy="96776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import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SimpleITK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as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sitk</a:t>
            </a:r>
            <a:endParaRPr lang="en-US" sz="1400" dirty="0">
              <a:solidFill>
                <a:srgbClr val="FFFFFF"/>
              </a:solidFill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img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sitk.ReadImage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scan.nii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sitk.GetArrayFromImage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img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5" name="Text 0">
            <a:extLst>
              <a:ext uri="{FF2B5EF4-FFF2-40B4-BE49-F238E27FC236}">
                <a16:creationId xmlns:a16="http://schemas.microsoft.com/office/drawing/2014/main" id="{EA276BD4-D1CF-B877-0769-21EF58DE7ED3}"/>
              </a:ext>
            </a:extLst>
          </p:cNvPr>
          <p:cNvSpPr/>
          <p:nvPr/>
        </p:nvSpPr>
        <p:spPr>
          <a:xfrm>
            <a:off x="384048" y="1843907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05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46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419403-BE5B-288B-D7DB-54817AE36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10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F30DEE-5038-03C7-2702-5B3E2B7723BB}"/>
              </a:ext>
            </a:extLst>
          </p:cNvPr>
          <p:cNvSpPr/>
          <p:nvPr/>
        </p:nvSpPr>
        <p:spPr>
          <a:xfrm>
            <a:off x="548640" y="14889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SimpleCV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1A37DE-901F-F7B9-314B-FBBB4DFDF42B}"/>
              </a:ext>
            </a:extLst>
          </p:cNvPr>
          <p:cNvSpPr/>
          <p:nvPr/>
        </p:nvSpPr>
        <p:spPr>
          <a:xfrm>
            <a:off x="548640" y="21473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beginner-friendly computer vision framework built to lower the entry barrier.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06955D-417F-6B45-2AB2-A62CE44E8FD0}"/>
              </a:ext>
            </a:extLst>
          </p:cNvPr>
          <p:cNvSpPr/>
          <p:nvPr/>
        </p:nvSpPr>
        <p:spPr>
          <a:xfrm>
            <a:off x="548639" y="2769092"/>
            <a:ext cx="7750233" cy="2331720"/>
          </a:xfrm>
          <a:prstGeom prst="roundRect">
            <a:avLst>
              <a:gd name="adj" fmla="val 3137"/>
            </a:avLst>
          </a:prstGeom>
          <a:solidFill>
            <a:srgbClr val="F7F6F1"/>
          </a:solidFill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111183-A42A-AF2D-40CA-1F5FB117C449}"/>
              </a:ext>
            </a:extLst>
          </p:cNvPr>
          <p:cNvSpPr/>
          <p:nvPr/>
        </p:nvSpPr>
        <p:spPr>
          <a:xfrm>
            <a:off x="822959" y="2970260"/>
            <a:ext cx="31494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D9E7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04E6A8-F936-6BDE-88A5-DA47B4C4298B}"/>
              </a:ext>
            </a:extLst>
          </p:cNvPr>
          <p:cNvSpPr/>
          <p:nvPr/>
        </p:nvSpPr>
        <p:spPr>
          <a:xfrm>
            <a:off x="743061" y="3244580"/>
            <a:ext cx="337173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Simplified interface over complex CV algorithms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Image acquisition from cameras and files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Basic feature extraction and object detection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Designed for fast prototyping, not production pipelines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6E6B61F-1E9D-DF48-3DDC-4332BC626F64}"/>
              </a:ext>
            </a:extLst>
          </p:cNvPr>
          <p:cNvSpPr/>
          <p:nvPr/>
        </p:nvSpPr>
        <p:spPr>
          <a:xfrm>
            <a:off x="4754880" y="29702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D85A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B93F98-E9D8-C783-77A2-0A747DF5DE45}"/>
              </a:ext>
            </a:extLst>
          </p:cNvPr>
          <p:cNvSpPr/>
          <p:nvPr/>
        </p:nvSpPr>
        <p:spPr>
          <a:xfrm>
            <a:off x="4754880" y="3226292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Much gentler learning curve than raw OpenCV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Good for teaching CV concepts to newcomers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Readable, high-level method names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Useful for quick prototypes and demos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3BBADE-19C3-60C2-77A4-101FF7DC57A7}"/>
              </a:ext>
            </a:extLst>
          </p:cNvPr>
          <p:cNvSpPr/>
          <p:nvPr/>
        </p:nvSpPr>
        <p:spPr>
          <a:xfrm>
            <a:off x="8412480" y="2769092"/>
            <a:ext cx="3200400" cy="2331720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D6F156C-27A2-5EAF-443E-DC8519CC66A7}"/>
              </a:ext>
            </a:extLst>
          </p:cNvPr>
          <p:cNvSpPr/>
          <p:nvPr/>
        </p:nvSpPr>
        <p:spPr>
          <a:xfrm>
            <a:off x="8668512" y="297026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E8A93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HOW TO IMPORT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06EAA40-449C-EA59-C829-3E672D91730B}"/>
              </a:ext>
            </a:extLst>
          </p:cNvPr>
          <p:cNvSpPr/>
          <p:nvPr/>
        </p:nvSpPr>
        <p:spPr>
          <a:xfrm>
            <a:off x="8668512" y="3427460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8A8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 pip install SimpleCV
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from SimpleCV import Image
img = Image("cells.jpg")
img.show()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31A7350-60F9-B4C3-395B-3210F9062A4F}"/>
              </a:ext>
            </a:extLst>
          </p:cNvPr>
          <p:cNvSpPr/>
          <p:nvPr/>
        </p:nvSpPr>
        <p:spPr>
          <a:xfrm>
            <a:off x="548640" y="52088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83F1688-B933-431A-24AC-E9D9D15CF21A}"/>
              </a:ext>
            </a:extLst>
          </p:cNvPr>
          <p:cNvSpPr/>
          <p:nvPr/>
        </p:nvSpPr>
        <p:spPr>
          <a:xfrm>
            <a:off x="822960" y="52088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 err="1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SimpleCV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is largely </a:t>
            </a: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unmaintained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and Python 2-era — mention historically, don't recommend for new projects.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E57B4AD-0A6D-7556-2836-CDA69B075B38}"/>
              </a:ext>
            </a:extLst>
          </p:cNvPr>
          <p:cNvSpPr/>
          <p:nvPr/>
        </p:nvSpPr>
        <p:spPr>
          <a:xfrm>
            <a:off x="574040" y="5988885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Georgia" panose="02040502050405020303" pitchFamily="18" charset="0"/>
                <a:ea typeface="Georgia" pitchFamily="34" charset="-122"/>
                <a:cs typeface="Times New Roman" panose="02020603050405020304" pitchFamily="18" charset="0"/>
              </a:rPr>
              <a:t>Useful to know it exists — but for a new project today, OpenCV or scikit-image is the better choice.</a:t>
            </a:r>
            <a:endParaRPr lang="en-US" sz="16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B249C-0877-6C85-8921-DB46C117DC55}"/>
              </a:ext>
            </a:extLst>
          </p:cNvPr>
          <p:cNvSpPr txBox="1"/>
          <p:nvPr/>
        </p:nvSpPr>
        <p:spPr>
          <a:xfrm>
            <a:off x="1888287" y="975485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Connector 3">
            <a:extLst>
              <a:ext uri="{FF2B5EF4-FFF2-40B4-BE49-F238E27FC236}">
                <a16:creationId xmlns:a16="http://schemas.microsoft.com/office/drawing/2014/main" id="{832F7D44-4D25-7A50-975F-61C67579E340}"/>
              </a:ext>
            </a:extLst>
          </p:cNvPr>
          <p:cNvCxnSpPr/>
          <p:nvPr/>
        </p:nvCxnSpPr>
        <p:spPr>
          <a:xfrm>
            <a:off x="2605602" y="1227862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0">
            <a:extLst>
              <a:ext uri="{FF2B5EF4-FFF2-40B4-BE49-F238E27FC236}">
                <a16:creationId xmlns:a16="http://schemas.microsoft.com/office/drawing/2014/main" id="{5CE2D122-8F59-6E61-22B7-AB5F283E5C55}"/>
              </a:ext>
            </a:extLst>
          </p:cNvPr>
          <p:cNvSpPr/>
          <p:nvPr/>
        </p:nvSpPr>
        <p:spPr>
          <a:xfrm>
            <a:off x="1403378" y="11979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06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955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2A5116-6F7E-C999-7990-6F63137E766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11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26E919-2398-A6D7-C7D1-9FB44350AD9E}"/>
              </a:ext>
            </a:extLst>
          </p:cNvPr>
          <p:cNvSpPr txBox="1"/>
          <p:nvPr/>
        </p:nvSpPr>
        <p:spPr>
          <a:xfrm>
            <a:off x="384048" y="2514607"/>
            <a:ext cx="4370832" cy="960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Python binding for </a:t>
            </a:r>
            <a:r>
              <a:rPr sz="20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GraphicsMagick</a:t>
            </a:r>
            <a:r>
              <a:rPr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0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ImageMagick</a:t>
            </a:r>
            <a:r>
              <a:rPr sz="20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
lightweight editing and effects.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3B59AAE-C061-62F3-7B98-84B851633D29}"/>
              </a:ext>
            </a:extLst>
          </p:cNvPr>
          <p:cNvSpPr/>
          <p:nvPr/>
        </p:nvSpPr>
        <p:spPr>
          <a:xfrm>
            <a:off x="384048" y="3703327"/>
            <a:ext cx="4370832" cy="1170432"/>
          </a:xfrm>
          <a:prstGeom prst="roundRect">
            <a:avLst/>
          </a:prstGeom>
          <a:solidFill>
            <a:srgbClr val="EFF2FF"/>
          </a:solidFill>
          <a:ln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531AF9-AC48-9400-A1F7-9253B02C02A2}"/>
              </a:ext>
            </a:extLst>
          </p:cNvPr>
          <p:cNvSpPr txBox="1"/>
          <p:nvPr/>
        </p:nvSpPr>
        <p:spPr>
          <a:xfrm>
            <a:off x="612648" y="3986791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0BDA4-D5B6-A3FF-DD67-8CE92EC1D2B4}"/>
              </a:ext>
            </a:extLst>
          </p:cNvPr>
          <p:cNvSpPr txBox="1"/>
          <p:nvPr/>
        </p:nvSpPr>
        <p:spPr>
          <a:xfrm>
            <a:off x="576072" y="3919966"/>
            <a:ext cx="4156922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the </a:t>
            </a:r>
            <a:r>
              <a:rPr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GraphicsMagick</a:t>
            </a:r>
            <a:r>
              <a:rPr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library
installed separately — not a pure pip install.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A3A8AD-F7F0-4AAC-98F2-54C61269F16C}"/>
              </a:ext>
            </a:extLst>
          </p:cNvPr>
          <p:cNvSpPr txBox="1"/>
          <p:nvPr/>
        </p:nvSpPr>
        <p:spPr>
          <a:xfrm>
            <a:off x="384048" y="5062455"/>
            <a:ext cx="384048" cy="6217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3800" b="1" i="0" dirty="0">
                <a:solidFill>
                  <a:schemeClr val="bg1"/>
                </a:solidFill>
                <a:latin typeface="Georgia"/>
              </a:rPr>
              <a:t>“</a:t>
            </a:r>
          </a:p>
        </p:txBody>
      </p:sp>
      <p:cxnSp>
        <p:nvCxnSpPr>
          <p:cNvPr id="11" name="Connector 13">
            <a:extLst>
              <a:ext uri="{FF2B5EF4-FFF2-40B4-BE49-F238E27FC236}">
                <a16:creationId xmlns:a16="http://schemas.microsoft.com/office/drawing/2014/main" id="{72CFBE97-708C-E012-E52F-4DD58AAFB531}"/>
              </a:ext>
            </a:extLst>
          </p:cNvPr>
          <p:cNvCxnSpPr/>
          <p:nvPr/>
        </p:nvCxnSpPr>
        <p:spPr>
          <a:xfrm>
            <a:off x="841248" y="5135607"/>
            <a:ext cx="0" cy="658368"/>
          </a:xfrm>
          <a:prstGeom prst="line">
            <a:avLst/>
          </a:prstGeom>
          <a:ln w="12700">
            <a:solidFill>
              <a:srgbClr val="EBEB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B6FA88-A359-7634-49CA-C0F1B12234F7}"/>
              </a:ext>
            </a:extLst>
          </p:cNvPr>
          <p:cNvSpPr txBox="1"/>
          <p:nvPr/>
        </p:nvSpPr>
        <p:spPr>
          <a:xfrm>
            <a:off x="987552" y="5089887"/>
            <a:ext cx="3657600" cy="9671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Functionally similar to Pillow, but leans on
</a:t>
            </a:r>
            <a:r>
              <a:rPr sz="1400" b="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ImageMagick's</a:t>
            </a:r>
            <a:r>
              <a:rPr sz="1400" b="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mature effects engine underneath.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6F0277B9-2FBD-243E-9CA5-5AFFEFBE516D}"/>
              </a:ext>
            </a:extLst>
          </p:cNvPr>
          <p:cNvSpPr/>
          <p:nvPr/>
        </p:nvSpPr>
        <p:spPr>
          <a:xfrm>
            <a:off x="5449268" y="1065143"/>
            <a:ext cx="5440403" cy="3264753"/>
          </a:xfrm>
          <a:prstGeom prst="roundRect">
            <a:avLst/>
          </a:prstGeom>
          <a:solidFill>
            <a:srgbClr val="F3F9F6"/>
          </a:solidFill>
          <a:ln>
            <a:solidFill>
              <a:srgbClr val="F3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6">
            <a:extLst>
              <a:ext uri="{FF2B5EF4-FFF2-40B4-BE49-F238E27FC236}">
                <a16:creationId xmlns:a16="http://schemas.microsoft.com/office/drawing/2014/main" id="{E00E9318-E7C9-16B7-4A99-819CBC40857A}"/>
              </a:ext>
            </a:extLst>
          </p:cNvPr>
          <p:cNvCxnSpPr>
            <a:cxnSpLocks/>
          </p:cNvCxnSpPr>
          <p:nvPr/>
        </p:nvCxnSpPr>
        <p:spPr>
          <a:xfrm>
            <a:off x="5449268" y="1631255"/>
            <a:ext cx="0" cy="2072072"/>
          </a:xfrm>
          <a:prstGeom prst="line">
            <a:avLst/>
          </a:prstGeom>
          <a:ln w="50800">
            <a:solidFill>
              <a:srgbClr val="1B9E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F042F12-9D4B-C18B-B661-256870CB3692}"/>
              </a:ext>
            </a:extLst>
          </p:cNvPr>
          <p:cNvSpPr txBox="1"/>
          <p:nvPr/>
        </p:nvSpPr>
        <p:spPr>
          <a:xfrm>
            <a:off x="6382512" y="1312232"/>
            <a:ext cx="32004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 i="0" dirty="0">
                <a:solidFill>
                  <a:srgbClr val="1B9E70"/>
                </a:solidFill>
                <a:latin typeface="Aptos"/>
              </a:rPr>
              <a:t>WHAT IT DOES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00C5D9-7AE7-5C0F-73B2-230E239A617E}"/>
              </a:ext>
            </a:extLst>
          </p:cNvPr>
          <p:cNvSpPr txBox="1"/>
          <p:nvPr/>
        </p:nvSpPr>
        <p:spPr>
          <a:xfrm>
            <a:off x="5871355" y="1768754"/>
            <a:ext cx="4983480" cy="960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Resize, scale, crop, rotate, and flip images
•  Apply blur, sharpen, and artistic effects (charcoal, emboss)
•  Adjust contrast, brightness, gamma, and color
•  Draw text and annotations directly on images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9971EF-A3BC-81E7-2167-578EDD165B64}"/>
              </a:ext>
            </a:extLst>
          </p:cNvPr>
          <p:cNvSpPr txBox="1"/>
          <p:nvPr/>
        </p:nvSpPr>
        <p:spPr>
          <a:xfrm>
            <a:off x="6263640" y="2816533"/>
            <a:ext cx="36576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1" i="0" dirty="0">
                <a:solidFill>
                  <a:srgbClr val="EE5623"/>
                </a:solidFill>
                <a:latin typeface="Aptos"/>
              </a:rPr>
              <a:t>WHY IT'S IMPORTANT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676AB-8FC1-FDC7-DB7E-C1657C00D8C8}"/>
              </a:ext>
            </a:extLst>
          </p:cNvPr>
          <p:cNvSpPr txBox="1"/>
          <p:nvPr/>
        </p:nvSpPr>
        <p:spPr>
          <a:xfrm>
            <a:off x="5871355" y="3178139"/>
            <a:ext cx="4983480" cy="96026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5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Wraps the powerful </a:t>
            </a:r>
            <a:r>
              <a:rPr sz="15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GraphicsMagick</a:t>
            </a:r>
            <a:r>
              <a:rPr sz="15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b="0" i="0" dirty="0" err="1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ImageMagick</a:t>
            </a:r>
            <a:r>
              <a:rPr sz="15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
•  Supports a very wide range of file formats
•  Lightweight and easy to pick up quickly
•  Good for batch conversions and simple effect pipelines</a:t>
            </a:r>
          </a:p>
        </p:txBody>
      </p:sp>
      <p:sp>
        <p:nvSpPr>
          <p:cNvPr id="25" name="Rounded Rectangle 27">
            <a:extLst>
              <a:ext uri="{FF2B5EF4-FFF2-40B4-BE49-F238E27FC236}">
                <a16:creationId xmlns:a16="http://schemas.microsoft.com/office/drawing/2014/main" id="{631910E4-922F-1C78-D0DD-8AEC0EA03703}"/>
              </a:ext>
            </a:extLst>
          </p:cNvPr>
          <p:cNvSpPr/>
          <p:nvPr/>
        </p:nvSpPr>
        <p:spPr>
          <a:xfrm>
            <a:off x="5504688" y="4527667"/>
            <a:ext cx="5384985" cy="1627632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8">
            <a:extLst>
              <a:ext uri="{FF2B5EF4-FFF2-40B4-BE49-F238E27FC236}">
                <a16:creationId xmlns:a16="http://schemas.microsoft.com/office/drawing/2014/main" id="{14B6D4A2-CE3C-B938-C987-64B66631781B}"/>
              </a:ext>
            </a:extLst>
          </p:cNvPr>
          <p:cNvSpPr/>
          <p:nvPr/>
        </p:nvSpPr>
        <p:spPr>
          <a:xfrm>
            <a:off x="5715000" y="4692259"/>
            <a:ext cx="402336" cy="402336"/>
          </a:xfrm>
          <a:prstGeom prst="roundRect">
            <a:avLst/>
          </a:prstGeom>
          <a:solidFill>
            <a:srgbClr val="191A1E"/>
          </a:solidFill>
          <a:ln>
            <a:solidFill>
              <a:srgbClr val="F0A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21A808-DAA1-C5EA-15AB-60BFC09D9967}"/>
              </a:ext>
            </a:extLst>
          </p:cNvPr>
          <p:cNvSpPr txBox="1"/>
          <p:nvPr/>
        </p:nvSpPr>
        <p:spPr>
          <a:xfrm>
            <a:off x="5715000" y="4710547"/>
            <a:ext cx="4023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sz="1000" b="1" i="0">
                <a:solidFill>
                  <a:srgbClr val="F0AE28"/>
                </a:solidFill>
                <a:latin typeface="Consolas"/>
              </a:rPr>
              <a:t>&gt;_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7270B7-CE78-2251-6715-ADE178780E16}"/>
              </a:ext>
            </a:extLst>
          </p:cNvPr>
          <p:cNvSpPr txBox="1"/>
          <p:nvPr/>
        </p:nvSpPr>
        <p:spPr>
          <a:xfrm>
            <a:off x="6263640" y="4765411"/>
            <a:ext cx="22860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350" b="1" i="0">
                <a:solidFill>
                  <a:srgbClr val="F0AE28"/>
                </a:solidFill>
                <a:latin typeface="Aptos"/>
              </a:rPr>
              <a:t>HOW TO IMPORT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6C8821F-75A6-367C-7E72-0D38CDC73C0E}"/>
              </a:ext>
            </a:extLst>
          </p:cNvPr>
          <p:cNvSpPr txBox="1"/>
          <p:nvPr/>
        </p:nvSpPr>
        <p:spPr>
          <a:xfrm>
            <a:off x="6263640" y="5094595"/>
            <a:ext cx="50292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050" b="0" i="0">
                <a:solidFill>
                  <a:srgbClr val="919196"/>
                </a:solidFill>
                <a:latin typeface="Consolas"/>
              </a:rPr>
              <a:t># pip install pgmagick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A2E19-71D7-23B9-5D89-D330BB8C35B6}"/>
              </a:ext>
            </a:extLst>
          </p:cNvPr>
          <p:cNvSpPr txBox="1"/>
          <p:nvPr/>
        </p:nvSpPr>
        <p:spPr>
          <a:xfrm>
            <a:off x="6263640" y="5317449"/>
            <a:ext cx="521208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onsolas"/>
              </a:rPr>
              <a:t>from </a:t>
            </a:r>
            <a:r>
              <a:rPr sz="1100" b="0" i="0" dirty="0" err="1">
                <a:solidFill>
                  <a:srgbClr val="FFFFFF"/>
                </a:solidFill>
                <a:latin typeface="Consolas"/>
              </a:rPr>
              <a:t>pgmagick</a:t>
            </a:r>
            <a:r>
              <a:rPr sz="1100" b="0" i="0" dirty="0">
                <a:solidFill>
                  <a:srgbClr val="FFFFFF"/>
                </a:solidFill>
                <a:latin typeface="Consolas"/>
              </a:rPr>
              <a:t> import Image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2D7CF-D869-3223-EC7A-E17F17A5C1CA}"/>
              </a:ext>
            </a:extLst>
          </p:cNvPr>
          <p:cNvSpPr txBox="1"/>
          <p:nvPr/>
        </p:nvSpPr>
        <p:spPr>
          <a:xfrm>
            <a:off x="6263640" y="5652379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img = Image("cells.jpg")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024B52-D743-39D2-EDED-AABB06E0DB5B}"/>
              </a:ext>
            </a:extLst>
          </p:cNvPr>
          <p:cNvSpPr txBox="1"/>
          <p:nvPr/>
        </p:nvSpPr>
        <p:spPr>
          <a:xfrm>
            <a:off x="6263640" y="5935843"/>
            <a:ext cx="5029200" cy="2560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onsolas"/>
              </a:rPr>
              <a:t>img.scale("256x256")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F83DEC-594B-94FD-8490-4033F3BBDC2D}"/>
              </a:ext>
            </a:extLst>
          </p:cNvPr>
          <p:cNvSpPr txBox="1"/>
          <p:nvPr/>
        </p:nvSpPr>
        <p:spPr>
          <a:xfrm>
            <a:off x="1240568" y="1046100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4" name="Connector 3">
            <a:extLst>
              <a:ext uri="{FF2B5EF4-FFF2-40B4-BE49-F238E27FC236}">
                <a16:creationId xmlns:a16="http://schemas.microsoft.com/office/drawing/2014/main" id="{8C30BB51-0038-6B71-EB3B-3AC75278BAD5}"/>
              </a:ext>
            </a:extLst>
          </p:cNvPr>
          <p:cNvCxnSpPr/>
          <p:nvPr/>
        </p:nvCxnSpPr>
        <p:spPr>
          <a:xfrm>
            <a:off x="1887193" y="1336090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23CF31B-E6F3-1D42-1799-9E805E051599}"/>
              </a:ext>
            </a:extLst>
          </p:cNvPr>
          <p:cNvSpPr txBox="1"/>
          <p:nvPr/>
        </p:nvSpPr>
        <p:spPr>
          <a:xfrm>
            <a:off x="493357" y="1631255"/>
            <a:ext cx="2273123" cy="621709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pPr algn="l"/>
            <a:r>
              <a:rPr lang="en-IN" sz="3800" b="1" i="0" dirty="0" err="1">
                <a:solidFill>
                  <a:srgbClr val="19191B"/>
                </a:solidFill>
                <a:latin typeface="Georgia"/>
              </a:rPr>
              <a:t>PmagicK</a:t>
            </a:r>
            <a:endParaRPr lang="en-IN" sz="3800" b="1" i="0" dirty="0">
              <a:solidFill>
                <a:srgbClr val="19191B"/>
              </a:solidFill>
              <a:latin typeface="Georgia"/>
            </a:endParaRP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B42A026B-C490-6B53-1536-81145C2EFB6A}"/>
              </a:ext>
            </a:extLst>
          </p:cNvPr>
          <p:cNvSpPr/>
          <p:nvPr/>
        </p:nvSpPr>
        <p:spPr>
          <a:xfrm>
            <a:off x="949036" y="1331725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07/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76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2B01D4-2638-B7F0-635A-A185C4466AF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12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F499DCF3-7640-5906-1911-989C4238B918}"/>
              </a:ext>
            </a:extLst>
          </p:cNvPr>
          <p:cNvSpPr/>
          <p:nvPr/>
        </p:nvSpPr>
        <p:spPr>
          <a:xfrm>
            <a:off x="548640" y="2092747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Not an image-processing library — but essential for displaying and annotating results.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D7EEF2F-6797-36C2-193F-AC310C77C6F6}"/>
              </a:ext>
            </a:extLst>
          </p:cNvPr>
          <p:cNvSpPr/>
          <p:nvPr/>
        </p:nvSpPr>
        <p:spPr>
          <a:xfrm>
            <a:off x="548640" y="2687107"/>
            <a:ext cx="7678420" cy="2423160"/>
          </a:xfrm>
          <a:prstGeom prst="roundRect">
            <a:avLst>
              <a:gd name="adj" fmla="val 3137"/>
            </a:avLst>
          </a:prstGeom>
          <a:solidFill>
            <a:srgbClr val="F7F6F1"/>
          </a:solidFill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691DC69-FBB2-F8EE-95FD-E21F83EB27A7}"/>
              </a:ext>
            </a:extLst>
          </p:cNvPr>
          <p:cNvSpPr/>
          <p:nvPr/>
        </p:nvSpPr>
        <p:spPr>
          <a:xfrm>
            <a:off x="877824" y="277548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D9E7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3966A22-208B-65C6-4916-841CEB72BAFA}"/>
              </a:ext>
            </a:extLst>
          </p:cNvPr>
          <p:cNvSpPr/>
          <p:nvPr/>
        </p:nvSpPr>
        <p:spPr>
          <a:xfrm>
            <a:off x="770918" y="3105712"/>
            <a:ext cx="330578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Displays images as arrays with imshow()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Plots histograms of pixel intensity distributions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Overlays annotations, contours, and bounding boxes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Visualizes multi-channel and grayscale data with colormaps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E80F621C-85CC-FCB7-2C34-ABFCB91DF68D}"/>
              </a:ext>
            </a:extLst>
          </p:cNvPr>
          <p:cNvSpPr/>
          <p:nvPr/>
        </p:nvSpPr>
        <p:spPr>
          <a:xfrm>
            <a:off x="4590288" y="2785955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D85A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7E459C6-4BB0-7C0A-B0EE-EFBA548020AF}"/>
              </a:ext>
            </a:extLst>
          </p:cNvPr>
          <p:cNvSpPr/>
          <p:nvPr/>
        </p:nvSpPr>
        <p:spPr>
          <a:xfrm>
            <a:off x="4544060" y="3023079"/>
            <a:ext cx="3566160" cy="1868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standard way to actually *see* array-based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Works directly with NumPy arrays — zero conversion needed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Essential for comparing before/after processing results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Used throughout the deep hands-on segment with cnsplots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E32E56A-0A8B-DA02-7C99-D6797E3C2FA6}"/>
              </a:ext>
            </a:extLst>
          </p:cNvPr>
          <p:cNvSpPr/>
          <p:nvPr/>
        </p:nvSpPr>
        <p:spPr>
          <a:xfrm>
            <a:off x="8412480" y="2687106"/>
            <a:ext cx="3385820" cy="2423159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A833B976-48CD-6229-D1CB-1CDFE52642B7}"/>
              </a:ext>
            </a:extLst>
          </p:cNvPr>
          <p:cNvSpPr/>
          <p:nvPr/>
        </p:nvSpPr>
        <p:spPr>
          <a:xfrm>
            <a:off x="8668512" y="2888275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IMPORT</a:t>
            </a:r>
            <a:endParaRPr lang="en-US" sz="12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1444784B-41A5-A6FF-4CF0-C24102D11CE1}"/>
              </a:ext>
            </a:extLst>
          </p:cNvPr>
          <p:cNvSpPr/>
          <p:nvPr/>
        </p:nvSpPr>
        <p:spPr>
          <a:xfrm>
            <a:off x="8668512" y="3345475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8A85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 pip install matplotlib
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import matplotlib.pyplot as plt
plt.imshow(arr)
plt.show()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3BCDCF1-D121-A340-A67F-0925DE3764C5}"/>
              </a:ext>
            </a:extLst>
          </p:cNvPr>
          <p:cNvSpPr/>
          <p:nvPr/>
        </p:nvSpPr>
        <p:spPr>
          <a:xfrm>
            <a:off x="548640" y="5293147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A331B818-945F-7787-A4B6-BD1216F5CF5F}"/>
              </a:ext>
            </a:extLst>
          </p:cNvPr>
          <p:cNvSpPr/>
          <p:nvPr/>
        </p:nvSpPr>
        <p:spPr>
          <a:xfrm>
            <a:off x="822960" y="5293147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Matplotlib expects </a:t>
            </a:r>
            <a:r>
              <a:rPr lang="en-US" sz="16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RGB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order — remember to convert OpenCV's BGR arrays before calling 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imshow()</a:t>
            </a: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3EE70BAF-B19B-3956-1FA8-78FDC2F3BBC2}"/>
              </a:ext>
            </a:extLst>
          </p:cNvPr>
          <p:cNvSpPr/>
          <p:nvPr/>
        </p:nvSpPr>
        <p:spPr>
          <a:xfrm>
            <a:off x="548640" y="6059299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latin typeface="Georgia" panose="02040502050405020303" pitchFamily="18" charset="0"/>
                <a:ea typeface="Georgia" pitchFamily="34" charset="-122"/>
                <a:cs typeface="Times New Roman" panose="02020603050405020304" pitchFamily="18" charset="0"/>
              </a:rPr>
              <a:t>Every processing step in this session ends the same way: back through Matplotlib, so you can actually see the result.</a:t>
            </a:r>
            <a:endParaRPr lang="en-US" sz="1600" dirty="0"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367122C-4295-B4CD-5513-1591EE51A253}"/>
              </a:ext>
            </a:extLst>
          </p:cNvPr>
          <p:cNvSpPr/>
          <p:nvPr/>
        </p:nvSpPr>
        <p:spPr>
          <a:xfrm>
            <a:off x="488978" y="150379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</a:t>
            </a:r>
            <a:endParaRPr lang="en-US" sz="3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CC7CD8-3929-4567-657E-99AE6BB1809E}"/>
              </a:ext>
            </a:extLst>
          </p:cNvPr>
          <p:cNvSpPr txBox="1"/>
          <p:nvPr/>
        </p:nvSpPr>
        <p:spPr>
          <a:xfrm>
            <a:off x="1777451" y="973381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Connector 3">
            <a:extLst>
              <a:ext uri="{FF2B5EF4-FFF2-40B4-BE49-F238E27FC236}">
                <a16:creationId xmlns:a16="http://schemas.microsoft.com/office/drawing/2014/main" id="{9D140BF4-DB60-F510-259D-6C915E2EB8EE}"/>
              </a:ext>
            </a:extLst>
          </p:cNvPr>
          <p:cNvCxnSpPr/>
          <p:nvPr/>
        </p:nvCxnSpPr>
        <p:spPr>
          <a:xfrm>
            <a:off x="2386584" y="1242224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0">
            <a:extLst>
              <a:ext uri="{FF2B5EF4-FFF2-40B4-BE49-F238E27FC236}">
                <a16:creationId xmlns:a16="http://schemas.microsoft.com/office/drawing/2014/main" id="{AD0232E8-FF38-902F-2662-39139F178615}"/>
              </a:ext>
            </a:extLst>
          </p:cNvPr>
          <p:cNvSpPr/>
          <p:nvPr/>
        </p:nvSpPr>
        <p:spPr>
          <a:xfrm>
            <a:off x="1061769" y="12323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08 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0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6737B3-15CE-173D-8D53-3C42350146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49CDB4-079F-169A-5E34-DE1E6F7A19A8}"/>
              </a:ext>
            </a:extLst>
          </p:cNvPr>
          <p:cNvSpPr txBox="1"/>
          <p:nvPr/>
        </p:nvSpPr>
        <p:spPr>
          <a:xfrm>
            <a:off x="516636" y="1370827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Pillow (PIL)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B694-A2D4-56DC-BF24-A2403AAA257A}"/>
              </a:ext>
            </a:extLst>
          </p:cNvPr>
          <p:cNvSpPr txBox="1"/>
          <p:nvPr/>
        </p:nvSpPr>
        <p:spPr>
          <a:xfrm>
            <a:off x="502920" y="1914702"/>
            <a:ext cx="10972800" cy="3323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friendly image library for Python — image I/O and everyday image manipulation.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757C64BC-1C50-8740-BF64-DA2405F6437D}"/>
              </a:ext>
            </a:extLst>
          </p:cNvPr>
          <p:cNvSpPr/>
          <p:nvPr/>
        </p:nvSpPr>
        <p:spPr>
          <a:xfrm>
            <a:off x="502920" y="2478630"/>
            <a:ext cx="6903720" cy="960120"/>
          </a:xfrm>
          <a:prstGeom prst="roundRect">
            <a:avLst/>
          </a:prstGeom>
          <a:solidFill>
            <a:srgbClr val="EFF2FF"/>
          </a:solidFill>
          <a:ln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4C90D1-8CA6-AD8E-7C20-FEE074BDC653}"/>
              </a:ext>
            </a:extLst>
          </p:cNvPr>
          <p:cNvSpPr txBox="1"/>
          <p:nvPr/>
        </p:nvSpPr>
        <p:spPr>
          <a:xfrm>
            <a:off x="749808" y="2674453"/>
            <a:ext cx="6583680" cy="54784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 is the modern, actively maintained fork of the Python Imaging Library (PIL).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ACD6303-D679-066C-3683-6A41A9F14635}"/>
              </a:ext>
            </a:extLst>
          </p:cNvPr>
          <p:cNvSpPr/>
          <p:nvPr/>
        </p:nvSpPr>
        <p:spPr>
          <a:xfrm>
            <a:off x="502920" y="3647264"/>
            <a:ext cx="6981444" cy="2240280"/>
          </a:xfrm>
          <a:prstGeom prst="roundRect">
            <a:avLst/>
          </a:prstGeom>
          <a:solidFill>
            <a:srgbClr val="F3F9F6"/>
          </a:solidFill>
          <a:ln>
            <a:solidFill>
              <a:srgbClr val="F3F9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65BD6-42C1-98C2-3144-3B230967E3B9}"/>
              </a:ext>
            </a:extLst>
          </p:cNvPr>
          <p:cNvSpPr txBox="1"/>
          <p:nvPr/>
        </p:nvSpPr>
        <p:spPr>
          <a:xfrm>
            <a:off x="749808" y="3834192"/>
            <a:ext cx="2743200" cy="27853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50" b="1" i="0" dirty="0">
                <a:solidFill>
                  <a:srgbClr val="1B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IT DOES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B0B98-8E7F-CA86-7CA0-59749B16480F}"/>
              </a:ext>
            </a:extLst>
          </p:cNvPr>
          <p:cNvSpPr txBox="1"/>
          <p:nvPr/>
        </p:nvSpPr>
        <p:spPr>
          <a:xfrm>
            <a:off x="749808" y="4227383"/>
            <a:ext cx="2788920" cy="134806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Open, read, save and display images
• Resize, crop, rotate and flip
• Convert modes such as RGB ↔ grayscale
• Apply enhancement and predefined filters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7C32D1-6BAA-DA6A-A5D4-45E94E36F746}"/>
              </a:ext>
            </a:extLst>
          </p:cNvPr>
          <p:cNvSpPr txBox="1"/>
          <p:nvPr/>
        </p:nvSpPr>
        <p:spPr>
          <a:xfrm>
            <a:off x="4251960" y="3789222"/>
            <a:ext cx="2743200" cy="27853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5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IT'S USEFUL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CDDA7-CD6C-5FF6-D201-3DA3AD1024CB}"/>
              </a:ext>
            </a:extLst>
          </p:cNvPr>
          <p:cNvSpPr txBox="1"/>
          <p:nvPr/>
        </p:nvSpPr>
        <p:spPr>
          <a:xfrm>
            <a:off x="4251960" y="4182413"/>
            <a:ext cx="2788920" cy="113261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Simple and beginner friendly
• Good for everyday image processing
• Works with many common formats
• Easy bridge to NumPy arrays</a:t>
            </a:r>
          </a:p>
        </p:txBody>
      </p:sp>
      <p:sp>
        <p:nvSpPr>
          <p:cNvPr id="13" name="Rounded Rectangle 15">
            <a:extLst>
              <a:ext uri="{FF2B5EF4-FFF2-40B4-BE49-F238E27FC236}">
                <a16:creationId xmlns:a16="http://schemas.microsoft.com/office/drawing/2014/main" id="{F706406D-B235-6053-6899-08EBAF194464}"/>
              </a:ext>
            </a:extLst>
          </p:cNvPr>
          <p:cNvSpPr/>
          <p:nvPr/>
        </p:nvSpPr>
        <p:spPr>
          <a:xfrm>
            <a:off x="7680960" y="3011981"/>
            <a:ext cx="4005072" cy="2912363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4B5D9D-59A9-B5CC-63D2-711E96F79B3A}"/>
              </a:ext>
            </a:extLst>
          </p:cNvPr>
          <p:cNvSpPr txBox="1"/>
          <p:nvPr/>
        </p:nvSpPr>
        <p:spPr>
          <a:xfrm>
            <a:off x="7955280" y="3154312"/>
            <a:ext cx="3383280" cy="27853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50" b="1" i="0" dirty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IMPORT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7AC2E-0E3A-4D56-2028-00A4F36C9D9C}"/>
              </a:ext>
            </a:extLst>
          </p:cNvPr>
          <p:cNvSpPr txBox="1"/>
          <p:nvPr/>
        </p:nvSpPr>
        <p:spPr>
          <a:xfrm>
            <a:off x="7955280" y="3520298"/>
            <a:ext cx="3383280" cy="134806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pip install pillow
from PIL import Image
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print(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img.size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D3B9F8-5F89-4089-BC00-6F6C5E012E97}"/>
              </a:ext>
            </a:extLst>
          </p:cNvPr>
          <p:cNvSpPr txBox="1"/>
          <p:nvPr/>
        </p:nvSpPr>
        <p:spPr>
          <a:xfrm>
            <a:off x="7955280" y="4976889"/>
            <a:ext cx="3534156" cy="22159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080" b="0" i="0" dirty="0">
                <a:solidFill>
                  <a:srgbClr val="919196"/>
                </a:solidFill>
                <a:latin typeface="Aptos"/>
              </a:rPr>
              <a:t>Pillow can manipulate the Image object without NumPy.</a:t>
            </a:r>
          </a:p>
        </p:txBody>
      </p:sp>
      <p:sp>
        <p:nvSpPr>
          <p:cNvPr id="17" name="Rounded Rectangle 19">
            <a:extLst>
              <a:ext uri="{FF2B5EF4-FFF2-40B4-BE49-F238E27FC236}">
                <a16:creationId xmlns:a16="http://schemas.microsoft.com/office/drawing/2014/main" id="{9EC050DD-B404-59BE-0CA0-76C270D35534}"/>
              </a:ext>
            </a:extLst>
          </p:cNvPr>
          <p:cNvSpPr/>
          <p:nvPr/>
        </p:nvSpPr>
        <p:spPr>
          <a:xfrm>
            <a:off x="502920" y="6031290"/>
            <a:ext cx="11183112" cy="438912"/>
          </a:xfrm>
          <a:prstGeom prst="roundRect">
            <a:avLst/>
          </a:prstGeom>
          <a:solidFill>
            <a:srgbClr val="EFF2FF"/>
          </a:solidFill>
          <a:ln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51A399-33A2-AA8E-F8DD-28CB35ED96CD}"/>
              </a:ext>
            </a:extLst>
          </p:cNvPr>
          <p:cNvSpPr txBox="1"/>
          <p:nvPr/>
        </p:nvSpPr>
        <p:spPr>
          <a:xfrm>
            <a:off x="699516" y="6099935"/>
            <a:ext cx="1078992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r>
              <a:rPr lang="en-US" sz="1600" b="1" dirty="0">
                <a:solidFill>
                  <a:srgbClr val="3B4FE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Note: </a:t>
            </a:r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Pillow manages image files and common image operations. NumPy is optional unless you want direct array/pixel access.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78C6CB-6D57-CEB5-EB60-259548797F2F}"/>
              </a:ext>
            </a:extLst>
          </p:cNvPr>
          <p:cNvSpPr txBox="1"/>
          <p:nvPr/>
        </p:nvSpPr>
        <p:spPr>
          <a:xfrm>
            <a:off x="1735887" y="1044842"/>
            <a:ext cx="3151568" cy="252377"/>
          </a:xfrm>
          <a:prstGeom prst="rect">
            <a:avLst/>
          </a:prstGeom>
          <a:noFill/>
        </p:spPr>
        <p:txBody>
          <a:bodyPr wrap="none" lIns="18288" tIns="18288" rIns="18288" bIns="18288" anchor="t">
            <a:spAutoFit/>
          </a:bodyPr>
          <a:lstStyle/>
          <a:p>
            <a:r>
              <a:rPr lang="en-US" sz="1400" b="1" kern="0" spc="13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B ·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or 3">
            <a:extLst>
              <a:ext uri="{FF2B5EF4-FFF2-40B4-BE49-F238E27FC236}">
                <a16:creationId xmlns:a16="http://schemas.microsoft.com/office/drawing/2014/main" id="{9AFC2C67-44D3-05C4-B3C9-2F44069D9F34}"/>
              </a:ext>
            </a:extLst>
          </p:cNvPr>
          <p:cNvCxnSpPr/>
          <p:nvPr/>
        </p:nvCxnSpPr>
        <p:spPr>
          <a:xfrm>
            <a:off x="2439348" y="1312036"/>
            <a:ext cx="4572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0">
            <a:extLst>
              <a:ext uri="{FF2B5EF4-FFF2-40B4-BE49-F238E27FC236}">
                <a16:creationId xmlns:a16="http://schemas.microsoft.com/office/drawing/2014/main" id="{7B52E1CF-BD39-B488-E236-833DDFF21E57}"/>
              </a:ext>
            </a:extLst>
          </p:cNvPr>
          <p:cNvSpPr/>
          <p:nvPr/>
        </p:nvSpPr>
        <p:spPr>
          <a:xfrm>
            <a:off x="1067748" y="11291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09/ 10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898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045580-3200-C5F3-E001-DC37FFB132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E71EE5-0B28-945A-13CE-C9E8F07F3AD2}"/>
              </a:ext>
            </a:extLst>
          </p:cNvPr>
          <p:cNvSpPr txBox="1"/>
          <p:nvPr/>
        </p:nvSpPr>
        <p:spPr>
          <a:xfrm>
            <a:off x="987829" y="1196495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2FEDE2-8FD3-9DAD-E64E-B903614615ED}"/>
              </a:ext>
            </a:extLst>
          </p:cNvPr>
          <p:cNvSpPr txBox="1"/>
          <p:nvPr/>
        </p:nvSpPr>
        <p:spPr>
          <a:xfrm>
            <a:off x="502920" y="1558363"/>
            <a:ext cx="10972800" cy="53245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 : Load &amp; Inspect an Image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6A6CD0-861E-0E89-D747-221B3A0D7282}"/>
              </a:ext>
            </a:extLst>
          </p:cNvPr>
          <p:cNvSpPr/>
          <p:nvPr/>
        </p:nvSpPr>
        <p:spPr>
          <a:xfrm>
            <a:off x="338329" y="2651071"/>
            <a:ext cx="11244072" cy="3246120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28F4D-92AC-EDA3-A80A-B2BE47C7BD5D}"/>
              </a:ext>
            </a:extLst>
          </p:cNvPr>
          <p:cNvSpPr txBox="1"/>
          <p:nvPr/>
        </p:nvSpPr>
        <p:spPr>
          <a:xfrm>
            <a:off x="758952" y="2975683"/>
            <a:ext cx="63550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IN" sz="1600" b="1" i="0" dirty="0">
                <a:solidFill>
                  <a:srgbClr val="F0AE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00" b="1" i="0" dirty="0">
              <a:solidFill>
                <a:srgbClr val="F0AE2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C4AD0D-EE93-4874-8225-9D6FFFB209AE}"/>
              </a:ext>
            </a:extLst>
          </p:cNvPr>
          <p:cNvSpPr txBox="1"/>
          <p:nvPr/>
        </p:nvSpPr>
        <p:spPr>
          <a:xfrm>
            <a:off x="1554480" y="2993141"/>
            <a:ext cx="6355080" cy="227139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print("Format:",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img.format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print("Mode:",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img.mode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print("Size:",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img.size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DD01F6-A2A1-F84F-101E-DCD2CF1D3BFC}"/>
              </a:ext>
            </a:extLst>
          </p:cNvPr>
          <p:cNvSpPr txBox="1"/>
          <p:nvPr/>
        </p:nvSpPr>
        <p:spPr>
          <a:xfrm>
            <a:off x="7909560" y="2905299"/>
            <a:ext cx="33832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1B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TO OBSERVE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401D7C-5BD2-D849-77E8-ABA7B1BBA00B}"/>
              </a:ext>
            </a:extLst>
          </p:cNvPr>
          <p:cNvSpPr txBox="1"/>
          <p:nvPr/>
        </p:nvSpPr>
        <p:spPr>
          <a:xfrm>
            <a:off x="7909560" y="3408219"/>
            <a:ext cx="3337560" cy="128650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 → JPEG / PNG / etc.
Mode → RGB / RGBA / L
Size → (width, height)
</a:t>
            </a:r>
          </a:p>
        </p:txBody>
      </p:sp>
    </p:spTree>
    <p:extLst>
      <p:ext uri="{BB962C8B-B14F-4D97-AF65-F5344CB8AC3E}">
        <p14:creationId xmlns:p14="http://schemas.microsoft.com/office/powerpoint/2010/main" val="3280186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8E09CC-7F9A-F851-0FB2-D90C0C6D03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8A8DF-3D5F-A3E0-37C4-B239CFA92AB8}"/>
              </a:ext>
            </a:extLst>
          </p:cNvPr>
          <p:cNvSpPr txBox="1"/>
          <p:nvPr/>
        </p:nvSpPr>
        <p:spPr>
          <a:xfrm>
            <a:off x="526155" y="1329082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C3903-60D0-B040-8D66-9646EC12AC88}"/>
              </a:ext>
            </a:extLst>
          </p:cNvPr>
          <p:cNvSpPr txBox="1"/>
          <p:nvPr/>
        </p:nvSpPr>
        <p:spPr>
          <a:xfrm>
            <a:off x="502920" y="1599925"/>
            <a:ext cx="10972800" cy="53245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 : Resize &amp; Save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3BD97C-49E2-DE40-958F-6665BF65543D}"/>
              </a:ext>
            </a:extLst>
          </p:cNvPr>
          <p:cNvSpPr/>
          <p:nvPr/>
        </p:nvSpPr>
        <p:spPr>
          <a:xfrm>
            <a:off x="329784" y="2625552"/>
            <a:ext cx="6690360" cy="3473221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E2EF36-F735-592E-B777-6F113ED8274A}"/>
              </a:ext>
            </a:extLst>
          </p:cNvPr>
          <p:cNvSpPr txBox="1"/>
          <p:nvPr/>
        </p:nvSpPr>
        <p:spPr>
          <a:xfrm>
            <a:off x="710784" y="2825352"/>
            <a:ext cx="63550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1B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IN" sz="1600" b="1" i="0" dirty="0">
                <a:solidFill>
                  <a:srgbClr val="1B9E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sz="1600" b="1" i="0" dirty="0">
              <a:solidFill>
                <a:srgbClr val="1B9E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060862-000C-8C34-2FF0-A046B9070C04}"/>
              </a:ext>
            </a:extLst>
          </p:cNvPr>
          <p:cNvSpPr txBox="1"/>
          <p:nvPr/>
        </p:nvSpPr>
        <p:spPr>
          <a:xfrm>
            <a:off x="1489871" y="2855964"/>
            <a:ext cx="5961889" cy="2763834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resized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img.resize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((400, 300))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("resized.jpg")
print("Original:",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img.size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print("Resized:",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resized.size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resized.show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58F431CE-1590-5DE6-38D5-2DF9E034F7E5}"/>
              </a:ext>
            </a:extLst>
          </p:cNvPr>
          <p:cNvSpPr/>
          <p:nvPr/>
        </p:nvSpPr>
        <p:spPr>
          <a:xfrm>
            <a:off x="7248744" y="2625552"/>
            <a:ext cx="4226976" cy="3473221"/>
          </a:xfrm>
          <a:prstGeom prst="roundRect">
            <a:avLst/>
          </a:prstGeom>
          <a:solidFill>
            <a:srgbClr val="EFF2FF"/>
          </a:solidFill>
          <a:ln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869D27-43CD-ABA1-CEC4-90419FF95DD5}"/>
              </a:ext>
            </a:extLst>
          </p:cNvPr>
          <p:cNvSpPr txBox="1"/>
          <p:nvPr/>
        </p:nvSpPr>
        <p:spPr>
          <a:xfrm>
            <a:off x="7909560" y="3126973"/>
            <a:ext cx="33832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 THIS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BE6275-C99D-5B64-D3F0-D1D51B893AFD}"/>
              </a:ext>
            </a:extLst>
          </p:cNvPr>
          <p:cNvSpPr txBox="1"/>
          <p:nvPr/>
        </p:nvSpPr>
        <p:spPr>
          <a:xfrm>
            <a:off x="7909560" y="3629893"/>
            <a:ext cx="3337560" cy="128650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Change (400, 300)
2. Run again
3. Compare the new size
4. Open resized.jpg
</a:t>
            </a:r>
          </a:p>
        </p:txBody>
      </p:sp>
    </p:spTree>
    <p:extLst>
      <p:ext uri="{BB962C8B-B14F-4D97-AF65-F5344CB8AC3E}">
        <p14:creationId xmlns:p14="http://schemas.microsoft.com/office/powerpoint/2010/main" val="1126669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C580E4-C695-AE0A-E525-B9926C5346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E8B96-3DC0-1562-F990-31900FE29400}"/>
              </a:ext>
            </a:extLst>
          </p:cNvPr>
          <p:cNvSpPr txBox="1"/>
          <p:nvPr/>
        </p:nvSpPr>
        <p:spPr>
          <a:xfrm>
            <a:off x="1900428" y="961302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99F94-21C3-F35F-18E1-953E6B7B18F4}"/>
              </a:ext>
            </a:extLst>
          </p:cNvPr>
          <p:cNvSpPr txBox="1"/>
          <p:nvPr/>
        </p:nvSpPr>
        <p:spPr>
          <a:xfrm>
            <a:off x="731520" y="1165431"/>
            <a:ext cx="10972800" cy="53245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</a:t>
            </a:r>
            <a:r>
              <a:rPr lang="en-IN" sz="3100" b="1" i="0" dirty="0">
                <a:solidFill>
                  <a:srgbClr val="19191B"/>
                </a:solidFill>
                <a:latin typeface="Georgia"/>
              </a:rPr>
              <a:t> </a:t>
            </a:r>
            <a:r>
              <a:rPr sz="3100" b="1" i="0" dirty="0">
                <a:solidFill>
                  <a:srgbClr val="19191B"/>
                </a:solidFill>
                <a:latin typeface="Georgia"/>
              </a:rPr>
              <a:t>: Crop, Rotate &amp; Flip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299F359-0274-FC36-3D42-72957A42F0BA}"/>
              </a:ext>
            </a:extLst>
          </p:cNvPr>
          <p:cNvSpPr/>
          <p:nvPr/>
        </p:nvSpPr>
        <p:spPr>
          <a:xfrm>
            <a:off x="365759" y="1835300"/>
            <a:ext cx="10787149" cy="4392599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28DF2E-B8CF-1716-1FDF-2F242744993A}"/>
              </a:ext>
            </a:extLst>
          </p:cNvPr>
          <p:cNvSpPr txBox="1"/>
          <p:nvPr/>
        </p:nvSpPr>
        <p:spPr>
          <a:xfrm>
            <a:off x="871728" y="2007476"/>
            <a:ext cx="6629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IN" sz="160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endParaRPr sz="1600" b="1" i="0" dirty="0">
              <a:solidFill>
                <a:srgbClr val="EE56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3674A-7010-42B1-00CB-DB840B792A2A}"/>
              </a:ext>
            </a:extLst>
          </p:cNvPr>
          <p:cNvSpPr txBox="1"/>
          <p:nvPr/>
        </p:nvSpPr>
        <p:spPr>
          <a:xfrm>
            <a:off x="1874520" y="2007476"/>
            <a:ext cx="6629400" cy="39949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cropped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img.crop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((100, 60, 700, 400))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cropped.save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("cropped.jpg")
rotated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img.rotate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(90, expand=True)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("rotated.jpg")
flipped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img.transpose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Image.Transpose.FLIP_LEFT_RIGHT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flipped.save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("flipped.jpg")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cropped.show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flipped.show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99B668-6794-F7EF-E7FC-D477F0BA5719}"/>
              </a:ext>
            </a:extLst>
          </p:cNvPr>
          <p:cNvSpPr txBox="1"/>
          <p:nvPr/>
        </p:nvSpPr>
        <p:spPr>
          <a:xfrm>
            <a:off x="8119872" y="2471135"/>
            <a:ext cx="320040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rgbClr val="EE5623"/>
                </a:solidFill>
                <a:latin typeface="Aptos"/>
              </a:rPr>
              <a:t>EXPERIMENT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40D613-6055-1AA3-6C36-639ED012D9FD}"/>
              </a:ext>
            </a:extLst>
          </p:cNvPr>
          <p:cNvSpPr txBox="1"/>
          <p:nvPr/>
        </p:nvSpPr>
        <p:spPr>
          <a:xfrm>
            <a:off x="8119872" y="2958020"/>
            <a:ext cx="3154680" cy="153272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 box:
(100, 60, 700, 400)
Rotation: 90 → 45 → 180
Try FLIP_TOP_BOTTOM too.</a:t>
            </a:r>
          </a:p>
        </p:txBody>
      </p:sp>
    </p:spTree>
    <p:extLst>
      <p:ext uri="{BB962C8B-B14F-4D97-AF65-F5344CB8AC3E}">
        <p14:creationId xmlns:p14="http://schemas.microsoft.com/office/powerpoint/2010/main" val="178927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3F9577-0010-A0AB-5801-769E878C20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E069B3-271E-C3AE-6B15-99C74867D5B6}"/>
              </a:ext>
            </a:extLst>
          </p:cNvPr>
          <p:cNvSpPr txBox="1"/>
          <p:nvPr/>
        </p:nvSpPr>
        <p:spPr>
          <a:xfrm>
            <a:off x="1645920" y="999781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A95B0-3999-BC22-39CA-4DCFBA1806DF}"/>
              </a:ext>
            </a:extLst>
          </p:cNvPr>
          <p:cNvSpPr txBox="1"/>
          <p:nvPr/>
        </p:nvSpPr>
        <p:spPr>
          <a:xfrm>
            <a:off x="731520" y="1305117"/>
            <a:ext cx="10972800" cy="53245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 : Grayscale &amp; Enhancement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98E68A-88DD-8C7F-9D95-30AD344FD564}"/>
              </a:ext>
            </a:extLst>
          </p:cNvPr>
          <p:cNvSpPr/>
          <p:nvPr/>
        </p:nvSpPr>
        <p:spPr>
          <a:xfrm>
            <a:off x="422148" y="1902437"/>
            <a:ext cx="6758141" cy="4290548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3816D8-C8C2-B845-74F0-7B22F864343F}"/>
              </a:ext>
            </a:extLst>
          </p:cNvPr>
          <p:cNvSpPr txBox="1"/>
          <p:nvPr/>
        </p:nvSpPr>
        <p:spPr>
          <a:xfrm>
            <a:off x="871728" y="2060425"/>
            <a:ext cx="6629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714C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1600" b="1" dirty="0">
                <a:solidFill>
                  <a:srgbClr val="714C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sz="1600" b="1" i="0" dirty="0">
              <a:solidFill>
                <a:srgbClr val="714CB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5E860-9EEC-D8E2-5E20-9E3DF86AEA24}"/>
              </a:ext>
            </a:extLst>
          </p:cNvPr>
          <p:cNvSpPr txBox="1"/>
          <p:nvPr/>
        </p:nvSpPr>
        <p:spPr>
          <a:xfrm>
            <a:off x="1559052" y="2085316"/>
            <a:ext cx="5621237" cy="399494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ImageEnhance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gray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img.convert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("L")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("gray.jpg")
bright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ImageEnhance.Brightness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).enhance(1.5)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bright.save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("bright.jpg")
contrast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ImageEnhance.Contrast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).enhance(1.5)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("contrast.jpg")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bright.show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contrast.show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95FF495E-7D78-12DD-50D9-439221742FA4}"/>
              </a:ext>
            </a:extLst>
          </p:cNvPr>
          <p:cNvSpPr/>
          <p:nvPr/>
        </p:nvSpPr>
        <p:spPr>
          <a:xfrm>
            <a:off x="7439335" y="2085316"/>
            <a:ext cx="3840480" cy="3794760"/>
          </a:xfrm>
          <a:prstGeom prst="roundRect">
            <a:avLst/>
          </a:prstGeom>
          <a:solidFill>
            <a:srgbClr val="F7F3FD"/>
          </a:solidFill>
          <a:ln>
            <a:solidFill>
              <a:srgbClr val="F7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D052A2-BA91-39BA-DFBC-CBB2CF927979}"/>
              </a:ext>
            </a:extLst>
          </p:cNvPr>
          <p:cNvSpPr txBox="1"/>
          <p:nvPr/>
        </p:nvSpPr>
        <p:spPr>
          <a:xfrm>
            <a:off x="8009035" y="2564482"/>
            <a:ext cx="3200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714C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 VALUES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06E2BD-6339-02FF-6685-7E9C08B8C133}"/>
              </a:ext>
            </a:extLst>
          </p:cNvPr>
          <p:cNvSpPr txBox="1"/>
          <p:nvPr/>
        </p:nvSpPr>
        <p:spPr>
          <a:xfrm>
            <a:off x="8054755" y="3093221"/>
            <a:ext cx="3154680" cy="177894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Brightness:
1.5 → 0.5 → 2.0
Contrast:
1.5 → 0.8 → 2.0
Observe the output.</a:t>
            </a:r>
          </a:p>
        </p:txBody>
      </p:sp>
    </p:spTree>
    <p:extLst>
      <p:ext uri="{BB962C8B-B14F-4D97-AF65-F5344CB8AC3E}">
        <p14:creationId xmlns:p14="http://schemas.microsoft.com/office/powerpoint/2010/main" val="3582898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147A9-998E-D489-2300-E148CFFFD6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F6948-F5B1-9B81-0543-3907DC9276A1}"/>
              </a:ext>
            </a:extLst>
          </p:cNvPr>
          <p:cNvSpPr txBox="1"/>
          <p:nvPr/>
        </p:nvSpPr>
        <p:spPr>
          <a:xfrm>
            <a:off x="1524000" y="1166628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508DB-55D3-B8E5-7B96-8404329D72D6}"/>
              </a:ext>
            </a:extLst>
          </p:cNvPr>
          <p:cNvSpPr txBox="1"/>
          <p:nvPr/>
        </p:nvSpPr>
        <p:spPr>
          <a:xfrm>
            <a:off x="763385" y="1530650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 5: Blur &amp; Sharpen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B7CF52-7FBF-E406-59C9-913842E31DE0}"/>
              </a:ext>
            </a:extLst>
          </p:cNvPr>
          <p:cNvSpPr/>
          <p:nvPr/>
        </p:nvSpPr>
        <p:spPr>
          <a:xfrm>
            <a:off x="548640" y="2326178"/>
            <a:ext cx="10927080" cy="3894513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7C3C7C-EC45-7C1E-DFAC-C32BC4F1A03F}"/>
              </a:ext>
            </a:extLst>
          </p:cNvPr>
          <p:cNvSpPr txBox="1"/>
          <p:nvPr/>
        </p:nvSpPr>
        <p:spPr>
          <a:xfrm>
            <a:off x="1078992" y="2541126"/>
            <a:ext cx="6629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00" b="1" i="0" dirty="0">
              <a:solidFill>
                <a:srgbClr val="3C52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1CAE5-7D77-647C-CC79-D84C97F186A6}"/>
              </a:ext>
            </a:extLst>
          </p:cNvPr>
          <p:cNvSpPr txBox="1"/>
          <p:nvPr/>
        </p:nvSpPr>
        <p:spPr>
          <a:xfrm>
            <a:off x="1903451" y="2541126"/>
            <a:ext cx="4917074" cy="3502497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ImageFilter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blurred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img.filter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
   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ImageFilter.GaussianBlur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(radius=3)
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blurred.save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("blurred.jpg")
sharpened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img.filter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ImageFilter.SHARPEN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sharpened.save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("sharpened.jpg")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blurred.show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sharpened.show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85798-9066-88DC-694E-D566EA815849}"/>
              </a:ext>
            </a:extLst>
          </p:cNvPr>
          <p:cNvSpPr txBox="1"/>
          <p:nvPr/>
        </p:nvSpPr>
        <p:spPr>
          <a:xfrm>
            <a:off x="8030926" y="2862440"/>
            <a:ext cx="3200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E4BD74-6276-9E4D-408E-6FE56B806DAF}"/>
              </a:ext>
            </a:extLst>
          </p:cNvPr>
          <p:cNvSpPr txBox="1"/>
          <p:nvPr/>
        </p:nvSpPr>
        <p:spPr>
          <a:xfrm>
            <a:off x="8076646" y="3405130"/>
            <a:ext cx="3154680" cy="227139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the radius:
1 → 3 → 8
What happens as the radius increases?
Then compare BLUR with SHARPEN.</a:t>
            </a:r>
          </a:p>
        </p:txBody>
      </p:sp>
    </p:spTree>
    <p:extLst>
      <p:ext uri="{BB962C8B-B14F-4D97-AF65-F5344CB8AC3E}">
        <p14:creationId xmlns:p14="http://schemas.microsoft.com/office/powerpoint/2010/main" val="1318738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D0E0C7-B825-02CE-54DC-E51E3B2F2C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19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148BB-A051-F79E-7208-D4023D68BDD5}"/>
              </a:ext>
            </a:extLst>
          </p:cNvPr>
          <p:cNvSpPr txBox="1"/>
          <p:nvPr/>
        </p:nvSpPr>
        <p:spPr>
          <a:xfrm>
            <a:off x="1524000" y="1166718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20BD4-6423-0992-E8E5-1F3838DE2D1D}"/>
              </a:ext>
            </a:extLst>
          </p:cNvPr>
          <p:cNvSpPr txBox="1"/>
          <p:nvPr/>
        </p:nvSpPr>
        <p:spPr>
          <a:xfrm>
            <a:off x="609600" y="1590596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Hands-on 6: Edge Detection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E0285A-974D-E6CE-EE49-756F146759F8}"/>
              </a:ext>
            </a:extLst>
          </p:cNvPr>
          <p:cNvSpPr/>
          <p:nvPr/>
        </p:nvSpPr>
        <p:spPr>
          <a:xfrm>
            <a:off x="324612" y="2422701"/>
            <a:ext cx="6629400" cy="3493190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640659-C518-F6FC-5322-91478FEC4284}"/>
              </a:ext>
            </a:extLst>
          </p:cNvPr>
          <p:cNvSpPr txBox="1"/>
          <p:nvPr/>
        </p:nvSpPr>
        <p:spPr>
          <a:xfrm>
            <a:off x="850392" y="2758855"/>
            <a:ext cx="66294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 </a:t>
            </a:r>
            <a:r>
              <a:rPr lang="en-IN" sz="160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00" b="1" i="0" dirty="0">
              <a:solidFill>
                <a:srgbClr val="EE562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C5B796-13AD-FCF4-5F72-8B1B85B27E98}"/>
              </a:ext>
            </a:extLst>
          </p:cNvPr>
          <p:cNvSpPr txBox="1"/>
          <p:nvPr/>
        </p:nvSpPr>
        <p:spPr>
          <a:xfrm>
            <a:off x="1685269" y="2794082"/>
            <a:ext cx="4595610" cy="202517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ImageFilter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edges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img.filter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ImageFilter.FIND_EDGES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edges.save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("edges.jpg")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edges.show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22B65682-F08B-42F4-7DCF-577F42C66B28}"/>
              </a:ext>
            </a:extLst>
          </p:cNvPr>
          <p:cNvSpPr/>
          <p:nvPr/>
        </p:nvSpPr>
        <p:spPr>
          <a:xfrm>
            <a:off x="7388352" y="2511835"/>
            <a:ext cx="4194048" cy="3493190"/>
          </a:xfrm>
          <a:prstGeom prst="roundRect">
            <a:avLst/>
          </a:prstGeom>
          <a:solidFill>
            <a:srgbClr val="FDF7F2"/>
          </a:solidFill>
          <a:ln>
            <a:solidFill>
              <a:srgbClr val="FD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C47C38-635A-12B2-7A51-F8B54176ABBF}"/>
              </a:ext>
            </a:extLst>
          </p:cNvPr>
          <p:cNvSpPr txBox="1"/>
          <p:nvPr/>
        </p:nvSpPr>
        <p:spPr>
          <a:xfrm>
            <a:off x="8119872" y="2786156"/>
            <a:ext cx="2766076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EE56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TO LOOK FOR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94EB54-8C37-7214-5EC4-372FC254BF1B}"/>
              </a:ext>
            </a:extLst>
          </p:cNvPr>
          <p:cNvSpPr txBox="1"/>
          <p:nvPr/>
        </p:nvSpPr>
        <p:spPr>
          <a:xfrm>
            <a:off x="7634731" y="3396630"/>
            <a:ext cx="3594101" cy="202517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 appear where image intensity changes rapidly.
Try the same image after converting to grayscale.
Next: OpenCV will give us more advanced computer-vision tools.</a:t>
            </a:r>
          </a:p>
        </p:txBody>
      </p:sp>
    </p:spTree>
    <p:extLst>
      <p:ext uri="{BB962C8B-B14F-4D97-AF65-F5344CB8AC3E}">
        <p14:creationId xmlns:p14="http://schemas.microsoft.com/office/powerpoint/2010/main" val="745570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C447D7-CAEB-BD69-D0DA-56BA54CD080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20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35E98A5-B5FD-2AF5-FC6F-2ADDEF3DB6D5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Merging Two Images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8904CF7-F69C-1181-A5DE-108D77B4608D}"/>
              </a:ext>
            </a:extLst>
          </p:cNvPr>
          <p:cNvSpPr/>
          <p:nvPr/>
        </p:nvSpPr>
        <p:spPr>
          <a:xfrm>
            <a:off x="426720" y="188477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BBB6284-0A96-DBDF-C605-C16CD71C2134}"/>
              </a:ext>
            </a:extLst>
          </p:cNvPr>
          <p:cNvSpPr/>
          <p:nvPr/>
        </p:nvSpPr>
        <p:spPr>
          <a:xfrm>
            <a:off x="590550" y="2033078"/>
            <a:ext cx="6309360" cy="4242390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B4A25BEF-855F-21B2-6160-6238F6B7871D}"/>
              </a:ext>
            </a:extLst>
          </p:cNvPr>
          <p:cNvSpPr/>
          <p:nvPr/>
        </p:nvSpPr>
        <p:spPr>
          <a:xfrm>
            <a:off x="876300" y="220487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390A050A-6397-AE2B-BAD9-398A8D496EA1}"/>
              </a:ext>
            </a:extLst>
          </p:cNvPr>
          <p:cNvSpPr/>
          <p:nvPr/>
        </p:nvSpPr>
        <p:spPr>
          <a:xfrm>
            <a:off x="876300" y="2663751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
img1 = Image.open("scatter.png")
img2 = Image.open("box.png")
h = min(img1.height, img2.height)
merged = Image.new("RGB", (img1.width+img2.width, h))
merged.paste(img1, (0,0)); merged.paste(img2, (img1.width,0))</a:t>
            </a:r>
            <a:endParaRPr lang="en-US" sz="14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223DB03-B4A1-6972-26BA-6D5B62A8A2B3}"/>
              </a:ext>
            </a:extLst>
          </p:cNvPr>
          <p:cNvSpPr/>
          <p:nvPr/>
        </p:nvSpPr>
        <p:spPr>
          <a:xfrm>
            <a:off x="830580" y="465762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OUTPUT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0CCF7AC2-6872-9111-F1C3-10A21C286586}"/>
              </a:ext>
            </a:extLst>
          </p:cNvPr>
          <p:cNvSpPr/>
          <p:nvPr/>
        </p:nvSpPr>
        <p:spPr>
          <a:xfrm>
            <a:off x="937260" y="5155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img1: 602 x 649
img2: 540 x 648
merged: 1141 x 648</a:t>
            </a:r>
            <a:endParaRPr lang="en-US" sz="14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2D4BDA3-D02D-FFA0-22E8-5EC36162B8BB}"/>
              </a:ext>
            </a:extLst>
          </p:cNvPr>
          <p:cNvSpPr/>
          <p:nvPr/>
        </p:nvSpPr>
        <p:spPr>
          <a:xfrm>
            <a:off x="548640" y="5942213"/>
            <a:ext cx="6537960" cy="53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9DB865DC-45A8-9611-C88A-1D321DEC0487}"/>
              </a:ext>
            </a:extLst>
          </p:cNvPr>
          <p:cNvSpPr/>
          <p:nvPr/>
        </p:nvSpPr>
        <p:spPr>
          <a:xfrm>
            <a:off x="7208520" y="2033078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1F97E36-2EC6-96B7-F850-1DB3C7230E7C}"/>
              </a:ext>
            </a:extLst>
          </p:cNvPr>
          <p:cNvSpPr/>
          <p:nvPr/>
        </p:nvSpPr>
        <p:spPr>
          <a:xfrm>
            <a:off x="7452360" y="2129165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RENDER</a:t>
            </a:r>
            <a:endParaRPr lang="en-US" sz="1000" dirty="0"/>
          </a:p>
        </p:txBody>
      </p:sp>
      <p:pic>
        <p:nvPicPr>
          <p:cNvPr id="28" name="Image 0" descr="Two real deck plots (scatter, box) merged side by side with Pillow">
            <a:extLst>
              <a:ext uri="{FF2B5EF4-FFF2-40B4-BE49-F238E27FC236}">
                <a16:creationId xmlns:a16="http://schemas.microsoft.com/office/drawing/2014/main" id="{DA95661F-12D0-A4A9-B599-4F0275EC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740" y="3397262"/>
            <a:ext cx="3200400" cy="1817580"/>
          </a:xfrm>
          <a:prstGeom prst="rect">
            <a:avLst/>
          </a:prstGeom>
        </p:spPr>
      </p:pic>
      <p:sp>
        <p:nvSpPr>
          <p:cNvPr id="30" name="Shape 13">
            <a:extLst>
              <a:ext uri="{FF2B5EF4-FFF2-40B4-BE49-F238E27FC236}">
                <a16:creationId xmlns:a16="http://schemas.microsoft.com/office/drawing/2014/main" id="{54B84B15-DB14-353C-30BA-E524FC6EA16E}"/>
              </a:ext>
            </a:extLst>
          </p:cNvPr>
          <p:cNvSpPr/>
          <p:nvPr/>
        </p:nvSpPr>
        <p:spPr>
          <a:xfrm>
            <a:off x="7825740" y="2663751"/>
            <a:ext cx="3200400" cy="3200400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1EC5BFA5-1614-1A77-A222-1B0CA3E2EEE1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scatter.png + box.png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two real plots from this deck, joined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9562FD-445C-D409-ADF1-3CECC18751EB}"/>
              </a:ext>
            </a:extLst>
          </p:cNvPr>
          <p:cNvSpPr txBox="1"/>
          <p:nvPr/>
        </p:nvSpPr>
        <p:spPr>
          <a:xfrm>
            <a:off x="1759527" y="1114841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HANDS-ON BASICS</a:t>
            </a:r>
          </a:p>
        </p:txBody>
      </p:sp>
    </p:spTree>
    <p:extLst>
      <p:ext uri="{BB962C8B-B14F-4D97-AF65-F5344CB8AC3E}">
        <p14:creationId xmlns:p14="http://schemas.microsoft.com/office/powerpoint/2010/main" val="606368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3174B-9B12-B56C-87FC-9652B30B0ED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B4FB1FA-D5A9-22B5-2CCE-F644B82FC33A}"/>
              </a:ext>
            </a:extLst>
          </p:cNvPr>
          <p:cNvSpPr/>
          <p:nvPr/>
        </p:nvSpPr>
        <p:spPr>
          <a:xfrm>
            <a:off x="1311747" y="111037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B  · 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D787E00-4D73-52FA-6D67-EE078ABFDE2D}"/>
              </a:ext>
            </a:extLst>
          </p:cNvPr>
          <p:cNvSpPr/>
          <p:nvPr/>
        </p:nvSpPr>
        <p:spPr>
          <a:xfrm>
            <a:off x="580366" y="134234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3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6078F3A-7054-7A35-E92A-95BCFF14DCFE}"/>
              </a:ext>
            </a:extLst>
          </p:cNvPr>
          <p:cNvSpPr/>
          <p:nvPr/>
        </p:nvSpPr>
        <p:spPr>
          <a:xfrm>
            <a:off x="537555" y="18315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array engine underneath every image — not image-specific, but foundational.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9745B3A-BF1C-82BB-048E-EC57BBFDC356}"/>
              </a:ext>
            </a:extLst>
          </p:cNvPr>
          <p:cNvSpPr/>
          <p:nvPr/>
        </p:nvSpPr>
        <p:spPr>
          <a:xfrm>
            <a:off x="507075" y="2341435"/>
            <a:ext cx="10903530" cy="2606040"/>
          </a:xfrm>
          <a:prstGeom prst="roundRect">
            <a:avLst>
              <a:gd name="adj" fmla="val 3137"/>
            </a:avLst>
          </a:prstGeom>
          <a:solidFill>
            <a:srgbClr val="F7F6F1"/>
          </a:solidFill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927CC12-BCBB-ADC0-1C82-E7C2EFCF2119}"/>
              </a:ext>
            </a:extLst>
          </p:cNvPr>
          <p:cNvSpPr/>
          <p:nvPr/>
        </p:nvSpPr>
        <p:spPr>
          <a:xfrm>
            <a:off x="781395" y="254260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D9E75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FEA6345-16D1-F6FB-D041-F046708DEAC8}"/>
              </a:ext>
            </a:extLst>
          </p:cNvPr>
          <p:cNvSpPr/>
          <p:nvPr/>
        </p:nvSpPr>
        <p:spPr>
          <a:xfrm>
            <a:off x="781395" y="2869389"/>
            <a:ext cx="326935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Represents images as multi-dimensional arrays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Enables fast, vectorized math on pixel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Supports slicing, indexing, and reshaping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Forms the data structure every other library builds 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50B0B64-666B-97E0-B478-7CFC3F65D50F}"/>
              </a:ext>
            </a:extLst>
          </p:cNvPr>
          <p:cNvSpPr/>
          <p:nvPr/>
        </p:nvSpPr>
        <p:spPr>
          <a:xfrm>
            <a:off x="4713315" y="2542603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D85A3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955CEA7F-2BB7-D2A4-7D85-850C08C993CC}"/>
              </a:ext>
            </a:extLst>
          </p:cNvPr>
          <p:cNvSpPr/>
          <p:nvPr/>
        </p:nvSpPr>
        <p:spPr>
          <a:xfrm>
            <a:off x="4576155" y="2752915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Every image library ultimately returns a NumPy array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Pixel-level operations run in optimized C, not Python loops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Foundation for OpenCV, scikit-image, Matplotlib, and more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One consistent interface across the whole ecosystem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8C2EE7F-787B-7C72-9D97-76A33B395536}"/>
              </a:ext>
            </a:extLst>
          </p:cNvPr>
          <p:cNvSpPr/>
          <p:nvPr/>
        </p:nvSpPr>
        <p:spPr>
          <a:xfrm>
            <a:off x="8626947" y="2542603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E8A93B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HOW TO IMPORT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FD0BC3BB-86BA-B1E4-C3B4-4F43C1E9A4B4}"/>
              </a:ext>
            </a:extLst>
          </p:cNvPr>
          <p:cNvSpPr/>
          <p:nvPr/>
        </p:nvSpPr>
        <p:spPr>
          <a:xfrm>
            <a:off x="8626947" y="2999803"/>
            <a:ext cx="26883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# pip install 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numpy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
import 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numpy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as np
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np.array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img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
print(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arr.shape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arr.dtype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E14C05DC-0D66-2EDD-E30E-A6BA16727AA5}"/>
              </a:ext>
            </a:extLst>
          </p:cNvPr>
          <p:cNvSpPr/>
          <p:nvPr/>
        </p:nvSpPr>
        <p:spPr>
          <a:xfrm>
            <a:off x="507075" y="5116671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204CCA8C-8B98-150B-CCE0-3F760E95BAC4}"/>
              </a:ext>
            </a:extLst>
          </p:cNvPr>
          <p:cNvSpPr/>
          <p:nvPr/>
        </p:nvSpPr>
        <p:spPr>
          <a:xfrm>
            <a:off x="781395" y="5116671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3B4FE4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Note: 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NumPy itself doesn't open image files — it works on the array once </a:t>
            </a: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Pillow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or </a:t>
            </a:r>
            <a:r>
              <a:rPr lang="en-US" b="1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OpenCV</a:t>
            </a: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has loaded 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D2F2431-8EC5-9DFF-E6E5-05927DEE3FA1}"/>
              </a:ext>
            </a:extLst>
          </p:cNvPr>
          <p:cNvSpPr/>
          <p:nvPr/>
        </p:nvSpPr>
        <p:spPr>
          <a:xfrm>
            <a:off x="689955" y="5955331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Every library on this list either produces or consumes a NumPy array — that's the thread tying the whole session together.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39142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7892F-5273-A25B-D8DC-B3D71C7F0D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01662"/>
            <a:ext cx="457200" cy="292608"/>
          </a:xfrm>
        </p:spPr>
        <p:txBody>
          <a:bodyPr/>
          <a:lstStyle/>
          <a:p>
            <a:pPr algn="r"/>
            <a:r>
              <a:rPr lang="en-US" dirty="0"/>
              <a:t>22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6BBDD-3573-BE20-E3D9-418D294FC7D8}"/>
              </a:ext>
            </a:extLst>
          </p:cNvPr>
          <p:cNvSpPr txBox="1"/>
          <p:nvPr/>
        </p:nvSpPr>
        <p:spPr>
          <a:xfrm>
            <a:off x="731520" y="1254671"/>
            <a:ext cx="1097280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3100" b="1" i="0" dirty="0">
                <a:solidFill>
                  <a:srgbClr val="19191B"/>
                </a:solidFill>
                <a:latin typeface="Georgia"/>
              </a:rPr>
              <a:t>From Pillow Image → NumPy Array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C67D1-CEAA-410E-F358-8ACB61C98BF5}"/>
              </a:ext>
            </a:extLst>
          </p:cNvPr>
          <p:cNvSpPr txBox="1"/>
          <p:nvPr/>
        </p:nvSpPr>
        <p:spPr>
          <a:xfrm>
            <a:off x="718428" y="1750412"/>
            <a:ext cx="1097280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Aptos"/>
              </a:rPr>
              <a:t>Connect the Image object to the numerical representation used by many other libraries.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1E62721F-CA17-D73A-F56C-2239662B4907}"/>
              </a:ext>
            </a:extLst>
          </p:cNvPr>
          <p:cNvSpPr/>
          <p:nvPr/>
        </p:nvSpPr>
        <p:spPr>
          <a:xfrm>
            <a:off x="506180" y="2194282"/>
            <a:ext cx="10878099" cy="3246120"/>
          </a:xfrm>
          <a:prstGeom prst="roundRect">
            <a:avLst/>
          </a:prstGeom>
          <a:solidFill>
            <a:srgbClr val="191A1E"/>
          </a:solidFill>
          <a:ln>
            <a:solidFill>
              <a:srgbClr val="191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28FD39-8149-E852-C631-65D0DB043AEA}"/>
              </a:ext>
            </a:extLst>
          </p:cNvPr>
          <p:cNvSpPr txBox="1"/>
          <p:nvPr/>
        </p:nvSpPr>
        <p:spPr>
          <a:xfrm>
            <a:off x="758952" y="2436061"/>
            <a:ext cx="63550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  <a:r>
              <a:rPr lang="en-IN"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sz="1600" b="1" i="0" dirty="0">
              <a:solidFill>
                <a:srgbClr val="3C52D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075764-1E27-5E9E-872C-B8DEEC3BDB0D}"/>
              </a:ext>
            </a:extLst>
          </p:cNvPr>
          <p:cNvSpPr txBox="1"/>
          <p:nvPr/>
        </p:nvSpPr>
        <p:spPr>
          <a:xfrm>
            <a:off x="1771987" y="2560597"/>
            <a:ext cx="4329009" cy="227139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PIL import Image
import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np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Image.open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("sample.jpg")
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print("Image size:",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img.size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print("Array shape:",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arr.shape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
print("Data type:", </a:t>
            </a:r>
            <a:r>
              <a:rPr sz="16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arr.dtype</a:t>
            </a:r>
            <a:r>
              <a:rPr sz="16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3D052D-D98B-AFDE-9D5D-22F4E01982C1}"/>
              </a:ext>
            </a:extLst>
          </p:cNvPr>
          <p:cNvSpPr txBox="1"/>
          <p:nvPr/>
        </p:nvSpPr>
        <p:spPr>
          <a:xfrm>
            <a:off x="7674100" y="2617668"/>
            <a:ext cx="3383280" cy="301621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1" i="0" dirty="0">
                <a:solidFill>
                  <a:srgbClr val="3C52D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THIS SHOWS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88D70-2A69-F9A5-9038-D85F732549EB}"/>
              </a:ext>
            </a:extLst>
          </p:cNvPr>
          <p:cNvSpPr txBox="1"/>
          <p:nvPr/>
        </p:nvSpPr>
        <p:spPr>
          <a:xfrm>
            <a:off x="7552944" y="3131566"/>
            <a:ext cx="3337560" cy="1778949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Pillow → opens the image file
NumPy → represents pixel data as numbers
shape → height × width × channels
</a:t>
            </a:r>
            <a:r>
              <a:rPr sz="1600" b="0" i="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dtype</a:t>
            </a:r>
            <a:r>
              <a:rPr sz="1600" b="0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how values are stored</a:t>
            </a:r>
          </a:p>
        </p:txBody>
      </p:sp>
      <p:sp>
        <p:nvSpPr>
          <p:cNvPr id="22" name="Rounded Rectangle 13">
            <a:extLst>
              <a:ext uri="{FF2B5EF4-FFF2-40B4-BE49-F238E27FC236}">
                <a16:creationId xmlns:a16="http://schemas.microsoft.com/office/drawing/2014/main" id="{AA94D910-D311-75D2-8911-D565832F2250}"/>
              </a:ext>
            </a:extLst>
          </p:cNvPr>
          <p:cNvSpPr/>
          <p:nvPr/>
        </p:nvSpPr>
        <p:spPr>
          <a:xfrm>
            <a:off x="320041" y="5701627"/>
            <a:ext cx="11183111" cy="731520"/>
          </a:xfrm>
          <a:prstGeom prst="roundRect">
            <a:avLst/>
          </a:prstGeom>
          <a:solidFill>
            <a:srgbClr val="EFF2FF"/>
          </a:solidFill>
          <a:ln>
            <a:solidFill>
              <a:srgbClr val="EF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55CD48-FD05-96AA-B133-589924224D27}"/>
              </a:ext>
            </a:extLst>
          </p:cNvPr>
          <p:cNvSpPr txBox="1"/>
          <p:nvPr/>
        </p:nvSpPr>
        <p:spPr>
          <a:xfrm>
            <a:off x="594360" y="5824561"/>
            <a:ext cx="10789920" cy="54784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600" b="0" i="0" dirty="0">
                <a:solidFill>
                  <a:srgbClr val="19191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Important: NumPy is NOT required for every image operation. Pillow can resize, crop, rotate, filter and save without importing NumPy.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3835C05-F53B-29C8-E7DE-2402E33DA164}"/>
              </a:ext>
            </a:extLst>
          </p:cNvPr>
          <p:cNvSpPr/>
          <p:nvPr/>
        </p:nvSpPr>
        <p:spPr>
          <a:xfrm>
            <a:off x="1311747" y="101137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B  ·  LIBRARY OVERVIEW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141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4DBA15-B669-C1FC-E735-0B5DB5F910C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23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DA9E3FA-92DF-402A-28E4-97A00C3F09B5}"/>
              </a:ext>
            </a:extLst>
          </p:cNvPr>
          <p:cNvSpPr/>
          <p:nvPr/>
        </p:nvSpPr>
        <p:spPr>
          <a:xfrm>
            <a:off x="1277389" y="111766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B  ·  HANDS ON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C6121DC-3681-1C39-D7D9-624C1B00525B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An Image Is Just a NumPy Array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95DCD41-8109-5EFF-D31D-D9CC41441397}"/>
              </a:ext>
            </a:extLst>
          </p:cNvPr>
          <p:cNvSpPr/>
          <p:nvPr/>
        </p:nvSpPr>
        <p:spPr>
          <a:xfrm>
            <a:off x="426720" y="188477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Three lines turn any image file into numbers you can inspect, slice, and compute on directly.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D30AF28-7B29-ED1E-F5CC-C1554B77BB74}"/>
              </a:ext>
            </a:extLst>
          </p:cNvPr>
          <p:cNvSpPr/>
          <p:nvPr/>
        </p:nvSpPr>
        <p:spPr>
          <a:xfrm>
            <a:off x="548640" y="235111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FA1F49A-4009-BB35-59FF-1FA4A1571187}"/>
              </a:ext>
            </a:extLst>
          </p:cNvPr>
          <p:cNvSpPr/>
          <p:nvPr/>
        </p:nvSpPr>
        <p:spPr>
          <a:xfrm>
            <a:off x="822960" y="255228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ARRAY</a:t>
            </a:r>
            <a:endParaRPr lang="en-US" sz="12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98AE6AE-0B91-3C93-0B3D-C609C01F03E8}"/>
              </a:ext>
            </a:extLst>
          </p:cNvPr>
          <p:cNvSpPr/>
          <p:nvPr/>
        </p:nvSpPr>
        <p:spPr>
          <a:xfrm>
            <a:off x="822960" y="2918047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
import numpy as np
img = Image.open("cells.jpg")
arr = np.array(img)
print(arr.shape)
print(arr.dtype)</a:t>
            </a:r>
            <a:endParaRPr lang="en-US" sz="135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D9AF030B-A793-577E-BC75-E4C5398834E1}"/>
              </a:ext>
            </a:extLst>
          </p:cNvPr>
          <p:cNvSpPr/>
          <p:nvPr/>
        </p:nvSpPr>
        <p:spPr>
          <a:xfrm>
            <a:off x="822960" y="497461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OUTPUT — VERIFIED</a:t>
            </a:r>
            <a:endParaRPr lang="en-US" sz="1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24395F7-E143-9447-2929-3E9DED0C8E2A}"/>
              </a:ext>
            </a:extLst>
          </p:cNvPr>
          <p:cNvSpPr/>
          <p:nvPr/>
        </p:nvSpPr>
        <p:spPr>
          <a:xfrm>
            <a:off x="822960" y="5285513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(512, 512, 3)
uint8</a:t>
            </a:r>
            <a:endParaRPr lang="en-US" sz="135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E845CDE-1B8E-0FBB-B66C-9A69463EA26D}"/>
              </a:ext>
            </a:extLst>
          </p:cNvPr>
          <p:cNvSpPr/>
          <p:nvPr/>
        </p:nvSpPr>
        <p:spPr>
          <a:xfrm>
            <a:off x="548640" y="5942213"/>
            <a:ext cx="6537960" cy="53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(height, width, channels)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— 512 rows, 512 columns, 3 color channels (R, G, B). </a:t>
            </a: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uint8</a:t>
            </a: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means each value is an integer from 0 to 255.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3F861FC7-2BC3-E034-2228-A884C409DFFB}"/>
              </a:ext>
            </a:extLst>
          </p:cNvPr>
          <p:cNvSpPr/>
          <p:nvPr/>
        </p:nvSpPr>
        <p:spPr>
          <a:xfrm>
            <a:off x="7208520" y="2033078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838A8422-1BA5-1D97-AAD1-B1367CE7C195}"/>
              </a:ext>
            </a:extLst>
          </p:cNvPr>
          <p:cNvSpPr/>
          <p:nvPr/>
        </p:nvSpPr>
        <p:spPr>
          <a:xfrm>
            <a:off x="7452360" y="214355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3B4FE4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ADAFDD40-2399-DBB3-73DC-F2177C30D30A}"/>
              </a:ext>
            </a:extLst>
          </p:cNvPr>
          <p:cNvSpPr/>
          <p:nvPr/>
        </p:nvSpPr>
        <p:spPr>
          <a:xfrm>
            <a:off x="7452360" y="2129165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IMAGE</a:t>
            </a:r>
            <a:endParaRPr lang="en-US" sz="1000" dirty="0"/>
          </a:p>
        </p:txBody>
      </p:sp>
      <p:pic>
        <p:nvPicPr>
          <p:cNvPr id="30" name="Image 0" descr="/home/claude/slide2/sample_bio.jpg">
            <a:extLst>
              <a:ext uri="{FF2B5EF4-FFF2-40B4-BE49-F238E27FC236}">
                <a16:creationId xmlns:a16="http://schemas.microsoft.com/office/drawing/2014/main" id="{154675F8-2B61-82F3-BE47-4A8C378E9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740" y="2678142"/>
            <a:ext cx="3200400" cy="3200400"/>
          </a:xfrm>
          <a:prstGeom prst="rect">
            <a:avLst/>
          </a:prstGeom>
        </p:spPr>
      </p:pic>
      <p:sp>
        <p:nvSpPr>
          <p:cNvPr id="32" name="Shape 13">
            <a:extLst>
              <a:ext uri="{FF2B5EF4-FFF2-40B4-BE49-F238E27FC236}">
                <a16:creationId xmlns:a16="http://schemas.microsoft.com/office/drawing/2014/main" id="{CA533B33-2C97-D530-9002-87D01E9839C4}"/>
              </a:ext>
            </a:extLst>
          </p:cNvPr>
          <p:cNvSpPr/>
          <p:nvPr/>
        </p:nvSpPr>
        <p:spPr>
          <a:xfrm>
            <a:off x="7825740" y="2663751"/>
            <a:ext cx="3200400" cy="3200400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DC378AA2-0A64-39D6-E1BB-F8241239A748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shape (512, 512, 3)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dtype uint8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1158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3BF9F9-A5C4-5EC5-6BA9-3EFFAD7567B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4FD32-0AB3-7C53-7E1D-72EA11A1D4E6}"/>
              </a:ext>
            </a:extLst>
          </p:cNvPr>
          <p:cNvSpPr txBox="1"/>
          <p:nvPr/>
        </p:nvSpPr>
        <p:spPr>
          <a:xfrm>
            <a:off x="696884" y="1380344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C  · 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VISUALIZATION</a:t>
            </a:r>
            <a:endParaRPr sz="1400" b="1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591CF370-14E8-93CA-C1AA-D9D827235139}"/>
              </a:ext>
            </a:extLst>
          </p:cNvPr>
          <p:cNvSpPr/>
          <p:nvPr/>
        </p:nvSpPr>
        <p:spPr>
          <a:xfrm>
            <a:off x="397764" y="2655914"/>
            <a:ext cx="11274552" cy="3017520"/>
          </a:xfrm>
          <a:prstGeom prst="roundRect">
            <a:avLst>
              <a:gd name="adj" fmla="val 1446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D36B5C-242A-2EF3-1DB7-88E00ACA7133}"/>
              </a:ext>
            </a:extLst>
          </p:cNvPr>
          <p:cNvSpPr/>
          <p:nvPr/>
        </p:nvSpPr>
        <p:spPr>
          <a:xfrm>
            <a:off x="822960" y="2975955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Wrong font for a journal — DejaVu Sans, not Helvetica/Arial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four spines boxed — visual clutter reviewers flag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 DPI by default — not print resolution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84DCA86-50ED-7942-95F8-EC6BE2CFF36E}"/>
              </a:ext>
            </a:extLst>
          </p:cNvPr>
          <p:cNvSpPr/>
          <p:nvPr/>
        </p:nvSpPr>
        <p:spPr>
          <a:xfrm>
            <a:off x="6263640" y="2975955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significance encoding — every point is the same color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automatic labeling of the genes/points that matter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2200"/>
              </a:spcAft>
              <a:buSzPct val="100000"/>
              <a:buChar char="•"/>
            </a:pPr>
            <a:r>
              <a:rPr lang="en-US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fix means hand-writing rcParams — and redoing it every figure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DF153363-5FD1-F6C9-881A-3261838C4783}"/>
              </a:ext>
            </a:extLst>
          </p:cNvPr>
          <p:cNvSpPr/>
          <p:nvPr/>
        </p:nvSpPr>
        <p:spPr>
          <a:xfrm>
            <a:off x="516775" y="1878257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Why Raw Plots Aren't Enough</a:t>
            </a:r>
            <a:endParaRPr lang="en-US" sz="32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075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6100F8-DFA8-367C-70A8-FEA8ABC64F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951BF0-D21A-C975-2787-2B67C01D4A52}"/>
              </a:ext>
            </a:extLst>
          </p:cNvPr>
          <p:cNvSpPr/>
          <p:nvPr/>
        </p:nvSpPr>
        <p:spPr>
          <a:xfrm>
            <a:off x="685800" y="11022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It's Not Just Matplotlib</a:t>
            </a:r>
            <a:endParaRPr lang="en-US" sz="3000" dirty="0">
              <a:latin typeface="Georgia" panose="02040502050405020303" pitchFamily="18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B2BF01A3-7B37-C2B3-C217-40E39CE2A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3861"/>
              </p:ext>
            </p:extLst>
          </p:nvPr>
        </p:nvGraphicFramePr>
        <p:xfrm>
          <a:off x="393191" y="1786762"/>
          <a:ext cx="11292841" cy="4673186"/>
        </p:xfrm>
        <a:graphic>
          <a:graphicData uri="http://schemas.openxmlformats.org/drawingml/2006/table">
            <a:tbl>
              <a:tblPr/>
              <a:tblGrid>
                <a:gridCol w="3691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04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04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Matplotlib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Seaborn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Plotly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cnsplots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font (Helvetica/Arial) by default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DejaVu Sans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DejaVu Sans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unset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verified fallback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2-spine axes by default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4 spines boxed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still boxed*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8860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●  different chrome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top/right removed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 DPI+ static export, no setup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8860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●  manual rcParams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8860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●  manual rcParams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needs Chrome install*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288 DPI default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Volcano / survival / ROC built in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all three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Clustered heatmap + dendrogram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none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clustermap()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density only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heatmapplot()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759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import fixes all of the above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no*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B23B3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✗  no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7A4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✓  yes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1D545F8-CA72-9BBE-2E12-E47E4F9AFEBC}"/>
              </a:ext>
            </a:extLst>
          </p:cNvPr>
          <p:cNvSpPr txBox="1"/>
          <p:nvPr/>
        </p:nvSpPr>
        <p:spPr>
          <a:xfrm>
            <a:off x="1999211" y="966778"/>
            <a:ext cx="4572000" cy="270843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 C  ·  </a:t>
            </a:r>
            <a:r>
              <a:rPr lang="en-IN" sz="1400" b="1" i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VISUALIZATION</a:t>
            </a:r>
            <a:endParaRPr sz="1400" b="1" i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264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900F76-74A0-C79F-06D3-B5755D4A31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D858769-6186-6DD6-6049-83C781D97E83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62F6832-9F0A-5728-0E28-8833E111B396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cnsplots</a:t>
            </a:r>
            <a:endParaRPr lang="en-US" sz="3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0EF1735-1A05-EE44-5E0E-8C341CA3BFA0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A matplotlib/seaborn wrapper with defaults styled for Cell, Nature, and Science.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B1B9275-DA69-1B92-56CF-1105AEB686F5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C8441B4-6345-9C58-294A-1CB913B6A956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IT DOES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89E017DC-39B2-D254-513D-E0E02B2FF3BA}"/>
              </a:ext>
            </a:extLst>
          </p:cNvPr>
          <p:cNvSpPr/>
          <p:nvPr/>
        </p:nvSpPr>
        <p:spPr>
          <a:xfrm>
            <a:off x="685800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Wraps matplotlib + seaborn with journal-ready defaults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30+ scientific plot types — volcano, GSEA, forest, survival, ROC, heatmap, phylo, upset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Exact pixel-based figure sizing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Exports PDF/SVG with editable, embedded fonts for Illustrator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0B35C82-2048-D216-D289-5816D4DDF8D5}"/>
              </a:ext>
            </a:extLst>
          </p:cNvPr>
          <p:cNvSpPr/>
          <p:nvPr/>
        </p:nvSpPr>
        <p:spPr>
          <a:xfrm>
            <a:off x="4530242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IT'S IMPORTANT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367A96E6-6B6C-E823-476E-A8731CD93663}"/>
              </a:ext>
            </a:extLst>
          </p:cNvPr>
          <p:cNvSpPr/>
          <p:nvPr/>
        </p:nvSpPr>
        <p:spPr>
          <a:xfrm>
            <a:off x="4530242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call replaces a page of rcParams tuning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Purpose-built for biology — direct scanpy integration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is submission-ready, not “close enough”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Still 100% matplotlib/seaborn — every ax. method still works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F9D45869-E81C-A168-2F82-0D8758B0CA4B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40F0F731-EEFF-A078-8FB3-66145AC611AD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IMPORT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429FCD54-03D5-4FFD-844A-5379D282D9DF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# pip install cnsplots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import cnsplots as cns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D863A04A-313D-8F78-9AC3-1CE2D41FF84B}"/>
              </a:ext>
            </a:extLst>
          </p:cNvPr>
          <p:cNvSpPr/>
          <p:nvPr/>
        </p:nvSpPr>
        <p:spPr>
          <a:xfrm>
            <a:off x="457200" y="587156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2B46A65-DBB0-60C4-4B48-7EDDDB892538}"/>
              </a:ext>
            </a:extLst>
          </p:cNvPr>
          <p:cNvSpPr/>
          <p:nvPr/>
        </p:nvSpPr>
        <p:spPr>
          <a:xfrm>
            <a:off x="685800" y="5871560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Note:  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in scanpy, lifelines, gseapy, biopython — a heavier install than Pillow, budget a minute. If a build fails on 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autograd-gamma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, run 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pip install "setuptools&lt;81" wheel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first.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707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024821-FFDE-64FC-73C8-EF8E9CD86B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27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25FD9E9-8F7D-86F8-7A92-A27570A7AE84}"/>
              </a:ext>
            </a:extLst>
          </p:cNvPr>
          <p:cNvSpPr/>
          <p:nvPr/>
        </p:nvSpPr>
        <p:spPr>
          <a:xfrm>
            <a:off x="1069848" y="111114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3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84F95FD-52A5-5A1F-DD6E-A0A143BD14FB}"/>
              </a:ext>
            </a:extLst>
          </p:cNvPr>
          <p:cNvSpPr/>
          <p:nvPr/>
        </p:nvSpPr>
        <p:spPr>
          <a:xfrm>
            <a:off x="624841" y="16230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A standard PyPI package. Installing it pulls in every backend it wraps — lazily, so nothing loads until you use it.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8AAB8A9-8749-5148-1F1E-6CE6DA65709D}"/>
              </a:ext>
            </a:extLst>
          </p:cNvPr>
          <p:cNvSpPr/>
          <p:nvPr/>
        </p:nvSpPr>
        <p:spPr>
          <a:xfrm>
            <a:off x="551412" y="235929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025076A-4A05-78EB-FE99-603252D3B1A1}"/>
              </a:ext>
            </a:extLst>
          </p:cNvPr>
          <p:cNvSpPr/>
          <p:nvPr/>
        </p:nvSpPr>
        <p:spPr>
          <a:xfrm>
            <a:off x="777240" y="24589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4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 INSTALL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16B58F4A-1211-BDEB-DF57-78D095C49693}"/>
              </a:ext>
            </a:extLst>
          </p:cNvPr>
          <p:cNvSpPr/>
          <p:nvPr/>
        </p:nvSpPr>
        <p:spPr>
          <a:xfrm>
            <a:off x="777240" y="27698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pip install cnsplots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3E568F00-48A0-8735-F743-82F3AAD24567}"/>
              </a:ext>
            </a:extLst>
          </p:cNvPr>
          <p:cNvSpPr/>
          <p:nvPr/>
        </p:nvSpPr>
        <p:spPr>
          <a:xfrm>
            <a:off x="533401" y="338342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3146649-000B-E7D5-C556-20736898CC6A}"/>
              </a:ext>
            </a:extLst>
          </p:cNvPr>
          <p:cNvSpPr/>
          <p:nvPr/>
        </p:nvSpPr>
        <p:spPr>
          <a:xfrm>
            <a:off x="777240" y="346475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4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7261B5A-9CA1-47B7-745A-30F405921225}"/>
              </a:ext>
            </a:extLst>
          </p:cNvPr>
          <p:cNvSpPr/>
          <p:nvPr/>
        </p:nvSpPr>
        <p:spPr>
          <a:xfrm>
            <a:off x="777240" y="3775648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python -c "import cnsplots as cns; \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  print(cns.__version__)"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# 0.6.0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D683761A-1914-7277-FDC8-972BED0C25AF}"/>
              </a:ext>
            </a:extLst>
          </p:cNvPr>
          <p:cNvSpPr/>
          <p:nvPr/>
        </p:nvSpPr>
        <p:spPr>
          <a:xfrm>
            <a:off x="533401" y="4882072"/>
            <a:ext cx="5394960" cy="1417320"/>
          </a:xfrm>
          <a:prstGeom prst="roundRect">
            <a:avLst>
              <a:gd name="adj" fmla="val 4211"/>
            </a:avLst>
          </a:prstGeom>
          <a:solidFill>
            <a:srgbClr val="141414"/>
          </a:solidFill>
          <a:ln/>
          <a:effectLst>
            <a:outerShdw blurRad="762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AB2676E4-E215-A93D-B041-A91A819A9F3F}"/>
              </a:ext>
            </a:extLst>
          </p:cNvPr>
          <p:cNvSpPr/>
          <p:nvPr/>
        </p:nvSpPr>
        <p:spPr>
          <a:xfrm>
            <a:off x="777240" y="5019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B4B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DEVELOPMENT INSTALL (uv-based)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8B2CB426-2B7B-5A94-21D2-69838F56F560}"/>
              </a:ext>
            </a:extLst>
          </p:cNvPr>
          <p:cNvSpPr/>
          <p:nvPr/>
        </p:nvSpPr>
        <p:spPr>
          <a:xfrm>
            <a:off x="762001" y="5319052"/>
            <a:ext cx="4937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git clone https://github.com/faridrashidi/cnsplots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cd cnsplots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EDEAE2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make install   # editable install, dev + docs extras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D9F518CF-AF9C-D1A9-3669-C0297A9A2D79}"/>
              </a:ext>
            </a:extLst>
          </p:cNvPr>
          <p:cNvSpPr/>
          <p:nvPr/>
        </p:nvSpPr>
        <p:spPr>
          <a:xfrm>
            <a:off x="62636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Installed automatically: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C9286C40-F7D3-6D29-7D10-8DFA4B3B5043}"/>
              </a:ext>
            </a:extLst>
          </p:cNvPr>
          <p:cNvSpPr/>
          <p:nvPr/>
        </p:nvSpPr>
        <p:spPr>
          <a:xfrm>
            <a:off x="6263640" y="2784766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DCD93802-24AF-F966-C8A7-B7A25F1B3F3F}"/>
              </a:ext>
            </a:extLst>
          </p:cNvPr>
          <p:cNvSpPr/>
          <p:nvPr/>
        </p:nvSpPr>
        <p:spPr>
          <a:xfrm>
            <a:off x="6409944" y="2931070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3A5A78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C6799A60-9035-D777-B0C7-8FEAE25EB8F8}"/>
              </a:ext>
            </a:extLst>
          </p:cNvPr>
          <p:cNvSpPr/>
          <p:nvPr/>
        </p:nvSpPr>
        <p:spPr>
          <a:xfrm>
            <a:off x="6647688" y="278476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matplotlib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B6A532FE-1ADE-4E4C-5ADF-671327021E04}"/>
              </a:ext>
            </a:extLst>
          </p:cNvPr>
          <p:cNvSpPr/>
          <p:nvPr/>
        </p:nvSpPr>
        <p:spPr>
          <a:xfrm>
            <a:off x="8046720" y="2784766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6B785176-83D8-8B1E-3426-54E0CECB0882}"/>
              </a:ext>
            </a:extLst>
          </p:cNvPr>
          <p:cNvSpPr/>
          <p:nvPr/>
        </p:nvSpPr>
        <p:spPr>
          <a:xfrm>
            <a:off x="8193024" y="2931070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C41E3A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0764B417-1C31-B2A1-33F6-3F3D4FABFDB3}"/>
              </a:ext>
            </a:extLst>
          </p:cNvPr>
          <p:cNvSpPr/>
          <p:nvPr/>
        </p:nvSpPr>
        <p:spPr>
          <a:xfrm>
            <a:off x="8430768" y="278476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seaborn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9C41B1BD-B68F-E8AB-F8AC-7A9D3DF7CE73}"/>
              </a:ext>
            </a:extLst>
          </p:cNvPr>
          <p:cNvSpPr/>
          <p:nvPr/>
        </p:nvSpPr>
        <p:spPr>
          <a:xfrm>
            <a:off x="9829800" y="2784766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BB913AB1-236C-6778-38B4-4404578DB8B6}"/>
              </a:ext>
            </a:extLst>
          </p:cNvPr>
          <p:cNvSpPr/>
          <p:nvPr/>
        </p:nvSpPr>
        <p:spPr>
          <a:xfrm>
            <a:off x="9976104" y="2931070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3A5A78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5E53FBE5-EF0B-24CC-349C-45BC419E992B}"/>
              </a:ext>
            </a:extLst>
          </p:cNvPr>
          <p:cNvSpPr/>
          <p:nvPr/>
        </p:nvSpPr>
        <p:spPr>
          <a:xfrm>
            <a:off x="10213848" y="278476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pandas / NumPy / SciPy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A33DB350-8B01-AA1F-EC44-C39749478424}"/>
              </a:ext>
            </a:extLst>
          </p:cNvPr>
          <p:cNvSpPr/>
          <p:nvPr/>
        </p:nvSpPr>
        <p:spPr>
          <a:xfrm>
            <a:off x="6263640" y="346142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1AA56BB2-0EE0-99B2-8017-DE4F7D000D56}"/>
              </a:ext>
            </a:extLst>
          </p:cNvPr>
          <p:cNvSpPr/>
          <p:nvPr/>
        </p:nvSpPr>
        <p:spPr>
          <a:xfrm>
            <a:off x="6409944" y="3607726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C41E3A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36C7970C-BA2C-B163-E2B2-BB3A9FFDA388}"/>
              </a:ext>
            </a:extLst>
          </p:cNvPr>
          <p:cNvSpPr/>
          <p:nvPr/>
        </p:nvSpPr>
        <p:spPr>
          <a:xfrm>
            <a:off x="6647688" y="346142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scanpy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1896A6B-99D6-4F7C-003E-7BF04FE573EF}"/>
              </a:ext>
            </a:extLst>
          </p:cNvPr>
          <p:cNvSpPr/>
          <p:nvPr/>
        </p:nvSpPr>
        <p:spPr>
          <a:xfrm>
            <a:off x="8046720" y="346142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ADEED7DD-EEB6-C7D3-5055-E2FA96AC363D}"/>
              </a:ext>
            </a:extLst>
          </p:cNvPr>
          <p:cNvSpPr/>
          <p:nvPr/>
        </p:nvSpPr>
        <p:spPr>
          <a:xfrm>
            <a:off x="8193024" y="3607726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3A5A78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953C19BA-678B-F5F1-0863-4DCBA9A8AE41}"/>
              </a:ext>
            </a:extLst>
          </p:cNvPr>
          <p:cNvSpPr/>
          <p:nvPr/>
        </p:nvSpPr>
        <p:spPr>
          <a:xfrm>
            <a:off x="8430768" y="346142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lifelines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B1496A0C-78E5-16F2-A8AA-AEB735DA20C4}"/>
              </a:ext>
            </a:extLst>
          </p:cNvPr>
          <p:cNvSpPr/>
          <p:nvPr/>
        </p:nvSpPr>
        <p:spPr>
          <a:xfrm>
            <a:off x="9829800" y="3461422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F8E36B7E-912B-96EB-BC79-47DE3ACD6691}"/>
              </a:ext>
            </a:extLst>
          </p:cNvPr>
          <p:cNvSpPr/>
          <p:nvPr/>
        </p:nvSpPr>
        <p:spPr>
          <a:xfrm>
            <a:off x="9976104" y="3607726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C41E3A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55DBD207-A541-D19A-196E-8FB92EC9506F}"/>
              </a:ext>
            </a:extLst>
          </p:cNvPr>
          <p:cNvSpPr/>
          <p:nvPr/>
        </p:nvSpPr>
        <p:spPr>
          <a:xfrm>
            <a:off x="10213848" y="346142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gseapy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6619FC49-1E00-40F3-829F-02D84F49C11D}"/>
              </a:ext>
            </a:extLst>
          </p:cNvPr>
          <p:cNvSpPr/>
          <p:nvPr/>
        </p:nvSpPr>
        <p:spPr>
          <a:xfrm>
            <a:off x="6263640" y="4138078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54359EF3-AADE-6D34-91E1-8B05D0C3BF8B}"/>
              </a:ext>
            </a:extLst>
          </p:cNvPr>
          <p:cNvSpPr/>
          <p:nvPr/>
        </p:nvSpPr>
        <p:spPr>
          <a:xfrm>
            <a:off x="6409944" y="4284382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3A5A78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EC2457CC-01F6-1DE5-2DCE-005CF05EA7CE}"/>
              </a:ext>
            </a:extLst>
          </p:cNvPr>
          <p:cNvSpPr/>
          <p:nvPr/>
        </p:nvSpPr>
        <p:spPr>
          <a:xfrm>
            <a:off x="6647688" y="413807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Biopython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36B42170-330F-DF4E-5DDD-1CA1091383D7}"/>
              </a:ext>
            </a:extLst>
          </p:cNvPr>
          <p:cNvSpPr/>
          <p:nvPr/>
        </p:nvSpPr>
        <p:spPr>
          <a:xfrm>
            <a:off x="8046720" y="4138078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Shape 34">
            <a:extLst>
              <a:ext uri="{FF2B5EF4-FFF2-40B4-BE49-F238E27FC236}">
                <a16:creationId xmlns:a16="http://schemas.microsoft.com/office/drawing/2014/main" id="{E7CEF50A-FFF9-6A7A-3C78-6E66FF6EE777}"/>
              </a:ext>
            </a:extLst>
          </p:cNvPr>
          <p:cNvSpPr/>
          <p:nvPr/>
        </p:nvSpPr>
        <p:spPr>
          <a:xfrm>
            <a:off x="8193024" y="4284382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C41E3A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DB70E9C9-A8B9-4F7A-CEC5-B2144CB2999D}"/>
              </a:ext>
            </a:extLst>
          </p:cNvPr>
          <p:cNvSpPr/>
          <p:nvPr/>
        </p:nvSpPr>
        <p:spPr>
          <a:xfrm>
            <a:off x="8430768" y="413807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PyComplexHeatmap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36">
            <a:extLst>
              <a:ext uri="{FF2B5EF4-FFF2-40B4-BE49-F238E27FC236}">
                <a16:creationId xmlns:a16="http://schemas.microsoft.com/office/drawing/2014/main" id="{8F60FC99-2872-60CF-645B-8F0B93F585EC}"/>
              </a:ext>
            </a:extLst>
          </p:cNvPr>
          <p:cNvSpPr/>
          <p:nvPr/>
        </p:nvSpPr>
        <p:spPr>
          <a:xfrm>
            <a:off x="9829800" y="4138078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F7F6F2"/>
          </a:solidFill>
          <a:ln w="12700">
            <a:solidFill>
              <a:srgbClr val="E6E2D8"/>
            </a:solidFill>
            <a:prstDash val="solid"/>
          </a:ln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06088732-A880-F6AC-634E-5C6D23D836ED}"/>
              </a:ext>
            </a:extLst>
          </p:cNvPr>
          <p:cNvSpPr/>
          <p:nvPr/>
        </p:nvSpPr>
        <p:spPr>
          <a:xfrm>
            <a:off x="9976104" y="4284382"/>
            <a:ext cx="146304" cy="274320"/>
          </a:xfrm>
          <a:prstGeom prst="roundRect">
            <a:avLst>
              <a:gd name="adj" fmla="val 18750"/>
            </a:avLst>
          </a:prstGeom>
          <a:solidFill>
            <a:srgbClr val="3A5A78"/>
          </a:solidFill>
          <a:ln/>
        </p:spPr>
        <p:txBody>
          <a:bodyPr/>
          <a:lstStyle/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4DD05E4-DFCE-F62A-0962-390C3368FE40}"/>
              </a:ext>
            </a:extLst>
          </p:cNvPr>
          <p:cNvSpPr/>
          <p:nvPr/>
        </p:nvSpPr>
        <p:spPr>
          <a:xfrm>
            <a:off x="10213848" y="413807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set-plotting libs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09436D19-5660-87A8-8FBC-57BA8804F25E}"/>
              </a:ext>
            </a:extLst>
          </p:cNvPr>
          <p:cNvSpPr/>
          <p:nvPr/>
        </p:nvSpPr>
        <p:spPr>
          <a:xfrm>
            <a:off x="6263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 0">
            <a:extLst>
              <a:ext uri="{FF2B5EF4-FFF2-40B4-BE49-F238E27FC236}">
                <a16:creationId xmlns:a16="http://schemas.microsoft.com/office/drawing/2014/main" id="{D385829A-C991-8348-EE1B-D6F2E8A3D218}"/>
              </a:ext>
            </a:extLst>
          </p:cNvPr>
          <p:cNvSpPr/>
          <p:nvPr/>
        </p:nvSpPr>
        <p:spPr>
          <a:xfrm>
            <a:off x="2331720" y="985063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775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7E2E79-CD5B-50D8-CF75-CDB5E211F1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628FDEC-4ECF-53CA-C3E6-2EC66D67F457}"/>
              </a:ext>
            </a:extLst>
          </p:cNvPr>
          <p:cNvSpPr/>
          <p:nvPr/>
        </p:nvSpPr>
        <p:spPr>
          <a:xfrm>
            <a:off x="1737360" y="93740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8C61CFA-0902-8B7E-A4FB-470EE913D622}"/>
              </a:ext>
            </a:extLst>
          </p:cNvPr>
          <p:cNvSpPr/>
          <p:nvPr/>
        </p:nvSpPr>
        <p:spPr>
          <a:xfrm>
            <a:off x="685800" y="1074566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Gallery — 30+ Plot Types</a:t>
            </a:r>
            <a:endParaRPr lang="en-US" sz="32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F2ED5B9-49FC-6CBC-3C2C-649D21E7A63D}"/>
              </a:ext>
            </a:extLst>
          </p:cNvPr>
          <p:cNvSpPr/>
          <p:nvPr/>
        </p:nvSpPr>
        <p:spPr>
          <a:xfrm>
            <a:off x="484632" y="15693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Same one-line pattern, three demoed today. Everything below is the same API.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6946F549-C508-FCED-DC65-EBEB04188A0F}"/>
              </a:ext>
            </a:extLst>
          </p:cNvPr>
          <p:cNvSpPr/>
          <p:nvPr/>
        </p:nvSpPr>
        <p:spPr>
          <a:xfrm>
            <a:off x="457200" y="20463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62DDB8CE-84DB-1947-1F5B-4149C1F6DB4C}"/>
              </a:ext>
            </a:extLst>
          </p:cNvPr>
          <p:cNvSpPr/>
          <p:nvPr/>
        </p:nvSpPr>
        <p:spPr>
          <a:xfrm>
            <a:off x="777240" y="216519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DISTRIBUTIONS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D5F96D5-F1DC-F589-0DAF-C7BEDB571218}"/>
              </a:ext>
            </a:extLst>
          </p:cNvPr>
          <p:cNvSpPr/>
          <p:nvPr/>
        </p:nvSpPr>
        <p:spPr>
          <a:xfrm>
            <a:off x="3246120" y="2165192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Box · Violin · Histogram · KDE · Ridge · Q-Q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B2DF2D6D-C8FE-5119-8221-A9D9295D8303}"/>
              </a:ext>
            </a:extLst>
          </p:cNvPr>
          <p:cNvSpPr/>
          <p:nvPr/>
        </p:nvSpPr>
        <p:spPr>
          <a:xfrm>
            <a:off x="457200" y="29607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F7311C1-AA36-CA61-5499-63799D2F30D0}"/>
              </a:ext>
            </a:extLst>
          </p:cNvPr>
          <p:cNvSpPr/>
          <p:nvPr/>
        </p:nvSpPr>
        <p:spPr>
          <a:xfrm>
            <a:off x="777240" y="307959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RELATIONSHIPS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1D21374E-160A-9CA5-C308-FE8E8D042D40}"/>
              </a:ext>
            </a:extLst>
          </p:cNvPr>
          <p:cNvSpPr/>
          <p:nvPr/>
        </p:nvSpPr>
        <p:spPr>
          <a:xfrm>
            <a:off x="3246120" y="3079592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Scatter · Regression · Line · Slope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57C000DA-3866-91AA-95EC-CA5F0110DBA7}"/>
              </a:ext>
            </a:extLst>
          </p:cNvPr>
          <p:cNvSpPr/>
          <p:nvPr/>
        </p:nvSpPr>
        <p:spPr>
          <a:xfrm>
            <a:off x="457200" y="38751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3CDD8DAC-F82E-AE5C-F4BE-F6D1B1AA2E69}"/>
              </a:ext>
            </a:extLst>
          </p:cNvPr>
          <p:cNvSpPr/>
          <p:nvPr/>
        </p:nvSpPr>
        <p:spPr>
          <a:xfrm>
            <a:off x="777240" y="399399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4F46E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CATEGORICAL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79DB38F9-920B-22C9-6C1C-6B565D05203F}"/>
              </a:ext>
            </a:extLst>
          </p:cNvPr>
          <p:cNvSpPr/>
          <p:nvPr/>
        </p:nvSpPr>
        <p:spPr>
          <a:xfrm>
            <a:off x="3246120" y="3993992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 · Lollipop · Strip · Dot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A022DDF3-41D5-8C29-309E-3DD42016E9F6}"/>
              </a:ext>
            </a:extLst>
          </p:cNvPr>
          <p:cNvSpPr/>
          <p:nvPr/>
        </p:nvSpPr>
        <p:spPr>
          <a:xfrm>
            <a:off x="457200" y="47895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C3708CC2-DEA2-938B-F15C-368860748092}"/>
              </a:ext>
            </a:extLst>
          </p:cNvPr>
          <p:cNvSpPr/>
          <p:nvPr/>
        </p:nvSpPr>
        <p:spPr>
          <a:xfrm>
            <a:off x="777240" y="490839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COMPOSITIONS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9C36DAC0-3E35-D72E-5FD2-F5BDF20B6D85}"/>
              </a:ext>
            </a:extLst>
          </p:cNvPr>
          <p:cNvSpPr/>
          <p:nvPr/>
        </p:nvSpPr>
        <p:spPr>
          <a:xfrm>
            <a:off x="3246120" y="4908392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Pie · Donut · Stacked bar · Sankey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27302DDA-F257-97F4-5340-B5626CE6FCD3}"/>
              </a:ext>
            </a:extLst>
          </p:cNvPr>
          <p:cNvSpPr/>
          <p:nvPr/>
        </p:nvSpPr>
        <p:spPr>
          <a:xfrm>
            <a:off x="457200" y="5703920"/>
            <a:ext cx="11274552" cy="777240"/>
          </a:xfrm>
          <a:prstGeom prst="roundRect">
            <a:avLst>
              <a:gd name="adj" fmla="val 8235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EB8FBACB-4E76-B8DB-D64E-AA586FCCEFC2}"/>
              </a:ext>
            </a:extLst>
          </p:cNvPr>
          <p:cNvSpPr/>
          <p:nvPr/>
        </p:nvSpPr>
        <p:spPr>
          <a:xfrm>
            <a:off x="777240" y="5822792"/>
            <a:ext cx="2377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" dirty="0">
                <a:solidFill>
                  <a:srgbClr val="B23B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SPECIALIZED — BIOLOGY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7C49FBC2-E5F6-0116-4667-E9B02646B5DA}"/>
              </a:ext>
            </a:extLst>
          </p:cNvPr>
          <p:cNvSpPr/>
          <p:nvPr/>
        </p:nvSpPr>
        <p:spPr>
          <a:xfrm>
            <a:off x="3246120" y="5822792"/>
            <a:ext cx="8229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Volcano · GSEA · Forest · Survival · ROC · Heatmap · Phylo · Venn · UpSet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93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96A78E-C8F8-E4D3-9EF8-788A42A0A2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29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4AD5A25-11B5-408C-9B62-BB2886308B5E}"/>
              </a:ext>
            </a:extLst>
          </p:cNvPr>
          <p:cNvSpPr txBox="1">
            <a:spLocks/>
          </p:cNvSpPr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57F01F1-894F-C56C-5650-C8D32DC86545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822AB1-6A52-9FCD-37FF-193042B4B2C0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Volcano Plot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44308E2-A6A7-BADE-DCF9-DBF7122B9719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Every gene's fold-change vs. significance — one plot instead of a spreadsheet.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96F266F-C3BD-564F-2526-875F86B498F1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CA5625-8014-96C3-3E77-B0FE52738A0A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D9AA15-47F3-7D5F-A82C-F6DD2A6ED9C7}"/>
              </a:ext>
            </a:extLst>
          </p:cNvPr>
          <p:cNvSpPr/>
          <p:nvPr/>
        </p:nvSpPr>
        <p:spPr>
          <a:xfrm>
            <a:off x="685800" y="3001183"/>
            <a:ext cx="313121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two conditions across hundreds or thousands of genes at once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Treated vs. control, tumor vs. normal — one differential-expression result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Spotting the strongest hits by eye before digging into the results table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standard first figure in almost every RNA-seq paper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6CAFE7D-E992-F530-00F1-6AC1B7292906}"/>
              </a:ext>
            </a:extLst>
          </p:cNvPr>
          <p:cNvSpPr/>
          <p:nvPr/>
        </p:nvSpPr>
        <p:spPr>
          <a:xfrm>
            <a:off x="4609293" y="2655647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747A0D54-F528-C76C-F9B0-198EF9CB8E04}"/>
              </a:ext>
            </a:extLst>
          </p:cNvPr>
          <p:cNvSpPr/>
          <p:nvPr/>
        </p:nvSpPr>
        <p:spPr>
          <a:xfrm>
            <a:off x="4530242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real DE results table — DESeq2 / edgeR / limma output, not raw counts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 row per gene: fold-change + adjusted p-value + gene symbol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hundreds of genes to be meaningful, not a handful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cnsplots' own volcano_df (500 rows) is placeholder data, shaped like a real result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AC023791-D8E5-92E8-916A-EE0FDD7F0966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655B5BD-1560-2695-80E1-C1AB98541BF0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CE3B44F-B94B-39F1-6448-B7FEEE47F9FD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cns.figure(200, 200)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cns.volcanoplot(df, x="log2FoldChange",
  y="-log10(adjp)", symbol="gene", n_show=8)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599CD9B5-AAD5-BCAD-1EBF-C2E693C70067}"/>
              </a:ext>
            </a:extLst>
          </p:cNvPr>
          <p:cNvSpPr/>
          <p:nvPr/>
        </p:nvSpPr>
        <p:spPr>
          <a:xfrm>
            <a:off x="457200" y="587156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C345A387-7078-9B6D-F2FE-B1E1DC3EA525}"/>
              </a:ext>
            </a:extLst>
          </p:cNvPr>
          <p:cNvSpPr/>
          <p:nvPr/>
        </p:nvSpPr>
        <p:spPr>
          <a:xfrm>
            <a:off x="685800" y="5871560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in source: 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cnsplots hardcodes padj &lt; 0.05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and 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|log2FC| &gt; 0.5</a:t>
            </a:r>
            <a:r>
              <a:rPr lang="en-US" sz="14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for Up/Down — not a parameter you can change; pre-filter first if your table uses different cutoffs.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691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2041A60-E8C6-447D-0542-8ADF059EE766}"/>
              </a:ext>
            </a:extLst>
          </p:cNvPr>
          <p:cNvSpPr txBox="1">
            <a:spLocks/>
          </p:cNvSpPr>
          <p:nvPr/>
        </p:nvSpPr>
        <p:spPr>
          <a:xfrm>
            <a:off x="11643360" y="6364127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  <a:p>
            <a:pPr algn="r"/>
            <a:r>
              <a:rPr lang="en-US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0021EF2-6717-A07E-1FD6-550B1923F4F8}"/>
              </a:ext>
            </a:extLst>
          </p:cNvPr>
          <p:cNvSpPr/>
          <p:nvPr/>
        </p:nvSpPr>
        <p:spPr>
          <a:xfrm>
            <a:off x="1277389" y="111766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7EE21BB-9DB0-A4EC-BF4D-3B7861884539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Volcano Plot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63870DB-1FD7-FD22-349E-47FB8DFBB601}"/>
              </a:ext>
            </a:extLst>
          </p:cNvPr>
          <p:cNvSpPr/>
          <p:nvPr/>
        </p:nvSpPr>
        <p:spPr>
          <a:xfrm>
            <a:off x="426720" y="188477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Run this on cnsplots' own bundled differential-expression table.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FD9974F-DB3F-3644-5FB5-7B391533150C}"/>
              </a:ext>
            </a:extLst>
          </p:cNvPr>
          <p:cNvSpPr/>
          <p:nvPr/>
        </p:nvSpPr>
        <p:spPr>
          <a:xfrm>
            <a:off x="426720" y="228165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C1CA7374-57B4-9C6F-2C48-A6421B50CC67}"/>
              </a:ext>
            </a:extLst>
          </p:cNvPr>
          <p:cNvSpPr/>
          <p:nvPr/>
        </p:nvSpPr>
        <p:spPr>
          <a:xfrm>
            <a:off x="822960" y="245530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0486153-FE9C-5FA9-123E-F338E07BB894}"/>
              </a:ext>
            </a:extLst>
          </p:cNvPr>
          <p:cNvSpPr/>
          <p:nvPr/>
        </p:nvSpPr>
        <p:spPr>
          <a:xfrm>
            <a:off x="822960" y="2821062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cns.figure(200, 200)
ax = cns.volcanoplot(
    volcano_df, x="log2FoldChange",
    y="-log10(adjp)", symbol="symbol",
    n_show=8,
)
cns.savefig("volcano.png")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5728780-36E4-31FD-4B27-60C3B461A204}"/>
              </a:ext>
            </a:extLst>
          </p:cNvPr>
          <p:cNvSpPr/>
          <p:nvPr/>
        </p:nvSpPr>
        <p:spPr>
          <a:xfrm>
            <a:off x="822960" y="48776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B171D4A-07C6-4C9B-ABAF-1C0CFBF6EE31}"/>
              </a:ext>
            </a:extLst>
          </p:cNvPr>
          <p:cNvSpPr/>
          <p:nvPr/>
        </p:nvSpPr>
        <p:spPr>
          <a:xfrm>
            <a:off x="822960" y="51885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genes -&gt; 122 Up / 144 Down
8 labeled each side</a:t>
            </a:r>
            <a:endParaRPr 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BD1D2D-966F-196A-7009-16D32D56D5A5}"/>
              </a:ext>
            </a:extLst>
          </p:cNvPr>
          <p:cNvSpPr/>
          <p:nvPr/>
        </p:nvSpPr>
        <p:spPr>
          <a:xfrm>
            <a:off x="7208520" y="1981264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54007A46-384C-4D7E-67B9-85240987C414}"/>
              </a:ext>
            </a:extLst>
          </p:cNvPr>
          <p:cNvSpPr/>
          <p:nvPr/>
        </p:nvSpPr>
        <p:spPr>
          <a:xfrm>
            <a:off x="7633855" y="2377347"/>
            <a:ext cx="3735185" cy="3486804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8F6209F-914B-F934-AB85-4E155ACE2EE0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volcano_df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500 rows, placeholder gene names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727190-D334-9FD0-4124-B33DBA9D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8474" y="2729623"/>
            <a:ext cx="3137277" cy="247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534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EFF236-E15D-BAB5-8DC6-0B957C45CB5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31</a:t>
            </a:r>
          </a:p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778AF51-B3D2-7C8B-6412-5A05C939E787}"/>
              </a:ext>
            </a:extLst>
          </p:cNvPr>
          <p:cNvSpPr txBox="1">
            <a:spLocks/>
          </p:cNvSpPr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24CAD30-CFA9-BDE1-6334-8E474B53CD3B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C579C1A-2DAB-5965-3EEC-B9B9A0675DDF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8BE6D2E-F8AB-06E8-30B6-91DA19C1FB4E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Do two measurements move together?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8FCC357-8BD2-9942-11F7-CF1BD9A676DE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0CCD51-13A0-9543-EB1E-C391D2D164A3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120E012-BF2B-AC45-23C6-33309622395C}"/>
              </a:ext>
            </a:extLst>
          </p:cNvPr>
          <p:cNvSpPr/>
          <p:nvPr/>
        </p:nvSpPr>
        <p:spPr>
          <a:xfrm>
            <a:off x="685800" y="3001183"/>
            <a:ext cx="3131210" cy="2277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Testing a relationship between two continuous measurements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Dose vs. response, two genes' expression, two clinical readings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Before/after values for the same sample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first check before you claim two things are correlated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434AE21-58C9-5627-42E4-0D602745CB1F}"/>
              </a:ext>
            </a:extLst>
          </p:cNvPr>
          <p:cNvSpPr/>
          <p:nvPr/>
        </p:nvSpPr>
        <p:spPr>
          <a:xfrm>
            <a:off x="4876800" y="2617135"/>
            <a:ext cx="2784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93E73088-224F-9CC8-7383-3DED14CD28B2}"/>
              </a:ext>
            </a:extLst>
          </p:cNvPr>
          <p:cNvSpPr/>
          <p:nvPr/>
        </p:nvSpPr>
        <p:spPr>
          <a:xfrm>
            <a:off x="4530242" y="3001183"/>
            <a:ext cx="3131210" cy="24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Real, paired numeric values — one row per sample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Both axis columns must be numeric, not categorical-coded-as-text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Needs dozens of points minimum for a trend to mean anything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optional grouping column colors the points by category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32D8ABA1-E47D-4931-32AC-E0267B240D20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2AFE36D-5023-08A0-BD95-AF239C6A83F3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01560C4F-4D2B-98D4-0B4B-DDB6976AFE20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cns.figure(180, 180)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cns.scatterplot(df, x="colA", y="colB", hue="group")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B403FAEF-C524-5E64-9438-7655AB0F98F7}"/>
              </a:ext>
            </a:extLst>
          </p:cNvPr>
          <p:cNvSpPr/>
          <p:nvPr/>
        </p:nvSpPr>
        <p:spPr>
          <a:xfrm>
            <a:off x="429768" y="5817535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AA4398DD-0829-A94B-6FBE-69D751E02209}"/>
              </a:ext>
            </a:extLst>
          </p:cNvPr>
          <p:cNvSpPr/>
          <p:nvPr/>
        </p:nvSpPr>
        <p:spPr>
          <a:xfrm>
            <a:off x="640080" y="5742432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cnsplots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colors points by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hue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automatically, with a legend added.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No group column?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Just drop the hue argument entirely.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244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79D2E6-F8D5-EFBF-F5DD-DF3D417293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31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4AF3435-6785-42ED-42BD-7AE6638821A9}"/>
              </a:ext>
            </a:extLst>
          </p:cNvPr>
          <p:cNvSpPr txBox="1">
            <a:spLocks/>
          </p:cNvSpPr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32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A5844F8-80C9-C175-CDEA-43E7644E61F0}"/>
              </a:ext>
            </a:extLst>
          </p:cNvPr>
          <p:cNvSpPr/>
          <p:nvPr/>
        </p:nvSpPr>
        <p:spPr>
          <a:xfrm>
            <a:off x="1277389" y="111766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BCBDC8C-7D54-F201-8D72-1E1264B881DC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Scatter Plot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99538EA-A92F-C5B5-5FAD-B5057EB2091A}"/>
              </a:ext>
            </a:extLst>
          </p:cNvPr>
          <p:cNvSpPr/>
          <p:nvPr/>
        </p:nvSpPr>
        <p:spPr>
          <a:xfrm>
            <a:off x="426720" y="188477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Sepal length vs. petal length, colored by species — real Fisher's iris data.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460195EF-A8ED-849D-601A-971E53460AE0}"/>
              </a:ext>
            </a:extLst>
          </p:cNvPr>
          <p:cNvSpPr/>
          <p:nvPr/>
        </p:nvSpPr>
        <p:spPr>
          <a:xfrm>
            <a:off x="548640" y="235111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6876383-BA38-1A5A-2AC6-613A36E8FEC2}"/>
              </a:ext>
            </a:extLst>
          </p:cNvPr>
          <p:cNvSpPr/>
          <p:nvPr/>
        </p:nvSpPr>
        <p:spPr>
          <a:xfrm>
            <a:off x="822960" y="255228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D5D4BF1-50EC-540D-2F86-C5A74D449C99}"/>
              </a:ext>
            </a:extLst>
          </p:cNvPr>
          <p:cNvSpPr/>
          <p:nvPr/>
        </p:nvSpPr>
        <p:spPr>
          <a:xfrm>
            <a:off x="822960" y="2918047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cns.figure(170, 170)
ax = cns.scatterplot(
    iris_df, x="sepal_length",
    y="petal_length", hue="species", s=12,
)
cns.savefig("scatter.png")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34C52B7-C3A5-B955-503A-358ABB8CB770}"/>
              </a:ext>
            </a:extLst>
          </p:cNvPr>
          <p:cNvSpPr/>
          <p:nvPr/>
        </p:nvSpPr>
        <p:spPr>
          <a:xfrm>
            <a:off x="822960" y="497461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2B4F5AE-389F-D9C0-E92C-54B2C55395A2}"/>
              </a:ext>
            </a:extLst>
          </p:cNvPr>
          <p:cNvSpPr/>
          <p:nvPr/>
        </p:nvSpPr>
        <p:spPr>
          <a:xfrm>
            <a:off x="822960" y="5285513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150 flowers
Pearson r = 0.87, p = 1.0e-47</a:t>
            </a:r>
            <a:endParaRPr lang="en-US" sz="15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0DC5EBB-B551-368E-956E-9D7FCB2D4941}"/>
              </a:ext>
            </a:extLst>
          </p:cNvPr>
          <p:cNvSpPr/>
          <p:nvPr/>
        </p:nvSpPr>
        <p:spPr>
          <a:xfrm>
            <a:off x="7208520" y="2033078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FCC1BF4F-045F-7116-039F-384A579C0359}"/>
              </a:ext>
            </a:extLst>
          </p:cNvPr>
          <p:cNvSpPr/>
          <p:nvPr/>
        </p:nvSpPr>
        <p:spPr>
          <a:xfrm>
            <a:off x="7825740" y="2552287"/>
            <a:ext cx="3543300" cy="3311864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E929379E-1987-F313-8381-C5EBEB21BD2D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iris_df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150 real flowers, 3 species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6F1D72-20A5-9E2C-73FA-1EF398135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273" y="2965383"/>
            <a:ext cx="3383767" cy="23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661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F19E24B-B235-7F80-EE5A-3398BFFA6770}"/>
              </a:ext>
            </a:extLst>
          </p:cNvPr>
          <p:cNvSpPr txBox="1">
            <a:spLocks/>
          </p:cNvSpPr>
          <p:nvPr/>
        </p:nvSpPr>
        <p:spPr>
          <a:xfrm>
            <a:off x="11608308" y="6364497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/>
          </a:p>
          <a:p>
            <a:pPr algn="r"/>
            <a:r>
              <a:rPr lang="en-US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C937C8B-981C-9CC8-5E98-DC0A4EFDCAA6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17E8BBA-5C8B-05AE-F192-9ECADD6798E3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E2F8950-DC11-5146-3054-83CB59EEB1C3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Median, quartiles, and outliers — the classic group comparison.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6FB93D4-1C04-7E48-95ED-CA499A405450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CBEA9F5-2DF3-9D97-28CF-E1D157CA2F13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39C63E-478F-77F0-957F-FB40DB6CEB1C}"/>
              </a:ext>
            </a:extLst>
          </p:cNvPr>
          <p:cNvSpPr/>
          <p:nvPr/>
        </p:nvSpPr>
        <p:spPr>
          <a:xfrm>
            <a:off x="685800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the median and spread of a measurement across groups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quick, familiar summary — reviewers know how to read it instantly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Spotting outliers explicitly, shown as individual points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good default when you don't need the full distribution shape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5AC2EC5-DA88-A481-A603-1637EF747985}"/>
              </a:ext>
            </a:extLst>
          </p:cNvPr>
          <p:cNvSpPr/>
          <p:nvPr/>
        </p:nvSpPr>
        <p:spPr>
          <a:xfrm>
            <a:off x="4876800" y="2617135"/>
            <a:ext cx="27846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6A11E853-ECAD-F6FB-3AA4-CB152F2619B3}"/>
              </a:ext>
            </a:extLst>
          </p:cNvPr>
          <p:cNvSpPr/>
          <p:nvPr/>
        </p:nvSpPr>
        <p:spPr>
          <a:xfrm>
            <a:off x="4530242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Long-format data: one numeric column, one group column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with smaller n than a violin plot — quartiles are more stable than a KDE shape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table shape as the violin and bar plots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Outliers are hidden by default in cnsplots — turn them on deliberately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BA83FFFA-186F-24C5-587F-EB6872A8B94A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32855E4-7427-492B-FE15-29DCDDD0E300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88630D8D-FE4F-81B0-C4B5-51D78B2B25A5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cns.figure(150, 170)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cns.boxplot(df, x="group", y="value",
  pairs=[(...)], showoutliers=True)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CE8CCB73-5DEB-8548-3570-9DC521C37B0C}"/>
              </a:ext>
            </a:extLst>
          </p:cNvPr>
          <p:cNvSpPr/>
          <p:nvPr/>
        </p:nvSpPr>
        <p:spPr>
          <a:xfrm>
            <a:off x="457200" y="587156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A8D237C-2494-2C3F-DF21-70CED0730E71}"/>
              </a:ext>
            </a:extLst>
          </p:cNvPr>
          <p:cNvSpPr/>
          <p:nvPr/>
        </p:nvSpPr>
        <p:spPr>
          <a:xfrm>
            <a:off x="685800" y="5871560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in source: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pairs=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runs a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Mann-Whitney U test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— the same non-parametric test the violin plot uses; showoutliers defaults to False.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6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6D7CD-811E-B765-0634-564ABAEB618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34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DF04270-A2C7-29FB-94D6-2C60A2331615}"/>
              </a:ext>
            </a:extLst>
          </p:cNvPr>
          <p:cNvSpPr/>
          <p:nvPr/>
        </p:nvSpPr>
        <p:spPr>
          <a:xfrm>
            <a:off x="1277389" y="111766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C7EE4ED-C6F3-3CBF-E7D4-4368458DC63C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Box Plot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B14F537-7F4F-9C68-5174-AA5E4692A4FE}"/>
              </a:ext>
            </a:extLst>
          </p:cNvPr>
          <p:cNvSpPr/>
          <p:nvPr/>
        </p:nvSpPr>
        <p:spPr>
          <a:xfrm>
            <a:off x="548640" y="1913041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Petal length, setosa vs. versicolor — same iris data as the violin plot.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194CE0C-9CBB-BFA5-522A-7961DF44F020}"/>
              </a:ext>
            </a:extLst>
          </p:cNvPr>
          <p:cNvSpPr/>
          <p:nvPr/>
        </p:nvSpPr>
        <p:spPr>
          <a:xfrm>
            <a:off x="548640" y="235111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83E6702-3D57-FFA5-3BD9-C9F904BDED19}"/>
              </a:ext>
            </a:extLst>
          </p:cNvPr>
          <p:cNvSpPr/>
          <p:nvPr/>
        </p:nvSpPr>
        <p:spPr>
          <a:xfrm>
            <a:off x="822960" y="255228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16C892B-AE89-D1A2-9FC5-17F6C6B73107}"/>
              </a:ext>
            </a:extLst>
          </p:cNvPr>
          <p:cNvSpPr/>
          <p:nvPr/>
        </p:nvSpPr>
        <p:spPr>
          <a:xfrm>
            <a:off x="822960" y="2918047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cns.figure(150, 170)
ax = cns.boxplot(
    two_sp, x="species", y="petal_length",
    pairs=[("setosa", "versicolor")],
)
cns.savefig("box.png")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63EDA0D-9E9A-2096-4FE2-687EFFE256BD}"/>
              </a:ext>
            </a:extLst>
          </p:cNvPr>
          <p:cNvSpPr/>
          <p:nvPr/>
        </p:nvSpPr>
        <p:spPr>
          <a:xfrm>
            <a:off x="822960" y="497461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6D28360-7DFB-D0A1-B6F8-297529DCFBA2}"/>
              </a:ext>
            </a:extLst>
          </p:cNvPr>
          <p:cNvSpPr/>
          <p:nvPr/>
        </p:nvSpPr>
        <p:spPr>
          <a:xfrm>
            <a:off x="822960" y="5285513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50 / 50
Mann-Whitney p = 5.65e-18 (****)</a:t>
            </a:r>
            <a:endParaRPr lang="en-US" sz="15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41075610-2EB6-5846-3727-2FB4F40D9CC5}"/>
              </a:ext>
            </a:extLst>
          </p:cNvPr>
          <p:cNvSpPr/>
          <p:nvPr/>
        </p:nvSpPr>
        <p:spPr>
          <a:xfrm>
            <a:off x="7208520" y="2033078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3BA80D77-0286-B579-A505-38BAF26275DC}"/>
              </a:ext>
            </a:extLst>
          </p:cNvPr>
          <p:cNvSpPr/>
          <p:nvPr/>
        </p:nvSpPr>
        <p:spPr>
          <a:xfrm>
            <a:off x="7825740" y="2351118"/>
            <a:ext cx="3200400" cy="3513033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2DA7EC6-57C3-039A-B2BE-34A1942103B5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iris_df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setosa vs. versicolor, petal_length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5ECC3F-4466-2AF9-C8D7-40EAAFD0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003" y="2689447"/>
            <a:ext cx="2937873" cy="2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534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7F6368-902E-C18F-6219-69FCE94123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35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3E583CC-3294-DE8B-F57C-541AC795E433}"/>
              </a:ext>
            </a:extLst>
          </p:cNvPr>
          <p:cNvSpPr txBox="1">
            <a:spLocks/>
          </p:cNvSpPr>
          <p:nvPr/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 marL="0" algn="l" defTabSz="914400" rtl="0" eaLnBrk="1" latinLnBrk="0" hangingPunct="1">
              <a:defRPr sz="1100" kern="12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57EBA15-8621-4572-D57A-EC857412BF31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51FFEE2-7274-23CF-9CE2-9104C5AF92B4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Violin Plot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22CD489-C4EA-E29F-44B5-205DBA4C0020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The whole distribution, not just its quartiles.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529303-8412-FDF8-4264-2D2910693755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87A3C00-38ED-351C-5407-7A2C405FA00C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5171A1-6FA9-53EF-9847-AF9BF36A2A40}"/>
              </a:ext>
            </a:extLst>
          </p:cNvPr>
          <p:cNvSpPr/>
          <p:nvPr/>
        </p:nvSpPr>
        <p:spPr>
          <a:xfrm>
            <a:off x="685800" y="3001183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You need the SHAPE of the distribution, not just its median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Catches bimodality, skew, and clusters a box plot would flatten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Comparing groups where the spread might differ, not just the center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Presenting to an audience that will actually look at the shape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46DB9B1-E7FD-AA11-E622-D8D8E40C774C}"/>
              </a:ext>
            </a:extLst>
          </p:cNvPr>
          <p:cNvSpPr/>
          <p:nvPr/>
        </p:nvSpPr>
        <p:spPr>
          <a:xfrm>
            <a:off x="4915479" y="259081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D4E2CB9C-9623-C704-6F7D-142BBC7B64EC}"/>
              </a:ext>
            </a:extLst>
          </p:cNvPr>
          <p:cNvSpPr/>
          <p:nvPr/>
        </p:nvSpPr>
        <p:spPr>
          <a:xfrm>
            <a:off x="4528871" y="2899760"/>
            <a:ext cx="313121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Long-format: one numeric column, one group column — same as box plot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Aim for 10+ replicates per group — small n makes the KDE shape misleading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best when you suspect the distribution isn't simply normal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same table can feed box, violin, or bar — try more than one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2089C69-0A91-D9E4-9FF3-09A412B48366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277ED8A6-A8DC-544C-8816-32668369362F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E3B43AF-6670-AF2D-EE6B-8F0DB5CA0ED3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cns.figure(160, 180)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cns.violinplot(df, x="group", y="value",
  pairs=[(...)], </a:t>
            </a:r>
            <a:r>
              <a:rPr lang="en-US" sz="1500" dirty="0" err="1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add_box</a:t>
            </a: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=True)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F696585F-B582-1497-B5F0-A5FFFD1B3F9A}"/>
              </a:ext>
            </a:extLst>
          </p:cNvPr>
          <p:cNvSpPr/>
          <p:nvPr/>
        </p:nvSpPr>
        <p:spPr>
          <a:xfrm>
            <a:off x="457200" y="587156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77CB2BBF-24C0-86D8-21B0-DE1B399DF05D}"/>
              </a:ext>
            </a:extLst>
          </p:cNvPr>
          <p:cNvSpPr/>
          <p:nvPr/>
        </p:nvSpPr>
        <p:spPr>
          <a:xfrm>
            <a:off x="685800" y="5871560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pairs=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runs a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Mann-Whitney U test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(non-parametric) — same test as the box plot; add_box=True overlays the quartile box inside.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22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D2EAF2-278A-F179-2FA2-9BE6706410F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36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192B7280-9875-218C-7EE7-B3AE73087906}"/>
              </a:ext>
            </a:extLst>
          </p:cNvPr>
          <p:cNvSpPr/>
          <p:nvPr/>
        </p:nvSpPr>
        <p:spPr>
          <a:xfrm>
            <a:off x="1277389" y="98050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75A51EC-6DE2-4C33-DC29-48E9EEDA11B6}"/>
              </a:ext>
            </a:extLst>
          </p:cNvPr>
          <p:cNvSpPr/>
          <p:nvPr/>
        </p:nvSpPr>
        <p:spPr>
          <a:xfrm>
            <a:off x="548640" y="120402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Violin Plot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772D5AF-C77E-77D8-4AB6-F4B140FE647B}"/>
              </a:ext>
            </a:extLst>
          </p:cNvPr>
          <p:cNvSpPr/>
          <p:nvPr/>
        </p:nvSpPr>
        <p:spPr>
          <a:xfrm>
            <a:off x="426720" y="174761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Same setosa vs. versicolor comparison as the box plot — now with shape.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32A4A79-47A9-08A1-398A-6ADB174709A2}"/>
              </a:ext>
            </a:extLst>
          </p:cNvPr>
          <p:cNvSpPr/>
          <p:nvPr/>
        </p:nvSpPr>
        <p:spPr>
          <a:xfrm>
            <a:off x="548640" y="221395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F52C20D-FE62-B75E-B8CF-94A3DD3B1E51}"/>
              </a:ext>
            </a:extLst>
          </p:cNvPr>
          <p:cNvSpPr/>
          <p:nvPr/>
        </p:nvSpPr>
        <p:spPr>
          <a:xfrm>
            <a:off x="822960" y="241512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BD7C1C4-5B48-40B5-8BC8-93ABAD505CFC}"/>
              </a:ext>
            </a:extLst>
          </p:cNvPr>
          <p:cNvSpPr/>
          <p:nvPr/>
        </p:nvSpPr>
        <p:spPr>
          <a:xfrm>
            <a:off x="822960" y="2780887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cns.figure(185, 170)
ax = cns.violinplot(
    two_sp, x="species", y="petal_length",
    pairs=[("setosa", "versicolor")], add_box=True,
)
cns.savefig("violin.png")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E15735-8AEA-8329-8000-1F1BA8A2FC55}"/>
              </a:ext>
            </a:extLst>
          </p:cNvPr>
          <p:cNvSpPr/>
          <p:nvPr/>
        </p:nvSpPr>
        <p:spPr>
          <a:xfrm>
            <a:off x="822960" y="483745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12B5785-6697-A6EF-332D-FF0FC717EC11}"/>
              </a:ext>
            </a:extLst>
          </p:cNvPr>
          <p:cNvSpPr/>
          <p:nvPr/>
        </p:nvSpPr>
        <p:spPr>
          <a:xfrm>
            <a:off x="822960" y="5148353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50 / 50
Mann-Whitney p = 5.65e-18 (****)</a:t>
            </a:r>
            <a:endParaRPr 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4C5EC85-1159-FAEB-E418-AA18B2BAC738}"/>
              </a:ext>
            </a:extLst>
          </p:cNvPr>
          <p:cNvSpPr/>
          <p:nvPr/>
        </p:nvSpPr>
        <p:spPr>
          <a:xfrm>
            <a:off x="7158644" y="1874523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931665B6-F06E-7087-A2E5-00186ECCEA66}"/>
              </a:ext>
            </a:extLst>
          </p:cNvPr>
          <p:cNvSpPr/>
          <p:nvPr/>
        </p:nvSpPr>
        <p:spPr>
          <a:xfrm>
            <a:off x="7523018" y="2113375"/>
            <a:ext cx="3643746" cy="3613616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835A3EE-5CE2-31DE-B899-5376920706D5}"/>
              </a:ext>
            </a:extLst>
          </p:cNvPr>
          <p:cNvSpPr/>
          <p:nvPr/>
        </p:nvSpPr>
        <p:spPr>
          <a:xfrm>
            <a:off x="7208520" y="576645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iris_df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setosa vs. versicolor, petal_length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C6711A-3DAD-3C38-1920-E49279775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797" y="2528373"/>
            <a:ext cx="3168188" cy="292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650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FB3624B-8CA6-8197-B2D2-54D1C1BA8E20}"/>
              </a:ext>
            </a:extLst>
          </p:cNvPr>
          <p:cNvSpPr/>
          <p:nvPr/>
        </p:nvSpPr>
        <p:spPr>
          <a:xfrm>
            <a:off x="1909084" y="98534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965781C-6F12-49E8-61FE-2FE52E92121F}"/>
              </a:ext>
            </a:extLst>
          </p:cNvPr>
          <p:cNvSpPr/>
          <p:nvPr/>
        </p:nvSpPr>
        <p:spPr>
          <a:xfrm>
            <a:off x="551338" y="123306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Clustered Heatmap</a:t>
            </a:r>
            <a:endParaRPr lang="en-US" sz="3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77BEB06-B4CB-C952-8B35-F313B341C21D}"/>
              </a:ext>
            </a:extLst>
          </p:cNvPr>
          <p:cNvSpPr/>
          <p:nvPr/>
        </p:nvSpPr>
        <p:spPr>
          <a:xfrm>
            <a:off x="551338" y="1860119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Georgia" panose="02040502050405020303" pitchFamily="18" charset="0"/>
                <a:ea typeface="Calibri" pitchFamily="34" charset="-122"/>
                <a:cs typeface="Times New Roman" panose="02020603050405020304" pitchFamily="18" charset="0"/>
              </a:rPr>
              <a:t>Patterns across many features and many samples at once.</a:t>
            </a:r>
            <a:endParaRPr lang="en-US" sz="1600" dirty="0">
              <a:solidFill>
                <a:schemeClr val="bg1"/>
              </a:solidFill>
              <a:latin typeface="Georgia" panose="020405020504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89528F-BB77-4924-783A-02DC827C79A6}"/>
              </a:ext>
            </a:extLst>
          </p:cNvPr>
          <p:cNvSpPr/>
          <p:nvPr/>
        </p:nvSpPr>
        <p:spPr>
          <a:xfrm>
            <a:off x="457199" y="2434255"/>
            <a:ext cx="7460285" cy="3273552"/>
          </a:xfrm>
          <a:prstGeom prst="roundRect">
            <a:avLst>
              <a:gd name="adj" fmla="val 2039"/>
            </a:avLst>
          </a:prstGeom>
          <a:solidFill>
            <a:srgbClr val="F5F4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72B4D3F-349D-E310-A5D1-391F22E6105B}"/>
              </a:ext>
            </a:extLst>
          </p:cNvPr>
          <p:cNvSpPr/>
          <p:nvPr/>
        </p:nvSpPr>
        <p:spPr>
          <a:xfrm>
            <a:off x="685800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WHEN TO USE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3FDF0AF-B7FC-1D29-4359-564E45DFAFDC}"/>
              </a:ext>
            </a:extLst>
          </p:cNvPr>
          <p:cNvSpPr/>
          <p:nvPr/>
        </p:nvSpPr>
        <p:spPr>
          <a:xfrm>
            <a:off x="685800" y="3001183"/>
            <a:ext cx="3131210" cy="230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Finding structure you didn't specify in advance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samples group together, which features co-vary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Screening hundreds to thousands of features in a single view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first-pass exploratory plot before you decide what to test formally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67A672FE-0EC3-5244-C5A7-3BF317DEA9F0}"/>
              </a:ext>
            </a:extLst>
          </p:cNvPr>
          <p:cNvSpPr/>
          <p:nvPr/>
        </p:nvSpPr>
        <p:spPr>
          <a:xfrm>
            <a:off x="4530242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DD6B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GOOD DATA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1BC0651-2136-D9A0-9073-A0D8EA8E32DC}"/>
              </a:ext>
            </a:extLst>
          </p:cNvPr>
          <p:cNvSpPr/>
          <p:nvPr/>
        </p:nvSpPr>
        <p:spPr>
          <a:xfrm>
            <a:off x="4530242" y="3001183"/>
            <a:ext cx="3131210" cy="247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numeric matrix: samples x features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Enough of both (tens+) for clustering to be meaningful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Z-score each feature first — raw-scale values wash out the pattern entirely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Wrap the matrix as an AnnData object for cnsplots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17053D33-C388-BC52-DD5B-6A22B802314D}"/>
              </a:ext>
            </a:extLst>
          </p:cNvPr>
          <p:cNvSpPr/>
          <p:nvPr/>
        </p:nvSpPr>
        <p:spPr>
          <a:xfrm>
            <a:off x="8146085" y="2434255"/>
            <a:ext cx="3588410" cy="3273552"/>
          </a:xfrm>
          <a:prstGeom prst="roundRect">
            <a:avLst>
              <a:gd name="adj" fmla="val 2039"/>
            </a:avLst>
          </a:prstGeom>
          <a:solidFill>
            <a:srgbClr val="1617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74E5DB0D-CD9E-F75D-DD29-1387099B6015}"/>
              </a:ext>
            </a:extLst>
          </p:cNvPr>
          <p:cNvSpPr/>
          <p:nvPr/>
        </p:nvSpPr>
        <p:spPr>
          <a:xfrm>
            <a:off x="8374685" y="2617135"/>
            <a:ext cx="313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TO RUN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5A767BE-AB32-71BF-68C1-788A4D265CCB}"/>
              </a:ext>
            </a:extLst>
          </p:cNvPr>
          <p:cNvSpPr/>
          <p:nvPr/>
        </p:nvSpPr>
        <p:spPr>
          <a:xfrm>
            <a:off x="8374685" y="3028615"/>
            <a:ext cx="313121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8B93A5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cns.figure(260, 210)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cns.heatmapplot(adata, row_cluster=True,
  col_cluster=True, row_split="group")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F9394F2C-B8D4-319F-B5B7-5BE62A611104}"/>
              </a:ext>
            </a:extLst>
          </p:cNvPr>
          <p:cNvSpPr/>
          <p:nvPr/>
        </p:nvSpPr>
        <p:spPr>
          <a:xfrm>
            <a:off x="457200" y="5871560"/>
            <a:ext cx="11274552" cy="621792"/>
          </a:xfrm>
          <a:prstGeom prst="roundRect">
            <a:avLst>
              <a:gd name="adj" fmla="val 8824"/>
            </a:avLst>
          </a:prstGeom>
          <a:solidFill>
            <a:srgbClr val="EAEB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01F2835-68F8-C8CC-FC97-2BF3B356FF1E}"/>
              </a:ext>
            </a:extLst>
          </p:cNvPr>
          <p:cNvSpPr/>
          <p:nvPr/>
        </p:nvSpPr>
        <p:spPr>
          <a:xfrm>
            <a:off x="685800" y="5871560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Verified necessary every time: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z-scoring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each feature — raw-scale values wash out the pattern. 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ourier New" pitchFamily="34" charset="-122"/>
                <a:cs typeface="Times New Roman" panose="02020603050405020304" pitchFamily="18" charset="0"/>
              </a:rPr>
              <a:t>row_split</a:t>
            </a:r>
            <a:r>
              <a:rPr lang="en-US" sz="1600" dirty="0">
                <a:solidFill>
                  <a:srgbClr val="2326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groups rows by a metadata column, no extra legend needed.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86D78D-80D0-423E-3C1C-6085928539DD}"/>
              </a:ext>
            </a:extLst>
          </p:cNvPr>
          <p:cNvSpPr txBox="1"/>
          <p:nvPr/>
        </p:nvSpPr>
        <p:spPr>
          <a:xfrm>
            <a:off x="11750040" y="6477813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59713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068CC4-A3A7-016E-20A5-D7AB39C99D2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 dirty="0"/>
              <a:t>38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F33D704F-E70B-0FD2-E07B-9CE2A94D5F12}"/>
              </a:ext>
            </a:extLst>
          </p:cNvPr>
          <p:cNvSpPr/>
          <p:nvPr/>
        </p:nvSpPr>
        <p:spPr>
          <a:xfrm>
            <a:off x="1277389" y="1117663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PART D  ·  CNSPLOTS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B69B266-1311-7139-289C-F2B828B163FB}"/>
              </a:ext>
            </a:extLst>
          </p:cNvPr>
          <p:cNvSpPr/>
          <p:nvPr/>
        </p:nvSpPr>
        <p:spPr>
          <a:xfrm>
            <a:off x="548640" y="1341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anose="02040503050406030204" pitchFamily="18" charset="0"/>
                <a:ea typeface="Cambria" panose="02040503050406030204" pitchFamily="18" charset="0"/>
                <a:cs typeface="Georgia" pitchFamily="34" charset="-120"/>
              </a:rPr>
              <a:t>Hands-on : Clustered Heatmap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E1DEBEB-47B1-74F1-169A-220867408A2D}"/>
              </a:ext>
            </a:extLst>
          </p:cNvPr>
          <p:cNvSpPr/>
          <p:nvPr/>
        </p:nvSpPr>
        <p:spPr>
          <a:xfrm>
            <a:off x="426720" y="1884775"/>
            <a:ext cx="665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cnsplots' own synthetic cluster demo data — 11 samples, 640 features.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1E0AF40-62A7-9C9A-6821-67B3FCC409C4}"/>
              </a:ext>
            </a:extLst>
          </p:cNvPr>
          <p:cNvSpPr/>
          <p:nvPr/>
        </p:nvSpPr>
        <p:spPr>
          <a:xfrm>
            <a:off x="548640" y="2351118"/>
            <a:ext cx="6309360" cy="3552495"/>
          </a:xfrm>
          <a:prstGeom prst="roundRect">
            <a:avLst>
              <a:gd name="adj" fmla="val 3137"/>
            </a:avLst>
          </a:prstGeom>
          <a:solidFill>
            <a:srgbClr val="1718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03D680C-60D6-4EF3-DD53-4499AEF660B4}"/>
              </a:ext>
            </a:extLst>
          </p:cNvPr>
          <p:cNvSpPr/>
          <p:nvPr/>
        </p:nvSpPr>
        <p:spPr>
          <a:xfrm>
            <a:off x="822960" y="255228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2A43FCA-3E2D-E3C8-3758-1B75369862EC}"/>
              </a:ext>
            </a:extLst>
          </p:cNvPr>
          <p:cNvSpPr/>
          <p:nvPr/>
        </p:nvSpPr>
        <p:spPr>
          <a:xfrm>
            <a:off x="822960" y="2918047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cns.figure(230, 210)
cmp = cns.heatmapplot(
    blobs, row_cluster=True, col_cluster=True,
    row_split="Ensemble", cmap="BuRd_custom",
)
cns.savefig("heatmap.png")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F7E9DDD-CAA1-D170-BB00-FA592DF19537}"/>
              </a:ext>
            </a:extLst>
          </p:cNvPr>
          <p:cNvSpPr/>
          <p:nvPr/>
        </p:nvSpPr>
        <p:spPr>
          <a:xfrm>
            <a:off x="822960" y="4974617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E8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6C0EA1D-AC40-35A5-B297-5634E42868B2}"/>
              </a:ext>
            </a:extLst>
          </p:cNvPr>
          <p:cNvSpPr/>
          <p:nvPr/>
        </p:nvSpPr>
        <p:spPr>
          <a:xfrm>
            <a:off x="822960" y="5285513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samples x 640 features
split into 3 groups (Ensemble)</a:t>
            </a:r>
            <a:endParaRPr lang="en-US" sz="14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A106EEA6-5F81-C7FC-3249-6A67581FBB9B}"/>
              </a:ext>
            </a:extLst>
          </p:cNvPr>
          <p:cNvSpPr/>
          <p:nvPr/>
        </p:nvSpPr>
        <p:spPr>
          <a:xfrm>
            <a:off x="7208520" y="2033078"/>
            <a:ext cx="4434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4E2DB"/>
            </a:solidFill>
            <a:prstDash val="solid"/>
          </a:ln>
          <a:effectLst>
            <a:outerShdw blurRad="1270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AB55D5A3-C583-2997-FC99-974FBE75DE32}"/>
              </a:ext>
            </a:extLst>
          </p:cNvPr>
          <p:cNvSpPr/>
          <p:nvPr/>
        </p:nvSpPr>
        <p:spPr>
          <a:xfrm>
            <a:off x="7825740" y="2351118"/>
            <a:ext cx="3543300" cy="3513033"/>
          </a:xfrm>
          <a:prstGeom prst="rect">
            <a:avLst/>
          </a:prstGeom>
          <a:ln w="12700">
            <a:solidFill>
              <a:srgbClr val="E4E2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AFB6DBCE-5ADF-A66D-2309-BD3B93D33D2A}"/>
              </a:ext>
            </a:extLst>
          </p:cNvPr>
          <p:cNvSpPr/>
          <p:nvPr/>
        </p:nvSpPr>
        <p:spPr>
          <a:xfrm>
            <a:off x="7208520" y="590361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blobs (synthetic)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·  </a:t>
            </a:r>
            <a:r>
              <a:rPr lang="en-US" sz="1400" dirty="0">
                <a:solidFill>
                  <a:srgbClr val="5F5E5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 x 640, not real expression values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1DE254-A4CE-2162-2D32-965BA3C04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218" y="3040809"/>
            <a:ext cx="3843827" cy="21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73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</TotalTime>
  <Words>5025</Words>
  <Application>Microsoft Office PowerPoint</Application>
  <PresentationFormat>Widescreen</PresentationFormat>
  <Paragraphs>558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Aptos</vt:lpstr>
      <vt:lpstr>Arial</vt:lpstr>
      <vt:lpstr>Calibri</vt:lpstr>
      <vt:lpstr>Cambria</vt:lpstr>
      <vt:lpstr>Consolas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S0192314</cp:lastModifiedBy>
  <cp:revision>89</cp:revision>
  <dcterms:created xsi:type="dcterms:W3CDTF">2026-08-25T11:32:45Z</dcterms:created>
  <dcterms:modified xsi:type="dcterms:W3CDTF">2026-08-30T13:40:35Z</dcterms:modified>
</cp:coreProperties>
</file>