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256" r:id="rId2"/>
    <p:sldId id="269" r:id="rId3"/>
    <p:sldId id="270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0E2780D-F900-7940-B7D2-6D3AEF3EFAA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92A6E1-7147-6D53-BAA9-01DCE4115DD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3167BE-089E-490D-BF84-71C7CE40F95B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C4BCF7-FA98-12F8-895A-73B12874C7F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DCCA50-75A8-9669-A151-0DCD4F0C4D8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1BADF2-EFD7-499C-8C2D-03ADD5668E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2979263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08797384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NP_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2390291" y="274661"/>
            <a:ext cx="8348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0" dirty="0">
                <a:ln w="3175">
                  <a:noFill/>
                </a:ln>
                <a:solidFill>
                  <a:srgbClr val="002060"/>
                </a:solidFill>
                <a:latin typeface="Georgia" panose="02040502050405020303" pitchFamily="18" charset="0"/>
                <a:ea typeface="Cambria" pitchFamily="34" charset="-122"/>
                <a:cs typeface="Cambria" pitchFamily="34" charset="-120"/>
              </a:rPr>
              <a:t>DBT-BIC-NNP-TREE Genome Informatics — Genome HackWeek 2026</a:t>
            </a:r>
            <a:endParaRPr lang="en-US" sz="2000" b="0" dirty="0">
              <a:ln w="3175">
                <a:noFill/>
              </a:ln>
              <a:solidFill>
                <a:srgbClr val="002060"/>
              </a:solidFill>
              <a:latin typeface="Georgia" panose="02040502050405020303" pitchFamily="18" charset="0"/>
            </a:endParaRPr>
          </a:p>
        </p:txBody>
      </p:sp>
      <p:sp>
        <p:nvSpPr>
          <p:cNvPr id="5" name="Text 1"/>
          <p:cNvSpPr/>
          <p:nvPr/>
        </p:nvSpPr>
        <p:spPr>
          <a:xfrm>
            <a:off x="1920240" y="658368"/>
            <a:ext cx="8348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002060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Annotate, Innovate, Collaborate  |  CSIR-IICB, Kolkata</a:t>
            </a:r>
            <a:endParaRPr lang="en-US" sz="1600" b="1" dirty="0">
              <a:solidFill>
                <a:srgbClr val="002060"/>
              </a:solidFill>
              <a:latin typeface="Georgia" panose="02040502050405020303" pitchFamily="18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365760" y="6473952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 err="1">
                <a:solidFill>
                  <a:schemeClr val="tx1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Sucheta</a:t>
            </a:r>
            <a:r>
              <a:rPr lang="en-US" sz="1200" dirty="0">
                <a:solidFill>
                  <a:schemeClr val="tx1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Tripathy</a:t>
            </a:r>
            <a:endParaRPr lang="en-US" sz="1200" dirty="0">
              <a:solidFill>
                <a:schemeClr val="tx1"/>
              </a:solidFill>
              <a:latin typeface="Georgia" panose="02040502050405020303" pitchFamily="18" charset="0"/>
            </a:endParaRPr>
          </a:p>
        </p:txBody>
      </p:sp>
      <p:sp>
        <p:nvSpPr>
          <p:cNvPr id="7" name="Text 3"/>
          <p:cNvSpPr/>
          <p:nvPr userDrawn="1"/>
        </p:nvSpPr>
        <p:spPr>
          <a:xfrm>
            <a:off x="4270248" y="647395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  <a:latin typeface="Georgia" panose="02040502050405020303" pitchFamily="18" charset="0"/>
              </a:rPr>
              <a:t>Variant Calling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r>
              <a:rPr lang="en-US" dirty="0"/>
              <a:t>(#)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9" name="Picture 8" descr="File:CSIR-Logo-With-Tagline-Seleceted-Bilingual.png ...">
            <a:extLst>
              <a:ext uri="{FF2B5EF4-FFF2-40B4-BE49-F238E27FC236}">
                <a16:creationId xmlns:a16="http://schemas.microsoft.com/office/drawing/2014/main" id="{4D82A8F7-CCC1-0656-73BD-C1135308F91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7337" y="91440"/>
            <a:ext cx="1220204" cy="122020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A48E026-E031-A75D-60FD-E59714E3711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36929" y="171243"/>
            <a:ext cx="802483" cy="88779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65FB87B-4D58-BE6F-784D-A9C794DC953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945567" y="171243"/>
            <a:ext cx="915429" cy="1118356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3A4A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78408" y="2468880"/>
            <a:ext cx="1072591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20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Variant Calling</a:t>
            </a:r>
            <a:endParaRPr lang="en-US" sz="4000" dirty="0">
              <a:solidFill>
                <a:srgbClr val="002060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731520" y="3429000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DBT-BIC-NNP-TREE Genome Informatics: Annotate, Innovate, Collaborate</a:t>
            </a:r>
            <a:endParaRPr lang="en-US" sz="1800" dirty="0">
              <a:solidFill>
                <a:srgbClr val="002060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731520" y="397764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August – 4 September 2026   |   Room 120, Guest Block, IICB TRUE Campus, Salt Lake</a:t>
            </a:r>
            <a:endParaRPr lang="en-US" sz="1300" dirty="0">
              <a:solidFill>
                <a:srgbClr val="002060"/>
              </a:solidFill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3A4A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75F1850-0B87-D6A5-2373-8888D287250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fld id="{B28341C0-DF9D-4A19-9AE0-2BA2D0B28CB4}" type="slidenum">
              <a:rPr lang="en-US" b="0"/>
              <a:t>2</a:t>
            </a:fld>
            <a:endParaRPr lang="en-US" b="0"/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FF490D-F854-E7DE-39C7-D52A3A6A33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4335" y="1149232"/>
            <a:ext cx="7958945" cy="5360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86791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AC6DF7F-CA2F-ACA6-03F8-F210CBBD8ED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r>
              <a:rPr lang="en-US"/>
              <a:t>(#)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A41A07-547E-E53C-6EE2-096B06DF67E7}"/>
              </a:ext>
            </a:extLst>
          </p:cNvPr>
          <p:cNvSpPr txBox="1"/>
          <p:nvPr/>
        </p:nvSpPr>
        <p:spPr>
          <a:xfrm>
            <a:off x="711200" y="1465223"/>
            <a:ext cx="192024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Reference FASTA</a:t>
            </a:r>
          </a:p>
          <a:p>
            <a:r>
              <a:rPr lang="en-IN" dirty="0">
                <a:solidFill>
                  <a:schemeClr val="bg1"/>
                </a:solidFill>
              </a:rPr>
              <a:t>     ↓</a:t>
            </a:r>
          </a:p>
          <a:p>
            <a:r>
              <a:rPr lang="en-IN" dirty="0">
                <a:solidFill>
                  <a:schemeClr val="bg1"/>
                </a:solidFill>
              </a:rPr>
              <a:t>FASTQ reads</a:t>
            </a:r>
          </a:p>
          <a:p>
            <a:r>
              <a:rPr lang="en-IN" dirty="0">
                <a:solidFill>
                  <a:schemeClr val="bg1"/>
                </a:solidFill>
              </a:rPr>
              <a:t>     ↓</a:t>
            </a:r>
          </a:p>
          <a:p>
            <a:r>
              <a:rPr lang="en-IN" dirty="0">
                <a:solidFill>
                  <a:schemeClr val="bg1"/>
                </a:solidFill>
              </a:rPr>
              <a:t>Quality control</a:t>
            </a:r>
          </a:p>
          <a:p>
            <a:r>
              <a:rPr lang="en-IN" dirty="0">
                <a:solidFill>
                  <a:schemeClr val="bg1"/>
                </a:solidFill>
              </a:rPr>
              <a:t>     ↓</a:t>
            </a:r>
          </a:p>
          <a:p>
            <a:r>
              <a:rPr lang="en-IN" dirty="0">
                <a:solidFill>
                  <a:schemeClr val="bg1"/>
                </a:solidFill>
              </a:rPr>
              <a:t>Read mapping</a:t>
            </a:r>
          </a:p>
          <a:p>
            <a:r>
              <a:rPr lang="en-IN" dirty="0">
                <a:solidFill>
                  <a:schemeClr val="bg1"/>
                </a:solidFill>
              </a:rPr>
              <a:t>     ↓</a:t>
            </a:r>
          </a:p>
          <a:p>
            <a:r>
              <a:rPr lang="en-IN" dirty="0">
                <a:solidFill>
                  <a:schemeClr val="bg1"/>
                </a:solidFill>
              </a:rPr>
              <a:t>SAM → BAM</a:t>
            </a:r>
          </a:p>
          <a:p>
            <a:r>
              <a:rPr lang="en-IN" dirty="0">
                <a:solidFill>
                  <a:schemeClr val="bg1"/>
                </a:solidFill>
              </a:rPr>
              <a:t>     ↓</a:t>
            </a:r>
          </a:p>
          <a:p>
            <a:r>
              <a:rPr lang="en-IN" dirty="0">
                <a:solidFill>
                  <a:schemeClr val="bg1"/>
                </a:solidFill>
              </a:rPr>
              <a:t>Sort + index</a:t>
            </a:r>
          </a:p>
          <a:p>
            <a:r>
              <a:rPr lang="en-IN" dirty="0">
                <a:solidFill>
                  <a:schemeClr val="bg1"/>
                </a:solidFill>
              </a:rPr>
              <a:t>     ↓</a:t>
            </a:r>
          </a:p>
          <a:p>
            <a:r>
              <a:rPr lang="en-IN" dirty="0">
                <a:solidFill>
                  <a:schemeClr val="bg1"/>
                </a:solidFill>
              </a:rPr>
              <a:t>Variant calling</a:t>
            </a:r>
          </a:p>
          <a:p>
            <a:r>
              <a:rPr lang="en-IN" dirty="0">
                <a:solidFill>
                  <a:schemeClr val="bg1"/>
                </a:solidFill>
              </a:rPr>
              <a:t>     ↓</a:t>
            </a:r>
          </a:p>
          <a:p>
            <a:r>
              <a:rPr lang="en-IN" dirty="0">
                <a:solidFill>
                  <a:schemeClr val="bg1"/>
                </a:solidFill>
              </a:rPr>
              <a:t>VCF</a:t>
            </a:r>
          </a:p>
          <a:p>
            <a:r>
              <a:rPr lang="en-IN" dirty="0">
                <a:solidFill>
                  <a:schemeClr val="bg1"/>
                </a:solidFill>
              </a:rPr>
              <a:t>     ↓</a:t>
            </a:r>
          </a:p>
          <a:p>
            <a:r>
              <a:rPr lang="en-IN" dirty="0">
                <a:solidFill>
                  <a:schemeClr val="bg1"/>
                </a:solidFill>
              </a:rPr>
              <a:t>Filtering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BC6100-3832-10D6-3372-716588B0DEC9}"/>
              </a:ext>
            </a:extLst>
          </p:cNvPr>
          <p:cNvSpPr txBox="1"/>
          <p:nvPr/>
        </p:nvSpPr>
        <p:spPr>
          <a:xfrm>
            <a:off x="3048000" y="2828836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#CHROM  POS     ID      REF     ALT     QUAL    FILTER  INFO</a:t>
            </a:r>
          </a:p>
          <a:p>
            <a:r>
              <a:rPr lang="en-IN" dirty="0">
                <a:solidFill>
                  <a:schemeClr val="bg1"/>
                </a:solidFill>
              </a:rPr>
              <a:t>NC_000913       1523    .       A       G       99      PASS    DP=45</a:t>
            </a:r>
          </a:p>
          <a:p>
            <a:r>
              <a:rPr lang="en-IN" dirty="0">
                <a:solidFill>
                  <a:schemeClr val="bg1"/>
                </a:solidFill>
              </a:rPr>
              <a:t>NC_000913       2876    .       C       T       87      PASS    DP=32</a:t>
            </a:r>
          </a:p>
          <a:p>
            <a:r>
              <a:rPr lang="en-IN" dirty="0">
                <a:solidFill>
                  <a:schemeClr val="bg1"/>
                </a:solidFill>
              </a:rPr>
              <a:t>NC_000913       4312    .       G       GA      65      PASS    DP=28</a:t>
            </a:r>
          </a:p>
        </p:txBody>
      </p:sp>
    </p:spTree>
    <p:extLst>
      <p:ext uri="{BB962C8B-B14F-4D97-AF65-F5344CB8AC3E}">
        <p14:creationId xmlns:p14="http://schemas.microsoft.com/office/powerpoint/2010/main" val="19489179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2561</TotalTime>
  <Words>113</Words>
  <Application>Microsoft Office PowerPoint</Application>
  <PresentationFormat>Widescreen</PresentationFormat>
  <Paragraphs>28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Aptos</vt:lpstr>
      <vt:lpstr>Arial</vt:lpstr>
      <vt:lpstr>Calibri</vt:lpstr>
      <vt:lpstr>Cambria</vt:lpstr>
      <vt:lpstr>Georgia</vt:lpstr>
      <vt:lpstr>Office Theme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Sucheta Tripathi</cp:lastModifiedBy>
  <cp:revision>41</cp:revision>
  <dcterms:created xsi:type="dcterms:W3CDTF">2026-08-25T11:32:45Z</dcterms:created>
  <dcterms:modified xsi:type="dcterms:W3CDTF">2026-09-03T06:04:24Z</dcterms:modified>
</cp:coreProperties>
</file>