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295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Ninety minutes, five parts, and we finish by plotting real RNA-seq data from a published mouse mammary gland study. Ask everyone to open RStudio now and confirm they can see four panes.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not an R mastery course. Learning R is like learning a spoken language — nobody is fluent after ninety minutes. The goal is enough confidence to keep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 is context — eleven minutes. Keep it moving; the payoff comes in part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never touches the hardware directly, it asks the operating system. That is why the same script runs on a Windows laptop, a colleague's Mac and the institute's Linux cluster with no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names worth remembering: John Chambers at Bell Labs for S, and Ihaka and Gentleman in Auckland for R. CRAN is why the ecosystem compounded.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currently analyses data in Excel — most hands go up. Excel is fine for forty rows. The arguments that land are reproducibility, Bioconductor, and figures you can regenerate.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sceptic: R is not an academic curiosity. Most of these organisations publish their R work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two, eighteen minutes. This decides whether people come back to R next week — orientation matters more than syntax at this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install RStudio and think they have installed R. Say it plainly — you need both, R first. The cooking analogy is worth repeating all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last line on the left: R can run headless. Everything shown in RStudio today can be submitted as a batch job on the cluster without rewriting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RStudio window here if the projector allows it. Otherwise walk the screenshot: script top left, console bottom left, environment top right, output bottom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shortcuts to make people write down: Ctrl/Cmd + Enter to send a line from script to console, and Ctrl-L to clear the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this: type 1 + 1 in the console, then make a script with File &gt; New File &gt; R Script and run 2 + 2 with the shortcut. Record versus scratchpad is the whole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common source of beginner frustration: R cannot find the file. Do the five steps live, then mention RStudio Projects as the way to stop thinking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tab completion live — type ggp and press Tab. Then show a help page and point out the Examples section at the bottom is usually the fastest way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fear early. Type each of these wrong on purpose, read the error out loud, then fix it. A lone plus sign means R is still waiting — Escape gets you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three, twenty minutes, the densest stretch. It is fine if details blur — the vocabulary is what matters, so they recognise these words in a tutorial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these cause almost all beginner confusion: character versus factor, and integer versus numeric. Factors matter because every model in R treats them as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Alt-minus on screen; people use it hundreds of times a day. Also: assignment produces no output — beginners think nothing happened and run the line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Vectorisation is the idea to sell: marks divided by 100 divides every element, no loop needed. People coming from Excel find this liberating once it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logical filter on the right transfers directly to real work — removing zero-count genes before a differential expression analysis is exactly this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data frame as the object they will spend all their time with: a spreadsheet where each column has a type. Everything after this operates on data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habit: never plot data you have not looked at. Run str and summary on the counts object live and read out what the column types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four, twelve minutes. Keep it brisk — this is the map of the ecosystem, not a tour of every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hex stickers are a real cultural artefact. One point: almost anything you need has already been written, tested and documented by someone whose research problem was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live: install one small package and load it. Then repeat the saucepan analogy — install once, library every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tidy data rule is the important sentence. Once data is in that shape, every tidyverse verb works on it without special cases — that is the whole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names to leave the room with. For RNA-seq this week, DESeq2 and edgeR are the two to look at tomorrow; for sequence work it is Biostrings.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five, twenty-two minutes, the part people remember. Everything from here is one continuous worked example — read, tidy, join,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design out loud: two cell populations, three developmental stages, two mice each. Wap and the caseins should be off in virgin mice and enormous during lactation.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and read the column specification out loud — it is not an error. Point out the ...1 column name: read_csv found a blank header and filled it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hinge of the session. Twelve count columns become two: Sample and Count. ggplot cannot plot the wide version; it can plot the long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operations: the join attaches metadata to every count row, then case_when shortens six unwieldy descriptions into six short group labels we can put on an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Data, mapping, geom — three things, and swapping the geom changes the whole plot type without touching anything else. Warn about the plus sign going at the end of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all four versions in sequence. The warning about 84,054 non-finite values is the teaching moment: log2 of zero is undefined, so add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plot with the biology in it. Wap and the caseins are near zero in virgin mice and enormous in lactating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one layer at a time and let people see each change land. Dark2 and the other Brewer palettes are chosen for print and for colourblind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Alphabetical order puts lactating before virgin, which reverses the biology. Make it a factor with the levels you want and every plot and legend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questions. The data folder and this script are all they need. If there is time, do task one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on reproducibility. An R Markdown file is the analysis and the write-up in one place; sessionInfo at the end records the versions that produced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sentences. Read them out; this is the recap people will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a schedule, not a reading list. The most useful commitment is step three: one real dataset of their own,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questions here. If nobody speaks, offer the first exercise task as a prompt: who wants to see what the violin plot shows?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Basics for Biologists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5666065" y="4004667"/>
            <a:ext cx="76513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GENOME HACKWEEK 2026 · 90 MINUTES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71085" y="4534257"/>
            <a:ext cx="9400413" cy="966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296"/>
              </a:lnSpc>
              <a:buNone/>
            </a:pPr>
            <a:r>
              <a:rPr lang="en-US" sz="6900" b="1" kern="0" spc="-103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Basics for Biologists</a:t>
            </a:r>
            <a:endParaRPr lang="en-US" sz="6900" dirty="0"/>
          </a:p>
        </p:txBody>
      </p:sp>
      <p:sp>
        <p:nvSpPr>
          <p:cNvPr id="11" name="Shape 8"/>
          <p:cNvSpPr/>
          <p:nvPr/>
        </p:nvSpPr>
        <p:spPr>
          <a:xfrm>
            <a:off x="8524875" y="5786914"/>
            <a:ext cx="12382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2" name="Text 9"/>
          <p:cNvSpPr/>
          <p:nvPr/>
        </p:nvSpPr>
        <p:spPr>
          <a:xfrm>
            <a:off x="4643795" y="6129814"/>
            <a:ext cx="9900321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75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introduction to R programming for genomics</a:t>
            </a:r>
            <a:endParaRPr lang="en-US" sz="2775" dirty="0"/>
          </a:p>
        </p:txBody>
      </p:sp>
      <p:sp>
        <p:nvSpPr>
          <p:cNvPr id="13" name="Text 10"/>
          <p:cNvSpPr/>
          <p:nvPr/>
        </p:nvSpPr>
        <p:spPr>
          <a:xfrm>
            <a:off x="5235297" y="7059454"/>
            <a:ext cx="214906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7C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7608094" y="7059454"/>
            <a:ext cx="1726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7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8123634" y="7059454"/>
            <a:ext cx="245068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7C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CSIR-IICB, Kolkata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0770632" y="7059454"/>
            <a:ext cx="1726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7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11286173" y="7059454"/>
            <a:ext cx="194318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7C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August 2026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outline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Session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parts, ninety minutes, one real dataset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543300"/>
            <a:ext cx="16459200" cy="4179570"/>
          </a:xfrm>
          <a:prstGeom prst="roundRect">
            <a:avLst>
              <a:gd name="adj" fmla="val 2279"/>
            </a:avLst>
          </a:prstGeom>
          <a:solidFill>
            <a:srgbClr val="FFFFFF">
              <a:alpha val="92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3970" y="442341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83970" y="3808095"/>
            <a:ext cx="7810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255520" y="3865245"/>
            <a:ext cx="4400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R?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522720" y="3872865"/>
            <a:ext cx="99787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language came from, and why biologists pick it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5784831" y="3884295"/>
            <a:ext cx="121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min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283970" y="522732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283970" y="4612005"/>
            <a:ext cx="7810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255520" y="4669155"/>
            <a:ext cx="4400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and RStudio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6522720" y="4676775"/>
            <a:ext cx="99787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Panes, scripts, working directory, help, and error messages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5784831" y="4688205"/>
            <a:ext cx="121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min</a:t>
            </a:r>
            <a:endParaRPr lang="en-US" sz="1950" dirty="0"/>
          </a:p>
        </p:txBody>
      </p:sp>
      <p:sp>
        <p:nvSpPr>
          <p:cNvPr id="22" name="Shape 19"/>
          <p:cNvSpPr/>
          <p:nvPr/>
        </p:nvSpPr>
        <p:spPr>
          <a:xfrm>
            <a:off x="1283970" y="603123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283970" y="5415915"/>
            <a:ext cx="7810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2255520" y="5473065"/>
            <a:ext cx="4400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Fundamentals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6522720" y="5480685"/>
            <a:ext cx="99787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data types, vectors, and data frames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5784831" y="5492115"/>
            <a:ext cx="121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min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1283970" y="683514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283970" y="6219825"/>
            <a:ext cx="7810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2255520" y="6276975"/>
            <a:ext cx="4400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Packages &amp; the Tidyverse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6522720" y="6284595"/>
            <a:ext cx="99787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CRAN, Bioconductor, and the tidyverse stack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5784831" y="6296025"/>
            <a:ext cx="121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min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1283970" y="7023735"/>
            <a:ext cx="7810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2255520" y="7080885"/>
            <a:ext cx="4400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Hands-On: RNA-seq</a:t>
            </a:r>
            <a:endParaRPr lang="en-US" sz="2250" dirty="0"/>
          </a:p>
        </p:txBody>
      </p:sp>
      <p:sp>
        <p:nvSpPr>
          <p:cNvPr id="34" name="Text 31"/>
          <p:cNvSpPr/>
          <p:nvPr/>
        </p:nvSpPr>
        <p:spPr>
          <a:xfrm>
            <a:off x="6522720" y="7088505"/>
            <a:ext cx="99787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tidy, join and plot GSE60450 with ggplot2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5784831" y="7099935"/>
            <a:ext cx="121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min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914400" y="8839200"/>
            <a:ext cx="1810512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C44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along: RStudio open, a folder named </a:t>
            </a:r>
            <a:r>
              <a:rPr lang="en-US" sz="1950" i="1" dirty="0">
                <a:solidFill>
                  <a:srgbClr val="2C44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Intro_R_course</a:t>
            </a:r>
            <a:r>
              <a:rPr lang="en-US" sz="1950" i="1" dirty="0">
                <a:solidFill>
                  <a:srgbClr val="2C44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 </a:t>
            </a:r>
            <a:r>
              <a:rPr lang="en-US" sz="1950" i="1" dirty="0">
                <a:solidFill>
                  <a:srgbClr val="2C44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</a:t>
            </a:r>
            <a:r>
              <a:rPr lang="en-US" sz="1950" i="1" dirty="0">
                <a:solidFill>
                  <a:srgbClr val="2C44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folder unzipped inside it.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01 · What Is R?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238250" y="4836795"/>
            <a:ext cx="2445710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032"/>
              </a:lnSpc>
              <a:buNone/>
            </a:pPr>
            <a:r>
              <a:rPr lang="en-US" sz="14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700" dirty="0"/>
          </a:p>
        </p:txBody>
      </p:sp>
      <p:sp>
        <p:nvSpPr>
          <p:cNvPr id="10" name="Text 7"/>
          <p:cNvSpPr/>
          <p:nvPr/>
        </p:nvSpPr>
        <p:spPr>
          <a:xfrm>
            <a:off x="4299823" y="4746903"/>
            <a:ext cx="14024920" cy="92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43"/>
              </a:lnSpc>
              <a:buNone/>
            </a:pPr>
            <a:r>
              <a:rPr lang="en-US" sz="6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6450" dirty="0"/>
          </a:p>
        </p:txBody>
      </p:sp>
      <p:sp>
        <p:nvSpPr>
          <p:cNvPr id="11" name="Shape 8"/>
          <p:cNvSpPr/>
          <p:nvPr/>
        </p:nvSpPr>
        <p:spPr>
          <a:xfrm>
            <a:off x="4299823" y="5917287"/>
            <a:ext cx="10477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2" name="Text 9"/>
          <p:cNvSpPr/>
          <p:nvPr/>
        </p:nvSpPr>
        <p:spPr>
          <a:xfrm>
            <a:off x="4299823" y="6241137"/>
            <a:ext cx="140249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History, architecture, and why it matters for biology</a:t>
            </a:r>
            <a:endParaRPr lang="en-US" sz="2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01 · What Is 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 Fits Into Your Computer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communication stack, from your question down to the hardware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620250" cy="731520"/>
          </a:xfrm>
          <a:prstGeom prst="roundRect">
            <a:avLst>
              <a:gd name="adj" fmla="val 13021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770" y="3855720"/>
            <a:ext cx="33528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You, the biologist</a:t>
            </a:r>
            <a:endParaRPr lang="en-US" sz="2325" dirty="0"/>
          </a:p>
        </p:txBody>
      </p:sp>
      <p:sp>
        <p:nvSpPr>
          <p:cNvPr id="13" name="Text 10"/>
          <p:cNvSpPr/>
          <p:nvPr/>
        </p:nvSpPr>
        <p:spPr>
          <a:xfrm>
            <a:off x="4484370" y="3901440"/>
            <a:ext cx="343504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hypotheses, analyses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433388" y="4465320"/>
            <a:ext cx="10582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1250"/>
              </a:lnSpc>
              <a:buNone/>
            </a:pPr>
            <a:r>
              <a:rPr lang="en-US" sz="1950" dirty="0">
                <a:solidFill>
                  <a:srgbClr val="E0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914400" y="4789170"/>
            <a:ext cx="9620250" cy="731520"/>
          </a:xfrm>
          <a:prstGeom prst="roundRect">
            <a:avLst>
              <a:gd name="adj" fmla="val 13021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770" y="4987290"/>
            <a:ext cx="33528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R, or Python</a:t>
            </a:r>
            <a:endParaRPr lang="en-US" sz="2325" dirty="0"/>
          </a:p>
        </p:txBody>
      </p:sp>
      <p:sp>
        <p:nvSpPr>
          <p:cNvPr id="17" name="Text 14"/>
          <p:cNvSpPr/>
          <p:nvPr/>
        </p:nvSpPr>
        <p:spPr>
          <a:xfrm>
            <a:off x="4484370" y="5033010"/>
            <a:ext cx="476176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that turns intent into instructions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433388" y="5596890"/>
            <a:ext cx="10582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1250"/>
              </a:lnSpc>
              <a:buNone/>
            </a:pPr>
            <a:r>
              <a:rPr lang="en-US" sz="1950" dirty="0">
                <a:solidFill>
                  <a:srgbClr val="E0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914400" y="5920740"/>
            <a:ext cx="9620250" cy="731520"/>
          </a:xfrm>
          <a:prstGeom prst="roundRect">
            <a:avLst>
              <a:gd name="adj" fmla="val 13021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7770" y="6118860"/>
            <a:ext cx="33528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system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4484370" y="6164580"/>
            <a:ext cx="282892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or Linux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433388" y="6728460"/>
            <a:ext cx="10582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1250"/>
              </a:lnSpc>
              <a:buNone/>
            </a:pPr>
            <a:r>
              <a:rPr lang="en-US" sz="1950" dirty="0">
                <a:solidFill>
                  <a:srgbClr val="E0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914400" y="7052310"/>
            <a:ext cx="9620250" cy="731520"/>
          </a:xfrm>
          <a:prstGeom prst="roundRect">
            <a:avLst>
              <a:gd name="adj" fmla="val 13021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07770" y="7250430"/>
            <a:ext cx="33528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2325" dirty="0"/>
          </a:p>
        </p:txBody>
      </p:sp>
      <p:sp>
        <p:nvSpPr>
          <p:cNvPr id="25" name="Text 22"/>
          <p:cNvSpPr/>
          <p:nvPr/>
        </p:nvSpPr>
        <p:spPr>
          <a:xfrm>
            <a:off x="4484370" y="7296150"/>
            <a:ext cx="199203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storage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1068050" y="3657600"/>
            <a:ext cx="6305550" cy="4629150"/>
          </a:xfrm>
          <a:prstGeom prst="roundRect">
            <a:avLst>
              <a:gd name="adj" fmla="val 2058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1449050" y="4000500"/>
            <a:ext cx="60979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449050" y="4495800"/>
            <a:ext cx="570985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asks the operating system to do the low-level work, so the same script runs unchanged on your laptop, a colleague's Mac, and the institute's Linux cluster.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11449050" y="6343650"/>
            <a:ext cx="570985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B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also an </a:t>
            </a:r>
            <a:r>
              <a:rPr lang="en-US" sz="2100" i="1" dirty="0">
                <a:solidFill>
                  <a:srgbClr val="B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</a:t>
            </a:r>
            <a:r>
              <a:rPr lang="en-US" sz="2100" dirty="0">
                <a:solidFill>
                  <a:srgbClr val="B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you type a line, R runs it and answers immediately. No compile step — which is exactly what you want when exploring data.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01 · What Is 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&amp; Introduction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Bell Labs research language to the standard for statistical computing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4057650"/>
            <a:ext cx="16459200" cy="28575"/>
          </a:xfrm>
          <a:prstGeom prst="rect">
            <a:avLst/>
          </a:prstGeom>
          <a:solidFill>
            <a:srgbClr val="16294A">
              <a:alpha val="1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867150"/>
            <a:ext cx="419100" cy="419100"/>
          </a:xfrm>
          <a:prstGeom prst="ellipse">
            <a:avLst/>
          </a:prstGeom>
          <a:solidFill>
            <a:srgbClr val="E0A11B"/>
          </a:solidFill>
          <a:ln w="45720">
            <a:solidFill>
              <a:srgbClr val="E4EB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629150"/>
            <a:ext cx="3914775" cy="2590324"/>
          </a:xfrm>
          <a:prstGeom prst="roundRect">
            <a:avLst>
              <a:gd name="adj" fmla="val 367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770" y="4903470"/>
            <a:ext cx="36608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21"/>
              </a:lnSpc>
              <a:buNone/>
            </a:pPr>
            <a:r>
              <a:rPr lang="en-US" sz="34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1976</a:t>
            </a:r>
            <a:endParaRPr lang="en-US" sz="3450" dirty="0"/>
          </a:p>
        </p:txBody>
      </p:sp>
      <p:sp>
        <p:nvSpPr>
          <p:cNvPr id="15" name="Text 12"/>
          <p:cNvSpPr/>
          <p:nvPr/>
        </p:nvSpPr>
        <p:spPr>
          <a:xfrm>
            <a:off x="1207770" y="5455920"/>
            <a:ext cx="36608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 language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207770" y="5909310"/>
            <a:ext cx="3427876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43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Chambers and colleagues build S at Bell Labs as a language for interactive data analysis.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5095875" y="3867150"/>
            <a:ext cx="419100" cy="419100"/>
          </a:xfrm>
          <a:prstGeom prst="ellipse">
            <a:avLst/>
          </a:prstGeom>
          <a:solidFill>
            <a:srgbClr val="E0A11B"/>
          </a:solidFill>
          <a:ln w="45720">
            <a:solidFill>
              <a:srgbClr val="E4EB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95875" y="4629150"/>
            <a:ext cx="3914775" cy="2590324"/>
          </a:xfrm>
          <a:prstGeom prst="roundRect">
            <a:avLst>
              <a:gd name="adj" fmla="val 367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89245" y="4903470"/>
            <a:ext cx="36608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21"/>
              </a:lnSpc>
              <a:buNone/>
            </a:pPr>
            <a:r>
              <a:rPr lang="en-US" sz="34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</a:t>
            </a:r>
            <a:endParaRPr lang="en-US" sz="3450" dirty="0"/>
          </a:p>
        </p:txBody>
      </p:sp>
      <p:sp>
        <p:nvSpPr>
          <p:cNvPr id="20" name="Text 17"/>
          <p:cNvSpPr/>
          <p:nvPr/>
        </p:nvSpPr>
        <p:spPr>
          <a:xfrm>
            <a:off x="5389245" y="5455920"/>
            <a:ext cx="36608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is born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5389245" y="5909310"/>
            <a:ext cx="3427876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43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 Ihaka and Robert Gentleman in Auckland write a free, open-source dialect of S.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9277350" y="3867150"/>
            <a:ext cx="419100" cy="419100"/>
          </a:xfrm>
          <a:prstGeom prst="ellipse">
            <a:avLst/>
          </a:prstGeom>
          <a:solidFill>
            <a:srgbClr val="E0A11B"/>
          </a:solidFill>
          <a:ln w="45720">
            <a:solidFill>
              <a:srgbClr val="E4EB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77350" y="4629150"/>
            <a:ext cx="3914775" cy="2935605"/>
          </a:xfrm>
          <a:prstGeom prst="roundRect">
            <a:avLst>
              <a:gd name="adj" fmla="val 324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70720" y="4903470"/>
            <a:ext cx="36608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21"/>
              </a:lnSpc>
              <a:buNone/>
            </a:pPr>
            <a:r>
              <a:rPr lang="en-US" sz="34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3450" dirty="0"/>
          </a:p>
        </p:txBody>
      </p:sp>
      <p:sp>
        <p:nvSpPr>
          <p:cNvPr id="25" name="Text 22"/>
          <p:cNvSpPr/>
          <p:nvPr/>
        </p:nvSpPr>
        <p:spPr>
          <a:xfrm>
            <a:off x="9570720" y="5455920"/>
            <a:ext cx="36608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CRAN opens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9570720" y="5909310"/>
            <a:ext cx="3427876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43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archive, one install command. Community packages become checked, versioned and findable.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13458825" y="3867150"/>
            <a:ext cx="419100" cy="419100"/>
          </a:xfrm>
          <a:prstGeom prst="ellipse">
            <a:avLst/>
          </a:prstGeom>
          <a:solidFill>
            <a:srgbClr val="E0A11B"/>
          </a:solidFill>
          <a:ln w="45720">
            <a:solidFill>
              <a:srgbClr val="E4EB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3458825" y="4629150"/>
            <a:ext cx="3914775" cy="2575084"/>
          </a:xfrm>
          <a:prstGeom prst="roundRect">
            <a:avLst>
              <a:gd name="adj" fmla="val 3699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3744575" y="4895850"/>
            <a:ext cx="36776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21"/>
              </a:lnSpc>
              <a:buNone/>
            </a:pPr>
            <a:r>
              <a:rPr lang="en-US" sz="34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3450" dirty="0"/>
          </a:p>
        </p:txBody>
      </p:sp>
      <p:sp>
        <p:nvSpPr>
          <p:cNvPr id="30" name="Text 27"/>
          <p:cNvSpPr/>
          <p:nvPr/>
        </p:nvSpPr>
        <p:spPr>
          <a:xfrm>
            <a:off x="13744575" y="5448300"/>
            <a:ext cx="367760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 packages</a:t>
            </a:r>
            <a:endParaRPr lang="en-US" sz="2250" dirty="0"/>
          </a:p>
        </p:txBody>
      </p:sp>
      <p:sp>
        <p:nvSpPr>
          <p:cNvPr id="31" name="Text 28"/>
          <p:cNvSpPr/>
          <p:nvPr/>
        </p:nvSpPr>
        <p:spPr>
          <a:xfrm>
            <a:off x="13744575" y="5901690"/>
            <a:ext cx="3443573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43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runs genomics, ecology, clinical trials, epidemiology and data journalism worldwide.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01 · What Is 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Learn R?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reasons biologists move from spreadsheets to scripts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5321261" cy="2007870"/>
          </a:xfrm>
          <a:prstGeom prst="roundRect">
            <a:avLst>
              <a:gd name="adj" fmla="val 474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770" y="3912870"/>
            <a:ext cx="52079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07770" y="4293870"/>
            <a:ext cx="520797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and open source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1207770" y="4743450"/>
            <a:ext cx="48765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licence, no seat limit. It runs on every machine in the lab and on the cluster.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6483311" y="3657600"/>
            <a:ext cx="5321261" cy="2007870"/>
          </a:xfrm>
          <a:prstGeom prst="roundRect">
            <a:avLst>
              <a:gd name="adj" fmla="val 474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76681" y="3912870"/>
            <a:ext cx="52079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76681" y="4293870"/>
            <a:ext cx="520797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statistics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6776681" y="4743450"/>
            <a:ext cx="48765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t-tests, ANOVA, mixed models and regression ship in the base install, not an add-on.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2052221" y="3657600"/>
            <a:ext cx="5321261" cy="2007870"/>
          </a:xfrm>
          <a:prstGeom prst="roundRect">
            <a:avLst>
              <a:gd name="adj" fmla="val 474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5591" y="3912870"/>
            <a:ext cx="52079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345591" y="4293870"/>
            <a:ext cx="520797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genomics</a:t>
            </a:r>
            <a:endParaRPr lang="en-US" sz="2325" dirty="0"/>
          </a:p>
        </p:txBody>
      </p:sp>
      <p:sp>
        <p:nvSpPr>
          <p:cNvPr id="22" name="Text 19"/>
          <p:cNvSpPr/>
          <p:nvPr/>
        </p:nvSpPr>
        <p:spPr>
          <a:xfrm>
            <a:off x="12345591" y="4743450"/>
            <a:ext cx="48765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Bioconductor adds 2,300+ reviewed packages for sequencing, arrays and annotation.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914400" y="5913120"/>
            <a:ext cx="5321261" cy="2007870"/>
          </a:xfrm>
          <a:prstGeom prst="roundRect">
            <a:avLst>
              <a:gd name="adj" fmla="val 474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07770" y="6168390"/>
            <a:ext cx="52079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07770" y="6549390"/>
            <a:ext cx="520797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 figures</a:t>
            </a:r>
            <a:endParaRPr lang="en-US" sz="2325" dirty="0"/>
          </a:p>
        </p:txBody>
      </p:sp>
      <p:sp>
        <p:nvSpPr>
          <p:cNvPr id="26" name="Text 23"/>
          <p:cNvSpPr/>
          <p:nvPr/>
        </p:nvSpPr>
        <p:spPr>
          <a:xfrm>
            <a:off x="1207770" y="6998970"/>
            <a:ext cx="48765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gives journal-quality graphics you can regenerate on demand, not redraw.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6483311" y="5913120"/>
            <a:ext cx="5321261" cy="2007870"/>
          </a:xfrm>
          <a:prstGeom prst="roundRect">
            <a:avLst>
              <a:gd name="adj" fmla="val 474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76681" y="6168390"/>
            <a:ext cx="52079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776681" y="6549390"/>
            <a:ext cx="520797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</a:t>
            </a:r>
            <a:endParaRPr lang="en-US" sz="2325" dirty="0"/>
          </a:p>
        </p:txBody>
      </p:sp>
      <p:sp>
        <p:nvSpPr>
          <p:cNvPr id="30" name="Text 27"/>
          <p:cNvSpPr/>
          <p:nvPr/>
        </p:nvSpPr>
        <p:spPr>
          <a:xfrm>
            <a:off x="6776681" y="6998970"/>
            <a:ext cx="48765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is a record. Anyone — including you in six months — can re-run it exactly.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12052221" y="5913120"/>
            <a:ext cx="5321261" cy="2007870"/>
          </a:xfrm>
          <a:prstGeom prst="roundRect">
            <a:avLst>
              <a:gd name="adj" fmla="val 474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345591" y="6168390"/>
            <a:ext cx="52079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2345591" y="6549390"/>
            <a:ext cx="520797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2325" dirty="0"/>
          </a:p>
        </p:txBody>
      </p:sp>
      <p:sp>
        <p:nvSpPr>
          <p:cNvPr id="34" name="Text 31"/>
          <p:cNvSpPr/>
          <p:nvPr/>
        </p:nvSpPr>
        <p:spPr>
          <a:xfrm>
            <a:off x="12345591" y="6998970"/>
            <a:ext cx="48765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10,000 genes or 200 samples instead of clicking through them one by one.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01 · What Is 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R?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academia, industry, government and journalism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963150" cy="5715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1247537" y="3912870"/>
            <a:ext cx="9296876" cy="520434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220450" y="3657600"/>
            <a:ext cx="6153150" cy="1213485"/>
          </a:xfrm>
          <a:prstGeom prst="roundRect">
            <a:avLst>
              <a:gd name="adj" fmla="val 7849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513820" y="3893820"/>
            <a:ext cx="61230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</a:t>
            </a:r>
            <a:endParaRPr lang="en-US" sz="2175" dirty="0"/>
          </a:p>
        </p:txBody>
      </p:sp>
      <p:sp>
        <p:nvSpPr>
          <p:cNvPr id="15" name="Text 11"/>
          <p:cNvSpPr/>
          <p:nvPr/>
        </p:nvSpPr>
        <p:spPr>
          <a:xfrm>
            <a:off x="11513820" y="4301490"/>
            <a:ext cx="61230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effectiveness and economic forecasting</a:t>
            </a:r>
            <a:endParaRPr lang="en-US" sz="1875" dirty="0"/>
          </a:p>
        </p:txBody>
      </p:sp>
      <p:sp>
        <p:nvSpPr>
          <p:cNvPr id="16" name="Shape 12"/>
          <p:cNvSpPr/>
          <p:nvPr/>
        </p:nvSpPr>
        <p:spPr>
          <a:xfrm>
            <a:off x="11220450" y="5004435"/>
            <a:ext cx="615315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513820" y="5240655"/>
            <a:ext cx="61230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</a:t>
            </a:r>
            <a:endParaRPr lang="en-US" sz="2175" dirty="0"/>
          </a:p>
        </p:txBody>
      </p:sp>
      <p:sp>
        <p:nvSpPr>
          <p:cNvPr id="18" name="Text 14"/>
          <p:cNvSpPr/>
          <p:nvPr/>
        </p:nvSpPr>
        <p:spPr>
          <a:xfrm>
            <a:off x="11513820" y="5648325"/>
            <a:ext cx="573340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Revolution R; ships R in Azure ML and SQL Server</a:t>
            </a:r>
            <a:endParaRPr lang="en-US" sz="1875" dirty="0"/>
          </a:p>
        </p:txBody>
      </p:sp>
      <p:sp>
        <p:nvSpPr>
          <p:cNvPr id="19" name="Shape 15"/>
          <p:cNvSpPr/>
          <p:nvPr/>
        </p:nvSpPr>
        <p:spPr>
          <a:xfrm>
            <a:off x="11220450" y="6684645"/>
            <a:ext cx="6153150" cy="1213485"/>
          </a:xfrm>
          <a:prstGeom prst="roundRect">
            <a:avLst>
              <a:gd name="adj" fmla="val 7849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513820" y="6920865"/>
            <a:ext cx="61230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York Times</a:t>
            </a:r>
            <a:endParaRPr lang="en-US" sz="2175" dirty="0"/>
          </a:p>
        </p:txBody>
      </p:sp>
      <p:sp>
        <p:nvSpPr>
          <p:cNvPr id="21" name="Text 17"/>
          <p:cNvSpPr/>
          <p:nvPr/>
        </p:nvSpPr>
        <p:spPr>
          <a:xfrm>
            <a:off x="11513820" y="7328535"/>
            <a:ext cx="61230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journalism graphics, built and rebuilt on deadline</a:t>
            </a:r>
            <a:endParaRPr lang="en-US" sz="1875" dirty="0"/>
          </a:p>
        </p:txBody>
      </p:sp>
      <p:sp>
        <p:nvSpPr>
          <p:cNvPr id="22" name="Shape 18"/>
          <p:cNvSpPr/>
          <p:nvPr/>
        </p:nvSpPr>
        <p:spPr>
          <a:xfrm>
            <a:off x="11220450" y="8031480"/>
            <a:ext cx="6153150" cy="1531620"/>
          </a:xfrm>
          <a:prstGeom prst="roundRect">
            <a:avLst>
              <a:gd name="adj" fmla="val 6219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11506200" y="8260080"/>
            <a:ext cx="61398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 and public health</a:t>
            </a:r>
            <a:endParaRPr lang="en-US" sz="2175" dirty="0"/>
          </a:p>
        </p:txBody>
      </p:sp>
      <p:sp>
        <p:nvSpPr>
          <p:cNvPr id="24" name="Text 20"/>
          <p:cNvSpPr/>
          <p:nvPr/>
        </p:nvSpPr>
        <p:spPr>
          <a:xfrm>
            <a:off x="11506200" y="8667750"/>
            <a:ext cx="57491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reporting to regulators, and outbreak modelling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238250" y="4836795"/>
            <a:ext cx="2726508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032"/>
              </a:lnSpc>
              <a:buNone/>
            </a:pPr>
            <a:r>
              <a:rPr lang="en-US" sz="14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700" dirty="0"/>
          </a:p>
        </p:txBody>
      </p:sp>
      <p:sp>
        <p:nvSpPr>
          <p:cNvPr id="10" name="Text 7"/>
          <p:cNvSpPr/>
          <p:nvPr/>
        </p:nvSpPr>
        <p:spPr>
          <a:xfrm>
            <a:off x="4555093" y="4746903"/>
            <a:ext cx="13744123" cy="92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43"/>
              </a:lnSpc>
              <a:buNone/>
            </a:pPr>
            <a:r>
              <a:rPr lang="en-US" sz="6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and RStudio</a:t>
            </a:r>
            <a:endParaRPr lang="en-US" sz="6450" dirty="0"/>
          </a:p>
        </p:txBody>
      </p:sp>
      <p:sp>
        <p:nvSpPr>
          <p:cNvPr id="11" name="Shape 8"/>
          <p:cNvSpPr/>
          <p:nvPr/>
        </p:nvSpPr>
        <p:spPr>
          <a:xfrm>
            <a:off x="4555093" y="5917287"/>
            <a:ext cx="10477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2" name="Text 9"/>
          <p:cNvSpPr/>
          <p:nvPr/>
        </p:nvSpPr>
        <p:spPr>
          <a:xfrm>
            <a:off x="4555093" y="6241137"/>
            <a:ext cx="1374412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panes, scripts, working directories, help and errors</a:t>
            </a:r>
            <a:endParaRPr lang="en-US" sz="2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and RStudio: An Analogy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install two things, and only one of them does the work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1049000" cy="4305300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 rotWithShape="1">
          <a:blip r:embed="rId4"/>
          <a:srcRect l="2011"/>
          <a:stretch/>
        </p:blipFill>
        <p:spPr>
          <a:xfrm>
            <a:off x="925805" y="3930015"/>
            <a:ext cx="10888362" cy="3638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8229600"/>
            <a:ext cx="1138047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moves the car; the dashboard is how you drive it. Install R first, then RStudio — RStudio without R has nothing to run.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12268200" y="3657600"/>
            <a:ext cx="5105400" cy="4907280"/>
          </a:xfrm>
          <a:prstGeom prst="roundRect">
            <a:avLst>
              <a:gd name="adj" fmla="val 1941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2630150" y="4000500"/>
            <a:ext cx="48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ANALOGY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2630150" y="4495800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install.packages() </a:t>
            </a:r>
            <a:r>
              <a:rPr lang="en-US" sz="217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buying the saucepan.</a:t>
            </a:r>
            <a:endParaRPr lang="en-US" sz="2175" dirty="0"/>
          </a:p>
        </p:txBody>
      </p:sp>
      <p:sp>
        <p:nvSpPr>
          <p:cNvPr id="17" name="Text 13"/>
          <p:cNvSpPr/>
          <p:nvPr/>
        </p:nvSpPr>
        <p:spPr>
          <a:xfrm>
            <a:off x="12630150" y="5514975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library() </a:t>
            </a:r>
            <a:r>
              <a:rPr lang="en-US" sz="217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taking it out of the cupboard.</a:t>
            </a:r>
            <a:endParaRPr lang="en-US" sz="2175" dirty="0"/>
          </a:p>
        </p:txBody>
      </p:sp>
      <p:sp>
        <p:nvSpPr>
          <p:cNvPr id="18" name="Text 14"/>
          <p:cNvSpPr/>
          <p:nvPr/>
        </p:nvSpPr>
        <p:spPr>
          <a:xfrm>
            <a:off x="12630150" y="6591300"/>
            <a:ext cx="45129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buy it once. You take it out every time you cook.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2630150" y="7581900"/>
            <a:ext cx="451294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Doyle, Chung &amp; Perreau — </a:t>
            </a:r>
            <a:r>
              <a:rPr lang="en-US" sz="1800" i="1" dirty="0">
                <a:solidFill>
                  <a:srgbClr val="7E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 for Biologists </a:t>
            </a:r>
            <a:r>
              <a:rPr lang="en-US" sz="1800" dirty="0">
                <a:solidFill>
                  <a:srgbClr val="7E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University of Melbourne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vs RStudio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one actually gives you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058150" cy="5676900"/>
          </a:xfrm>
          <a:prstGeom prst="roundRect">
            <a:avLst>
              <a:gd name="adj" fmla="val 1678"/>
            </a:avLst>
          </a:prstGeom>
          <a:gradFill rotWithShape="1">
            <a:gsLst>
              <a:gs pos="0">
                <a:srgbClr val="122543">
                  <a:alpha val="100000"/>
                </a:srgbClr>
              </a:gs>
              <a:gs pos="100000">
                <a:srgbClr val="1F3F6B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12" name="Text 9"/>
          <p:cNvSpPr/>
          <p:nvPr/>
        </p:nvSpPr>
        <p:spPr>
          <a:xfrm>
            <a:off x="1333500" y="4038600"/>
            <a:ext cx="65341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63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5700" dirty="0"/>
          </a:p>
        </p:txBody>
      </p:sp>
      <p:sp>
        <p:nvSpPr>
          <p:cNvPr id="13" name="Text 10"/>
          <p:cNvSpPr/>
          <p:nvPr/>
        </p:nvSpPr>
        <p:spPr>
          <a:xfrm>
            <a:off x="2120265" y="4366260"/>
            <a:ext cx="154765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333500" y="5029200"/>
            <a:ext cx="762000" cy="28575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5" name="Text 12"/>
          <p:cNvSpPr/>
          <p:nvPr/>
        </p:nvSpPr>
        <p:spPr>
          <a:xfrm>
            <a:off x="1333500" y="5343525"/>
            <a:ext cx="794194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and runs R code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1333500" y="5948363"/>
            <a:ext cx="794194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statistical and graphical functions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1333500" y="6553200"/>
            <a:ext cx="794194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objects and memory in the session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1333500" y="7158038"/>
            <a:ext cx="794194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headless — servers, clusters, scheduled jobs</a:t>
            </a:r>
            <a:endParaRPr lang="en-US" sz="2175" dirty="0"/>
          </a:p>
        </p:txBody>
      </p:sp>
      <p:sp>
        <p:nvSpPr>
          <p:cNvPr id="19" name="Text 16"/>
          <p:cNvSpPr/>
          <p:nvPr/>
        </p:nvSpPr>
        <p:spPr>
          <a:xfrm>
            <a:off x="1333500" y="7896225"/>
            <a:ext cx="7941945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3"/>
              </a:lnSpc>
              <a:buNone/>
            </a:pPr>
            <a:r>
              <a:rPr lang="en-US" sz="19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CRAN. This is the part you cannot skip.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9315450" y="3657600"/>
            <a:ext cx="8058150" cy="5676900"/>
          </a:xfrm>
          <a:prstGeom prst="roundRect">
            <a:avLst>
              <a:gd name="adj" fmla="val 167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42170" y="4046220"/>
            <a:ext cx="244846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08"/>
              </a:lnSpc>
              <a:buNone/>
            </a:pPr>
            <a:r>
              <a:rPr lang="en-US" sz="420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RStudio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12177594" y="4213860"/>
            <a:ext cx="216740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9742170" y="4846320"/>
            <a:ext cx="762000" cy="28575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24" name="Text 21"/>
          <p:cNvSpPr/>
          <p:nvPr/>
        </p:nvSpPr>
        <p:spPr>
          <a:xfrm>
            <a:off x="9742170" y="5160645"/>
            <a:ext cx="79251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editor with highlighting and autocomplete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9742170" y="5765482"/>
            <a:ext cx="79251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pane — every object you have created</a:t>
            </a:r>
            <a:endParaRPr lang="en-US" sz="2175" dirty="0"/>
          </a:p>
        </p:txBody>
      </p:sp>
      <p:sp>
        <p:nvSpPr>
          <p:cNvPr id="26" name="Text 23"/>
          <p:cNvSpPr/>
          <p:nvPr/>
        </p:nvSpPr>
        <p:spPr>
          <a:xfrm>
            <a:off x="9742170" y="6370320"/>
            <a:ext cx="79251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Plots, files, packages and help in one window</a:t>
            </a:r>
            <a:endParaRPr lang="en-US" sz="2175" dirty="0"/>
          </a:p>
        </p:txBody>
      </p:sp>
      <p:sp>
        <p:nvSpPr>
          <p:cNvPr id="27" name="Text 24"/>
          <p:cNvSpPr/>
          <p:nvPr/>
        </p:nvSpPr>
        <p:spPr>
          <a:xfrm>
            <a:off x="9742170" y="6975157"/>
            <a:ext cx="79251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 and Quarto rendering built in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9742170" y="7579995"/>
            <a:ext cx="79251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that manage the working directory for you</a:t>
            </a:r>
            <a:endParaRPr lang="en-US" sz="2175" dirty="0"/>
          </a:p>
        </p:txBody>
      </p:sp>
      <p:sp>
        <p:nvSpPr>
          <p:cNvPr id="29" name="Text 26"/>
          <p:cNvSpPr/>
          <p:nvPr/>
        </p:nvSpPr>
        <p:spPr>
          <a:xfrm>
            <a:off x="9742170" y="8318182"/>
            <a:ext cx="7925181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3"/>
              </a:lnSpc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 principle. In practice, use it.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RStudio Interface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panes, each with a distinct job</a:t>
            </a:r>
            <a:endParaRPr lang="en-US" sz="217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4870" y="3227451"/>
            <a:ext cx="9698259" cy="5575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47950" y="9182100"/>
            <a:ext cx="12992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2C44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layout may differ — pane positions are configurable under Tools &gt; Global Options &gt; Pane Layout.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Panes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lives where, and the shortcut for each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105775" cy="2330291"/>
          </a:xfrm>
          <a:prstGeom prst="roundRect">
            <a:avLst>
              <a:gd name="adj" fmla="val 408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4920" y="3970020"/>
            <a:ext cx="26289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623060" y="4030980"/>
            <a:ext cx="459556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— the script editor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1264920" y="4556760"/>
            <a:ext cx="7626877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save </a:t>
            </a:r>
            <a:r>
              <a:rPr lang="en-US" sz="202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 </a:t>
            </a: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files. Send the current line to the console with </a:t>
            </a:r>
            <a:r>
              <a:rPr lang="en-US" sz="202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Enter </a:t>
            </a: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(Cmd + Enter on Mac). Highlight several lines to run them in order.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9267825" y="3657600"/>
            <a:ext cx="8105775" cy="2330291"/>
          </a:xfrm>
          <a:prstGeom prst="roundRect">
            <a:avLst>
              <a:gd name="adj" fmla="val 408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18345" y="3970020"/>
            <a:ext cx="31492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0028516" y="4030980"/>
            <a:ext cx="460669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 — the live session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9618345" y="4556760"/>
            <a:ext cx="7626877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code actually runs, and where output, warnings and errors appear. Clear it with </a:t>
            </a:r>
            <a:r>
              <a:rPr lang="en-US" sz="202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L</a:t>
            </a: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cancel a stuck command with </a:t>
            </a:r>
            <a:r>
              <a:rPr lang="en-US" sz="202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914400" y="6235541"/>
            <a:ext cx="8105775" cy="1957388"/>
          </a:xfrm>
          <a:prstGeom prst="roundRect">
            <a:avLst>
              <a:gd name="adj" fmla="val 4866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64920" y="6547961"/>
            <a:ext cx="31420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674376" y="6608922"/>
            <a:ext cx="456517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and History</a:t>
            </a:r>
            <a:endParaRPr lang="en-US" sz="2475" dirty="0"/>
          </a:p>
        </p:txBody>
      </p:sp>
      <p:sp>
        <p:nvSpPr>
          <p:cNvPr id="22" name="Text 19"/>
          <p:cNvSpPr/>
          <p:nvPr/>
        </p:nvSpPr>
        <p:spPr>
          <a:xfrm>
            <a:off x="1264920" y="7134701"/>
            <a:ext cx="7626877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you create appears here with its dimensions. Click one to view it. History lists every command you have run this session.</a:t>
            </a:r>
            <a:endParaRPr lang="en-US" sz="2025" dirty="0"/>
          </a:p>
        </p:txBody>
      </p:sp>
      <p:sp>
        <p:nvSpPr>
          <p:cNvPr id="23" name="Shape 20"/>
          <p:cNvSpPr/>
          <p:nvPr/>
        </p:nvSpPr>
        <p:spPr>
          <a:xfrm>
            <a:off x="9267825" y="6235541"/>
            <a:ext cx="8105775" cy="1957388"/>
          </a:xfrm>
          <a:prstGeom prst="roundRect">
            <a:avLst>
              <a:gd name="adj" fmla="val 4866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18345" y="6547961"/>
            <a:ext cx="32373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10037326" y="6608922"/>
            <a:ext cx="483877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Files, Plots, Packages, Help</a:t>
            </a:r>
            <a:endParaRPr lang="en-US" sz="2475" dirty="0"/>
          </a:p>
        </p:txBody>
      </p:sp>
      <p:sp>
        <p:nvSpPr>
          <p:cNvPr id="26" name="Text 23"/>
          <p:cNvSpPr/>
          <p:nvPr/>
        </p:nvSpPr>
        <p:spPr>
          <a:xfrm>
            <a:off x="9618345" y="7134701"/>
            <a:ext cx="7626877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browser, plot viewer with Export, package installer, and the help pages — all as tabs in one pane.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 or Script?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run the same line, with very different consequences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058150" cy="2705100"/>
          </a:xfrm>
          <a:prstGeom prst="roundRect">
            <a:avLst>
              <a:gd name="adj" fmla="val 3521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5870" y="3950970"/>
            <a:ext cx="813473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console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1245870" y="4461510"/>
            <a:ext cx="813473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command, press </a:t>
            </a:r>
            <a:r>
              <a:rPr lang="en-US" sz="202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get an answer. Fast for a one-off check.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1245870" y="4967764"/>
            <a:ext cx="7617067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keeps everything you tried, including the mistakes. Nothing is saved for a reader.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9315450" y="3657600"/>
            <a:ext cx="8058150" cy="2705100"/>
          </a:xfrm>
          <a:prstGeom prst="roundRect">
            <a:avLst>
              <a:gd name="adj" fmla="val 3521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46920" y="3950970"/>
            <a:ext cx="813473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R script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9646920" y="4461510"/>
            <a:ext cx="7617067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New File &gt; R Script</a:t>
            </a: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r>
              <a:rPr lang="en-US" sz="202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Ctrl/Cmd + Enter </a:t>
            </a: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send the current line to the console.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9646920" y="5340668"/>
            <a:ext cx="7617067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Saved, commented, re-runnable. This is the version of your analysis that survives.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914400" y="6648450"/>
            <a:ext cx="8058150" cy="2686050"/>
          </a:xfrm>
          <a:prstGeom prst="roundRect">
            <a:avLst>
              <a:gd name="adj" fmla="val 3546"/>
            </a:avLst>
          </a:prstGeom>
          <a:solidFill>
            <a:srgbClr val="16294A"/>
          </a:solidFill>
          <a:ln/>
        </p:spPr>
      </p:sp>
      <p:sp>
        <p:nvSpPr>
          <p:cNvPr id="20" name="Text 17"/>
          <p:cNvSpPr/>
          <p:nvPr/>
        </p:nvSpPr>
        <p:spPr>
          <a:xfrm>
            <a:off x="1219200" y="691515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testing R — comments start with a hash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25805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60095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94385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19200" y="828675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315450" y="6648450"/>
            <a:ext cx="8058150" cy="2686050"/>
          </a:xfrm>
          <a:prstGeom prst="roundRect">
            <a:avLst>
              <a:gd name="adj" fmla="val 3546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639300" y="6934200"/>
            <a:ext cx="81514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AS YOU GO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639300" y="7410450"/>
            <a:ext cx="7632763" cy="1245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after </a:t>
            </a:r>
            <a:r>
              <a:rPr lang="en-US" sz="21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1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ignored by R. Write comments for your future self — six months from now you will not remember why you filtered that sample out.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Working Directory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R looks when you ask it to read or write a file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686800" cy="3238500"/>
          </a:xfrm>
          <a:prstGeom prst="roundRect">
            <a:avLst>
              <a:gd name="adj" fmla="val 2941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where am I?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getwd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"/Users/you/Intro_R_course"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move there from the console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setwd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"~/Intro_R_course"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relative paths just work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"data/counts.csv"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7143750"/>
            <a:ext cx="8686800" cy="1704975"/>
          </a:xfrm>
          <a:prstGeom prst="roundRect">
            <a:avLst>
              <a:gd name="adj" fmla="val 5587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219200" y="7391400"/>
            <a:ext cx="88849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STILL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829550"/>
            <a:ext cx="831951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76"/>
              </a:lnSpc>
              <a:buNone/>
            </a:pPr>
            <a:r>
              <a:rPr lang="en-US" sz="202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</a:t>
            </a:r>
            <a:r>
              <a:rPr lang="en-US" sz="2025" b="1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Project </a:t>
            </a:r>
            <a:r>
              <a:rPr lang="en-US" sz="202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 &gt; New Project). Opening the project sets the working directory for you, every time, on any machine.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9944100" y="3657600"/>
            <a:ext cx="7429500" cy="5495925"/>
          </a:xfrm>
          <a:prstGeom prst="roundRect">
            <a:avLst>
              <a:gd name="adj" fmla="val 1733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94620" y="4918710"/>
            <a:ext cx="67284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0294620" y="4008120"/>
            <a:ext cx="43815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0885170" y="4008120"/>
            <a:ext cx="6322048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 you can find again — for example </a:t>
            </a:r>
            <a:r>
              <a:rPr lang="en-US" sz="2025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Intro_R_course</a:t>
            </a: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0294620" y="6027420"/>
            <a:ext cx="67284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294620" y="5116830"/>
            <a:ext cx="43815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0885170" y="5116830"/>
            <a:ext cx="6322048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</a:t>
            </a:r>
            <a:r>
              <a:rPr lang="en-US" sz="2025" b="1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</a:t>
            </a: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tab, click the three dots, select the folder, click Open.</a:t>
            </a:r>
            <a:endParaRPr lang="en-US" sz="2025" dirty="0"/>
          </a:p>
        </p:txBody>
      </p:sp>
      <p:sp>
        <p:nvSpPr>
          <p:cNvPr id="29" name="Shape 26"/>
          <p:cNvSpPr/>
          <p:nvPr/>
        </p:nvSpPr>
        <p:spPr>
          <a:xfrm>
            <a:off x="10294620" y="6776085"/>
            <a:ext cx="67284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0294620" y="6225540"/>
            <a:ext cx="4381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10885170" y="6225540"/>
            <a:ext cx="675170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</a:t>
            </a:r>
            <a:r>
              <a:rPr lang="en-US" sz="2025" b="1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&gt; Set As Working Directory</a:t>
            </a: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25" dirty="0"/>
          </a:p>
        </p:txBody>
      </p:sp>
      <p:sp>
        <p:nvSpPr>
          <p:cNvPr id="32" name="Shape 29"/>
          <p:cNvSpPr/>
          <p:nvPr/>
        </p:nvSpPr>
        <p:spPr>
          <a:xfrm>
            <a:off x="10294620" y="7884795"/>
            <a:ext cx="67284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0294620" y="6974205"/>
            <a:ext cx="43815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10885170" y="6974205"/>
            <a:ext cx="6322048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script there as </a:t>
            </a:r>
            <a:r>
              <a:rPr lang="en-US" sz="2025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intro.R</a:t>
            </a: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unzip </a:t>
            </a:r>
            <a:r>
              <a:rPr lang="en-US" sz="2025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</a:t>
            </a: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it.</a:t>
            </a:r>
            <a:endParaRPr lang="en-US" sz="2025" dirty="0"/>
          </a:p>
        </p:txBody>
      </p:sp>
      <p:sp>
        <p:nvSpPr>
          <p:cNvPr id="35" name="Text 32"/>
          <p:cNvSpPr/>
          <p:nvPr/>
        </p:nvSpPr>
        <p:spPr>
          <a:xfrm>
            <a:off x="10294620" y="8082915"/>
            <a:ext cx="43815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10885170" y="8082915"/>
            <a:ext cx="6322048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and scripts together. Paths stay short and portable.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Help in R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places to look before you ask anyone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6868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help page for one function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 every installed package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"linear model"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documented examples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(mean)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long-form package tutorial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vignette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"dplyr"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arguments does it take?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(read.csv)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944100" y="3657600"/>
            <a:ext cx="74295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37470" y="3893820"/>
            <a:ext cx="7527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Help pane</a:t>
            </a:r>
            <a:endParaRPr lang="en-US" sz="2175" dirty="0"/>
          </a:p>
        </p:txBody>
      </p:sp>
      <p:sp>
        <p:nvSpPr>
          <p:cNvPr id="24" name="Text 21"/>
          <p:cNvSpPr/>
          <p:nvPr/>
        </p:nvSpPr>
        <p:spPr>
          <a:xfrm>
            <a:off x="10237470" y="4301490"/>
            <a:ext cx="704804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name opens its page bottom-right. Read </a:t>
            </a:r>
            <a:r>
              <a:rPr lang="en-US" sz="1875" i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then jump to </a:t>
            </a:r>
            <a:r>
              <a:rPr lang="en-US" sz="1875" i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9944100" y="5375910"/>
            <a:ext cx="74295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37470" y="5612130"/>
            <a:ext cx="7527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 completion</a:t>
            </a:r>
            <a:endParaRPr lang="en-US" sz="2175" dirty="0"/>
          </a:p>
        </p:txBody>
      </p:sp>
      <p:sp>
        <p:nvSpPr>
          <p:cNvPr id="27" name="Text 24"/>
          <p:cNvSpPr/>
          <p:nvPr/>
        </p:nvSpPr>
        <p:spPr>
          <a:xfrm>
            <a:off x="10237470" y="6019800"/>
            <a:ext cx="704804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typing and press </a:t>
            </a:r>
            <a:r>
              <a:rPr lang="en-US" sz="187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RStudio finishes function names, arguments, column names and file paths.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9944100" y="7094220"/>
            <a:ext cx="7429500" cy="1531620"/>
          </a:xfrm>
          <a:prstGeom prst="roundRect">
            <a:avLst>
              <a:gd name="adj" fmla="val 6219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0229850" y="7322820"/>
            <a:ext cx="75438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community</a:t>
            </a:r>
            <a:endParaRPr lang="en-US" sz="2175" dirty="0"/>
          </a:p>
        </p:txBody>
      </p:sp>
      <p:sp>
        <p:nvSpPr>
          <p:cNvPr id="30" name="Text 27"/>
          <p:cNvSpPr/>
          <p:nvPr/>
        </p:nvSpPr>
        <p:spPr>
          <a:xfrm>
            <a:off x="10229850" y="7730490"/>
            <a:ext cx="70637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for the language, Biostars and the Bioconductor support site for biology. Paste the error text verbatim.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 · R and RStudio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R Errors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hit every one of these today — here is what each means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6459200" cy="4831080"/>
          </a:xfrm>
          <a:prstGeom prst="roundRect">
            <a:avLst>
              <a:gd name="adj" fmla="val 1972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64920" y="4339590"/>
            <a:ext cx="15758160" cy="9525"/>
          </a:xfrm>
          <a:prstGeom prst="rect">
            <a:avLst/>
          </a:prstGeom>
          <a:solidFill>
            <a:srgbClr val="16294A">
              <a:alpha val="1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64920" y="391287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TYPED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5551170" y="3912870"/>
            <a:ext cx="54483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 SAYS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0694670" y="3912870"/>
            <a:ext cx="69612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1264920" y="5013960"/>
            <a:ext cx="157581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264920" y="4528185"/>
            <a:ext cx="4505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Library(tidyverse)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5551170" y="4528185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E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could not find function "Library"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0694670" y="4528185"/>
            <a:ext cx="69612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case-sensitive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264920" y="5688330"/>
            <a:ext cx="157581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264920" y="5202555"/>
            <a:ext cx="4505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libary(tidyverse)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5551170" y="5202555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E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could not find function "libary"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0694670" y="5202555"/>
            <a:ext cx="69612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— check the spelling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264920" y="6362700"/>
            <a:ext cx="157581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264920" y="5876925"/>
            <a:ext cx="4505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5551170" y="5876925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E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875" dirty="0"/>
          </a:p>
        </p:txBody>
      </p:sp>
      <p:sp>
        <p:nvSpPr>
          <p:cNvPr id="27" name="Text 24"/>
          <p:cNvSpPr/>
          <p:nvPr/>
        </p:nvSpPr>
        <p:spPr>
          <a:xfrm>
            <a:off x="10694670" y="5876925"/>
            <a:ext cx="69612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Unclosed bracket. R is waiting — press </a:t>
            </a:r>
            <a:r>
              <a:rPr lang="en-US" sz="1950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264920" y="7037070"/>
            <a:ext cx="157581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264920" y="6551295"/>
            <a:ext cx="4505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read_csv(data/meta.csv)</a:t>
            </a:r>
            <a:endParaRPr lang="en-US" sz="1875" dirty="0"/>
          </a:p>
        </p:txBody>
      </p:sp>
      <p:sp>
        <p:nvSpPr>
          <p:cNvPr id="30" name="Text 27"/>
          <p:cNvSpPr/>
          <p:nvPr/>
        </p:nvSpPr>
        <p:spPr>
          <a:xfrm>
            <a:off x="5551170" y="6551295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E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'data' not found</a:t>
            </a:r>
            <a:endParaRPr lang="en-US" sz="1875" dirty="0"/>
          </a:p>
        </p:txBody>
      </p:sp>
      <p:sp>
        <p:nvSpPr>
          <p:cNvPr id="31" name="Text 28"/>
          <p:cNvSpPr/>
          <p:nvPr/>
        </p:nvSpPr>
        <p:spPr>
          <a:xfrm>
            <a:off x="10694670" y="6551295"/>
            <a:ext cx="69612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paths must be quoted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1264920" y="7711440"/>
            <a:ext cx="157581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264920" y="7225665"/>
            <a:ext cx="4505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read_csv("meta.csv")</a:t>
            </a:r>
            <a:endParaRPr lang="en-US" sz="1875" dirty="0"/>
          </a:p>
        </p:txBody>
      </p:sp>
      <p:sp>
        <p:nvSpPr>
          <p:cNvPr id="34" name="Text 31"/>
          <p:cNvSpPr/>
          <p:nvPr/>
        </p:nvSpPr>
        <p:spPr>
          <a:xfrm>
            <a:off x="5551170" y="7225665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E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not exist in current wd</a:t>
            </a:r>
            <a:endParaRPr lang="en-US" sz="1875" dirty="0"/>
          </a:p>
        </p:txBody>
      </p:sp>
      <p:sp>
        <p:nvSpPr>
          <p:cNvPr id="35" name="Text 32"/>
          <p:cNvSpPr/>
          <p:nvPr/>
        </p:nvSpPr>
        <p:spPr>
          <a:xfrm>
            <a:off x="10694670" y="7225665"/>
            <a:ext cx="69612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path, or wrong working directory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1264920" y="7900035"/>
            <a:ext cx="4505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read_tsv("meta.csv")</a:t>
            </a:r>
            <a:endParaRPr lang="en-US" sz="1875" dirty="0"/>
          </a:p>
        </p:txBody>
      </p:sp>
      <p:sp>
        <p:nvSpPr>
          <p:cNvPr id="37" name="Text 34"/>
          <p:cNvSpPr/>
          <p:nvPr/>
        </p:nvSpPr>
        <p:spPr>
          <a:xfrm>
            <a:off x="5551170" y="7900035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E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column, all values glued</a:t>
            </a:r>
            <a:endParaRPr lang="en-US" sz="1875" dirty="0"/>
          </a:p>
        </p:txBody>
      </p:sp>
      <p:sp>
        <p:nvSpPr>
          <p:cNvPr id="38" name="Text 35"/>
          <p:cNvSpPr/>
          <p:nvPr/>
        </p:nvSpPr>
        <p:spPr>
          <a:xfrm>
            <a:off x="10694670" y="7900035"/>
            <a:ext cx="69612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file, wrong separator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914400" y="8858250"/>
            <a:ext cx="181051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C44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error is not a failure — it is R telling you precisely where it stopped. Read the last line first.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 · R Fundamentals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238250" y="4836795"/>
            <a:ext cx="2722447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032"/>
              </a:lnSpc>
              <a:buNone/>
            </a:pPr>
            <a:r>
              <a:rPr lang="en-US" sz="14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700" dirty="0"/>
          </a:p>
        </p:txBody>
      </p:sp>
      <p:sp>
        <p:nvSpPr>
          <p:cNvPr id="10" name="Text 7"/>
          <p:cNvSpPr/>
          <p:nvPr/>
        </p:nvSpPr>
        <p:spPr>
          <a:xfrm>
            <a:off x="4551402" y="4746903"/>
            <a:ext cx="13748182" cy="92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43"/>
              </a:lnSpc>
              <a:buNone/>
            </a:pPr>
            <a:r>
              <a:rPr lang="en-US" sz="6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Fundamentals</a:t>
            </a:r>
            <a:endParaRPr lang="en-US" sz="6450" dirty="0"/>
          </a:p>
        </p:txBody>
      </p:sp>
      <p:sp>
        <p:nvSpPr>
          <p:cNvPr id="11" name="Shape 8"/>
          <p:cNvSpPr/>
          <p:nvPr/>
        </p:nvSpPr>
        <p:spPr>
          <a:xfrm>
            <a:off x="4551402" y="5917287"/>
            <a:ext cx="10477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2" name="Text 9"/>
          <p:cNvSpPr/>
          <p:nvPr/>
        </p:nvSpPr>
        <p:spPr>
          <a:xfrm>
            <a:off x="4551402" y="6241137"/>
            <a:ext cx="1374818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Objects, data types, vectors and data frames</a:t>
            </a:r>
            <a:endParaRPr lang="en-US" sz="2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 · R Fundamentals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Data Types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R is an object, and every object has a type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5334000" cy="2371725"/>
          </a:xfrm>
          <a:prstGeom prst="roundRect">
            <a:avLst>
              <a:gd name="adj" fmla="val 4016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770" y="391287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lang="en-US" sz="2325" dirty="0"/>
          </a:p>
        </p:txBody>
      </p:sp>
      <p:sp>
        <p:nvSpPr>
          <p:cNvPr id="13" name="Text 10"/>
          <p:cNvSpPr/>
          <p:nvPr/>
        </p:nvSpPr>
        <p:spPr>
          <a:xfrm>
            <a:off x="1207770" y="4377690"/>
            <a:ext cx="52219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Decimals. The default for any calculation.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207770" y="4844415"/>
            <a:ext cx="4747260" cy="929640"/>
          </a:xfrm>
          <a:prstGeom prst="roundRect">
            <a:avLst>
              <a:gd name="adj" fmla="val 8197"/>
            </a:avLst>
          </a:prstGeom>
          <a:solidFill>
            <a:srgbClr val="16294A"/>
          </a:solidFill>
          <a:ln/>
        </p:spPr>
      </p:sp>
      <p:sp>
        <p:nvSpPr>
          <p:cNvPr id="15" name="Text 12"/>
          <p:cNvSpPr/>
          <p:nvPr/>
        </p:nvSpPr>
        <p:spPr>
          <a:xfrm>
            <a:off x="1379220" y="4977765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&lt;- 42.5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79220" y="5309235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"numeric"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77000" y="3657600"/>
            <a:ext cx="5334000" cy="2371725"/>
          </a:xfrm>
          <a:prstGeom prst="roundRect">
            <a:avLst>
              <a:gd name="adj" fmla="val 4016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70370" y="391287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6770370" y="4377690"/>
            <a:ext cx="52219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numbers. Note the trailing L.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6770370" y="4844415"/>
            <a:ext cx="4747260" cy="929640"/>
          </a:xfrm>
          <a:prstGeom prst="roundRect">
            <a:avLst>
              <a:gd name="adj" fmla="val 8197"/>
            </a:avLst>
          </a:prstGeom>
          <a:solidFill>
            <a:srgbClr val="16294A"/>
          </a:solidFill>
          <a:ln/>
        </p:spPr>
      </p:sp>
      <p:sp>
        <p:nvSpPr>
          <p:cNvPr id="21" name="Text 18"/>
          <p:cNvSpPr/>
          <p:nvPr/>
        </p:nvSpPr>
        <p:spPr>
          <a:xfrm>
            <a:off x="6941820" y="4977765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&lt;- 100L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41820" y="5309235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is.integer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TRUE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039600" y="3657600"/>
            <a:ext cx="5334000" cy="2371725"/>
          </a:xfrm>
          <a:prstGeom prst="roundRect">
            <a:avLst>
              <a:gd name="adj" fmla="val 4016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32970" y="391287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</a:t>
            </a:r>
            <a:endParaRPr lang="en-US" sz="2325" dirty="0"/>
          </a:p>
        </p:txBody>
      </p:sp>
      <p:sp>
        <p:nvSpPr>
          <p:cNvPr id="25" name="Text 22"/>
          <p:cNvSpPr/>
          <p:nvPr/>
        </p:nvSpPr>
        <p:spPr>
          <a:xfrm>
            <a:off x="12332970" y="4377690"/>
            <a:ext cx="52219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Text. Gene IDs and sequences live here.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2332970" y="4844415"/>
            <a:ext cx="4747260" cy="929640"/>
          </a:xfrm>
          <a:prstGeom prst="roundRect">
            <a:avLst>
              <a:gd name="adj" fmla="val 8197"/>
            </a:avLst>
          </a:prstGeom>
          <a:solidFill>
            <a:srgbClr val="16294A"/>
          </a:solidFill>
          <a:ln/>
        </p:spPr>
      </p:sp>
      <p:sp>
        <p:nvSpPr>
          <p:cNvPr id="27" name="Text 24"/>
          <p:cNvSpPr/>
          <p:nvPr/>
        </p:nvSpPr>
        <p:spPr>
          <a:xfrm>
            <a:off x="12504420" y="4977765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&lt;-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"BRCA1"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504420" y="5309235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nchar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(gene)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5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14400" y="6257925"/>
            <a:ext cx="5334000" cy="3007995"/>
          </a:xfrm>
          <a:prstGeom prst="roundRect">
            <a:avLst>
              <a:gd name="adj" fmla="val 316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07770" y="6513195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</a:t>
            </a:r>
            <a:endParaRPr lang="en-US" sz="2325" dirty="0"/>
          </a:p>
        </p:txBody>
      </p:sp>
      <p:sp>
        <p:nvSpPr>
          <p:cNvPr id="31" name="Text 28"/>
          <p:cNvSpPr/>
          <p:nvPr/>
        </p:nvSpPr>
        <p:spPr>
          <a:xfrm>
            <a:off x="1207770" y="6978015"/>
            <a:ext cx="52219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FALSE. What every filter returns.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1207770" y="7444740"/>
            <a:ext cx="4747260" cy="929640"/>
          </a:xfrm>
          <a:prstGeom prst="roundRect">
            <a:avLst>
              <a:gd name="adj" fmla="val 8197"/>
            </a:avLst>
          </a:prstGeom>
          <a:solidFill>
            <a:srgbClr val="16294A"/>
          </a:solidFill>
          <a:ln/>
        </p:spPr>
      </p:sp>
      <p:sp>
        <p:nvSpPr>
          <p:cNvPr id="33" name="Text 30"/>
          <p:cNvSpPr/>
          <p:nvPr/>
        </p:nvSpPr>
        <p:spPr>
          <a:xfrm>
            <a:off x="1379220" y="7578090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pval &lt;- 0.03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79220" y="7909560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pval &lt; 0.05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TRUE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477000" y="6257925"/>
            <a:ext cx="5334000" cy="3007995"/>
          </a:xfrm>
          <a:prstGeom prst="roundRect">
            <a:avLst>
              <a:gd name="adj" fmla="val 316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70370" y="6513195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endParaRPr lang="en-US" sz="2325" dirty="0"/>
          </a:p>
        </p:txBody>
      </p:sp>
      <p:sp>
        <p:nvSpPr>
          <p:cNvPr id="37" name="Text 34"/>
          <p:cNvSpPr/>
          <p:nvPr/>
        </p:nvSpPr>
        <p:spPr>
          <a:xfrm>
            <a:off x="6770370" y="6978015"/>
            <a:ext cx="52219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a fixed set of levels.</a:t>
            </a:r>
            <a:endParaRPr lang="en-US" sz="1875" dirty="0"/>
          </a:p>
        </p:txBody>
      </p:sp>
      <p:sp>
        <p:nvSpPr>
          <p:cNvPr id="38" name="Shape 35"/>
          <p:cNvSpPr/>
          <p:nvPr/>
        </p:nvSpPr>
        <p:spPr>
          <a:xfrm>
            <a:off x="6770370" y="7444740"/>
            <a:ext cx="4747260" cy="929640"/>
          </a:xfrm>
          <a:prstGeom prst="roundRect">
            <a:avLst>
              <a:gd name="adj" fmla="val 8197"/>
            </a:avLst>
          </a:prstGeom>
          <a:solidFill>
            <a:srgbClr val="16294A"/>
          </a:solidFill>
          <a:ln/>
        </p:spPr>
      </p:sp>
      <p:sp>
        <p:nvSpPr>
          <p:cNvPr id="39" name="Text 36"/>
          <p:cNvSpPr/>
          <p:nvPr/>
        </p:nvSpPr>
        <p:spPr>
          <a:xfrm>
            <a:off x="6941820" y="7578090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6941820" y="7909560"/>
            <a:ext cx="4536491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(grp)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KO WT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2039600" y="6257925"/>
            <a:ext cx="5334000" cy="3007995"/>
          </a:xfrm>
          <a:prstGeom prst="roundRect">
            <a:avLst>
              <a:gd name="adj" fmla="val 3167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12325350" y="6505575"/>
            <a:ext cx="52387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out</a:t>
            </a:r>
            <a:endParaRPr lang="en-US" sz="2325" dirty="0"/>
          </a:p>
        </p:txBody>
      </p:sp>
      <p:sp>
        <p:nvSpPr>
          <p:cNvPr id="43" name="Text 40"/>
          <p:cNvSpPr/>
          <p:nvPr/>
        </p:nvSpPr>
        <p:spPr>
          <a:xfrm>
            <a:off x="12325350" y="6955155"/>
            <a:ext cx="490537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types in one vector and R silently converts them all to the most permissive type — usually character.</a:t>
            </a:r>
            <a:endParaRPr lang="en-US" sz="1875" dirty="0"/>
          </a:p>
        </p:txBody>
      </p:sp>
      <p:sp>
        <p:nvSpPr>
          <p:cNvPr id="44" name="Shape 41"/>
          <p:cNvSpPr/>
          <p:nvPr/>
        </p:nvSpPr>
        <p:spPr>
          <a:xfrm>
            <a:off x="12325350" y="8088630"/>
            <a:ext cx="4762500" cy="929640"/>
          </a:xfrm>
          <a:prstGeom prst="roundRect">
            <a:avLst>
              <a:gd name="adj" fmla="val 8197"/>
            </a:avLst>
          </a:prstGeom>
          <a:solidFill>
            <a:srgbClr val="16294A"/>
          </a:solidFill>
          <a:ln/>
        </p:spPr>
      </p:sp>
      <p:sp>
        <p:nvSpPr>
          <p:cNvPr id="45" name="Text 42"/>
          <p:cNvSpPr/>
          <p:nvPr/>
        </p:nvSpPr>
        <p:spPr>
          <a:xfrm>
            <a:off x="12496800" y="8221980"/>
            <a:ext cx="4552188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c(1,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TRUE)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2496800" y="8553450"/>
            <a:ext cx="4552188" cy="3695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"1" "a" "TRUE"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 · R Fundamentals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Objects and Assignment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arrow that does most of the work in R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6868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 the right-hand value to a name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gene_id &lt;-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"ENSMUSG00000000381"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nothing prints — that is normal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"data/counts.csv"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 the name to see the object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gene_id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"ENSMUSG00000000381"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these names are not allowed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gene id &lt;- 1     spaces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2genes  &lt;- 1     starts with a digit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831951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c       &lt;- 1     masks a base function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944100" y="3657600"/>
            <a:ext cx="74295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37470" y="3893820"/>
            <a:ext cx="7527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it with one keystroke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0237470" y="4301490"/>
            <a:ext cx="704804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+ -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 and Linux, </a:t>
            </a:r>
            <a:r>
              <a:rPr lang="en-US" sz="187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+ -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macOS, writes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spaces already correct.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9944100" y="5375910"/>
            <a:ext cx="74295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37470" y="5612130"/>
            <a:ext cx="7527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conventions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10237470" y="6019800"/>
            <a:ext cx="704804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case, words joined by underscores: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mygenes_counts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Descriptive beats short.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9944100" y="7094220"/>
            <a:ext cx="7429500" cy="1539240"/>
          </a:xfrm>
          <a:prstGeom prst="roundRect">
            <a:avLst>
              <a:gd name="adj" fmla="val 6188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0229850" y="7322820"/>
            <a:ext cx="75438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</a:t>
            </a:r>
            <a:r>
              <a:rPr lang="en-US" sz="217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175" dirty="0"/>
          </a:p>
        </p:txBody>
      </p:sp>
      <p:sp>
        <p:nvSpPr>
          <p:cNvPr id="31" name="Text 28"/>
          <p:cNvSpPr/>
          <p:nvPr/>
        </p:nvSpPr>
        <p:spPr>
          <a:xfrm>
            <a:off x="10229850" y="7738110"/>
            <a:ext cx="70637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mostly works, but </a:t>
            </a:r>
            <a:r>
              <a:rPr lang="en-US" sz="1875" dirty="0">
                <a:solidFill>
                  <a:srgbClr val="C6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means "set this argument" inside a function call. Keeping </a:t>
            </a:r>
            <a:r>
              <a:rPr lang="en-US" sz="1875" dirty="0">
                <a:solidFill>
                  <a:srgbClr val="C6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assignment keeps the two ideas apart.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 · R Fundamentals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Vectors: R's Core Data Structure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sequence of values of one type — the building block for everything else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058150" cy="1221105"/>
          </a:xfrm>
          <a:prstGeom prst="roundRect">
            <a:avLst>
              <a:gd name="adj" fmla="val 78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770" y="3893820"/>
            <a:ext cx="82185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c() concatenates</a:t>
            </a:r>
            <a:endParaRPr lang="en-US" sz="2175" dirty="0"/>
          </a:p>
        </p:txBody>
      </p:sp>
      <p:sp>
        <p:nvSpPr>
          <p:cNvPr id="13" name="Text 10"/>
          <p:cNvSpPr/>
          <p:nvPr/>
        </p:nvSpPr>
        <p:spPr>
          <a:xfrm>
            <a:off x="1207770" y="4309110"/>
            <a:ext cx="82185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individual values into one vector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914400" y="5031105"/>
            <a:ext cx="8058150" cy="1213485"/>
          </a:xfrm>
          <a:prstGeom prst="roundRect">
            <a:avLst>
              <a:gd name="adj" fmla="val 7849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770" y="5267325"/>
            <a:ext cx="82185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type per vector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1207770" y="5674995"/>
            <a:ext cx="82185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types triggers silent coercion, usually to character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914400" y="6396990"/>
            <a:ext cx="8058150" cy="1213485"/>
          </a:xfrm>
          <a:prstGeom prst="roundRect">
            <a:avLst>
              <a:gd name="adj" fmla="val 7849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770" y="6633210"/>
            <a:ext cx="82185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 starts at 1</a:t>
            </a:r>
            <a:endParaRPr lang="en-US" sz="2175" dirty="0"/>
          </a:p>
        </p:txBody>
      </p:sp>
      <p:sp>
        <p:nvSpPr>
          <p:cNvPr id="19" name="Text 16"/>
          <p:cNvSpPr/>
          <p:nvPr/>
        </p:nvSpPr>
        <p:spPr>
          <a:xfrm>
            <a:off x="1207770" y="7040880"/>
            <a:ext cx="82185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v[1]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first element — not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v[0]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 Python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914400" y="7762875"/>
            <a:ext cx="8058150" cy="1198245"/>
          </a:xfrm>
          <a:prstGeom prst="roundRect">
            <a:avLst>
              <a:gd name="adj" fmla="val 7949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200150" y="7991475"/>
            <a:ext cx="82353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are vectorised</a:t>
            </a:r>
            <a:endParaRPr lang="en-US" sz="2175" dirty="0"/>
          </a:p>
        </p:txBody>
      </p:sp>
      <p:sp>
        <p:nvSpPr>
          <p:cNvPr id="22" name="Text 19"/>
          <p:cNvSpPr/>
          <p:nvPr/>
        </p:nvSpPr>
        <p:spPr>
          <a:xfrm>
            <a:off x="1200150" y="8399145"/>
            <a:ext cx="823531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* 2 </a:t>
            </a: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every element at once. No loop.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9315450" y="3657600"/>
            <a:ext cx="805815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24" name="Text 21"/>
          <p:cNvSpPr/>
          <p:nvPr/>
        </p:nvSpPr>
        <p:spPr>
          <a:xfrm>
            <a:off x="9620250" y="39243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some vectors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20250" y="42672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(15, 17, 14, 15, 16)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620250" y="46101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(90, 86, 70, 88, 45)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620250" y="49530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"Kevin"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620250" y="52959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what they are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620250" y="56388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(marks)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"numeric"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620250" y="59817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(names)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"character"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620250" y="63246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(age)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5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620250" y="66675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vectorised arithmetic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620250" y="70104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/ 100 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proportions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620250" y="73533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&gt; 80  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TRUE TRUE FALSE TRUE FALSE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620250" y="76962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(marks)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75.8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 · R Fundamentals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&amp; Subsetting Vectors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brackets select; a logical test filters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058150" cy="4206240"/>
          </a:xfrm>
          <a:prstGeom prst="roundRect">
            <a:avLst>
              <a:gd name="adj" fmla="val 226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26820" y="4408170"/>
            <a:ext cx="743331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26820" y="3930015"/>
            <a:ext cx="31432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age[1]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274820" y="3922395"/>
            <a:ext cx="4823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 — the first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226820" y="5082540"/>
            <a:ext cx="743331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226820" y="4604385"/>
            <a:ext cx="31432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age[2:4]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4274820" y="4596765"/>
            <a:ext cx="4823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slice, second to fourth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226820" y="5756910"/>
            <a:ext cx="743331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226820" y="5278755"/>
            <a:ext cx="31432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age[c(1,3,5)]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4274820" y="5271135"/>
            <a:ext cx="4823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positions at once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226820" y="6431280"/>
            <a:ext cx="743331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226820" y="5953125"/>
            <a:ext cx="31432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age[-2]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4274820" y="5945505"/>
            <a:ext cx="4823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the second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226820" y="7105650"/>
            <a:ext cx="743331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226820" y="6627495"/>
            <a:ext cx="31432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marks[marks &gt; 80]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4274820" y="6619875"/>
            <a:ext cx="4823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filter — keep what is TRUE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226820" y="7301865"/>
            <a:ext cx="31432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%in% mygenes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4274820" y="7294245"/>
            <a:ext cx="4823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value in this set?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9315450" y="3657600"/>
            <a:ext cx="805815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30" name="Text 27"/>
          <p:cNvSpPr/>
          <p:nvPr/>
        </p:nvSpPr>
        <p:spPr>
          <a:xfrm>
            <a:off x="9620250" y="39243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RNA-seq read counts for one sample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620250" y="42672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(120, 0, 4500, 890, 230, 55)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620250" y="46101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the genes with no reads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620250" y="49530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counts[counts &gt; 0]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620250" y="52959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 120 4500  890  230   55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620250" y="56388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log-transform, the usual first step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620250" y="59817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(counts + 1)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9620250" y="63246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to the largest value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620250" y="66675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/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(counts)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9620250" y="70104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 many genes passed?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9620250" y="7353300"/>
            <a:ext cx="76720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(counts[counts &gt; 0])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5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 · R Fundamentals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Frames: R's Spreadsheet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table whose columns can each hold a different type — Excel, but scriptable and millions of rows deep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42975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one by hand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sample_id  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"S1"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"S2"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"S3"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"S4"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  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expression 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(120.5, 134.2, 45.1, 52.8),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significant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(FALSE, FALSE, TRUE, TRUE)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column, as a vector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samples$expression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rows that meet a condition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samples[samples$significant == TRUE, ]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6962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tidyverse equivalent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19200" y="80391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(samples, significant)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648950" y="3657600"/>
            <a:ext cx="6724650" cy="4706303"/>
          </a:xfrm>
          <a:prstGeom prst="roundRect">
            <a:avLst>
              <a:gd name="adj" fmla="val 2024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61370" y="3912870"/>
            <a:ext cx="67097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YOU WILL USE DAILY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61370" y="437007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nrow() ncol()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10961370" y="465963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rows, columns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135100" y="437007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colnames()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14135100" y="465963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 set column names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961370" y="511302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rbind()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10961370" y="540258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two frames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135100" y="511302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cbind()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4135100" y="540258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side by side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961370" y="585597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merge()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10961370" y="614553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SQL-style join on a key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4135100" y="585597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subset()</a:t>
            </a:r>
            <a:endParaRPr lang="en-US" sz="1950" dirty="0"/>
          </a:p>
        </p:txBody>
      </p:sp>
      <p:sp>
        <p:nvSpPr>
          <p:cNvPr id="38" name="Text 35"/>
          <p:cNvSpPr/>
          <p:nvPr/>
        </p:nvSpPr>
        <p:spPr>
          <a:xfrm>
            <a:off x="14135100" y="614553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rows, pick columns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961370" y="659892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read.csv()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10961370" y="688848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a file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4135100" y="6598920"/>
            <a:ext cx="32186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write.csv()</a:t>
            </a:r>
            <a:endParaRPr lang="en-US" sz="1950" dirty="0"/>
          </a:p>
        </p:txBody>
      </p:sp>
      <p:sp>
        <p:nvSpPr>
          <p:cNvPr id="42" name="Text 39"/>
          <p:cNvSpPr/>
          <p:nvPr/>
        </p:nvSpPr>
        <p:spPr>
          <a:xfrm>
            <a:off x="14135100" y="6888480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a file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0961370" y="7418070"/>
            <a:ext cx="628280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243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875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tibble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tidyverse's data frame: same idea, prints more usefully, never mangles your column names.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03 · R Fundamentals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Inspecting Your Data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Commands to run before you plot anything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42975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(sampleinfo)  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12  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(sampleinfo) 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first 6 rows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(sampleinfo) 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last 6 rows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(sampleinfo)  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opens a spreadsheet tab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colnames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(sampleinfo)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"...1" "characteristics"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[3] "immunophenotype" "developmental stage"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column, first three values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sampleinfo$characteristics[1:3]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that unnamed first column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08475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colnames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(sampleinfo)[1] &lt;-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"sample_id"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648950" y="3657600"/>
            <a:ext cx="6724650" cy="1554480"/>
          </a:xfrm>
          <a:prstGeom prst="roundRect">
            <a:avLst>
              <a:gd name="adj" fmla="val 612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42320" y="3893820"/>
            <a:ext cx="675170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str()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0942320" y="4309110"/>
            <a:ext cx="632204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every column, its type, and its first few values. The fastest sanity check there is.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0648950" y="5383530"/>
            <a:ext cx="6724650" cy="1554480"/>
          </a:xfrm>
          <a:prstGeom prst="roundRect">
            <a:avLst>
              <a:gd name="adj" fmla="val 612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42320" y="5619750"/>
            <a:ext cx="675170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summary()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10942320" y="6035040"/>
            <a:ext cx="632204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quartiles, median, mean and max for numeric columns; length for text columns.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0648950" y="7109460"/>
            <a:ext cx="6724650" cy="1554480"/>
          </a:xfrm>
          <a:prstGeom prst="roundRect">
            <a:avLst>
              <a:gd name="adj" fmla="val 612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942320" y="7345680"/>
            <a:ext cx="675170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2175" dirty="0"/>
          </a:p>
        </p:txBody>
      </p:sp>
      <p:sp>
        <p:nvSpPr>
          <p:cNvPr id="31" name="Text 28"/>
          <p:cNvSpPr/>
          <p:nvPr/>
        </p:nvSpPr>
        <p:spPr>
          <a:xfrm>
            <a:off x="10942320" y="7760970"/>
            <a:ext cx="632204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one column out as a vector, so everything you learned about vectors applies.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04 · Packages &amp; the Tidyverse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238250" y="4836795"/>
            <a:ext cx="2773656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032"/>
              </a:lnSpc>
              <a:buNone/>
            </a:pPr>
            <a:r>
              <a:rPr lang="en-US" sz="14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700" dirty="0"/>
          </a:p>
        </p:txBody>
      </p:sp>
      <p:sp>
        <p:nvSpPr>
          <p:cNvPr id="10" name="Text 7"/>
          <p:cNvSpPr/>
          <p:nvPr/>
        </p:nvSpPr>
        <p:spPr>
          <a:xfrm>
            <a:off x="4597956" y="4818936"/>
            <a:ext cx="13696974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98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&amp; the Tidyverse</a:t>
            </a:r>
            <a:endParaRPr lang="en-US" sz="5400" dirty="0"/>
          </a:p>
        </p:txBody>
      </p:sp>
      <p:sp>
        <p:nvSpPr>
          <p:cNvPr id="11" name="Shape 8"/>
          <p:cNvSpPr/>
          <p:nvPr/>
        </p:nvSpPr>
        <p:spPr>
          <a:xfrm>
            <a:off x="4597956" y="5845254"/>
            <a:ext cx="10477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2" name="Text 9"/>
          <p:cNvSpPr/>
          <p:nvPr/>
        </p:nvSpPr>
        <p:spPr>
          <a:xfrm>
            <a:off x="4597956" y="6169104"/>
            <a:ext cx="1369697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CRAN, Bioconductor, and the packages worth knowing by name</a:t>
            </a:r>
            <a:endParaRPr lang="en-US" sz="2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04 · Packages &amp; the Tidyverse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Packages?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R has around 1,200 functions; the community has added tens of thousands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6286500" cy="567690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87899" y="3874770"/>
            <a:ext cx="5539502" cy="524244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543800" y="3657600"/>
            <a:ext cx="9829800" cy="2162175"/>
          </a:xfrm>
          <a:prstGeom prst="roundRect">
            <a:avLst>
              <a:gd name="adj" fmla="val 4405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7943850" y="4000500"/>
            <a:ext cx="99326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hard-code it when there is a package for it?"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943850" y="4705350"/>
            <a:ext cx="930059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76"/>
              </a:lnSpc>
              <a:buNone/>
            </a:pPr>
            <a:r>
              <a:rPr lang="en-US" sz="2025" dirty="0">
                <a:solidFill>
                  <a:srgbClr val="B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bundles functions, documentation, tests and example data. Someone has already solved your problem, written the tests, and published the paper.</a:t>
            </a:r>
            <a:endParaRPr lang="en-US" sz="2025" dirty="0"/>
          </a:p>
        </p:txBody>
      </p:sp>
      <p:sp>
        <p:nvSpPr>
          <p:cNvPr id="16" name="Shape 12"/>
          <p:cNvSpPr/>
          <p:nvPr/>
        </p:nvSpPr>
        <p:spPr>
          <a:xfrm>
            <a:off x="7543800" y="6057900"/>
            <a:ext cx="9829800" cy="1074420"/>
          </a:xfrm>
          <a:prstGeom prst="roundRect">
            <a:avLst>
              <a:gd name="adj" fmla="val 886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37170" y="6236970"/>
            <a:ext cx="2619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CRAN</a:t>
            </a:r>
            <a:endParaRPr lang="en-US" sz="2325" dirty="0"/>
          </a:p>
        </p:txBody>
      </p:sp>
      <p:sp>
        <p:nvSpPr>
          <p:cNvPr id="18" name="Text 14"/>
          <p:cNvSpPr/>
          <p:nvPr/>
        </p:nvSpPr>
        <p:spPr>
          <a:xfrm>
            <a:off x="10466070" y="6259830"/>
            <a:ext cx="68125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general packages. Checked on every platform, versioned, the default source.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7543800" y="7246620"/>
            <a:ext cx="9829800" cy="1074420"/>
          </a:xfrm>
          <a:prstGeom prst="roundRect">
            <a:avLst>
              <a:gd name="adj" fmla="val 886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37170" y="7425690"/>
            <a:ext cx="2619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Bioconductor</a:t>
            </a:r>
            <a:endParaRPr lang="en-US" sz="2325" dirty="0"/>
          </a:p>
        </p:txBody>
      </p:sp>
      <p:sp>
        <p:nvSpPr>
          <p:cNvPr id="21" name="Text 17"/>
          <p:cNvSpPr/>
          <p:nvPr/>
        </p:nvSpPr>
        <p:spPr>
          <a:xfrm>
            <a:off x="10466070" y="7448550"/>
            <a:ext cx="68125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2,300+ genomics tools with a shared release cycle and shared data structures.</a:t>
            </a:r>
            <a:endParaRPr lang="en-US" sz="1950" dirty="0"/>
          </a:p>
        </p:txBody>
      </p:sp>
      <p:sp>
        <p:nvSpPr>
          <p:cNvPr id="22" name="Shape 18"/>
          <p:cNvSpPr/>
          <p:nvPr/>
        </p:nvSpPr>
        <p:spPr>
          <a:xfrm>
            <a:off x="7543800" y="8435340"/>
            <a:ext cx="9829800" cy="1074420"/>
          </a:xfrm>
          <a:prstGeom prst="roundRect">
            <a:avLst>
              <a:gd name="adj" fmla="val 886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837170" y="8614410"/>
            <a:ext cx="2619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2325" dirty="0"/>
          </a:p>
        </p:txBody>
      </p:sp>
      <p:sp>
        <p:nvSpPr>
          <p:cNvPr id="24" name="Text 20"/>
          <p:cNvSpPr/>
          <p:nvPr/>
        </p:nvSpPr>
        <p:spPr>
          <a:xfrm>
            <a:off x="10466070" y="8637270"/>
            <a:ext cx="68125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versions and niche tools. No review — read the code before you trust it.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04 · Packages &amp; the Tidyverse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Installing and Loading Packages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once per machine; load once per session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6393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once per machine — buying the saucepan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"tidyverse"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session — out of the cupboard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(tidyverse)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Bioconductor uses its own installer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"BiocManager"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BiocManager::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"DESeq2"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development version from GitHub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remotes::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install_github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"tidyverse/dplyr"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am I actually running?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packageVersion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"dplyr"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6962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sessionInfo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858500" y="3657600"/>
            <a:ext cx="65151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1870" y="3893820"/>
            <a:ext cx="65211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Quotes on the way in</a:t>
            </a:r>
            <a:endParaRPr lang="en-US" sz="2175" dirty="0"/>
          </a:p>
        </p:txBody>
      </p:sp>
      <p:sp>
        <p:nvSpPr>
          <p:cNvPr id="26" name="Text 23"/>
          <p:cNvSpPr/>
          <p:nvPr/>
        </p:nvSpPr>
        <p:spPr>
          <a:xfrm>
            <a:off x="11151870" y="4301490"/>
            <a:ext cx="610621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install.packages("dplyr")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string;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need one.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10858500" y="5375910"/>
            <a:ext cx="65151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151870" y="5612130"/>
            <a:ext cx="65211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take arguments</a:t>
            </a:r>
            <a:endParaRPr lang="en-US" sz="2175" dirty="0"/>
          </a:p>
        </p:txBody>
      </p:sp>
      <p:sp>
        <p:nvSpPr>
          <p:cNvPr id="29" name="Text 26"/>
          <p:cNvSpPr/>
          <p:nvPr/>
        </p:nvSpPr>
        <p:spPr>
          <a:xfrm>
            <a:off x="11151870" y="6019800"/>
            <a:ext cx="610621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canned script. Here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"tidyverse"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argument. Parentheses are always required.</a:t>
            </a:r>
            <a:endParaRPr lang="en-US" sz="1875" dirty="0"/>
          </a:p>
        </p:txBody>
      </p:sp>
      <p:sp>
        <p:nvSpPr>
          <p:cNvPr id="30" name="Shape 27"/>
          <p:cNvSpPr/>
          <p:nvPr/>
        </p:nvSpPr>
        <p:spPr>
          <a:xfrm>
            <a:off x="10858500" y="7094220"/>
            <a:ext cx="6515100" cy="1531620"/>
          </a:xfrm>
          <a:prstGeom prst="roundRect">
            <a:avLst>
              <a:gd name="adj" fmla="val 6219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1144250" y="7322820"/>
            <a:ext cx="653796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colon</a:t>
            </a:r>
            <a:endParaRPr lang="en-US" sz="2175" dirty="0"/>
          </a:p>
        </p:txBody>
      </p:sp>
      <p:sp>
        <p:nvSpPr>
          <p:cNvPr id="32" name="Text 29"/>
          <p:cNvSpPr/>
          <p:nvPr/>
        </p:nvSpPr>
        <p:spPr>
          <a:xfrm>
            <a:off x="11144250" y="7730490"/>
            <a:ext cx="61219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dplyr::filter() </a:t>
            </a: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function without loading the whole package — and makes the source explicit.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04 · Packages &amp; the Tidyverse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Tidyverse for Data Science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</a:t>
            </a:r>
            <a:r>
              <a:rPr lang="en-US" sz="2175" i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library(tidyverse) </a:t>
            </a: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loads them all — they are designed to work together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00450"/>
            <a:ext cx="16459200" cy="1322070"/>
          </a:xfrm>
          <a:prstGeom prst="roundRect">
            <a:avLst>
              <a:gd name="adj" fmla="val 7205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257300" y="3848100"/>
            <a:ext cx="16246602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2325" b="1" dirty="0">
                <a:solidFill>
                  <a:srgbClr val="E7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Tidy data </a:t>
            </a:r>
            <a:r>
              <a:rPr lang="en-US" sz="2325" dirty="0">
                <a:solidFill>
                  <a:srgbClr val="E7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each variable is a column, each observation is a row, each value is a cell. Get there once and every tool below speaks the same language.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914400" y="4953000"/>
            <a:ext cx="5334000" cy="1642110"/>
          </a:xfrm>
          <a:prstGeom prst="roundRect">
            <a:avLst>
              <a:gd name="adj" fmla="val 58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770" y="520827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readr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207770" y="5673090"/>
            <a:ext cx="48896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read_tsv()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faster than base R and honest about column types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6477000" y="4953000"/>
            <a:ext cx="5334000" cy="1642110"/>
          </a:xfrm>
          <a:prstGeom prst="roundRect">
            <a:avLst>
              <a:gd name="adj" fmla="val 58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70370" y="520827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tidyr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6770370" y="5673090"/>
            <a:ext cx="48896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pivot_wider()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separate()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reshaping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2039600" y="4953000"/>
            <a:ext cx="5334000" cy="1642110"/>
          </a:xfrm>
          <a:prstGeom prst="roundRect">
            <a:avLst>
              <a:gd name="adj" fmla="val 58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32970" y="520827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2332970" y="5673090"/>
            <a:ext cx="48896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summarise()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joins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914400" y="6823710"/>
            <a:ext cx="5334000" cy="1642110"/>
          </a:xfrm>
          <a:prstGeom prst="roundRect">
            <a:avLst>
              <a:gd name="adj" fmla="val 58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07770" y="707898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</a:t>
            </a:r>
            <a:endParaRPr lang="en-US" sz="2325" dirty="0"/>
          </a:p>
        </p:txBody>
      </p:sp>
      <p:sp>
        <p:nvSpPr>
          <p:cNvPr id="24" name="Text 21"/>
          <p:cNvSpPr/>
          <p:nvPr/>
        </p:nvSpPr>
        <p:spPr>
          <a:xfrm>
            <a:off x="1207770" y="7543800"/>
            <a:ext cx="48896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graphics.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aes()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columns to visual properties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6477000" y="6823710"/>
            <a:ext cx="5334000" cy="1642110"/>
          </a:xfrm>
          <a:prstGeom prst="roundRect">
            <a:avLst>
              <a:gd name="adj" fmla="val 58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70370" y="707898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stringr</a:t>
            </a:r>
            <a:endParaRPr lang="en-US" sz="2325" dirty="0"/>
          </a:p>
        </p:txBody>
      </p:sp>
      <p:sp>
        <p:nvSpPr>
          <p:cNvPr id="27" name="Text 24"/>
          <p:cNvSpPr/>
          <p:nvPr/>
        </p:nvSpPr>
        <p:spPr>
          <a:xfrm>
            <a:off x="6770370" y="7543800"/>
            <a:ext cx="48896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str_detect()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str_replace()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pattern matching on text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2039600" y="6823710"/>
            <a:ext cx="5334000" cy="1642110"/>
          </a:xfrm>
          <a:prstGeom prst="roundRect">
            <a:avLst>
              <a:gd name="adj" fmla="val 580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332970" y="7078980"/>
            <a:ext cx="52219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purrr</a:t>
            </a:r>
            <a:endParaRPr lang="en-US" sz="2325" dirty="0"/>
          </a:p>
        </p:txBody>
      </p:sp>
      <p:sp>
        <p:nvSpPr>
          <p:cNvPr id="30" name="Text 27"/>
          <p:cNvSpPr/>
          <p:nvPr/>
        </p:nvSpPr>
        <p:spPr>
          <a:xfrm>
            <a:off x="12332970" y="7543800"/>
            <a:ext cx="48896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across a list — a for-loop without the bookkeeping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04 · Packages &amp; the Tidyverse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for Bioinformatics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packages worth knowing by name before you need them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770" y="3912870"/>
            <a:ext cx="3692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WRANGLING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07770" y="4293870"/>
            <a:ext cx="36922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1207770" y="4758690"/>
            <a:ext cx="34573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mutate, group and summarise tables of any size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5086350" y="365760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9720" y="3912870"/>
            <a:ext cx="3692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79720" y="4293870"/>
            <a:ext cx="36922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5379720" y="4758690"/>
            <a:ext cx="34573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box, violin, volcano and heatmap plots by layering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258300" y="365760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51670" y="3912870"/>
            <a:ext cx="3692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RNA-SEQ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51670" y="4293870"/>
            <a:ext cx="36922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DESeq2</a:t>
            </a:r>
            <a:endParaRPr lang="en-US" sz="2325" dirty="0"/>
          </a:p>
        </p:txBody>
      </p:sp>
      <p:sp>
        <p:nvSpPr>
          <p:cNvPr id="22" name="Text 19"/>
          <p:cNvSpPr/>
          <p:nvPr/>
        </p:nvSpPr>
        <p:spPr>
          <a:xfrm>
            <a:off x="9551670" y="4758690"/>
            <a:ext cx="34573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 on a negative binomial model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3430250" y="365760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23620" y="3912870"/>
            <a:ext cx="3692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RNA-SEQ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723620" y="4293870"/>
            <a:ext cx="36922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edgeR</a:t>
            </a:r>
            <a:endParaRPr lang="en-US" sz="2325" dirty="0"/>
          </a:p>
        </p:txBody>
      </p:sp>
      <p:sp>
        <p:nvSpPr>
          <p:cNvPr id="26" name="Text 23"/>
          <p:cNvSpPr/>
          <p:nvPr/>
        </p:nvSpPr>
        <p:spPr>
          <a:xfrm>
            <a:off x="13723620" y="4758690"/>
            <a:ext cx="34573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alternative pipeline, strong with few replicates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914400" y="590931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07770" y="6164580"/>
            <a:ext cx="3692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07770" y="6545580"/>
            <a:ext cx="36922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Biostrings</a:t>
            </a:r>
            <a:endParaRPr lang="en-US" sz="2325" dirty="0"/>
          </a:p>
        </p:txBody>
      </p:sp>
      <p:sp>
        <p:nvSpPr>
          <p:cNvPr id="30" name="Text 27"/>
          <p:cNvSpPr/>
          <p:nvPr/>
        </p:nvSpPr>
        <p:spPr>
          <a:xfrm>
            <a:off x="1207770" y="7010400"/>
            <a:ext cx="34573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DNA, RNA and protein string handling and matching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5086350" y="590931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79720" y="6164580"/>
            <a:ext cx="3692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379720" y="6545580"/>
            <a:ext cx="36922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seqinr</a:t>
            </a:r>
            <a:endParaRPr lang="en-US" sz="2325" dirty="0"/>
          </a:p>
        </p:txBody>
      </p:sp>
      <p:sp>
        <p:nvSpPr>
          <p:cNvPr id="34" name="Text 31"/>
          <p:cNvSpPr/>
          <p:nvPr/>
        </p:nvSpPr>
        <p:spPr>
          <a:xfrm>
            <a:off x="5379720" y="7010400"/>
            <a:ext cx="34573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and UniProt access, GC content, codon usage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9258300" y="590931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551670" y="6164580"/>
            <a:ext cx="3692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RANGES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9551670" y="6545580"/>
            <a:ext cx="36922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GenomicRanges</a:t>
            </a:r>
            <a:endParaRPr lang="en-US" sz="2325" dirty="0"/>
          </a:p>
        </p:txBody>
      </p:sp>
      <p:sp>
        <p:nvSpPr>
          <p:cNvPr id="38" name="Text 35"/>
          <p:cNvSpPr/>
          <p:nvPr/>
        </p:nvSpPr>
        <p:spPr>
          <a:xfrm>
            <a:off x="9551670" y="7010400"/>
            <a:ext cx="345730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arithmetic on coordinates — overlaps, gaps, coverage</a:t>
            </a:r>
            <a:endParaRPr lang="en-US" sz="1875" dirty="0"/>
          </a:p>
        </p:txBody>
      </p:sp>
      <p:sp>
        <p:nvSpPr>
          <p:cNvPr id="39" name="Shape 36"/>
          <p:cNvSpPr/>
          <p:nvPr/>
        </p:nvSpPr>
        <p:spPr>
          <a:xfrm>
            <a:off x="13430250" y="5909310"/>
            <a:ext cx="3943350" cy="2023110"/>
          </a:xfrm>
          <a:prstGeom prst="roundRect">
            <a:avLst>
              <a:gd name="adj" fmla="val 4708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13716000" y="6156960"/>
            <a:ext cx="3709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FIGURES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716000" y="6537960"/>
            <a:ext cx="37090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pheatmap</a:t>
            </a:r>
            <a:endParaRPr lang="en-US" sz="2325" dirty="0"/>
          </a:p>
        </p:txBody>
      </p:sp>
      <p:sp>
        <p:nvSpPr>
          <p:cNvPr id="42" name="Text 39"/>
          <p:cNvSpPr/>
          <p:nvPr/>
        </p:nvSpPr>
        <p:spPr>
          <a:xfrm>
            <a:off x="13716000" y="7002780"/>
            <a:ext cx="347300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heatmaps, publication-ready in three lines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238250" y="4836795"/>
            <a:ext cx="2670322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032"/>
              </a:lnSpc>
              <a:buNone/>
            </a:pPr>
            <a:r>
              <a:rPr lang="en-US" sz="14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700" dirty="0"/>
          </a:p>
        </p:txBody>
      </p:sp>
      <p:sp>
        <p:nvSpPr>
          <p:cNvPr id="10" name="Text 7"/>
          <p:cNvSpPr/>
          <p:nvPr/>
        </p:nvSpPr>
        <p:spPr>
          <a:xfrm>
            <a:off x="4504015" y="4818936"/>
            <a:ext cx="13800309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98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Visualising RNA-seq Data</a:t>
            </a:r>
            <a:endParaRPr lang="en-US" sz="5400" dirty="0"/>
          </a:p>
        </p:txBody>
      </p:sp>
      <p:sp>
        <p:nvSpPr>
          <p:cNvPr id="11" name="Shape 8"/>
          <p:cNvSpPr/>
          <p:nvPr/>
        </p:nvSpPr>
        <p:spPr>
          <a:xfrm>
            <a:off x="4504015" y="5845254"/>
            <a:ext cx="10477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2" name="Text 9"/>
          <p:cNvSpPr/>
          <p:nvPr/>
        </p:nvSpPr>
        <p:spPr>
          <a:xfrm>
            <a:off x="4504015" y="6169104"/>
            <a:ext cx="1380030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published dataset, from CSV file to publication figure</a:t>
            </a:r>
            <a:endParaRPr lang="en-US" sz="2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Dataset: Mouse Mammary Gland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 et al. 2015 — EGF-mediated induction of Mcl-1 at the switch to lactation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067800" cy="567690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00250" y="4076700"/>
            <a:ext cx="6896100" cy="48387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287000" y="3657600"/>
            <a:ext cx="7086600" cy="819150"/>
          </a:xfrm>
          <a:prstGeom prst="roundRect">
            <a:avLst>
              <a:gd name="adj" fmla="val 1162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580370" y="3901440"/>
            <a:ext cx="2200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Accession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12809220" y="3893820"/>
            <a:ext cx="46981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GSE60450</a:t>
            </a:r>
            <a:endParaRPr lang="en-US" sz="1950" dirty="0"/>
          </a:p>
        </p:txBody>
      </p:sp>
      <p:sp>
        <p:nvSpPr>
          <p:cNvPr id="16" name="Shape 12"/>
          <p:cNvSpPr/>
          <p:nvPr/>
        </p:nvSpPr>
        <p:spPr>
          <a:xfrm>
            <a:off x="10287000" y="4591050"/>
            <a:ext cx="7086600" cy="1165860"/>
          </a:xfrm>
          <a:prstGeom prst="roundRect">
            <a:avLst>
              <a:gd name="adj" fmla="val 817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580370" y="4834890"/>
            <a:ext cx="2200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12809220" y="4827270"/>
            <a:ext cx="43991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cell types × 3 stages × 2 mice = 12 samples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10287000" y="5871210"/>
            <a:ext cx="7086600" cy="1165860"/>
          </a:xfrm>
          <a:prstGeom prst="roundRect">
            <a:avLst>
              <a:gd name="adj" fmla="val 817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580370" y="6115050"/>
            <a:ext cx="2200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Counts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2809220" y="6107430"/>
            <a:ext cx="43991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23,735 genes × 14 columns, normalised for depth and composition</a:t>
            </a:r>
            <a:endParaRPr lang="en-US" sz="1950" dirty="0"/>
          </a:p>
        </p:txBody>
      </p:sp>
      <p:sp>
        <p:nvSpPr>
          <p:cNvPr id="22" name="Shape 18"/>
          <p:cNvSpPr/>
          <p:nvPr/>
        </p:nvSpPr>
        <p:spPr>
          <a:xfrm>
            <a:off x="10287000" y="7151370"/>
            <a:ext cx="7086600" cy="1885950"/>
          </a:xfrm>
          <a:prstGeom prst="roundRect">
            <a:avLst>
              <a:gd name="adj" fmla="val 5051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10572750" y="7379970"/>
            <a:ext cx="71666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FILES IN data/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0572750" y="7780020"/>
            <a:ext cx="671055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GSE60450_GeneLevel_Normalized (CPM.and.TMM)_data.csv GSE60450_filtered_metadata.csv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Data Into R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CSV files in, two tibbles out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89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(tidyverse)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"data/GSE60450_...TMM)_data.csv"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Rows: 23735  Columns: 14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chr  (2): ...1, gene_symbol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dbl (12): GSM1480291, GSM1480292, ...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• `` -&gt; `...1`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sampleinfo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"data/GSE60450_filtered_metadata.csv"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Rows: 12  Columns: 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give the first column a real name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colnames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(counts)[1]     &lt;-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"gene_id"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colnames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(sampleinfo)[1] &lt;-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"sample_id"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1468100" y="3657600"/>
            <a:ext cx="59055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761470" y="3893820"/>
            <a:ext cx="58506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output is not an error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1761470" y="4301490"/>
            <a:ext cx="547832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column specification: how many rows, and what type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guessed for each column.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1468100" y="5375910"/>
            <a:ext cx="5905500" cy="1880235"/>
          </a:xfrm>
          <a:prstGeom prst="roundRect">
            <a:avLst>
              <a:gd name="adj" fmla="val 5066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61470" y="5612130"/>
            <a:ext cx="58506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read_csv, not read.csv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11761470" y="6019800"/>
            <a:ext cx="547832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tidyverse version returns a tibble and leaves your column names alone. Base R turns </a:t>
            </a:r>
            <a:r>
              <a:rPr lang="en-US" sz="1875" i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stage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developmental.stage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1468100" y="7427595"/>
            <a:ext cx="5905500" cy="1531620"/>
          </a:xfrm>
          <a:prstGeom prst="roundRect">
            <a:avLst>
              <a:gd name="adj" fmla="val 6219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1753850" y="7656195"/>
            <a:ext cx="58674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Names with spaces</a:t>
            </a:r>
            <a:endParaRPr lang="en-US" sz="2175" dirty="0"/>
          </a:p>
        </p:txBody>
      </p:sp>
      <p:sp>
        <p:nvSpPr>
          <p:cNvPr id="31" name="Text 28"/>
          <p:cNvSpPr/>
          <p:nvPr/>
        </p:nvSpPr>
        <p:spPr>
          <a:xfrm>
            <a:off x="11753850" y="8063865"/>
            <a:ext cx="5494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them in backticks: </a:t>
            </a:r>
            <a:r>
              <a:rPr lang="en-US" sz="1875" dirty="0">
                <a:solidFill>
                  <a:srgbClr val="C6D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`developmental stage` </a:t>
            </a: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backticks, not quotes.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Tidy Data: Wide to Long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count columns become two — one row per gene per sample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0678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seqdata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(counts,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cols     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starts_with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"GSM"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names_to  =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"Sample"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values_to =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"Count"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result, a column range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(counts,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cols = GSM1480291:GSM1480302, ...)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result, name what to keep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(counts,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cols = -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"gene_id"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"gene_symbol"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...)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(seqdata)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696200"/>
            <a:ext cx="871194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284820      4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287000" y="3657600"/>
            <a:ext cx="7086600" cy="5033010"/>
          </a:xfrm>
          <a:prstGeom prst="roundRect">
            <a:avLst>
              <a:gd name="adj" fmla="val 1893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80370" y="3912870"/>
            <a:ext cx="7149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— WIDE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580370" y="4739640"/>
            <a:ext cx="6499860" cy="15240"/>
          </a:xfrm>
          <a:prstGeom prst="rect">
            <a:avLst/>
          </a:prstGeom>
          <a:solidFill>
            <a:srgbClr val="16294A">
              <a:alpha val="3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580370" y="438912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gene_id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447270" y="4389120"/>
            <a:ext cx="2305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GSM1480291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695170" y="4389120"/>
            <a:ext cx="2305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GSM1480292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0580370" y="5181600"/>
            <a:ext cx="64998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580370" y="483108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Wap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2447270" y="4831080"/>
            <a:ext cx="2305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90.2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695170" y="4831080"/>
            <a:ext cx="2305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580370" y="526542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Csn2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2447270" y="5265420"/>
            <a:ext cx="2305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2451.0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4695170" y="5265420"/>
            <a:ext cx="2305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2380.4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580370" y="5863590"/>
            <a:ext cx="7149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— LONG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0580370" y="6690360"/>
            <a:ext cx="6499860" cy="15240"/>
          </a:xfrm>
          <a:prstGeom prst="rect">
            <a:avLst/>
          </a:prstGeom>
          <a:solidFill>
            <a:srgbClr val="16294A">
              <a:alpha val="3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0580370" y="633984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gene_id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2447270" y="6339840"/>
            <a:ext cx="27241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5076170" y="6339840"/>
            <a:ext cx="16764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0580370" y="7132320"/>
            <a:ext cx="64998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0580370" y="678180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Wap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2447270" y="6781800"/>
            <a:ext cx="27241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GSM1480291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5076170" y="6781800"/>
            <a:ext cx="16764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90.2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0580370" y="7566660"/>
            <a:ext cx="64998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10580370" y="721614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Wap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2447270" y="7216140"/>
            <a:ext cx="27241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GSM1480292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15076170" y="7216140"/>
            <a:ext cx="16764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95.6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0580370" y="8001000"/>
            <a:ext cx="64998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10580370" y="765048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Csn2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2447270" y="7650480"/>
            <a:ext cx="27241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GSM1480291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5076170" y="7650480"/>
            <a:ext cx="16764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2451.0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10580370" y="8084820"/>
            <a:ext cx="18859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Csn2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12447270" y="8084820"/>
            <a:ext cx="27241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GSM1480292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5076170" y="8084820"/>
            <a:ext cx="16764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2380.4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Joining Two Tables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counts know the sample ID; the metadata knows what the sample is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89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allinfo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full_join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(seqdata, sampleinfo,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by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join_by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 == sample_id))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six long descriptions → six short labels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allinfo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(allinfo, Group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case_when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str_detect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(characteristics,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"basal.*virgin"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~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"bvirg"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str_detect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(characteristics,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"basal.*preg"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~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"bpreg"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str_detect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(characteristics,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"basal.*lact"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~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"blact"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str_detect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(characteristics,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"luminal.*virgin"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~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"lvirg"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str_detect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(characteristics,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"luminal.*preg"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~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"lpreg"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str_detect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(characteristics,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"luminal.*lact"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~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"llact"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(allinfo)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Group is the last column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1468100" y="3657600"/>
            <a:ext cx="5905500" cy="1887855"/>
          </a:xfrm>
          <a:prstGeom prst="roundRect">
            <a:avLst>
              <a:gd name="adj" fmla="val 504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761470" y="3893820"/>
            <a:ext cx="585063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full_join()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1761470" y="4309110"/>
            <a:ext cx="547832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row from both tables. Missing values arrive as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useful warning that a key did not match.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1468100" y="5716905"/>
            <a:ext cx="5905500" cy="1554480"/>
          </a:xfrm>
          <a:prstGeom prst="roundRect">
            <a:avLst>
              <a:gd name="adj" fmla="val 612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61470" y="5953125"/>
            <a:ext cx="585063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left_join()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11761470" y="6368415"/>
            <a:ext cx="547832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row of the first table only. The usual choice when one table is the reference.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1468100" y="7442835"/>
            <a:ext cx="5905500" cy="1539240"/>
          </a:xfrm>
          <a:prstGeom prst="roundRect">
            <a:avLst>
              <a:gd name="adj" fmla="val 6188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1753850" y="7671435"/>
            <a:ext cx="5867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inner_join()</a:t>
            </a:r>
            <a:endParaRPr lang="en-US" sz="2175" dirty="0"/>
          </a:p>
        </p:txBody>
      </p:sp>
      <p:sp>
        <p:nvSpPr>
          <p:cNvPr id="31" name="Text 28"/>
          <p:cNvSpPr/>
          <p:nvPr/>
        </p:nvSpPr>
        <p:spPr>
          <a:xfrm>
            <a:off x="11753850" y="8086725"/>
            <a:ext cx="5494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rows present in both. Quietly drops unmatched samples, so check the row count.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Grammar of Graphics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ggplot needs exactly three things — and then you add layers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8900" cy="2381250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    =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 DATA&gt;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mapping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&lt;COLUMNS → x, y, colour&gt;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+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&lt;GEOM_FUNCTION&gt;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6305550"/>
            <a:ext cx="3289221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6541770"/>
            <a:ext cx="30146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DATA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88720" y="6922770"/>
            <a:ext cx="282279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tidy data frame, in long format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4394121" y="6305550"/>
            <a:ext cx="328934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8441" y="6541770"/>
            <a:ext cx="30147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MAPPING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668441" y="6922770"/>
            <a:ext cx="282292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becomes which visual property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7873961" y="6305550"/>
            <a:ext cx="328934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48281" y="6541770"/>
            <a:ext cx="30147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GEOM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48281" y="6922770"/>
            <a:ext cx="282292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kind of mark drawn for each row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914400" y="8191500"/>
            <a:ext cx="10248900" cy="1203008"/>
          </a:xfrm>
          <a:prstGeom prst="roundRect">
            <a:avLst>
              <a:gd name="adj" fmla="val 7918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219200" y="8420100"/>
            <a:ext cx="9928479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025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202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go at the </a:t>
            </a:r>
            <a:r>
              <a:rPr lang="en-US" sz="2025" b="1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</a:t>
            </a:r>
            <a:r>
              <a:rPr lang="en-US" sz="202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line, never the beginning. R reads a line ending in </a:t>
            </a:r>
            <a:r>
              <a:rPr lang="en-US" sz="2025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2025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unfinished — which is exactly what you want.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1468100" y="3657600"/>
            <a:ext cx="5905500" cy="4832985"/>
          </a:xfrm>
          <a:prstGeom prst="roundRect">
            <a:avLst>
              <a:gd name="adj" fmla="val 1971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80520" y="3912870"/>
            <a:ext cx="58087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07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GEOMS YOU WILL USE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780520" y="4377690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geom_point()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14352270" y="4370070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volcano</a:t>
            </a:r>
            <a:endParaRPr lang="en-US" sz="1875" dirty="0"/>
          </a:p>
        </p:txBody>
      </p:sp>
      <p:sp>
        <p:nvSpPr>
          <p:cNvPr id="30" name="Text 27"/>
          <p:cNvSpPr/>
          <p:nvPr/>
        </p:nvSpPr>
        <p:spPr>
          <a:xfrm>
            <a:off x="11780520" y="4810125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geom_jitter()</a:t>
            </a:r>
            <a:endParaRPr lang="en-US" sz="1875" dirty="0"/>
          </a:p>
        </p:txBody>
      </p:sp>
      <p:sp>
        <p:nvSpPr>
          <p:cNvPr id="31" name="Text 28"/>
          <p:cNvSpPr/>
          <p:nvPr/>
        </p:nvSpPr>
        <p:spPr>
          <a:xfrm>
            <a:off x="14352270" y="4802505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nudged apart</a:t>
            </a:r>
            <a:endParaRPr lang="en-US" sz="1875" dirty="0"/>
          </a:p>
        </p:txBody>
      </p:sp>
      <p:sp>
        <p:nvSpPr>
          <p:cNvPr id="32" name="Text 29"/>
          <p:cNvSpPr/>
          <p:nvPr/>
        </p:nvSpPr>
        <p:spPr>
          <a:xfrm>
            <a:off x="11780520" y="5242560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geom_boxplot()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14352270" y="5234940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comparison</a:t>
            </a:r>
            <a:endParaRPr lang="en-US" sz="1875" dirty="0"/>
          </a:p>
        </p:txBody>
      </p:sp>
      <p:sp>
        <p:nvSpPr>
          <p:cNvPr id="34" name="Text 31"/>
          <p:cNvSpPr/>
          <p:nvPr/>
        </p:nvSpPr>
        <p:spPr>
          <a:xfrm>
            <a:off x="11780520" y="5674995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geom_violin()</a:t>
            </a:r>
            <a:endParaRPr lang="en-US" sz="1875" dirty="0"/>
          </a:p>
        </p:txBody>
      </p:sp>
      <p:sp>
        <p:nvSpPr>
          <p:cNvPr id="35" name="Text 32"/>
          <p:cNvSpPr/>
          <p:nvPr/>
        </p:nvSpPr>
        <p:spPr>
          <a:xfrm>
            <a:off x="14352270" y="5667375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</a:t>
            </a:r>
            <a:endParaRPr lang="en-US" sz="1875" dirty="0"/>
          </a:p>
        </p:txBody>
      </p:sp>
      <p:sp>
        <p:nvSpPr>
          <p:cNvPr id="36" name="Text 33"/>
          <p:cNvSpPr/>
          <p:nvPr/>
        </p:nvSpPr>
        <p:spPr>
          <a:xfrm>
            <a:off x="11780520" y="6107430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geom_line()</a:t>
            </a:r>
            <a:endParaRPr lang="en-US" sz="1875" dirty="0"/>
          </a:p>
        </p:txBody>
      </p:sp>
      <p:sp>
        <p:nvSpPr>
          <p:cNvPr id="37" name="Text 34"/>
          <p:cNvSpPr/>
          <p:nvPr/>
        </p:nvSpPr>
        <p:spPr>
          <a:xfrm>
            <a:off x="14352270" y="6099810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course</a:t>
            </a:r>
            <a:endParaRPr lang="en-US" sz="1875" dirty="0"/>
          </a:p>
        </p:txBody>
      </p:sp>
      <p:sp>
        <p:nvSpPr>
          <p:cNvPr id="38" name="Text 35"/>
          <p:cNvSpPr/>
          <p:nvPr/>
        </p:nvSpPr>
        <p:spPr>
          <a:xfrm>
            <a:off x="11780520" y="6539865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geom_tile()</a:t>
            </a:r>
            <a:endParaRPr lang="en-US" sz="1875" dirty="0"/>
          </a:p>
        </p:txBody>
      </p:sp>
      <p:sp>
        <p:nvSpPr>
          <p:cNvPr id="39" name="Text 36"/>
          <p:cNvSpPr/>
          <p:nvPr/>
        </p:nvSpPr>
        <p:spPr>
          <a:xfrm>
            <a:off x="14352270" y="6532245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875" dirty="0"/>
          </a:p>
        </p:txBody>
      </p:sp>
      <p:sp>
        <p:nvSpPr>
          <p:cNvPr id="40" name="Text 37"/>
          <p:cNvSpPr/>
          <p:nvPr/>
        </p:nvSpPr>
        <p:spPr>
          <a:xfrm>
            <a:off x="11780520" y="6972300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geom_histogram()</a:t>
            </a:r>
            <a:endParaRPr lang="en-US" sz="1875" dirty="0"/>
          </a:p>
        </p:txBody>
      </p:sp>
      <p:sp>
        <p:nvSpPr>
          <p:cNvPr id="41" name="Text 38"/>
          <p:cNvSpPr/>
          <p:nvPr/>
        </p:nvSpPr>
        <p:spPr>
          <a:xfrm>
            <a:off x="14352270" y="6964680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distribution</a:t>
            </a:r>
            <a:endParaRPr lang="en-US" sz="1875" dirty="0"/>
          </a:p>
        </p:txBody>
      </p:sp>
      <p:sp>
        <p:nvSpPr>
          <p:cNvPr id="42" name="Text 39"/>
          <p:cNvSpPr/>
          <p:nvPr/>
        </p:nvSpPr>
        <p:spPr>
          <a:xfrm>
            <a:off x="11780520" y="7404735"/>
            <a:ext cx="2619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26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facet_wrap()</a:t>
            </a:r>
            <a:endParaRPr lang="en-US" sz="1875" dirty="0"/>
          </a:p>
        </p:txBody>
      </p:sp>
      <p:sp>
        <p:nvSpPr>
          <p:cNvPr id="43" name="Text 40"/>
          <p:cNvSpPr/>
          <p:nvPr/>
        </p:nvSpPr>
        <p:spPr>
          <a:xfrm>
            <a:off x="14352270" y="7397115"/>
            <a:ext cx="297980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panel per group</a:t>
            </a:r>
            <a:endParaRPr lang="en-US" sz="1875" dirty="0"/>
          </a:p>
        </p:txBody>
      </p:sp>
      <p:sp>
        <p:nvSpPr>
          <p:cNvPr id="44" name="Text 41"/>
          <p:cNvSpPr/>
          <p:nvPr/>
        </p:nvSpPr>
        <p:spPr>
          <a:xfrm>
            <a:off x="11780520" y="7915275"/>
            <a:ext cx="58087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r>
              <a:rPr lang="en-US" sz="180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 </a:t>
            </a:r>
            <a:r>
              <a:rPr lang="en-US" sz="18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RStudio and press Tab to see the rest.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Plot: Distribution of Counts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lines, run one after the other, each fixing the last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89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— as it comes. A few genes dominate.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Sample, y = Count)) +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geom_boxplot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— log the y axis to see the spread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Sample, y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(Count))) +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geom_boxplot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Warning: Removed 84054 rows containing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non-finite values — log2(0) is undefined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— add 1 first, keep the zeros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Sample, y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 + 1))) +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geom_boxplot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696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— colour = outlines, fill = areas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19200" y="8039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Sample, fill = Sample,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19200" y="83820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y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 + 1))) +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geom_boxplot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1468100" y="7772400"/>
            <a:ext cx="5905500" cy="1934528"/>
          </a:xfrm>
          <a:prstGeom prst="roundRect">
            <a:avLst>
              <a:gd name="adj" fmla="val 4924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1753850" y="8001000"/>
            <a:ext cx="5867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LOOK FOR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753850" y="8401050"/>
            <a:ext cx="5494020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3"/>
              </a:lnSpc>
              <a:buNone/>
            </a:pPr>
            <a:r>
              <a:rPr lang="en-US" sz="19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 distributions should look similar. They are not identical — and a box plot hides shape, so try </a:t>
            </a:r>
            <a:r>
              <a:rPr lang="en-US" sz="1950" dirty="0">
                <a:solidFill>
                  <a:srgbClr val="E7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geom_violin() </a:t>
            </a:r>
            <a:r>
              <a:rPr lang="en-US" sz="19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Subplots with Faceting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panel per gene, for the eight most highly expressed genes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89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eight genes with the highest counts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mygenes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"Csn1s2a"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"Csn1s1"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"Csn2"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"Glycam1"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"COX1"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"Trf"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"Wap"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"Eef1a1"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%in% tests membership of a set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mygenes_counts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(allinfo,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gene_symbol %in% mygenes)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panel per gene, one point per sample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(mygenes_counts,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Group, y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 + 1),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colour = Group)) +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geom_jitter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+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696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facet_wrap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(~ gene_symbol)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468100" y="7772400"/>
            <a:ext cx="5905500" cy="1934528"/>
          </a:xfrm>
          <a:prstGeom prst="roundRect">
            <a:avLst>
              <a:gd name="adj" fmla="val 4924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1753850" y="8001000"/>
            <a:ext cx="5867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JITTER, NOT BOXPLOT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753850" y="8401050"/>
            <a:ext cx="5494020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3"/>
              </a:lnSpc>
              <a:buNone/>
            </a:pPr>
            <a:r>
              <a:rPr lang="en-US" sz="19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replicates per group is not enough for a box. </a:t>
            </a:r>
            <a:r>
              <a:rPr lang="en-US" sz="1950" dirty="0">
                <a:solidFill>
                  <a:srgbClr val="E7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geom_jitter() </a:t>
            </a:r>
            <a:r>
              <a:rPr lang="en-US" sz="19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 point, nudged sideways so they do not overlap.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Customising Your Plot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Colours, labels and themes — added as layers, never by editing the data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89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own colours — colours() lists them all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mycolours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"turquoise"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"plum"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"tomato"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"violet"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"steelblue"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"chocolate"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(mygenes_counts,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Group,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 + 1), colour = Group)) +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geom_jitter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+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facet_wrap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(~ gene_symbol) +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scale_colour_brewer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(palette =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"Dark2"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    =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"Cell type and stage"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     =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"log2 normalised count"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title =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"Mammary gland RNA-seq data"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696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theme_bw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+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19200" y="8039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(axis.text.x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element_text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(angle = 90))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68100" y="7772400"/>
            <a:ext cx="5905500" cy="1908810"/>
          </a:xfrm>
          <a:prstGeom prst="roundRect">
            <a:avLst>
              <a:gd name="adj" fmla="val 4990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761470" y="8008620"/>
            <a:ext cx="5478323" cy="1474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3"/>
              </a:lnSpc>
              <a:buNone/>
            </a:pP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</a:t>
            </a:r>
            <a:r>
              <a:rPr lang="en-US" sz="195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theme_bw() </a:t>
            </a: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95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theme_minimal() </a:t>
            </a: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sz="195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theme_classic() </a:t>
            </a: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Brewer palettes such as </a:t>
            </a:r>
            <a:r>
              <a:rPr lang="en-US" sz="195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"Dark2" </a:t>
            </a:r>
            <a:r>
              <a:rPr lang="en-US" sz="195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built to survive printing and colour blindness.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Ordering Categories with Factors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Alphabetical order is rarely the biological order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102489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order the biology suggests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group_order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"bvirg"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"bpreg"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"blact"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"lvirg"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"lpreg"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"llact"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a factor with those levels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mygenes_counts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(mygenes_counts,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Group_f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(Group, levels = group_order))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(mygenes_counts$Group_f)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[1] "bvirg" "bpreg" "blact" "lvirg" ...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plot Group_f instead of Group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(mygenes_counts,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Group_f,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 =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 + 1), colour = Group_f)) +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" y="76962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geom_jitter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+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19200" y="8039100"/>
            <a:ext cx="99284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facet_wrap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(~ gene_symbol)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68100" y="3657600"/>
            <a:ext cx="5905500" cy="1887855"/>
          </a:xfrm>
          <a:prstGeom prst="roundRect">
            <a:avLst>
              <a:gd name="adj" fmla="val 504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761470" y="3893820"/>
            <a:ext cx="585063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&lt;chr&gt; vs &lt;fct&gt;</a:t>
            </a:r>
            <a:endParaRPr lang="en-US" sz="2175" dirty="0"/>
          </a:p>
        </p:txBody>
      </p:sp>
      <p:sp>
        <p:nvSpPr>
          <p:cNvPr id="27" name="Text 24"/>
          <p:cNvSpPr/>
          <p:nvPr/>
        </p:nvSpPr>
        <p:spPr>
          <a:xfrm>
            <a:off x="11761470" y="4309110"/>
            <a:ext cx="547832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column sorts alphabetically. A factor sorts by the levels you declared.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str() 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is which.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1468100" y="5716905"/>
            <a:ext cx="5905500" cy="1546860"/>
          </a:xfrm>
          <a:prstGeom prst="roundRect">
            <a:avLst>
              <a:gd name="adj" fmla="val 6158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761470" y="5953125"/>
            <a:ext cx="58506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follows everywhere</a:t>
            </a:r>
            <a:endParaRPr lang="en-US" sz="2175" dirty="0"/>
          </a:p>
        </p:txBody>
      </p:sp>
      <p:sp>
        <p:nvSpPr>
          <p:cNvPr id="30" name="Text 27"/>
          <p:cNvSpPr/>
          <p:nvPr/>
        </p:nvSpPr>
        <p:spPr>
          <a:xfrm>
            <a:off x="11761470" y="6360795"/>
            <a:ext cx="547832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order, legend order and facet order all read the levels. Set them once.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11468100" y="7435215"/>
            <a:ext cx="5905500" cy="1531620"/>
          </a:xfrm>
          <a:prstGeom prst="roundRect">
            <a:avLst>
              <a:gd name="adj" fmla="val 6219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1753850" y="7663815"/>
            <a:ext cx="58674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care too</a:t>
            </a:r>
            <a:endParaRPr lang="en-US" sz="2175" dirty="0"/>
          </a:p>
        </p:txBody>
      </p:sp>
      <p:sp>
        <p:nvSpPr>
          <p:cNvPr id="33" name="Text 30"/>
          <p:cNvSpPr/>
          <p:nvPr/>
        </p:nvSpPr>
        <p:spPr>
          <a:xfrm>
            <a:off x="11753850" y="8071485"/>
            <a:ext cx="5494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level is the reference group in a model, so it decides which direction a fold change points.</a:t>
            </a:r>
            <a:endParaRPr lang="en-US" sz="18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05 · Hands-On RNA-seq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238250" y="2381250"/>
            <a:ext cx="1739265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61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Make It Your Own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1238250" y="3276600"/>
            <a:ext cx="10477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1" name="Text 8"/>
          <p:cNvSpPr/>
          <p:nvPr/>
        </p:nvSpPr>
        <p:spPr>
          <a:xfrm>
            <a:off x="1238250" y="3505200"/>
            <a:ext cx="173926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variations on the plot you just built. Everything you need is already in your session.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238250" y="4476750"/>
            <a:ext cx="7791450" cy="1862138"/>
          </a:xfrm>
          <a:prstGeom prst="roundRect">
            <a:avLst>
              <a:gd name="adj" fmla="val 5115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69720" y="4751070"/>
            <a:ext cx="26289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946910" y="4827270"/>
            <a:ext cx="250818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the geom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569720" y="5318760"/>
            <a:ext cx="7342366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</a:t>
            </a:r>
            <a:r>
              <a:rPr lang="en-US" sz="2025" dirty="0">
                <a:solidFill>
                  <a:srgbClr val="D7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geom_boxplot() </a:t>
            </a: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2025" dirty="0">
                <a:solidFill>
                  <a:srgbClr val="D7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geom_violin() </a:t>
            </a: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counts plot. What does the violin show that the box hid?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9258300" y="4476750"/>
            <a:ext cx="7791450" cy="1862138"/>
          </a:xfrm>
          <a:prstGeom prst="roundRect">
            <a:avLst>
              <a:gd name="adj" fmla="val 5115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89770" y="4751070"/>
            <a:ext cx="31492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0018991" y="4827270"/>
            <a:ext cx="420003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 by something else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9589770" y="5318760"/>
            <a:ext cx="7342366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by </a:t>
            </a:r>
            <a:r>
              <a:rPr lang="en-US" sz="2025" dirty="0">
                <a:solidFill>
                  <a:srgbClr val="D7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immunophenotype</a:t>
            </a: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by </a:t>
            </a:r>
            <a:r>
              <a:rPr lang="en-US" sz="2025" dirty="0">
                <a:solidFill>
                  <a:srgbClr val="D7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`developmental stage` </a:t>
            </a: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 what happens without the backticks.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1238250" y="6567488"/>
            <a:ext cx="7791450" cy="1862138"/>
          </a:xfrm>
          <a:prstGeom prst="roundRect">
            <a:avLst>
              <a:gd name="adj" fmla="val 5115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69720" y="6841807"/>
            <a:ext cx="31420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998226" y="6918007"/>
            <a:ext cx="281622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Hide the outliers</a:t>
            </a:r>
            <a:endParaRPr lang="en-US" sz="2325" dirty="0"/>
          </a:p>
        </p:txBody>
      </p:sp>
      <p:sp>
        <p:nvSpPr>
          <p:cNvPr id="23" name="Text 20"/>
          <p:cNvSpPr/>
          <p:nvPr/>
        </p:nvSpPr>
        <p:spPr>
          <a:xfrm>
            <a:off x="1569720" y="7409498"/>
            <a:ext cx="7342366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r>
              <a:rPr lang="en-US" sz="2025" dirty="0">
                <a:solidFill>
                  <a:srgbClr val="D7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?geom_boxplot </a:t>
            </a: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find the argument that shrinks outlier points — then the one that removes them.</a:t>
            </a:r>
            <a:endParaRPr lang="en-US" sz="2025" dirty="0"/>
          </a:p>
        </p:txBody>
      </p:sp>
      <p:sp>
        <p:nvSpPr>
          <p:cNvPr id="24" name="Shape 21"/>
          <p:cNvSpPr/>
          <p:nvPr/>
        </p:nvSpPr>
        <p:spPr>
          <a:xfrm>
            <a:off x="9258300" y="6567488"/>
            <a:ext cx="7791450" cy="1862138"/>
          </a:xfrm>
          <a:prstGeom prst="roundRect">
            <a:avLst>
              <a:gd name="adj" fmla="val 5115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89770" y="6841807"/>
            <a:ext cx="32373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10027801" y="6918007"/>
            <a:ext cx="328247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it and export it</a:t>
            </a:r>
            <a:endParaRPr lang="en-US" sz="2325" dirty="0"/>
          </a:p>
        </p:txBody>
      </p:sp>
      <p:sp>
        <p:nvSpPr>
          <p:cNvPr id="27" name="Text 24"/>
          <p:cNvSpPr/>
          <p:nvPr/>
        </p:nvSpPr>
        <p:spPr>
          <a:xfrm>
            <a:off x="9589770" y="7409498"/>
            <a:ext cx="7342366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360"/>
              </a:lnSpc>
              <a:buNone/>
            </a:pP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</a:t>
            </a:r>
            <a:r>
              <a:rPr lang="en-US" sz="2025" dirty="0">
                <a:solidFill>
                  <a:srgbClr val="D7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labs(subtitle = "your initials") </a:t>
            </a:r>
            <a:r>
              <a:rPr lang="en-US" sz="2025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pick a colourblind-safe palette, then export the plot as a PDF.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Research with R Markdown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file holding code, results and narrative — rendered to HTML, PDF or Word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639300" cy="5676900"/>
          </a:xfrm>
          <a:prstGeom prst="roundRect">
            <a:avLst>
              <a:gd name="adj" fmla="val 1678"/>
            </a:avLst>
          </a:prstGeom>
          <a:solidFill>
            <a:srgbClr val="16294A"/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39243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Load the data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200" y="42672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```{r setup}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9200" y="46101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(tidyverse)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" y="49530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&lt;-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2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"data/counts.csv"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19200" y="52959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200" y="56388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A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Distribution of counts per sample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19200" y="59817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```{r boxplot, fig.height=4}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19200" y="63246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(allinfo,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(Sample,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 + 1))) +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19200" y="66675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geom_boxplot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200" y="70104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19200" y="7353300"/>
            <a:ext cx="930059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8FD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sessionInfo</a:t>
            </a:r>
            <a:r>
              <a:rPr lang="en-US" sz="18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</a:t>
            </a:r>
            <a:r>
              <a:rPr lang="en-US" sz="1800" dirty="0">
                <a:solidFill>
                  <a:srgbClr val="7E9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versions, at the end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858500" y="3657600"/>
            <a:ext cx="6515100" cy="775335"/>
          </a:xfrm>
          <a:prstGeom prst="roundRect">
            <a:avLst>
              <a:gd name="adj" fmla="val 1228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1870" y="3874770"/>
            <a:ext cx="13620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2618720" y="3882390"/>
            <a:ext cx="49076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report you can email or host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0858500" y="4585335"/>
            <a:ext cx="6515100" cy="775335"/>
          </a:xfrm>
          <a:prstGeom prst="roundRect">
            <a:avLst>
              <a:gd name="adj" fmla="val 1228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151870" y="4802505"/>
            <a:ext cx="13620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12618720" y="4810125"/>
            <a:ext cx="49076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Typeset via LaTeX — supplementary material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0858500" y="5513070"/>
            <a:ext cx="6515100" cy="775335"/>
          </a:xfrm>
          <a:prstGeom prst="roundRect">
            <a:avLst>
              <a:gd name="adj" fmla="val 1228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151870" y="5730240"/>
            <a:ext cx="13620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</a:t>
            </a:r>
            <a:endParaRPr lang="en-US" sz="2175" dirty="0"/>
          </a:p>
        </p:txBody>
      </p:sp>
      <p:sp>
        <p:nvSpPr>
          <p:cNvPr id="31" name="Text 28"/>
          <p:cNvSpPr/>
          <p:nvPr/>
        </p:nvSpPr>
        <p:spPr>
          <a:xfrm>
            <a:off x="12618720" y="5737860"/>
            <a:ext cx="49076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.docx for track-changes feedback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10858500" y="6440805"/>
            <a:ext cx="6515100" cy="775335"/>
          </a:xfrm>
          <a:prstGeom prst="roundRect">
            <a:avLst>
              <a:gd name="adj" fmla="val 1228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151870" y="6657975"/>
            <a:ext cx="13620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Slides</a:t>
            </a:r>
            <a:endParaRPr lang="en-US" sz="2175" dirty="0"/>
          </a:p>
        </p:txBody>
      </p:sp>
      <p:sp>
        <p:nvSpPr>
          <p:cNvPr id="34" name="Text 31"/>
          <p:cNvSpPr/>
          <p:nvPr/>
        </p:nvSpPr>
        <p:spPr>
          <a:xfrm>
            <a:off x="12618720" y="6665595"/>
            <a:ext cx="49076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132"/>
              </a:lnSpc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 or xaringan, for the lab meeting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0858500" y="7368540"/>
            <a:ext cx="6515100" cy="1934528"/>
          </a:xfrm>
          <a:prstGeom prst="roundRect">
            <a:avLst>
              <a:gd name="adj" fmla="val 4924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1144250" y="7597140"/>
            <a:ext cx="65379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 OF A GOOD ANALYSIS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1144250" y="7997190"/>
            <a:ext cx="6121908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3"/>
              </a:lnSpc>
              <a:buNone/>
            </a:pPr>
            <a:r>
              <a:rPr lang="en-US" sz="19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opens your folder, presses Knit, and gets your numbers and your figures. Nothing to copy, nothing to paste.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Points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remember from the last ninety minutes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115300" cy="1375410"/>
          </a:xfrm>
          <a:prstGeom prst="roundRect">
            <a:avLst>
              <a:gd name="adj" fmla="val 692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5870" y="3931920"/>
            <a:ext cx="25348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651754" y="3985260"/>
            <a:ext cx="690297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a script, not the console, and comment as you go.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9258300" y="3657600"/>
            <a:ext cx="8115300" cy="1375410"/>
          </a:xfrm>
          <a:prstGeom prst="roundRect">
            <a:avLst>
              <a:gd name="adj" fmla="val 692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89770" y="3931920"/>
            <a:ext cx="30301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10045185" y="3985260"/>
            <a:ext cx="720685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working directory first; most beginner errors are path errors.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14400" y="5261610"/>
            <a:ext cx="8115300" cy="1383030"/>
          </a:xfrm>
          <a:prstGeom prst="roundRect">
            <a:avLst>
              <a:gd name="adj" fmla="val 688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45870" y="5535930"/>
            <a:ext cx="30230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50" dirty="0"/>
          </a:p>
        </p:txBody>
      </p:sp>
      <p:sp>
        <p:nvSpPr>
          <p:cNvPr id="19" name="Text 16"/>
          <p:cNvSpPr/>
          <p:nvPr/>
        </p:nvSpPr>
        <p:spPr>
          <a:xfrm>
            <a:off x="1700570" y="5589270"/>
            <a:ext cx="720759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read_csv() 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 then </a:t>
            </a: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dim()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str() 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summary() 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else.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258300" y="5261610"/>
            <a:ext cx="8115300" cy="1383030"/>
          </a:xfrm>
          <a:prstGeom prst="roundRect">
            <a:avLst>
              <a:gd name="adj" fmla="val 688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89770" y="5535930"/>
            <a:ext cx="311348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50" dirty="0"/>
          </a:p>
        </p:txBody>
      </p:sp>
      <p:sp>
        <p:nvSpPr>
          <p:cNvPr id="22" name="Text 19"/>
          <p:cNvSpPr/>
          <p:nvPr/>
        </p:nvSpPr>
        <p:spPr>
          <a:xfrm>
            <a:off x="10053519" y="5589270"/>
            <a:ext cx="719827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pivot_longer()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mutate()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 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joins reshape almost any table.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914400" y="6873240"/>
            <a:ext cx="8115300" cy="1383030"/>
          </a:xfrm>
          <a:prstGeom prst="roundRect">
            <a:avLst>
              <a:gd name="adj" fmla="val 6887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45870" y="7147560"/>
            <a:ext cx="29313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50" dirty="0"/>
          </a:p>
        </p:txBody>
      </p:sp>
      <p:sp>
        <p:nvSpPr>
          <p:cNvPr id="25" name="Text 22"/>
          <p:cNvSpPr/>
          <p:nvPr/>
        </p:nvSpPr>
        <p:spPr>
          <a:xfrm>
            <a:off x="1691402" y="7200900"/>
            <a:ext cx="721703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ggplot is data, mapping and geom. </a:t>
            </a:r>
            <a:r>
              <a:rPr lang="en-US" sz="2100" dirty="0">
                <a:solidFill>
                  <a:srgbClr val="223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facet_wrap() </a:t>
            </a:r>
            <a:r>
              <a:rPr lang="en-US" sz="2100" dirty="0">
                <a:solidFill>
                  <a:srgbClr val="223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one panel per group.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258300" y="6873240"/>
            <a:ext cx="8115300" cy="1383030"/>
          </a:xfrm>
          <a:prstGeom prst="roundRect">
            <a:avLst>
              <a:gd name="adj" fmla="val 6887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9582150" y="7139940"/>
            <a:ext cx="31075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50" dirty="0"/>
          </a:p>
        </p:txBody>
      </p:sp>
      <p:sp>
        <p:nvSpPr>
          <p:cNvPr id="28" name="Text 25"/>
          <p:cNvSpPr/>
          <p:nvPr/>
        </p:nvSpPr>
        <p:spPr>
          <a:xfrm>
            <a:off x="10045303" y="7193280"/>
            <a:ext cx="721458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control the order of categories — in plots, legends and models alike.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914400" y="8858250"/>
            <a:ext cx="181051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C44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takes time to learn, like a spoken language. Nobody is fluent after ninety minutes — and nobody needs to be.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05000"/>
            <a:ext cx="1810512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29"/>
              </a:lnSpc>
              <a:buNone/>
            </a:pPr>
            <a:r>
              <a:rPr lang="en-US" sz="4050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Steps in R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914400" y="2628900"/>
            <a:ext cx="83820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19400"/>
            <a:ext cx="16973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three-month plan that ends with an analysis you can publish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3581400"/>
            <a:ext cx="16459200" cy="4046220"/>
          </a:xfrm>
          <a:prstGeom prst="roundRect">
            <a:avLst>
              <a:gd name="adj" fmla="val 2354"/>
            </a:avLst>
          </a:prstGeom>
          <a:solidFill>
            <a:srgbClr val="FFFFFF">
              <a:alpha val="92000"/>
            </a:srgbClr>
          </a:solidFill>
          <a:ln w="7620">
            <a:solidFill>
              <a:srgbClr val="16294A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3970" y="443484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83970" y="3855720"/>
            <a:ext cx="57150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2065020" y="3893820"/>
            <a:ext cx="54483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comfortable with base R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7303770" y="3905250"/>
            <a:ext cx="18859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304020" y="3905250"/>
            <a:ext cx="84700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data frames, functions. Work through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swirl()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283970" y="521208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283970" y="4632960"/>
            <a:ext cx="57150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2065020" y="4671060"/>
            <a:ext cx="54483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tidyverse properly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7303770" y="4682490"/>
            <a:ext cx="18859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9304020" y="4682490"/>
            <a:ext cx="84700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and tidyr for wrangling, ggplot2 for figures.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283970" y="598932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283970" y="5410200"/>
            <a:ext cx="57150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2065020" y="5448300"/>
            <a:ext cx="54483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it to your own biology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7303770" y="5459730"/>
            <a:ext cx="18859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9304020" y="5459730"/>
            <a:ext cx="84700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— yours or from GEO — end to end.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1283970" y="6766560"/>
            <a:ext cx="15720060" cy="9525"/>
          </a:xfrm>
          <a:prstGeom prst="rect">
            <a:avLst/>
          </a:prstGeom>
          <a:solidFill>
            <a:srgbClr val="16294A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283970" y="6187440"/>
            <a:ext cx="57150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2065020" y="6225540"/>
            <a:ext cx="54483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it up in R Markdown</a:t>
            </a:r>
            <a:endParaRPr lang="en-US" sz="2175" dirty="0"/>
          </a:p>
        </p:txBody>
      </p:sp>
      <p:sp>
        <p:nvSpPr>
          <p:cNvPr id="30" name="Text 27"/>
          <p:cNvSpPr/>
          <p:nvPr/>
        </p:nvSpPr>
        <p:spPr>
          <a:xfrm>
            <a:off x="7303770" y="6236970"/>
            <a:ext cx="18859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875" dirty="0"/>
          </a:p>
        </p:txBody>
      </p:sp>
      <p:sp>
        <p:nvSpPr>
          <p:cNvPr id="31" name="Text 28"/>
          <p:cNvSpPr/>
          <p:nvPr/>
        </p:nvSpPr>
        <p:spPr>
          <a:xfrm>
            <a:off x="9304020" y="6236970"/>
            <a:ext cx="84700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</a:t>
            </a:r>
            <a:r>
              <a:rPr lang="en-US" sz="1875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.Rmd</a:t>
            </a: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the figures.</a:t>
            </a:r>
            <a:endParaRPr lang="en-US" sz="1875" dirty="0"/>
          </a:p>
        </p:txBody>
      </p:sp>
      <p:sp>
        <p:nvSpPr>
          <p:cNvPr id="32" name="Text 29"/>
          <p:cNvSpPr/>
          <p:nvPr/>
        </p:nvSpPr>
        <p:spPr>
          <a:xfrm>
            <a:off x="1283970" y="6964680"/>
            <a:ext cx="57150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0A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700" dirty="0"/>
          </a:p>
        </p:txBody>
      </p:sp>
      <p:sp>
        <p:nvSpPr>
          <p:cNvPr id="33" name="Text 30"/>
          <p:cNvSpPr/>
          <p:nvPr/>
        </p:nvSpPr>
        <p:spPr>
          <a:xfrm>
            <a:off x="2065020" y="7002780"/>
            <a:ext cx="54483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Ask, and then answer</a:t>
            </a:r>
            <a:endParaRPr lang="en-US" sz="2175" dirty="0"/>
          </a:p>
        </p:txBody>
      </p:sp>
      <p:sp>
        <p:nvSpPr>
          <p:cNvPr id="34" name="Text 31"/>
          <p:cNvSpPr/>
          <p:nvPr/>
        </p:nvSpPr>
        <p:spPr>
          <a:xfrm>
            <a:off x="7303770" y="7014210"/>
            <a:ext cx="18859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875" dirty="0"/>
          </a:p>
        </p:txBody>
      </p:sp>
      <p:sp>
        <p:nvSpPr>
          <p:cNvPr id="35" name="Text 32"/>
          <p:cNvSpPr/>
          <p:nvPr/>
        </p:nvSpPr>
        <p:spPr>
          <a:xfrm>
            <a:off x="9304020" y="7014210"/>
            <a:ext cx="84700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Bioconductor support, Biostars, Stack Overflow.</a:t>
            </a:r>
            <a:endParaRPr lang="en-US" sz="1875" dirty="0"/>
          </a:p>
        </p:txBody>
      </p:sp>
      <p:sp>
        <p:nvSpPr>
          <p:cNvPr id="36" name="Shape 33"/>
          <p:cNvSpPr/>
          <p:nvPr/>
        </p:nvSpPr>
        <p:spPr>
          <a:xfrm>
            <a:off x="914400" y="7524750"/>
            <a:ext cx="5346621" cy="1104900"/>
          </a:xfrm>
          <a:prstGeom prst="roundRect">
            <a:avLst>
              <a:gd name="adj" fmla="val 8621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181100" y="7734300"/>
            <a:ext cx="529454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for Data Science</a:t>
            </a:r>
            <a:endParaRPr lang="en-US" sz="2025" dirty="0"/>
          </a:p>
        </p:txBody>
      </p:sp>
      <p:sp>
        <p:nvSpPr>
          <p:cNvPr id="38" name="Text 35"/>
          <p:cNvSpPr/>
          <p:nvPr/>
        </p:nvSpPr>
        <p:spPr>
          <a:xfrm>
            <a:off x="1181100" y="8100060"/>
            <a:ext cx="529454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 &amp; Grolemund — free at r4ds.hadley.nz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6470571" y="7524750"/>
            <a:ext cx="5346740" cy="1104900"/>
          </a:xfrm>
          <a:prstGeom prst="roundRect">
            <a:avLst>
              <a:gd name="adj" fmla="val 8621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6737271" y="7734300"/>
            <a:ext cx="5294674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to R for Biologists</a:t>
            </a:r>
            <a:endParaRPr lang="en-US" sz="2025" dirty="0"/>
          </a:p>
        </p:txBody>
      </p:sp>
      <p:sp>
        <p:nvSpPr>
          <p:cNvPr id="41" name="Text 38"/>
          <p:cNvSpPr/>
          <p:nvPr/>
        </p:nvSpPr>
        <p:spPr>
          <a:xfrm>
            <a:off x="6737271" y="8100060"/>
            <a:ext cx="529467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Doyle, Chung &amp; Perreau — today's worked example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2026860" y="7524750"/>
            <a:ext cx="5346740" cy="1104900"/>
          </a:xfrm>
          <a:prstGeom prst="roundRect">
            <a:avLst>
              <a:gd name="adj" fmla="val 8621"/>
            </a:avLst>
          </a:prstGeom>
          <a:solidFill>
            <a:srgbClr val="122543">
              <a:alpha val="94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2293560" y="7734300"/>
            <a:ext cx="5294674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Bioconductor workflows</a:t>
            </a:r>
            <a:endParaRPr lang="en-US" sz="2025" dirty="0"/>
          </a:p>
        </p:txBody>
      </p:sp>
      <p:sp>
        <p:nvSpPr>
          <p:cNvPr id="44" name="Text 41"/>
          <p:cNvSpPr/>
          <p:nvPr/>
        </p:nvSpPr>
        <p:spPr>
          <a:xfrm>
            <a:off x="12293560" y="8100060"/>
            <a:ext cx="529467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RNA-seq, single cell and annotation, start to finish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3D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58350"/>
            <a:ext cx="18288000" cy="628650"/>
          </a:xfrm>
          <a:prstGeom prst="rect">
            <a:avLst/>
          </a:prstGeom>
          <a:gradFill rotWithShape="1">
            <a:gsLst>
              <a:gs pos="0">
                <a:srgbClr val="EEF3FA">
                  <a:alpha val="0"/>
                </a:srgbClr>
              </a:gs>
              <a:gs pos="42000">
                <a:srgbClr val="EEF3FA">
                  <a:alpha val="92000"/>
                </a:srgbClr>
              </a:gs>
              <a:gs pos="100000">
                <a:srgbClr val="EEF3FA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857500" y="342900"/>
            <a:ext cx="1257300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1823"/>
              </a:lnSpc>
              <a:buNone/>
            </a:pPr>
            <a:r>
              <a:rPr lang="en-US" sz="2550" dirty="0">
                <a:solidFill>
                  <a:srgbClr val="16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DBT-BIC-NNP-TREE Genome Informatics — Genome HackWeek 2026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857500" y="838200"/>
            <a:ext cx="12573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395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Annotate, Innovate, Collaborate | CSIR-IICB, Kolkata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552450" y="9810750"/>
            <a:ext cx="19103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9810750"/>
            <a:ext cx="603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1866900"/>
            <a:ext cx="18288000" cy="7620000"/>
          </a:xfrm>
          <a:prstGeom prst="rect">
            <a:avLst/>
          </a:prstGeom>
          <a:gradFill rotWithShape="1">
            <a:gsLst>
              <a:gs pos="0">
                <a:srgbClr val="122543">
                  <a:alpha val="100000"/>
                </a:srgbClr>
              </a:gs>
              <a:gs pos="52000">
                <a:srgbClr val="1C3A63">
                  <a:alpha val="100000"/>
                </a:srgbClr>
              </a:gs>
              <a:gs pos="100000">
                <a:srgbClr val="26507E">
                  <a:alpha val="100000"/>
                </a:srgbClr>
              </a:gs>
            </a:gsLst>
            <a:lin ang="72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7010281" y="3871317"/>
            <a:ext cx="4694051" cy="966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296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900" dirty="0"/>
          </a:p>
        </p:txBody>
      </p:sp>
      <p:sp>
        <p:nvSpPr>
          <p:cNvPr id="10" name="Shape 7"/>
          <p:cNvSpPr/>
          <p:nvPr/>
        </p:nvSpPr>
        <p:spPr>
          <a:xfrm>
            <a:off x="8524875" y="5123974"/>
            <a:ext cx="1238250" cy="38100"/>
          </a:xfrm>
          <a:prstGeom prst="rect">
            <a:avLst/>
          </a:prstGeom>
          <a:solidFill>
            <a:srgbClr val="E0A11B"/>
          </a:solidFill>
          <a:ln/>
        </p:spPr>
      </p:sp>
      <p:sp>
        <p:nvSpPr>
          <p:cNvPr id="11" name="Text 8"/>
          <p:cNvSpPr/>
          <p:nvPr/>
        </p:nvSpPr>
        <p:spPr>
          <a:xfrm>
            <a:off x="6187083" y="5485924"/>
            <a:ext cx="650508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i="1" dirty="0">
                <a:solidFill>
                  <a:srgbClr val="D7E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— and let's plot some data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4669512" y="6468904"/>
            <a:ext cx="214906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7C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Upadhyay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7042309" y="6468904"/>
            <a:ext cx="1726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7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7557850" y="6468904"/>
            <a:ext cx="318791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7C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Genome HackWeek 2026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10875050" y="6468904"/>
            <a:ext cx="1726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7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1390591" y="6468904"/>
            <a:ext cx="245068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7C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CSIR-IICB, Kolkata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6029206" y="7177564"/>
            <a:ext cx="68525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E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script and the </a:t>
            </a:r>
            <a:r>
              <a:rPr lang="en-US" sz="1950" dirty="0">
                <a:solidFill>
                  <a:srgbClr val="8EA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</a:t>
            </a:r>
            <a:r>
              <a:rPr lang="en-US" sz="1950" dirty="0">
                <a:solidFill>
                  <a:srgbClr val="8E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are on the workshop drive.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7190</Words>
  <Application>Microsoft Office PowerPoint</Application>
  <PresentationFormat>Custom</PresentationFormat>
  <Paragraphs>976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Cambria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LAB-301</cp:lastModifiedBy>
  <cp:revision>4</cp:revision>
  <dcterms:created xsi:type="dcterms:W3CDTF">2026-08-28T06:30:02Z</dcterms:created>
  <dcterms:modified xsi:type="dcterms:W3CDTF">2026-08-28T09:04:30Z</dcterms:modified>
</cp:coreProperties>
</file>